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9" r:id="rId2"/>
    <p:sldId id="358" r:id="rId3"/>
    <p:sldId id="348" r:id="rId4"/>
    <p:sldId id="350" r:id="rId5"/>
    <p:sldId id="360" r:id="rId6"/>
    <p:sldId id="352" r:id="rId7"/>
    <p:sldId id="353" r:id="rId8"/>
    <p:sldId id="356" r:id="rId9"/>
    <p:sldId id="364" r:id="rId10"/>
    <p:sldId id="357" r:id="rId11"/>
    <p:sldId id="290" r:id="rId12"/>
    <p:sldId id="2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C79AA-22B4-41EC-9BB3-83435EBCDE39}" v="3" dt="2024-10-23T06:26:44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i Sapatnekar" userId="df461ef5d21affef" providerId="LiveId" clId="{B8BC79AA-22B4-41EC-9BB3-83435EBCDE39}"/>
    <pc:docChg chg="custSel addSld modSld">
      <pc:chgData name="Dipti Sapatnekar" userId="df461ef5d21affef" providerId="LiveId" clId="{B8BC79AA-22B4-41EC-9BB3-83435EBCDE39}" dt="2024-10-23T06:27:57.647" v="64" actId="20577"/>
      <pc:docMkLst>
        <pc:docMk/>
      </pc:docMkLst>
      <pc:sldChg chg="modSp mod">
        <pc:chgData name="Dipti Sapatnekar" userId="df461ef5d21affef" providerId="LiveId" clId="{B8BC79AA-22B4-41EC-9BB3-83435EBCDE39}" dt="2024-10-23T06:27:51.652" v="56" actId="20577"/>
        <pc:sldMkLst>
          <pc:docMk/>
          <pc:sldMk cId="2568654453" sldId="348"/>
        </pc:sldMkLst>
        <pc:spChg chg="mod">
          <ac:chgData name="Dipti Sapatnekar" userId="df461ef5d21affef" providerId="LiveId" clId="{B8BC79AA-22B4-41EC-9BB3-83435EBCDE39}" dt="2024-10-23T06:27:51.652" v="56" actId="20577"/>
          <ac:spMkLst>
            <pc:docMk/>
            <pc:sldMk cId="2568654453" sldId="348"/>
            <ac:spMk id="27" creationId="{9586A94B-61E5-D4FE-AF7D-AFC9F553AEE9}"/>
          </ac:spMkLst>
        </pc:spChg>
      </pc:sldChg>
      <pc:sldChg chg="modSp mod">
        <pc:chgData name="Dipti Sapatnekar" userId="df461ef5d21affef" providerId="LiveId" clId="{B8BC79AA-22B4-41EC-9BB3-83435EBCDE39}" dt="2024-10-23T06:27:46.903" v="48" actId="20577"/>
        <pc:sldMkLst>
          <pc:docMk/>
          <pc:sldMk cId="1461494180" sldId="350"/>
        </pc:sldMkLst>
        <pc:spChg chg="mod">
          <ac:chgData name="Dipti Sapatnekar" userId="df461ef5d21affef" providerId="LiveId" clId="{B8BC79AA-22B4-41EC-9BB3-83435EBCDE39}" dt="2024-10-23T06:27:46.903" v="48" actId="20577"/>
          <ac:spMkLst>
            <pc:docMk/>
            <pc:sldMk cId="1461494180" sldId="350"/>
            <ac:spMk id="27" creationId="{9586A94B-61E5-D4FE-AF7D-AFC9F553AEE9}"/>
          </ac:spMkLst>
        </pc:spChg>
      </pc:sldChg>
      <pc:sldChg chg="modSp mod">
        <pc:chgData name="Dipti Sapatnekar" userId="df461ef5d21affef" providerId="LiveId" clId="{B8BC79AA-22B4-41EC-9BB3-83435EBCDE39}" dt="2024-10-23T06:27:10.064" v="32" actId="20577"/>
        <pc:sldMkLst>
          <pc:docMk/>
          <pc:sldMk cId="220799922" sldId="352"/>
        </pc:sldMkLst>
        <pc:spChg chg="mod">
          <ac:chgData name="Dipti Sapatnekar" userId="df461ef5d21affef" providerId="LiveId" clId="{B8BC79AA-22B4-41EC-9BB3-83435EBCDE39}" dt="2024-10-23T06:19:04.525" v="1" actId="20577"/>
          <ac:spMkLst>
            <pc:docMk/>
            <pc:sldMk cId="220799922" sldId="352"/>
            <ac:spMk id="11" creationId="{AF2AE1F4-E20B-A7B5-3FB6-517EA4463599}"/>
          </ac:spMkLst>
        </pc:spChg>
        <pc:spChg chg="mod">
          <ac:chgData name="Dipti Sapatnekar" userId="df461ef5d21affef" providerId="LiveId" clId="{B8BC79AA-22B4-41EC-9BB3-83435EBCDE39}" dt="2024-10-23T06:27:10.064" v="32" actId="20577"/>
          <ac:spMkLst>
            <pc:docMk/>
            <pc:sldMk cId="220799922" sldId="352"/>
            <ac:spMk id="27" creationId="{9586A94B-61E5-D4FE-AF7D-AFC9F553AEE9}"/>
          </ac:spMkLst>
        </pc:spChg>
      </pc:sldChg>
      <pc:sldChg chg="modSp mod">
        <pc:chgData name="Dipti Sapatnekar" userId="df461ef5d21affef" providerId="LiveId" clId="{B8BC79AA-22B4-41EC-9BB3-83435EBCDE39}" dt="2024-10-23T06:27:05.721" v="24" actId="20577"/>
        <pc:sldMkLst>
          <pc:docMk/>
          <pc:sldMk cId="2766022731" sldId="353"/>
        </pc:sldMkLst>
        <pc:spChg chg="mod">
          <ac:chgData name="Dipti Sapatnekar" userId="df461ef5d21affef" providerId="LiveId" clId="{B8BC79AA-22B4-41EC-9BB3-83435EBCDE39}" dt="2024-10-23T06:27:05.721" v="24" actId="20577"/>
          <ac:spMkLst>
            <pc:docMk/>
            <pc:sldMk cId="2766022731" sldId="353"/>
            <ac:spMk id="27" creationId="{9586A94B-61E5-D4FE-AF7D-AFC9F553AEE9}"/>
          </ac:spMkLst>
        </pc:spChg>
      </pc:sldChg>
      <pc:sldChg chg="modSp mod">
        <pc:chgData name="Dipti Sapatnekar" userId="df461ef5d21affef" providerId="LiveId" clId="{B8BC79AA-22B4-41EC-9BB3-83435EBCDE39}" dt="2024-10-23T06:26:29.561" v="12" actId="207"/>
        <pc:sldMkLst>
          <pc:docMk/>
          <pc:sldMk cId="2408593193" sldId="356"/>
        </pc:sldMkLst>
        <pc:spChg chg="mod">
          <ac:chgData name="Dipti Sapatnekar" userId="df461ef5d21affef" providerId="LiveId" clId="{B8BC79AA-22B4-41EC-9BB3-83435EBCDE39}" dt="2024-10-23T06:26:29.561" v="12" actId="207"/>
          <ac:spMkLst>
            <pc:docMk/>
            <pc:sldMk cId="2408593193" sldId="356"/>
            <ac:spMk id="27" creationId="{9586A94B-61E5-D4FE-AF7D-AFC9F553AEE9}"/>
          </ac:spMkLst>
        </pc:spChg>
      </pc:sldChg>
      <pc:sldChg chg="modSp mod">
        <pc:chgData name="Dipti Sapatnekar" userId="df461ef5d21affef" providerId="LiveId" clId="{B8BC79AA-22B4-41EC-9BB3-83435EBCDE39}" dt="2024-10-23T06:27:57.647" v="64" actId="20577"/>
        <pc:sldMkLst>
          <pc:docMk/>
          <pc:sldMk cId="673016424" sldId="358"/>
        </pc:sldMkLst>
        <pc:spChg chg="mod">
          <ac:chgData name="Dipti Sapatnekar" userId="df461ef5d21affef" providerId="LiveId" clId="{B8BC79AA-22B4-41EC-9BB3-83435EBCDE39}" dt="2024-10-23T06:27:57.647" v="64" actId="20577"/>
          <ac:spMkLst>
            <pc:docMk/>
            <pc:sldMk cId="673016424" sldId="358"/>
            <ac:spMk id="27" creationId="{9586A94B-61E5-D4FE-AF7D-AFC9F553AEE9}"/>
          </ac:spMkLst>
        </pc:spChg>
      </pc:sldChg>
      <pc:sldChg chg="modSp mod">
        <pc:chgData name="Dipti Sapatnekar" userId="df461ef5d21affef" providerId="LiveId" clId="{B8BC79AA-22B4-41EC-9BB3-83435EBCDE39}" dt="2024-10-23T06:27:41.828" v="40" actId="20577"/>
        <pc:sldMkLst>
          <pc:docMk/>
          <pc:sldMk cId="2399804576" sldId="360"/>
        </pc:sldMkLst>
        <pc:spChg chg="mod">
          <ac:chgData name="Dipti Sapatnekar" userId="df461ef5d21affef" providerId="LiveId" clId="{B8BC79AA-22B4-41EC-9BB3-83435EBCDE39}" dt="2024-10-23T06:27:41.828" v="40" actId="20577"/>
          <ac:spMkLst>
            <pc:docMk/>
            <pc:sldMk cId="2399804576" sldId="360"/>
            <ac:spMk id="27" creationId="{9586A94B-61E5-D4FE-AF7D-AFC9F553AEE9}"/>
          </ac:spMkLst>
        </pc:spChg>
      </pc:sldChg>
      <pc:sldChg chg="addSp delSp modSp add mod setBg">
        <pc:chgData name="Dipti Sapatnekar" userId="df461ef5d21affef" providerId="LiveId" clId="{B8BC79AA-22B4-41EC-9BB3-83435EBCDE39}" dt="2024-10-23T06:26:52.505" v="16" actId="207"/>
        <pc:sldMkLst>
          <pc:docMk/>
          <pc:sldMk cId="268278182" sldId="364"/>
        </pc:sldMkLst>
        <pc:spChg chg="add mod">
          <ac:chgData name="Dipti Sapatnekar" userId="df461ef5d21affef" providerId="LiveId" clId="{B8BC79AA-22B4-41EC-9BB3-83435EBCDE39}" dt="2024-10-23T06:26:52.505" v="16" actId="207"/>
          <ac:spMkLst>
            <pc:docMk/>
            <pc:sldMk cId="268278182" sldId="364"/>
            <ac:spMk id="4" creationId="{7A21AFE0-1386-EDFE-7BA1-C2A3C87A993F}"/>
          </ac:spMkLst>
        </pc:spChg>
        <pc:spChg chg="del">
          <ac:chgData name="Dipti Sapatnekar" userId="df461ef5d21affef" providerId="LiveId" clId="{B8BC79AA-22B4-41EC-9BB3-83435EBCDE39}" dt="2024-10-23T06:26:36.876" v="13" actId="478"/>
          <ac:spMkLst>
            <pc:docMk/>
            <pc:sldMk cId="268278182" sldId="364"/>
            <ac:spMk id="27" creationId="{9586A94B-61E5-D4FE-AF7D-AFC9F553AEE9}"/>
          </ac:spMkLst>
        </pc:spChg>
      </pc:sldChg>
    </pc:docChg>
  </pc:docChgLst>
  <pc:docChgLst>
    <pc:chgData name="Dipti Sapatnekar" userId="df461ef5d21affef" providerId="LiveId" clId="{22FA2BF5-6344-43CA-A2D8-4E3C1BA6C734}"/>
    <pc:docChg chg="modSld">
      <pc:chgData name="Dipti Sapatnekar" userId="df461ef5d21affef" providerId="LiveId" clId="{22FA2BF5-6344-43CA-A2D8-4E3C1BA6C734}" dt="2024-08-07T04:58:53.213" v="11" actId="14100"/>
      <pc:docMkLst>
        <pc:docMk/>
      </pc:docMkLst>
      <pc:sldChg chg="modSp mod">
        <pc:chgData name="Dipti Sapatnekar" userId="df461ef5d21affef" providerId="LiveId" clId="{22FA2BF5-6344-43CA-A2D8-4E3C1BA6C734}" dt="2024-08-07T04:57:54.686" v="10" actId="20577"/>
        <pc:sldMkLst>
          <pc:docMk/>
          <pc:sldMk cId="220799922" sldId="352"/>
        </pc:sldMkLst>
        <pc:spChg chg="mod">
          <ac:chgData name="Dipti Sapatnekar" userId="df461ef5d21affef" providerId="LiveId" clId="{22FA2BF5-6344-43CA-A2D8-4E3C1BA6C734}" dt="2024-08-07T04:57:54.686" v="10" actId="20577"/>
          <ac:spMkLst>
            <pc:docMk/>
            <pc:sldMk cId="220799922" sldId="352"/>
            <ac:spMk id="11" creationId="{AF2AE1F4-E20B-A7B5-3FB6-517EA4463599}"/>
          </ac:spMkLst>
        </pc:spChg>
      </pc:sldChg>
      <pc:sldChg chg="modSp mod">
        <pc:chgData name="Dipti Sapatnekar" userId="df461ef5d21affef" providerId="LiveId" clId="{22FA2BF5-6344-43CA-A2D8-4E3C1BA6C734}" dt="2024-08-07T04:58:53.213" v="11" actId="14100"/>
        <pc:sldMkLst>
          <pc:docMk/>
          <pc:sldMk cId="1622827541" sldId="357"/>
        </pc:sldMkLst>
        <pc:spChg chg="mod">
          <ac:chgData name="Dipti Sapatnekar" userId="df461ef5d21affef" providerId="LiveId" clId="{22FA2BF5-6344-43CA-A2D8-4E3C1BA6C734}" dt="2024-08-07T04:58:53.213" v="11" actId="14100"/>
          <ac:spMkLst>
            <pc:docMk/>
            <pc:sldMk cId="1622827541" sldId="357"/>
            <ac:spMk id="15" creationId="{905BF8BE-E126-A81E-05B2-03B371733F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12F71-05AA-45B8-85BB-0379C0267FDB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2011D-FA4E-45A7-B6D7-D74C88C8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2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9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2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40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0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7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1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5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8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8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422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8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EA42-13E0-41FB-A68F-5FBD4A82D1C9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9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6">
            <a:extLst>
              <a:ext uri="{FF2B5EF4-FFF2-40B4-BE49-F238E27FC236}">
                <a16:creationId xmlns:a16="http://schemas.microsoft.com/office/drawing/2014/main" id="{7FF1EF97-377A-4E2F-B4BC-0ECF24D2D3D4}"/>
              </a:ext>
            </a:extLst>
          </p:cNvPr>
          <p:cNvSpPr/>
          <p:nvPr/>
        </p:nvSpPr>
        <p:spPr>
          <a:xfrm>
            <a:off x="816000" y="1477789"/>
            <a:ext cx="7800000" cy="198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6400" dirty="0">
                <a:solidFill>
                  <a:srgbClr val="F5F3E4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A Terragni</a:t>
            </a:r>
          </a:p>
          <a:p>
            <a:pPr defTabSz="304815"/>
            <a:r>
              <a:rPr lang="en-US" sz="6400" dirty="0">
                <a:solidFill>
                  <a:srgbClr val="F5F3E4"/>
                </a:solidFill>
                <a:latin typeface="Hepta Slab ExtraBold" pitchFamily="2" charset="0"/>
                <a:cs typeface="Hepta Slab ExtraBold" pitchFamily="2" charset="0"/>
              </a:rPr>
              <a:t>Case Study</a:t>
            </a: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816000" y="3909000"/>
            <a:ext cx="4235884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304815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Driving Persistency in Life Insurance</a:t>
            </a:r>
            <a:endParaRPr lang="en-US" sz="24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07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4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srgbClr val="814A17"/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</a:t>
            </a:r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29" name="Object6">
            <a:extLst>
              <a:ext uri="{FF2B5EF4-FFF2-40B4-BE49-F238E27FC236}">
                <a16:creationId xmlns:a16="http://schemas.microsoft.com/office/drawing/2014/main" id="{7FFB36EB-6BB8-0373-703D-3762D700F5DA}"/>
              </a:ext>
            </a:extLst>
          </p:cNvPr>
          <p:cNvSpPr/>
          <p:nvPr/>
        </p:nvSpPr>
        <p:spPr>
          <a:xfrm>
            <a:off x="3690608" y="1580189"/>
            <a:ext cx="2283450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44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Top 4</a:t>
            </a:r>
            <a:endParaRPr lang="en-US" sz="4400" dirty="0">
              <a:solidFill>
                <a:srgbClr val="FFA65F"/>
              </a:solidFill>
              <a:latin typeface="Hepta Slab ExtraBold" pitchFamily="2" charset="0"/>
              <a:cs typeface="Hepta Slab ExtraBold" pitchFamily="2" charset="0"/>
            </a:endParaRPr>
          </a:p>
        </p:txBody>
      </p:sp>
      <p:sp>
        <p:nvSpPr>
          <p:cNvPr id="31" name="Object5">
            <a:extLst>
              <a:ext uri="{FF2B5EF4-FFF2-40B4-BE49-F238E27FC236}">
                <a16:creationId xmlns:a16="http://schemas.microsoft.com/office/drawing/2014/main" id="{161E54A7-4AD9-6473-8202-C09144517DBC}"/>
              </a:ext>
            </a:extLst>
          </p:cNvPr>
          <p:cNvSpPr/>
          <p:nvPr/>
        </p:nvSpPr>
        <p:spPr>
          <a:xfrm>
            <a:off x="3690609" y="2554947"/>
            <a:ext cx="2636121" cy="70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Players In Private Life Insurance Sector</a:t>
            </a:r>
          </a:p>
        </p:txBody>
      </p:sp>
      <p:sp>
        <p:nvSpPr>
          <p:cNvPr id="32" name="Object5">
            <a:extLst>
              <a:ext uri="{FF2B5EF4-FFF2-40B4-BE49-F238E27FC236}">
                <a16:creationId xmlns:a16="http://schemas.microsoft.com/office/drawing/2014/main" id="{D0F42D0B-599B-4129-6B9E-9A7A0F07050A}"/>
              </a:ext>
            </a:extLst>
          </p:cNvPr>
          <p:cNvSpPr/>
          <p:nvPr/>
        </p:nvSpPr>
        <p:spPr>
          <a:xfrm>
            <a:off x="7038454" y="2549821"/>
            <a:ext cx="2015753" cy="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Offices pan India</a:t>
            </a:r>
          </a:p>
        </p:txBody>
      </p:sp>
      <p:sp>
        <p:nvSpPr>
          <p:cNvPr id="35" name="Object6">
            <a:extLst>
              <a:ext uri="{FF2B5EF4-FFF2-40B4-BE49-F238E27FC236}">
                <a16:creationId xmlns:a16="http://schemas.microsoft.com/office/drawing/2014/main" id="{73687B3F-84A9-5378-8894-588151DCD771}"/>
              </a:ext>
            </a:extLst>
          </p:cNvPr>
          <p:cNvSpPr/>
          <p:nvPr/>
        </p:nvSpPr>
        <p:spPr>
          <a:xfrm>
            <a:off x="7046730" y="1600609"/>
            <a:ext cx="1272248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44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638</a:t>
            </a:r>
          </a:p>
        </p:txBody>
      </p:sp>
      <p:sp>
        <p:nvSpPr>
          <p:cNvPr id="37" name="Object5">
            <a:extLst>
              <a:ext uri="{FF2B5EF4-FFF2-40B4-BE49-F238E27FC236}">
                <a16:creationId xmlns:a16="http://schemas.microsoft.com/office/drawing/2014/main" id="{D1A673E3-06E0-20E6-83C2-4D67DEFF27E3}"/>
              </a:ext>
            </a:extLst>
          </p:cNvPr>
          <p:cNvSpPr/>
          <p:nvPr/>
        </p:nvSpPr>
        <p:spPr>
          <a:xfrm>
            <a:off x="3707554" y="3710701"/>
            <a:ext cx="484182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A Large Workforce Of Insurance Advisors And Other Channel Intermediaries</a:t>
            </a:r>
          </a:p>
        </p:txBody>
      </p:sp>
    </p:spTree>
    <p:extLst>
      <p:ext uri="{BB962C8B-B14F-4D97-AF65-F5344CB8AC3E}">
        <p14:creationId xmlns:p14="http://schemas.microsoft.com/office/powerpoint/2010/main" val="67301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srgbClr val="811717"/>
                </a:solidFill>
                <a:latin typeface="Montserrat SemiBold" pitchFamily="2" charset="0"/>
              </a:rPr>
              <a:t>Challenge</a:t>
            </a:r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8" name="Object4">
            <a:extLst>
              <a:ext uri="{FF2B5EF4-FFF2-40B4-BE49-F238E27FC236}">
                <a16:creationId xmlns:a16="http://schemas.microsoft.com/office/drawing/2014/main" id="{2F56AE42-39CB-B537-760E-303F926E7512}"/>
              </a:ext>
            </a:extLst>
          </p:cNvPr>
          <p:cNvSpPr/>
          <p:nvPr/>
        </p:nvSpPr>
        <p:spPr>
          <a:xfrm>
            <a:off x="3690608" y="2469000"/>
            <a:ext cx="7205392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2667" b="1" dirty="0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Inconsistency in Premium renewal</a:t>
            </a: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3690608" y="3338860"/>
            <a:ext cx="7589968" cy="10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retention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Low Persistency rate of life insurance policies after 3/5 years of sales 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More than 63 % of customers are not aware or not comfortable with digital payment gateways for renewals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Lack of information as a product category &amp; financial instrument 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(Life Insurance)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EDF7AD-76FC-8BB5-EF96-0B1481E6C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33" y="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3749125" y="2949000"/>
            <a:ext cx="7205392" cy="22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premium renewal transaction</a:t>
            </a: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Areas of high effort and friction in the renewal transaction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Insurance</a:t>
            </a: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Emotions and attitudes associated with the product category 	&amp; their impact on customer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the Brand</a:t>
            </a:r>
          </a:p>
          <a:p>
            <a:pPr lvl="1"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Emotions and attitudes associated with the brand , product &amp; touchpoints &amp; their impact on customer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00" y="155774"/>
            <a:ext cx="2280000" cy="22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9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Objective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srgbClr val="7030A0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00" y="78364"/>
            <a:ext cx="2280000" cy="228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76901C9-BC0B-BF22-EA0F-51CFC7FB1766}"/>
              </a:ext>
            </a:extLst>
          </p:cNvPr>
          <p:cNvGrpSpPr/>
          <p:nvPr/>
        </p:nvGrpSpPr>
        <p:grpSpPr>
          <a:xfrm>
            <a:off x="3207438" y="520937"/>
            <a:ext cx="8334541" cy="6020824"/>
            <a:chOff x="2891767" y="838200"/>
            <a:chExt cx="17983858" cy="1338889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5848F4-4F4E-31A8-B823-C83D81921DA2}"/>
                </a:ext>
              </a:extLst>
            </p:cNvPr>
            <p:cNvSpPr/>
            <p:nvPr/>
          </p:nvSpPr>
          <p:spPr>
            <a:xfrm flipH="1">
              <a:off x="9516021" y="457891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080B20-3A70-CADE-B6B5-8A8F94B12E0E}"/>
                </a:ext>
              </a:extLst>
            </p:cNvPr>
            <p:cNvCxnSpPr>
              <a:cxnSpLocks/>
            </p:cNvCxnSpPr>
            <p:nvPr/>
          </p:nvCxnSpPr>
          <p:spPr>
            <a:xfrm>
              <a:off x="3151388" y="6324600"/>
              <a:ext cx="7955022" cy="0"/>
            </a:xfrm>
            <a:prstGeom prst="line">
              <a:avLst/>
            </a:prstGeom>
            <a:ln w="63500">
              <a:solidFill>
                <a:srgbClr val="3C7E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32947D-4C85-3162-7BF2-2856CA950EBC}"/>
                </a:ext>
              </a:extLst>
            </p:cNvPr>
            <p:cNvSpPr/>
            <p:nvPr/>
          </p:nvSpPr>
          <p:spPr>
            <a:xfrm>
              <a:off x="9536144" y="834032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D09D019-7C8C-0E5B-545C-5549097F9757}"/>
                </a:ext>
              </a:extLst>
            </p:cNvPr>
            <p:cNvSpPr/>
            <p:nvPr/>
          </p:nvSpPr>
          <p:spPr>
            <a:xfrm>
              <a:off x="9536144" y="838200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F4B76B-750D-9F08-D1B1-DDD7C58C4B4C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9996622"/>
              <a:ext cx="7955022" cy="0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B6794E-D0B6-0318-281B-1900A6835191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2376622"/>
              <a:ext cx="7955022" cy="0"/>
            </a:xfrm>
            <a:prstGeom prst="line">
              <a:avLst/>
            </a:prstGeom>
            <a:ln w="63500">
              <a:solidFill>
                <a:srgbClr val="FF36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F5DF05-39C7-F9AD-2409-B7C5D0833C05}"/>
                </a:ext>
              </a:extLst>
            </p:cNvPr>
            <p:cNvSpPr/>
            <p:nvPr/>
          </p:nvSpPr>
          <p:spPr>
            <a:xfrm>
              <a:off x="9536144" y="838200"/>
              <a:ext cx="2271103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FF36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58E3D6-58F4-5D47-D093-8C7B0477C4EC}"/>
                </a:ext>
              </a:extLst>
            </p:cNvPr>
            <p:cNvSpPr/>
            <p:nvPr/>
          </p:nvSpPr>
          <p:spPr>
            <a:xfrm flipH="1">
              <a:off x="11808403" y="457891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3C7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20EE116-76D0-D987-0A50-9CC8EAC61194}"/>
                </a:ext>
              </a:extLst>
            </p:cNvPr>
            <p:cNvSpPr/>
            <p:nvPr/>
          </p:nvSpPr>
          <p:spPr>
            <a:xfrm>
              <a:off x="10338221" y="1640277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11BE66-E4AD-8DCF-6172-1E1F00CC861D}"/>
                </a:ext>
              </a:extLst>
            </p:cNvPr>
            <p:cNvSpPr/>
            <p:nvPr/>
          </p:nvSpPr>
          <p:spPr>
            <a:xfrm>
              <a:off x="9536144" y="834032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 dirty="0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0EEE64-7123-37BB-830B-1E8F88D1F0D9}"/>
                </a:ext>
              </a:extLst>
            </p:cNvPr>
            <p:cNvSpPr/>
            <p:nvPr/>
          </p:nvSpPr>
          <p:spPr>
            <a:xfrm>
              <a:off x="10338221" y="9142399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6E0B2-FFA3-00D2-4056-B7C3D3086BB6}"/>
                </a:ext>
              </a:extLst>
            </p:cNvPr>
            <p:cNvSpPr/>
            <p:nvPr/>
          </p:nvSpPr>
          <p:spPr>
            <a:xfrm flipH="1">
              <a:off x="10338221" y="5380988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445061-807C-93A5-DD53-AA2A59A74014}"/>
                </a:ext>
              </a:extLst>
            </p:cNvPr>
            <p:cNvSpPr txBox="1"/>
            <p:nvPr/>
          </p:nvSpPr>
          <p:spPr>
            <a:xfrm>
              <a:off x="10953215" y="2863947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CC637C-1569-637D-6418-2BE0D8D036EE}"/>
                </a:ext>
              </a:extLst>
            </p:cNvPr>
            <p:cNvSpPr txBox="1"/>
            <p:nvPr/>
          </p:nvSpPr>
          <p:spPr>
            <a:xfrm>
              <a:off x="10907423" y="6529365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C31503-EA68-A9E4-D211-8FA7C67A7EB6}"/>
                </a:ext>
              </a:extLst>
            </p:cNvPr>
            <p:cNvSpPr txBox="1"/>
            <p:nvPr/>
          </p:nvSpPr>
          <p:spPr>
            <a:xfrm>
              <a:off x="10907423" y="10301265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9E148A-5EBB-2782-0A69-932B340A96F9}"/>
                </a:ext>
              </a:extLst>
            </p:cNvPr>
            <p:cNvSpPr txBox="1"/>
            <p:nvPr/>
          </p:nvSpPr>
          <p:spPr>
            <a:xfrm>
              <a:off x="2891767" y="6915268"/>
              <a:ext cx="6664499" cy="424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Phenomenological in depth interactions for episodic recall.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One-on-One in-depth interactions, 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50 hours of interview transcripts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6E872C-84C9-BBC5-5863-AD745A6ED0C6}"/>
                </a:ext>
              </a:extLst>
            </p:cNvPr>
            <p:cNvSpPr txBox="1"/>
            <p:nvPr/>
          </p:nvSpPr>
          <p:spPr>
            <a:xfrm>
              <a:off x="2981562" y="5355742"/>
              <a:ext cx="5293665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3C7EFF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Qualitative Insights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17F3B5-3DF8-E2A0-D701-A7927DD1A407}"/>
                </a:ext>
              </a:extLst>
            </p:cNvPr>
            <p:cNvSpPr txBox="1"/>
            <p:nvPr/>
          </p:nvSpPr>
          <p:spPr>
            <a:xfrm>
              <a:off x="14941402" y="2925610"/>
              <a:ext cx="5934223" cy="18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 lakh+ Records –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 Years Time Span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56F9E-49CE-2C29-AADC-1470A776DC2D}"/>
                </a:ext>
              </a:extLst>
            </p:cNvPr>
            <p:cNvSpPr txBox="1"/>
            <p:nvPr/>
          </p:nvSpPr>
          <p:spPr>
            <a:xfrm>
              <a:off x="14941402" y="10440953"/>
              <a:ext cx="5934223" cy="3786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Released to all the customer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online studies testing: Trustworthiness, Touch Points Interaction Friction, Redemption Insights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D17DFE-BFC2-7D88-858C-A5776DBA61A6}"/>
                </a:ext>
              </a:extLst>
            </p:cNvPr>
            <p:cNvSpPr txBox="1"/>
            <p:nvPr/>
          </p:nvSpPr>
          <p:spPr>
            <a:xfrm>
              <a:off x="16149416" y="1475560"/>
              <a:ext cx="4726209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FF36BB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Quantitative Insights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16DEAC-C186-7B73-480D-0F7BC12678DF}"/>
                </a:ext>
              </a:extLst>
            </p:cNvPr>
            <p:cNvSpPr txBox="1"/>
            <p:nvPr/>
          </p:nvSpPr>
          <p:spPr>
            <a:xfrm>
              <a:off x="15913397" y="8018337"/>
              <a:ext cx="4726209" cy="1919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7030A0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Consumer Neuroscience Based Widespan Assessment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80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FF36BB"/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3304" y="2949000"/>
            <a:ext cx="6725392" cy="192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ct val="150000"/>
              </a:lnSpc>
            </a:pP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High Claim Settlement Ratio</a:t>
            </a:r>
          </a:p>
          <a:p>
            <a:pPr defTabSz="304815">
              <a:lnSpc>
                <a:spcPct val="150000"/>
              </a:lnSpc>
            </a:pP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Reach in terms of physical presence is high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E045C1-1251-FE30-130C-9DC2AA1EF199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B7BA6A16-9D4F-FA25-FD17-0449B850D193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B03109-3077-637C-316F-2F728FDB14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55A7324-E25B-D700-96D2-482A5C6DC6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5ABEE6D-C58F-6254-E38D-61686310B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33" y="0"/>
            <a:ext cx="2749111" cy="27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0608" y="2949001"/>
            <a:ext cx="6005792" cy="95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Transparency – Totality &amp; Intuitiveness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Consistency-Across the entire lifecycle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Flexibility- Ability to control outcome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B7EA54-163A-BB31-C796-143ECA0C0394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13D9AA4D-07B3-ACC1-DF75-F0E4B678BA52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E564903-E8F1-840A-73EB-1EECB40D3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39FDEA7-D275-32BA-FFD4-4E1DE27D9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A5D43F2-F6C9-0223-5434-97FF434368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-21740" r="-4179" b="21740"/>
          <a:stretch/>
        </p:blipFill>
        <p:spPr>
          <a:xfrm>
            <a:off x="2806016" y="-495421"/>
            <a:ext cx="2807288" cy="28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2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7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1DB550-F1ED-303D-9DC0-540691ED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001" y="-33749"/>
            <a:ext cx="2426243" cy="2426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817617"/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1729" y="2528900"/>
            <a:ext cx="7696859" cy="782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Design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Relevant and timely nudges to drive customer </a:t>
            </a:r>
            <a:r>
              <a:rPr lang="en-US" sz="1600" dirty="0" err="1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behaviour</a:t>
            </a:r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shifts (EAST* framework for </a:t>
            </a:r>
            <a:r>
              <a:rPr lang="en-US" sz="1600" dirty="0" err="1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behaviour</a:t>
            </a:r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shifts)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Re-Design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Premium Renewal Processes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Touchpoints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 Communication 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Data Enrichment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For </a:t>
            </a:r>
            <a:r>
              <a:rPr lang="en-US" sz="1600" dirty="0" err="1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focussed</a:t>
            </a:r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solution delivery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859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2" name="Image 5" descr="preencoded.png">
            <a:extLst>
              <a:ext uri="{FF2B5EF4-FFF2-40B4-BE49-F238E27FC236}">
                <a16:creationId xmlns:a16="http://schemas.microsoft.com/office/drawing/2014/main" id="{E7B4572C-EDBC-B9B2-B9D8-38AC85149C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91644" y="720390"/>
            <a:ext cx="8794787" cy="6144405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3DFEA4-E20A-25B4-DB14-E9E1C5471AC3}"/>
              </a:ext>
            </a:extLst>
          </p:cNvPr>
          <p:cNvSpPr txBox="1"/>
          <p:nvPr/>
        </p:nvSpPr>
        <p:spPr>
          <a:xfrm>
            <a:off x="2639616" y="440668"/>
            <a:ext cx="1206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04815"/>
            <a:r>
              <a:rPr lang="en-US" sz="1800" dirty="0">
                <a:solidFill>
                  <a:schemeClr val="bg1"/>
                </a:solidFill>
                <a:latin typeface="Montserrat SemiBold" pitchFamily="2" charset="0"/>
              </a:rPr>
              <a:t>Sample</a:t>
            </a:r>
          </a:p>
        </p:txBody>
      </p:sp>
      <p:sp>
        <p:nvSpPr>
          <p:cNvPr id="4" name="Object6">
            <a:extLst>
              <a:ext uri="{FF2B5EF4-FFF2-40B4-BE49-F238E27FC236}">
                <a16:creationId xmlns:a16="http://schemas.microsoft.com/office/drawing/2014/main" id="{7A21AFE0-1386-EDFE-7BA1-C2A3C87A993F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FFC000"/>
                </a:solidFill>
                <a:latin typeface="Montserrat SemiBold" pitchFamily="2" charset="0"/>
              </a:rPr>
              <a:t>Sample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002060"/>
                </a:solidFill>
                <a:latin typeface="Montserrat SemiBold" pitchFamily="2" charset="0"/>
              </a:rPr>
              <a:t>Business Outcomes</a:t>
            </a:r>
          </a:p>
        </p:txBody>
      </p:sp>
      <p:sp>
        <p:nvSpPr>
          <p:cNvPr id="15" name="Object4">
            <a:extLst>
              <a:ext uri="{FF2B5EF4-FFF2-40B4-BE49-F238E27FC236}">
                <a16:creationId xmlns:a16="http://schemas.microsoft.com/office/drawing/2014/main" id="{905BF8BE-E126-A81E-05B2-03B371733F08}"/>
              </a:ext>
            </a:extLst>
          </p:cNvPr>
          <p:cNvSpPr/>
          <p:nvPr/>
        </p:nvSpPr>
        <p:spPr>
          <a:xfrm>
            <a:off x="3755740" y="2780927"/>
            <a:ext cx="8161077" cy="2208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Improved Persistency 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Digital (online) Adoption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⬇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Reduced Cost of Service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Customer Connect and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Contactability</a:t>
            </a: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304815">
              <a:lnSpc>
                <a:spcPct val="200000"/>
              </a:lnSpc>
            </a:pP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304815">
              <a:lnSpc>
                <a:spcPct val="200000"/>
              </a:lnSpc>
            </a:pP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693E3A-0875-8DFA-B1D5-9E79C03643C1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B34A65A-FF03-3C15-5691-2B5F5EF58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382DA11-7442-5E5E-B45F-429A69B40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2616B91C-32F4-0482-816C-B938FFE039BE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EF26FDB-CE8B-1D2B-E3A3-91334D8D63D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5" r="1717" b="24319"/>
          <a:stretch/>
        </p:blipFill>
        <p:spPr>
          <a:xfrm>
            <a:off x="3599649" y="226533"/>
            <a:ext cx="2856351" cy="16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2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89650" y="1746250"/>
            <a:ext cx="6350" cy="3365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1130300" y="3048000"/>
            <a:ext cx="40144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6000"/>
              </a:lnSpc>
            </a:pPr>
            <a:r>
              <a:rPr lang="en-US" sz="48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Thank You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Object3"/>
          <p:cNvSpPr/>
          <p:nvPr/>
        </p:nvSpPr>
        <p:spPr>
          <a:xfrm>
            <a:off x="6576000" y="2577525"/>
            <a:ext cx="4546600" cy="170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4000"/>
              </a:lnSpc>
            </a:pPr>
            <a:r>
              <a:rPr lang="en-US" sz="3200" dirty="0">
                <a:solidFill>
                  <a:srgbClr val="F5F3E4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dipti@terragni.in
+91 895 698 2522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B93B21-C61B-4782-BCB8-67162AB74915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E1E61F5A-9D3A-456E-81A1-A884BEB95D4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BC857-D541-41C5-8AA8-881FC10C4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1A0D35D-74D3-47E0-9C4E-59C0BF32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064000" cy="325755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4000" y="0"/>
            <a:ext cx="4064000" cy="325755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0" y="0"/>
            <a:ext cx="4064000" cy="3257550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1708150" y="33655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India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5"/>
          <p:cNvSpPr/>
          <p:nvPr/>
        </p:nvSpPr>
        <p:spPr>
          <a:xfrm>
            <a:off x="5638800" y="33655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London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Object6"/>
          <p:cNvSpPr/>
          <p:nvPr/>
        </p:nvSpPr>
        <p:spPr>
          <a:xfrm>
            <a:off x="9505950" y="336550"/>
            <a:ext cx="1187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Bucharest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7"/>
          <p:cNvSpPr/>
          <p:nvPr/>
        </p:nvSpPr>
        <p:spPr>
          <a:xfrm>
            <a:off x="4716845" y="4613958"/>
            <a:ext cx="273291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304815">
              <a:lnSpc>
                <a:spcPts val="2200"/>
              </a:lnSpc>
            </a:pPr>
            <a:r>
              <a:rPr lang="en-US" dirty="0">
                <a:solidFill>
                  <a:srgbClr val="F5F3E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www.terragni.in
www.buyerbrain.com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D8BA93-BFB9-43A1-A8E5-A2E535C4302E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57EFBAB2-8D9B-4D59-BC35-807813541343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BA4B19-4EC2-41DF-8F6F-83738A980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C9CDB73-5157-4EE7-AFFD-9BEBBDD50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523</Words>
  <Application>Microsoft Office PowerPoint</Application>
  <PresentationFormat>Widescreen</PresentationFormat>
  <Paragraphs>217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Calibri</vt:lpstr>
      <vt:lpstr>Calibri Light</vt:lpstr>
      <vt:lpstr>Hepta Slab</vt:lpstr>
      <vt:lpstr>Hepta Slab Bold</vt:lpstr>
      <vt:lpstr>Hepta Slab ExtraBold</vt:lpstr>
      <vt:lpstr>Hepta Slab Regular</vt:lpstr>
      <vt:lpstr>Hepta Slab SemiBold</vt:lpstr>
      <vt:lpstr>Montserrat ExtraBold</vt:lpstr>
      <vt:lpstr>Montserrat Medium</vt:lpstr>
      <vt:lpstr>Montserrat SemiBold</vt:lpstr>
      <vt:lpstr>Noto Emoji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Dipti Sapatnekar</dc:creator>
  <cp:lastModifiedBy>Dipti Sapatnekar</cp:lastModifiedBy>
  <cp:revision>9</cp:revision>
  <dcterms:created xsi:type="dcterms:W3CDTF">2023-01-25T10:36:35Z</dcterms:created>
  <dcterms:modified xsi:type="dcterms:W3CDTF">2024-10-23T06:27:58Z</dcterms:modified>
</cp:coreProperties>
</file>