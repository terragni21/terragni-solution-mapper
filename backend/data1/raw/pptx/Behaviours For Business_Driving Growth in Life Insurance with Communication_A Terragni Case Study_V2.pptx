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19"/>
  </p:notesMasterIdLst>
  <p:sldIdLst>
    <p:sldId id="259" r:id="rId3"/>
    <p:sldId id="358" r:id="rId4"/>
    <p:sldId id="348" r:id="rId5"/>
    <p:sldId id="350" r:id="rId6"/>
    <p:sldId id="353" r:id="rId7"/>
    <p:sldId id="360" r:id="rId8"/>
    <p:sldId id="356" r:id="rId9"/>
    <p:sldId id="361" r:id="rId10"/>
    <p:sldId id="362" r:id="rId11"/>
    <p:sldId id="363" r:id="rId12"/>
    <p:sldId id="270" r:id="rId13"/>
    <p:sldId id="271" r:id="rId14"/>
    <p:sldId id="364" r:id="rId15"/>
    <p:sldId id="357" r:id="rId16"/>
    <p:sldId id="290" r:id="rId17"/>
    <p:sldId id="28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B"/>
    <a:srgbClr val="E1CAF1"/>
    <a:srgbClr val="FF6962"/>
    <a:srgbClr val="814A17"/>
    <a:srgbClr val="811717"/>
    <a:srgbClr val="8176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8" d="100"/>
          <a:sy n="78" d="100"/>
        </p:scale>
        <p:origin x="878" y="67"/>
      </p:cViewPr>
      <p:guideLst/>
    </p:cSldViewPr>
  </p:slideViewPr>
  <p:notesTextViewPr>
    <p:cViewPr>
      <p:scale>
        <a:sx n="1" d="1"/>
        <a:sy n="1" d="1"/>
      </p:scale>
      <p:origin x="0" y="0"/>
    </p:cViewPr>
  </p:notesTextViewPr>
  <p:sorterViewPr>
    <p:cViewPr varScale="1">
      <p:scale>
        <a:sx n="100" d="100"/>
        <a:sy n="100" d="100"/>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512F71-05AA-45B8-85BB-0379C0267FDB}" type="datetimeFigureOut">
              <a:rPr lang="en-IN" smtClean="0"/>
              <a:t>06-08-2024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92011D-FA4E-45A7-B6D7-D74C88C8ED9F}" type="slidenum">
              <a:rPr lang="en-IN" smtClean="0"/>
              <a:t>‹#›</a:t>
            </a:fld>
            <a:endParaRPr lang="en-IN"/>
          </a:p>
        </p:txBody>
      </p:sp>
    </p:spTree>
    <p:extLst>
      <p:ext uri="{BB962C8B-B14F-4D97-AF65-F5344CB8AC3E}">
        <p14:creationId xmlns:p14="http://schemas.microsoft.com/office/powerpoint/2010/main" val="2450022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304815"/>
            <a:r>
              <a:rPr lang="en-US" sz="1200" dirty="0">
                <a:solidFill>
                  <a:srgbClr val="F5F3E4"/>
                </a:solidFill>
                <a:latin typeface="Hepta Slab Regular" pitchFamily="2" charset="0"/>
                <a:ea typeface="Hepta Slab Regular" pitchFamily="34" charset="-122"/>
                <a:cs typeface="Hepta Slab Regular" pitchFamily="2" charset="0"/>
              </a:rPr>
              <a:t>Lack of information as a product category &amp; financial instrument </a:t>
            </a:r>
          </a:p>
          <a:p>
            <a:pPr defTabSz="304815"/>
            <a:r>
              <a:rPr lang="en-US" sz="1200" dirty="0">
                <a:solidFill>
                  <a:srgbClr val="F5F3E4"/>
                </a:solidFill>
                <a:latin typeface="Hepta Slab Regular" pitchFamily="2" charset="0"/>
                <a:ea typeface="Hepta Slab Regular" pitchFamily="34" charset="-122"/>
                <a:cs typeface="Hepta Slab Regular" pitchFamily="2" charset="0"/>
              </a:rPr>
              <a:t>(Life Insurance)</a:t>
            </a:r>
          </a:p>
          <a:p>
            <a:endParaRPr lang="en-IN" dirty="0"/>
          </a:p>
        </p:txBody>
      </p:sp>
      <p:sp>
        <p:nvSpPr>
          <p:cNvPr id="4" name="Slide Number Placeholder 3"/>
          <p:cNvSpPr>
            <a:spLocks noGrp="1"/>
          </p:cNvSpPr>
          <p:nvPr>
            <p:ph type="sldNum" sz="quarter" idx="5"/>
          </p:nvPr>
        </p:nvSpPr>
        <p:spPr/>
        <p:txBody>
          <a:bodyPr/>
          <a:lstStyle/>
          <a:p>
            <a:fld id="{C292011D-FA4E-45A7-B6D7-D74C88C8ED9F}" type="slidenum">
              <a:rPr lang="en-IN" smtClean="0"/>
              <a:t>3</a:t>
            </a:fld>
            <a:endParaRPr lang="en-IN"/>
          </a:p>
        </p:txBody>
      </p:sp>
    </p:spTree>
    <p:extLst>
      <p:ext uri="{BB962C8B-B14F-4D97-AF65-F5344CB8AC3E}">
        <p14:creationId xmlns:p14="http://schemas.microsoft.com/office/powerpoint/2010/main" val="3902237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89F3A-79E5-037A-7639-0309B58A7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49152-5A22-5A35-8302-84E131985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6A137-ACFD-DF1C-F86E-1524A6093A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98EA02-658A-D758-BBC3-9D8545F4E00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3011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06-08-2024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011990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06-08-2024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011023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23" indent="0">
              <a:buNone/>
              <a:defRPr sz="2000">
                <a:solidFill>
                  <a:schemeClr val="tx1">
                    <a:tint val="75000"/>
                  </a:schemeClr>
                </a:solidFill>
              </a:defRPr>
            </a:lvl2pPr>
            <a:lvl3pPr marL="914446" indent="0">
              <a:buNone/>
              <a:defRPr sz="1800">
                <a:solidFill>
                  <a:schemeClr val="tx1">
                    <a:tint val="75000"/>
                  </a:schemeClr>
                </a:solidFill>
              </a:defRPr>
            </a:lvl3pPr>
            <a:lvl4pPr marL="1371669" indent="0">
              <a:buNone/>
              <a:defRPr sz="1600">
                <a:solidFill>
                  <a:schemeClr val="tx1">
                    <a:tint val="75000"/>
                  </a:schemeClr>
                </a:solidFill>
              </a:defRPr>
            </a:lvl4pPr>
            <a:lvl5pPr marL="1828891" indent="0">
              <a:buNone/>
              <a:defRPr sz="1600">
                <a:solidFill>
                  <a:schemeClr val="tx1">
                    <a:tint val="75000"/>
                  </a:schemeClr>
                </a:solidFill>
              </a:defRPr>
            </a:lvl5pPr>
            <a:lvl6pPr marL="2286114" indent="0">
              <a:buNone/>
              <a:defRPr sz="1600">
                <a:solidFill>
                  <a:schemeClr val="tx1">
                    <a:tint val="75000"/>
                  </a:schemeClr>
                </a:solidFill>
              </a:defRPr>
            </a:lvl6pPr>
            <a:lvl7pPr marL="2743337" indent="0">
              <a:buNone/>
              <a:defRPr sz="1600">
                <a:solidFill>
                  <a:schemeClr val="tx1">
                    <a:tint val="75000"/>
                  </a:schemeClr>
                </a:solidFill>
              </a:defRPr>
            </a:lvl7pPr>
            <a:lvl8pPr marL="3200560" indent="0">
              <a:buNone/>
              <a:defRPr sz="1600">
                <a:solidFill>
                  <a:schemeClr val="tx1">
                    <a:tint val="75000"/>
                  </a:schemeClr>
                </a:solidFill>
              </a:defRPr>
            </a:lvl8pPr>
            <a:lvl9pPr marL="365778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BEA42-13E0-41FB-A68F-5FBD4A82D1C9}" type="datetimeFigureOut">
              <a:rPr lang="en-IN" smtClean="0"/>
              <a:t>06-08-2024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293403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7BEA42-13E0-41FB-A68F-5FBD4A82D1C9}" type="datetimeFigureOut">
              <a:rPr lang="en-IN" smtClean="0"/>
              <a:t>06-08-2024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108060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23" indent="0">
              <a:buNone/>
              <a:defRPr sz="2000" b="1"/>
            </a:lvl2pPr>
            <a:lvl3pPr marL="914446" indent="0">
              <a:buNone/>
              <a:defRPr sz="1800" b="1"/>
            </a:lvl3pPr>
            <a:lvl4pPr marL="1371669" indent="0">
              <a:buNone/>
              <a:defRPr sz="1600" b="1"/>
            </a:lvl4pPr>
            <a:lvl5pPr marL="1828891" indent="0">
              <a:buNone/>
              <a:defRPr sz="1600" b="1"/>
            </a:lvl5pPr>
            <a:lvl6pPr marL="2286114" indent="0">
              <a:buNone/>
              <a:defRPr sz="1600" b="1"/>
            </a:lvl6pPr>
            <a:lvl7pPr marL="2743337" indent="0">
              <a:buNone/>
              <a:defRPr sz="1600" b="1"/>
            </a:lvl7pPr>
            <a:lvl8pPr marL="3200560" indent="0">
              <a:buNone/>
              <a:defRPr sz="1600" b="1"/>
            </a:lvl8pPr>
            <a:lvl9pPr marL="3657783"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23" indent="0">
              <a:buNone/>
              <a:defRPr sz="2000" b="1"/>
            </a:lvl2pPr>
            <a:lvl3pPr marL="914446" indent="0">
              <a:buNone/>
              <a:defRPr sz="1800" b="1"/>
            </a:lvl3pPr>
            <a:lvl4pPr marL="1371669" indent="0">
              <a:buNone/>
              <a:defRPr sz="1600" b="1"/>
            </a:lvl4pPr>
            <a:lvl5pPr marL="1828891" indent="0">
              <a:buNone/>
              <a:defRPr sz="1600" b="1"/>
            </a:lvl5pPr>
            <a:lvl6pPr marL="2286114" indent="0">
              <a:buNone/>
              <a:defRPr sz="1600" b="1"/>
            </a:lvl6pPr>
            <a:lvl7pPr marL="2743337" indent="0">
              <a:buNone/>
              <a:defRPr sz="1600" b="1"/>
            </a:lvl7pPr>
            <a:lvl8pPr marL="3200560" indent="0">
              <a:buNone/>
              <a:defRPr sz="1600" b="1"/>
            </a:lvl8pPr>
            <a:lvl9pPr marL="365778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7BEA42-13E0-41FB-A68F-5FBD4A82D1C9}" type="datetimeFigureOut">
              <a:rPr lang="en-IN" smtClean="0"/>
              <a:t>06-08-2024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589173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7BEA42-13E0-41FB-A68F-5FBD4A82D1C9}" type="datetimeFigureOut">
              <a:rPr lang="en-IN" smtClean="0"/>
              <a:t>06-08-2024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932919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7BEA42-13E0-41FB-A68F-5FBD4A82D1C9}" type="datetimeFigureOut">
              <a:rPr lang="en-IN" smtClean="0"/>
              <a:t>06-08-2024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160653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23" indent="0">
              <a:buNone/>
              <a:defRPr sz="1400"/>
            </a:lvl2pPr>
            <a:lvl3pPr marL="914446" indent="0">
              <a:buNone/>
              <a:defRPr sz="1200"/>
            </a:lvl3pPr>
            <a:lvl4pPr marL="1371669" indent="0">
              <a:buNone/>
              <a:defRPr sz="1000"/>
            </a:lvl4pPr>
            <a:lvl5pPr marL="1828891" indent="0">
              <a:buNone/>
              <a:defRPr sz="1000"/>
            </a:lvl5pPr>
            <a:lvl6pPr marL="2286114" indent="0">
              <a:buNone/>
              <a:defRPr sz="1000"/>
            </a:lvl6pPr>
            <a:lvl7pPr marL="2743337" indent="0">
              <a:buNone/>
              <a:defRPr sz="1000"/>
            </a:lvl7pPr>
            <a:lvl8pPr marL="3200560" indent="0">
              <a:buNone/>
              <a:defRPr sz="1000"/>
            </a:lvl8pPr>
            <a:lvl9pPr marL="365778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BEA42-13E0-41FB-A68F-5FBD4A82D1C9}" type="datetimeFigureOut">
              <a:rPr lang="en-IN" smtClean="0"/>
              <a:t>06-08-2024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894082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23" indent="0">
              <a:buNone/>
              <a:defRPr sz="1400"/>
            </a:lvl2pPr>
            <a:lvl3pPr marL="914446" indent="0">
              <a:buNone/>
              <a:defRPr sz="1200"/>
            </a:lvl3pPr>
            <a:lvl4pPr marL="1371669" indent="0">
              <a:buNone/>
              <a:defRPr sz="1000"/>
            </a:lvl4pPr>
            <a:lvl5pPr marL="1828891" indent="0">
              <a:buNone/>
              <a:defRPr sz="1000"/>
            </a:lvl5pPr>
            <a:lvl6pPr marL="2286114" indent="0">
              <a:buNone/>
              <a:defRPr sz="1000"/>
            </a:lvl6pPr>
            <a:lvl7pPr marL="2743337" indent="0">
              <a:buNone/>
              <a:defRPr sz="1000"/>
            </a:lvl7pPr>
            <a:lvl8pPr marL="3200560" indent="0">
              <a:buNone/>
              <a:defRPr sz="1000"/>
            </a:lvl8pPr>
            <a:lvl9pPr marL="365778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7BEA42-13E0-41FB-A68F-5FBD4A82D1C9}" type="datetimeFigureOut">
              <a:rPr lang="en-IN" smtClean="0"/>
              <a:t>06-08-2024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209683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06-08-2024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307631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06-08-2024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141422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3587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8998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7BEA42-13E0-41FB-A68F-5FBD4A82D1C9}" type="datetimeFigureOut">
              <a:rPr lang="en-IN" smtClean="0"/>
              <a:t>06-08-2024</a:t>
            </a:fld>
            <a:endParaRPr lang="en-IN"/>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FFEF3A-9EDB-45A3-8F8C-28BAE7165C56}" type="slidenum">
              <a:rPr lang="en-IN" smtClean="0"/>
              <a:t>‹#›</a:t>
            </a:fld>
            <a:endParaRPr lang="en-IN"/>
          </a:p>
        </p:txBody>
      </p:sp>
    </p:spTree>
    <p:extLst>
      <p:ext uri="{BB962C8B-B14F-4D97-AF65-F5344CB8AC3E}">
        <p14:creationId xmlns:p14="http://schemas.microsoft.com/office/powerpoint/2010/main" val="3052397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7097664"/>
      </p:ext>
    </p:extLst>
  </p:cSld>
  <p:clrMap bg1="lt1" tx1="dk1" bg2="lt2" tx2="dk2" accent1="accent1" accent2="accent2" accent3="accent3" accent4="accent4" accent5="accent5" accent6="accent6" hlink="hlink" folHlink="folHlink"/>
  <p:sldLayoutIdLst>
    <p:sldLayoutId id="2147483674" r:id="rId1"/>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1.png"/><Relationship Id="rId9"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14.sv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21.sv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24.jpeg"/><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Object6">
            <a:extLst>
              <a:ext uri="{FF2B5EF4-FFF2-40B4-BE49-F238E27FC236}">
                <a16:creationId xmlns:a16="http://schemas.microsoft.com/office/drawing/2014/main" id="{7FF1EF97-377A-4E2F-B4BC-0ECF24D2D3D4}"/>
              </a:ext>
            </a:extLst>
          </p:cNvPr>
          <p:cNvSpPr/>
          <p:nvPr/>
        </p:nvSpPr>
        <p:spPr>
          <a:xfrm>
            <a:off x="816000" y="1477789"/>
            <a:ext cx="7800000" cy="1980000"/>
          </a:xfrm>
          <a:prstGeom prst="rect">
            <a:avLst/>
          </a:prstGeom>
          <a:noFill/>
          <a:ln/>
        </p:spPr>
        <p:txBody>
          <a:bodyPr wrap="square" lIns="0" tIns="0" rIns="0" bIns="0" rtlCol="0" anchor="b">
            <a:noAutofit/>
          </a:bodyPr>
          <a:lstStyle/>
          <a:p>
            <a:pPr defTabSz="304815"/>
            <a:r>
              <a:rPr lang="en-US" sz="6400" dirty="0">
                <a:solidFill>
                  <a:srgbClr val="F5F3E4"/>
                </a:solidFill>
                <a:latin typeface="Hepta Slab ExtraBold" pitchFamily="2" charset="0"/>
                <a:ea typeface="Montserrat ExtraBold" pitchFamily="34" charset="-122"/>
                <a:cs typeface="Hepta Slab ExtraBold" pitchFamily="2" charset="0"/>
              </a:rPr>
              <a:t>A Terragni</a:t>
            </a:r>
          </a:p>
          <a:p>
            <a:pPr defTabSz="304815"/>
            <a:r>
              <a:rPr lang="en-US" sz="6400" dirty="0">
                <a:solidFill>
                  <a:srgbClr val="F5F3E4"/>
                </a:solidFill>
                <a:latin typeface="Hepta Slab ExtraBold" pitchFamily="2" charset="0"/>
                <a:cs typeface="Hepta Slab ExtraBold" pitchFamily="2" charset="0"/>
              </a:rPr>
              <a:t>Case Study</a:t>
            </a:r>
          </a:p>
        </p:txBody>
      </p:sp>
      <p:sp>
        <p:nvSpPr>
          <p:cNvPr id="5" name="Object6">
            <a:extLst>
              <a:ext uri="{FF2B5EF4-FFF2-40B4-BE49-F238E27FC236}">
                <a16:creationId xmlns:a16="http://schemas.microsoft.com/office/drawing/2014/main" id="{3E0BAEEE-A595-D314-E921-60B7FA4811A8}"/>
              </a:ext>
            </a:extLst>
          </p:cNvPr>
          <p:cNvSpPr/>
          <p:nvPr/>
        </p:nvSpPr>
        <p:spPr>
          <a:xfrm>
            <a:off x="816000" y="3909000"/>
            <a:ext cx="5784056" cy="840000"/>
          </a:xfrm>
          <a:prstGeom prst="rect">
            <a:avLst/>
          </a:prstGeom>
          <a:noFill/>
          <a:ln/>
        </p:spPr>
        <p:txBody>
          <a:bodyPr wrap="square" lIns="0" tIns="0" rIns="0" bIns="0" rtlCol="0" anchor="t">
            <a:noAutofit/>
          </a:bodyPr>
          <a:lstStyle/>
          <a:p>
            <a:pPr defTabSz="304815"/>
            <a:r>
              <a:rPr lang="en-US" sz="2400" dirty="0">
                <a:solidFill>
                  <a:srgbClr val="F5F3E4"/>
                </a:solidFill>
                <a:latin typeface="Hepta Slab Regular" pitchFamily="2" charset="0"/>
                <a:ea typeface="Montserrat ExtraBold" pitchFamily="34" charset="-122"/>
                <a:cs typeface="Hepta Slab Regular" pitchFamily="2" charset="0"/>
              </a:rPr>
              <a:t>Driving Growth in Life Insurance</a:t>
            </a:r>
            <a:endParaRPr lang="en-US" sz="2400" dirty="0">
              <a:solidFill>
                <a:srgbClr val="F5F3E4"/>
              </a:solidFill>
              <a:latin typeface="Hepta Slab Regular" pitchFamily="2" charset="0"/>
              <a:cs typeface="Hepta Slab Regular" pitchFamily="2" charset="0"/>
            </a:endParaRPr>
          </a:p>
        </p:txBody>
      </p:sp>
      <p:grpSp>
        <p:nvGrpSpPr>
          <p:cNvPr id="10" name="Group 9">
            <a:extLst>
              <a:ext uri="{FF2B5EF4-FFF2-40B4-BE49-F238E27FC236}">
                <a16:creationId xmlns:a16="http://schemas.microsoft.com/office/drawing/2014/main" id="{2C905B95-5EA2-CFE1-E38B-4E69AFD2BC61}"/>
              </a:ext>
            </a:extLst>
          </p:cNvPr>
          <p:cNvGrpSpPr/>
          <p:nvPr/>
        </p:nvGrpSpPr>
        <p:grpSpPr>
          <a:xfrm>
            <a:off x="-114988" y="6122716"/>
            <a:ext cx="11920615" cy="929149"/>
            <a:chOff x="-172482" y="9184073"/>
            <a:chExt cx="17880922" cy="1393723"/>
          </a:xfrm>
        </p:grpSpPr>
        <p:sp>
          <p:nvSpPr>
            <p:cNvPr id="11" name="Title 1">
              <a:extLst>
                <a:ext uri="{FF2B5EF4-FFF2-40B4-BE49-F238E27FC236}">
                  <a16:creationId xmlns:a16="http://schemas.microsoft.com/office/drawing/2014/main" id="{714453AC-FF3B-46C9-7C95-D93605B4C661}"/>
                </a:ext>
              </a:extLst>
            </p:cNvPr>
            <p:cNvSpPr txBox="1">
              <a:spLocks/>
            </p:cNvSpPr>
            <p:nvPr/>
          </p:nvSpPr>
          <p:spPr>
            <a:xfrm>
              <a:off x="5681815" y="9781058"/>
              <a:ext cx="7080586" cy="26932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09630"/>
              <a:r>
                <a:rPr lang="en-IN" sz="1067" dirty="0">
                  <a:solidFill>
                    <a:prstClr val="white"/>
                  </a:solidFill>
                  <a:latin typeface="Montserrat Medium" pitchFamily="2" charset="0"/>
                  <a:cs typeface="Hepta Slab" pitchFamily="2" charset="0"/>
                </a:rPr>
                <a:t>TERRAGNI CONSULTING (P) LTD PRIVATE AND CONFIDENTIAL ©</a:t>
              </a:r>
            </a:p>
          </p:txBody>
        </p:sp>
        <p:pic>
          <p:nvPicPr>
            <p:cNvPr id="12" name="Picture 11">
              <a:extLst>
                <a:ext uri="{FF2B5EF4-FFF2-40B4-BE49-F238E27FC236}">
                  <a16:creationId xmlns:a16="http://schemas.microsoft.com/office/drawing/2014/main" id="{B79FDB63-50D1-8247-6623-2E5C85689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13" name="Picture 12">
              <a:extLst>
                <a:ext uri="{FF2B5EF4-FFF2-40B4-BE49-F238E27FC236}">
                  <a16:creationId xmlns:a16="http://schemas.microsoft.com/office/drawing/2014/main" id="{F6D4B987-A66D-E3E4-AF4A-EB86C9C39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extLst>
      <p:ext uri="{BB962C8B-B14F-4D97-AF65-F5344CB8AC3E}">
        <p14:creationId xmlns:p14="http://schemas.microsoft.com/office/powerpoint/2010/main" val="238007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14A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grpSp>
        <p:nvGrpSpPr>
          <p:cNvPr id="25" name="Group 24">
            <a:extLst>
              <a:ext uri="{FF2B5EF4-FFF2-40B4-BE49-F238E27FC236}">
                <a16:creationId xmlns:a16="http://schemas.microsoft.com/office/drawing/2014/main" id="{D9E82159-FA6A-F771-ABDB-00FE67323392}"/>
              </a:ext>
            </a:extLst>
          </p:cNvPr>
          <p:cNvGrpSpPr/>
          <p:nvPr/>
        </p:nvGrpSpPr>
        <p:grpSpPr>
          <a:xfrm>
            <a:off x="3690609" y="6309000"/>
            <a:ext cx="7275789" cy="480001"/>
            <a:chOff x="5535913" y="9283499"/>
            <a:chExt cx="10913683" cy="720001"/>
          </a:xfrm>
        </p:grpSpPr>
        <p:pic>
          <p:nvPicPr>
            <p:cNvPr id="22" name="Picture 21">
              <a:extLst>
                <a:ext uri="{FF2B5EF4-FFF2-40B4-BE49-F238E27FC236}">
                  <a16:creationId xmlns:a16="http://schemas.microsoft.com/office/drawing/2014/main" id="{FF70E79A-7DBF-AFDD-1E9F-0A64361AE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3" name="Picture 22">
              <a:extLst>
                <a:ext uri="{FF2B5EF4-FFF2-40B4-BE49-F238E27FC236}">
                  <a16:creationId xmlns:a16="http://schemas.microsoft.com/office/drawing/2014/main" id="{5AB76AF9-8B9A-D3FA-E967-C8F37605F312}"/>
                </a:ext>
              </a:extLst>
            </p:cNvPr>
            <p:cNvPicPr>
              <a:picLocks noChangeAspect="1"/>
            </p:cNvPicPr>
            <p:nvPr/>
          </p:nvPicPr>
          <p:blipFill rotWithShape="1">
            <a:blip r:embed="rId4">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24" name="Title 1">
              <a:extLst>
                <a:ext uri="{FF2B5EF4-FFF2-40B4-BE49-F238E27FC236}">
                  <a16:creationId xmlns:a16="http://schemas.microsoft.com/office/drawing/2014/main" id="{D3AC0D77-3D49-E06C-0A77-99EE8A2AD98B}"/>
                </a:ext>
              </a:extLst>
            </p:cNvPr>
            <p:cNvSpPr txBox="1">
              <a:spLocks/>
            </p:cNvSpPr>
            <p:nvPr/>
          </p:nvSpPr>
          <p:spPr>
            <a:xfrm>
              <a:off x="7993069" y="9519798"/>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chemeClr val="bg1"/>
                  </a:solidFill>
                  <a:latin typeface="Montserrat Medium" pitchFamily="2" charset="0"/>
                  <a:cs typeface="Hepta Slab" pitchFamily="2" charset="0"/>
                </a:rPr>
                <a:t>TERRAGNI CONSULTING (P) LTD PRIVATE AND CONFIDENTIAL ©</a:t>
              </a:r>
            </a:p>
          </p:txBody>
        </p:sp>
      </p:grpSp>
      <p:sp>
        <p:nvSpPr>
          <p:cNvPr id="27" name="Object6">
            <a:extLst>
              <a:ext uri="{FF2B5EF4-FFF2-40B4-BE49-F238E27FC236}">
                <a16:creationId xmlns:a16="http://schemas.microsoft.com/office/drawing/2014/main" id="{9586A94B-61E5-D4FE-AF7D-AFC9F553AEE9}"/>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srgbClr val="814A17"/>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schemeClr val="bg1">
                  <a:lumMod val="75000"/>
                </a:schemeClr>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 </a:t>
            </a:r>
            <a:endParaRPr lang="en-US" sz="1333" dirty="0">
              <a:solidFill>
                <a:schemeClr val="bg1">
                  <a:lumMod val="75000"/>
                </a:scheme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29" name="Object6">
            <a:extLst>
              <a:ext uri="{FF2B5EF4-FFF2-40B4-BE49-F238E27FC236}">
                <a16:creationId xmlns:a16="http://schemas.microsoft.com/office/drawing/2014/main" id="{7FFB36EB-6BB8-0373-703D-3762D700F5DA}"/>
              </a:ext>
            </a:extLst>
          </p:cNvPr>
          <p:cNvSpPr/>
          <p:nvPr/>
        </p:nvSpPr>
        <p:spPr>
          <a:xfrm>
            <a:off x="3690608" y="1580189"/>
            <a:ext cx="2283450" cy="840000"/>
          </a:xfrm>
          <a:prstGeom prst="rect">
            <a:avLst/>
          </a:prstGeom>
          <a:noFill/>
          <a:ln/>
        </p:spPr>
        <p:txBody>
          <a:bodyPr wrap="square" lIns="0" tIns="0" rIns="0" bIns="0" rtlCol="0" anchor="b">
            <a:noAutofit/>
          </a:bodyPr>
          <a:lstStyle/>
          <a:p>
            <a:pPr defTabSz="304815"/>
            <a:r>
              <a:rPr lang="en-US" sz="4400" dirty="0">
                <a:solidFill>
                  <a:srgbClr val="FFA65F"/>
                </a:solidFill>
                <a:latin typeface="Hepta Slab ExtraBold" pitchFamily="2" charset="0"/>
                <a:ea typeface="Montserrat ExtraBold" pitchFamily="34" charset="-122"/>
                <a:cs typeface="Hepta Slab ExtraBold" pitchFamily="2" charset="0"/>
              </a:rPr>
              <a:t>Top 4</a:t>
            </a:r>
            <a:endParaRPr lang="en-US" sz="4400" dirty="0">
              <a:solidFill>
                <a:srgbClr val="FFA65F"/>
              </a:solidFill>
              <a:latin typeface="Hepta Slab ExtraBold" pitchFamily="2" charset="0"/>
              <a:cs typeface="Hepta Slab ExtraBold" pitchFamily="2" charset="0"/>
            </a:endParaRPr>
          </a:p>
        </p:txBody>
      </p:sp>
      <p:sp>
        <p:nvSpPr>
          <p:cNvPr id="31" name="Object5">
            <a:extLst>
              <a:ext uri="{FF2B5EF4-FFF2-40B4-BE49-F238E27FC236}">
                <a16:creationId xmlns:a16="http://schemas.microsoft.com/office/drawing/2014/main" id="{161E54A7-4AD9-6473-8202-C09144517DBC}"/>
              </a:ext>
            </a:extLst>
          </p:cNvPr>
          <p:cNvSpPr/>
          <p:nvPr/>
        </p:nvSpPr>
        <p:spPr>
          <a:xfrm>
            <a:off x="3690609" y="2554947"/>
            <a:ext cx="2636121" cy="705242"/>
          </a:xfrm>
          <a:prstGeom prst="rect">
            <a:avLst/>
          </a:prstGeom>
          <a:noFill/>
          <a:ln/>
        </p:spPr>
        <p:txBody>
          <a:bodyPr wrap="square" lIns="0" tIns="0" rIns="0" bIns="0" rtlCol="0" anchor="t"/>
          <a:lstStyle/>
          <a:p>
            <a:pPr defTabSz="304815"/>
            <a:r>
              <a:rPr lang="en-US" sz="1600" dirty="0">
                <a:solidFill>
                  <a:srgbClr val="F5F3E4"/>
                </a:solidFill>
                <a:latin typeface="Hepta Slab Regular" pitchFamily="2" charset="0"/>
                <a:ea typeface="Hepta Slab Regular" pitchFamily="34" charset="-122"/>
                <a:cs typeface="Hepta Slab Regular" pitchFamily="2" charset="0"/>
              </a:rPr>
              <a:t>Players In Private Life Insurance Sector</a:t>
            </a:r>
          </a:p>
        </p:txBody>
      </p:sp>
      <p:sp>
        <p:nvSpPr>
          <p:cNvPr id="32" name="Object5">
            <a:extLst>
              <a:ext uri="{FF2B5EF4-FFF2-40B4-BE49-F238E27FC236}">
                <a16:creationId xmlns:a16="http://schemas.microsoft.com/office/drawing/2014/main" id="{D0F42D0B-599B-4129-6B9E-9A7A0F07050A}"/>
              </a:ext>
            </a:extLst>
          </p:cNvPr>
          <p:cNvSpPr/>
          <p:nvPr/>
        </p:nvSpPr>
        <p:spPr>
          <a:xfrm>
            <a:off x="7038454" y="2549821"/>
            <a:ext cx="2015753" cy="247378"/>
          </a:xfrm>
          <a:prstGeom prst="rect">
            <a:avLst/>
          </a:prstGeom>
          <a:noFill/>
          <a:ln/>
        </p:spPr>
        <p:txBody>
          <a:bodyPr wrap="square" lIns="0" tIns="0" rIns="0" bIns="0" rtlCol="0" anchor="t"/>
          <a:lstStyle/>
          <a:p>
            <a:pPr defTabSz="304815"/>
            <a:r>
              <a:rPr lang="en-US" sz="1600" dirty="0">
                <a:solidFill>
                  <a:srgbClr val="F5F3E4"/>
                </a:solidFill>
                <a:latin typeface="Hepta Slab Regular" pitchFamily="2" charset="0"/>
                <a:ea typeface="Hepta Slab Regular" pitchFamily="34" charset="-122"/>
                <a:cs typeface="Hepta Slab Regular" pitchFamily="2" charset="0"/>
              </a:rPr>
              <a:t>Offices pan India</a:t>
            </a:r>
          </a:p>
        </p:txBody>
      </p:sp>
      <p:sp>
        <p:nvSpPr>
          <p:cNvPr id="35" name="Object6">
            <a:extLst>
              <a:ext uri="{FF2B5EF4-FFF2-40B4-BE49-F238E27FC236}">
                <a16:creationId xmlns:a16="http://schemas.microsoft.com/office/drawing/2014/main" id="{73687B3F-84A9-5378-8894-588151DCD771}"/>
              </a:ext>
            </a:extLst>
          </p:cNvPr>
          <p:cNvSpPr/>
          <p:nvPr/>
        </p:nvSpPr>
        <p:spPr>
          <a:xfrm>
            <a:off x="7046730" y="1600609"/>
            <a:ext cx="1272248" cy="840000"/>
          </a:xfrm>
          <a:prstGeom prst="rect">
            <a:avLst/>
          </a:prstGeom>
          <a:noFill/>
          <a:ln/>
        </p:spPr>
        <p:txBody>
          <a:bodyPr wrap="square" lIns="0" tIns="0" rIns="0" bIns="0" rtlCol="0" anchor="b">
            <a:noAutofit/>
          </a:bodyPr>
          <a:lstStyle/>
          <a:p>
            <a:pPr defTabSz="304815"/>
            <a:r>
              <a:rPr lang="en-US" sz="4400" dirty="0">
                <a:solidFill>
                  <a:srgbClr val="FFA65F"/>
                </a:solidFill>
                <a:latin typeface="Hepta Slab ExtraBold" pitchFamily="2" charset="0"/>
                <a:ea typeface="Montserrat ExtraBold" pitchFamily="34" charset="-122"/>
                <a:cs typeface="Hepta Slab ExtraBold" pitchFamily="2" charset="0"/>
              </a:rPr>
              <a:t>638</a:t>
            </a:r>
          </a:p>
        </p:txBody>
      </p:sp>
      <p:sp>
        <p:nvSpPr>
          <p:cNvPr id="37" name="Object5">
            <a:extLst>
              <a:ext uri="{FF2B5EF4-FFF2-40B4-BE49-F238E27FC236}">
                <a16:creationId xmlns:a16="http://schemas.microsoft.com/office/drawing/2014/main" id="{D1A673E3-06E0-20E6-83C2-4D67DEFF27E3}"/>
              </a:ext>
            </a:extLst>
          </p:cNvPr>
          <p:cNvSpPr/>
          <p:nvPr/>
        </p:nvSpPr>
        <p:spPr>
          <a:xfrm>
            <a:off x="3707554" y="3710701"/>
            <a:ext cx="4841822" cy="184666"/>
          </a:xfrm>
          <a:prstGeom prst="rect">
            <a:avLst/>
          </a:prstGeom>
          <a:noFill/>
          <a:ln/>
        </p:spPr>
        <p:txBody>
          <a:bodyPr wrap="square" lIns="0" tIns="0" rIns="0" bIns="0" rtlCol="0" anchor="t"/>
          <a:lstStyle/>
          <a:p>
            <a:pPr defTabSz="304815"/>
            <a:r>
              <a:rPr lang="en-US" sz="1600" dirty="0">
                <a:solidFill>
                  <a:srgbClr val="F5F3E4"/>
                </a:solidFill>
                <a:latin typeface="Hepta Slab Regular" pitchFamily="2" charset="0"/>
                <a:ea typeface="Hepta Slab Regular" pitchFamily="34" charset="-122"/>
                <a:cs typeface="Hepta Slab Regular" pitchFamily="2" charset="0"/>
              </a:rPr>
              <a:t>A Large Workforce Of Insurance Advisors And Other Channel Intermediaries</a:t>
            </a:r>
          </a:p>
        </p:txBody>
      </p:sp>
    </p:spTree>
    <p:extLst>
      <p:ext uri="{BB962C8B-B14F-4D97-AF65-F5344CB8AC3E}">
        <p14:creationId xmlns:p14="http://schemas.microsoft.com/office/powerpoint/2010/main" val="673016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117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3">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grpSp>
        <p:nvGrpSpPr>
          <p:cNvPr id="25" name="Group 24">
            <a:extLst>
              <a:ext uri="{FF2B5EF4-FFF2-40B4-BE49-F238E27FC236}">
                <a16:creationId xmlns:a16="http://schemas.microsoft.com/office/drawing/2014/main" id="{D9E82159-FA6A-F771-ABDB-00FE67323392}"/>
              </a:ext>
            </a:extLst>
          </p:cNvPr>
          <p:cNvGrpSpPr/>
          <p:nvPr/>
        </p:nvGrpSpPr>
        <p:grpSpPr>
          <a:xfrm>
            <a:off x="3690609" y="6309000"/>
            <a:ext cx="7275789" cy="480001"/>
            <a:chOff x="5535913" y="9283499"/>
            <a:chExt cx="10913683" cy="720001"/>
          </a:xfrm>
        </p:grpSpPr>
        <p:pic>
          <p:nvPicPr>
            <p:cNvPr id="22" name="Picture 21">
              <a:extLst>
                <a:ext uri="{FF2B5EF4-FFF2-40B4-BE49-F238E27FC236}">
                  <a16:creationId xmlns:a16="http://schemas.microsoft.com/office/drawing/2014/main" id="{FF70E79A-7DBF-AFDD-1E9F-0A64361AE4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3" name="Picture 22">
              <a:extLst>
                <a:ext uri="{FF2B5EF4-FFF2-40B4-BE49-F238E27FC236}">
                  <a16:creationId xmlns:a16="http://schemas.microsoft.com/office/drawing/2014/main" id="{5AB76AF9-8B9A-D3FA-E967-C8F37605F312}"/>
                </a:ext>
              </a:extLst>
            </p:cNvPr>
            <p:cNvPicPr>
              <a:picLocks noChangeAspect="1"/>
            </p:cNvPicPr>
            <p:nvPr/>
          </p:nvPicPr>
          <p:blipFill rotWithShape="1">
            <a:blip r:embed="rId5">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24" name="Title 1">
              <a:extLst>
                <a:ext uri="{FF2B5EF4-FFF2-40B4-BE49-F238E27FC236}">
                  <a16:creationId xmlns:a16="http://schemas.microsoft.com/office/drawing/2014/main" id="{D3AC0D77-3D49-E06C-0A77-99EE8A2AD98B}"/>
                </a:ext>
              </a:extLst>
            </p:cNvPr>
            <p:cNvSpPr txBox="1">
              <a:spLocks/>
            </p:cNvSpPr>
            <p:nvPr/>
          </p:nvSpPr>
          <p:spPr>
            <a:xfrm>
              <a:off x="7993069" y="9519798"/>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chemeClr val="bg1"/>
                  </a:solidFill>
                  <a:latin typeface="Montserrat Medium" pitchFamily="2" charset="0"/>
                  <a:cs typeface="Hepta Slab" pitchFamily="2" charset="0"/>
                </a:rPr>
                <a:t>TERRAGNI CONSULTING (P) LTD PRIVATE AND CONFIDENTIAL ©</a:t>
              </a:r>
            </a:p>
          </p:txBody>
        </p:sp>
      </p:grpSp>
      <p:sp>
        <p:nvSpPr>
          <p:cNvPr id="27" name="Object6">
            <a:extLst>
              <a:ext uri="{FF2B5EF4-FFF2-40B4-BE49-F238E27FC236}">
                <a16:creationId xmlns:a16="http://schemas.microsoft.com/office/drawing/2014/main" id="{9586A94B-61E5-D4FE-AF7D-AFC9F553AEE9}"/>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srgbClr val="811717"/>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schemeClr val="bg1">
                  <a:lumMod val="75000"/>
                </a:schemeClr>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a:t>
            </a:r>
            <a:endParaRPr lang="en-US" sz="1333" dirty="0">
              <a:solidFill>
                <a:schemeClr val="bg1">
                  <a:lumMod val="75000"/>
                </a:scheme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r>
              <a:rPr lang="en-US" sz="1333" dirty="0">
                <a:solidFill>
                  <a:prstClr val="white">
                    <a:lumMod val="75000"/>
                  </a:prstClr>
                </a:solidFill>
                <a:latin typeface="Montserrat SemiBold" pitchFamily="2" charset="0"/>
              </a:rPr>
              <a:t> </a:t>
            </a: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18" name="Object4">
            <a:extLst>
              <a:ext uri="{FF2B5EF4-FFF2-40B4-BE49-F238E27FC236}">
                <a16:creationId xmlns:a16="http://schemas.microsoft.com/office/drawing/2014/main" id="{2F56AE42-39CB-B537-760E-303F926E7512}"/>
              </a:ext>
            </a:extLst>
          </p:cNvPr>
          <p:cNvSpPr/>
          <p:nvPr/>
        </p:nvSpPr>
        <p:spPr>
          <a:xfrm>
            <a:off x="3690608" y="2469000"/>
            <a:ext cx="7205392" cy="1200000"/>
          </a:xfrm>
          <a:prstGeom prst="rect">
            <a:avLst/>
          </a:prstGeom>
          <a:noFill/>
          <a:ln/>
        </p:spPr>
        <p:txBody>
          <a:bodyPr wrap="square" lIns="0" tIns="0" rIns="0" bIns="0" rtlCol="0" anchor="t"/>
          <a:lstStyle/>
          <a:p>
            <a:pPr defTabSz="304815"/>
            <a:r>
              <a:rPr lang="en-US" sz="2667" b="1" dirty="0">
                <a:solidFill>
                  <a:srgbClr val="FF3131"/>
                </a:solidFill>
                <a:latin typeface="Hepta Slab Bold" pitchFamily="34" charset="0"/>
                <a:ea typeface="Hepta Slab Bold" pitchFamily="34" charset="-122"/>
                <a:cs typeface="Hepta Slab Bold" pitchFamily="34" charset="-120"/>
              </a:rPr>
              <a:t>Customer retention and growth</a:t>
            </a:r>
          </a:p>
        </p:txBody>
      </p:sp>
      <p:sp>
        <p:nvSpPr>
          <p:cNvPr id="19" name="Object5">
            <a:extLst>
              <a:ext uri="{FF2B5EF4-FFF2-40B4-BE49-F238E27FC236}">
                <a16:creationId xmlns:a16="http://schemas.microsoft.com/office/drawing/2014/main" id="{A0F99477-C5D6-0452-07F2-AC3B186E7605}"/>
              </a:ext>
            </a:extLst>
          </p:cNvPr>
          <p:cNvSpPr/>
          <p:nvPr/>
        </p:nvSpPr>
        <p:spPr>
          <a:xfrm>
            <a:off x="3690608" y="3338860"/>
            <a:ext cx="7589968" cy="1002280"/>
          </a:xfrm>
          <a:prstGeom prst="rect">
            <a:avLst/>
          </a:prstGeom>
          <a:noFill/>
          <a:ln/>
        </p:spPr>
        <p:txBody>
          <a:bodyPr wrap="square" lIns="0" tIns="0" rIns="0" bIns="0" rtlCol="0" anchor="t"/>
          <a:lstStyle/>
          <a:p>
            <a:pPr defTabSz="304815"/>
            <a:r>
              <a:rPr lang="en-US" sz="1600" dirty="0">
                <a:solidFill>
                  <a:srgbClr val="F5F3E4"/>
                </a:solidFill>
                <a:latin typeface="Hepta Slab Regular" pitchFamily="2" charset="0"/>
                <a:ea typeface="Hepta Slab Regular" pitchFamily="34" charset="-122"/>
                <a:cs typeface="Hepta Slab Regular" pitchFamily="2" charset="0"/>
              </a:rPr>
              <a:t>Low Persistency rate of life insurance policies after 1/3/5 years of sales </a:t>
            </a: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r>
              <a:rPr lang="en-US" sz="1600" dirty="0">
                <a:solidFill>
                  <a:srgbClr val="F5F3E4"/>
                </a:solidFill>
                <a:latin typeface="Hepta Slab Regular" pitchFamily="2" charset="0"/>
                <a:ea typeface="Hepta Slab Regular" pitchFamily="34" charset="-122"/>
                <a:cs typeface="Hepta Slab Regular" pitchFamily="2" charset="0"/>
              </a:rPr>
              <a:t>Over 75% of premium collected through non digital methods (cash, cheque, DD)</a:t>
            </a:r>
          </a:p>
          <a:p>
            <a:pPr defTabSz="304815"/>
            <a:r>
              <a:rPr lang="en-US" sz="1600" dirty="0">
                <a:solidFill>
                  <a:srgbClr val="F5F3E4"/>
                </a:solidFill>
                <a:latin typeface="Hepta Slab Regular" pitchFamily="2" charset="0"/>
                <a:ea typeface="Hepta Slab Regular" pitchFamily="34" charset="-122"/>
                <a:cs typeface="Hepta Slab Regular" pitchFamily="2" charset="0"/>
              </a:rPr>
              <a:t>	</a:t>
            </a:r>
            <a:r>
              <a:rPr lang="en-US" sz="1400" dirty="0">
                <a:solidFill>
                  <a:srgbClr val="F5F3E4"/>
                </a:solidFill>
                <a:latin typeface="Hepta Slab Regular" pitchFamily="2" charset="0"/>
                <a:ea typeface="Hepta Slab Regular" pitchFamily="34" charset="-122"/>
                <a:cs typeface="Hepta Slab Regular" pitchFamily="2" charset="0"/>
              </a:rPr>
              <a:t>More than 63% of customers are not aware or not comfortable 	with digital payment gateways for renewals</a:t>
            </a: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p:txBody>
      </p:sp>
      <p:pic>
        <p:nvPicPr>
          <p:cNvPr id="9" name="Picture 8">
            <a:extLst>
              <a:ext uri="{FF2B5EF4-FFF2-40B4-BE49-F238E27FC236}">
                <a16:creationId xmlns:a16="http://schemas.microsoft.com/office/drawing/2014/main" id="{A6EDF7AD-76FC-8BB5-EF96-0B1481E6C1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59333" y="0"/>
            <a:ext cx="2520000" cy="2520000"/>
          </a:xfrm>
          <a:prstGeom prst="rect">
            <a:avLst/>
          </a:prstGeom>
        </p:spPr>
      </p:pic>
    </p:spTree>
    <p:extLst>
      <p:ext uri="{BB962C8B-B14F-4D97-AF65-F5344CB8AC3E}">
        <p14:creationId xmlns:p14="http://schemas.microsoft.com/office/powerpoint/2010/main" val="2568654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1CAF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srgbClr val="7030A0"/>
                </a:solidFill>
                <a:latin typeface="Montserrat SemiBold" pitchFamily="2" charset="0"/>
              </a:rPr>
              <a:t>What We Did</a:t>
            </a:r>
          </a:p>
          <a:p>
            <a:pPr defTabSz="304815"/>
            <a:endParaRPr lang="en-US" sz="1333" dirty="0">
              <a:solidFill>
                <a:srgbClr val="7030A0"/>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a:t>
            </a:r>
            <a:endParaRPr lang="en-US" sz="1333" dirty="0">
              <a:solidFill>
                <a:srgbClr val="7030A0"/>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19" name="Object5">
            <a:extLst>
              <a:ext uri="{FF2B5EF4-FFF2-40B4-BE49-F238E27FC236}">
                <a16:creationId xmlns:a16="http://schemas.microsoft.com/office/drawing/2014/main" id="{A0F99477-C5D6-0452-07F2-AC3B186E7605}"/>
              </a:ext>
            </a:extLst>
          </p:cNvPr>
          <p:cNvSpPr/>
          <p:nvPr/>
        </p:nvSpPr>
        <p:spPr>
          <a:xfrm>
            <a:off x="3749125" y="2949000"/>
            <a:ext cx="7205392" cy="2202280"/>
          </a:xfrm>
          <a:prstGeom prst="rect">
            <a:avLst/>
          </a:prstGeom>
          <a:noFill/>
          <a:ln/>
        </p:spPr>
        <p:txBody>
          <a:bodyPr wrap="square" lIns="0" tIns="0" rIns="0" bIns="0" rtlCol="0" anchor="t"/>
          <a:lstStyle/>
          <a:p>
            <a:pPr defTabSz="304815"/>
            <a:r>
              <a:rPr lang="en-US" sz="1600" dirty="0">
                <a:solidFill>
                  <a:srgbClr val="191919"/>
                </a:solidFill>
                <a:latin typeface="Hepta Slab Regular" pitchFamily="34" charset="0"/>
                <a:ea typeface="Hepta Slab Regular" pitchFamily="34" charset="-122"/>
                <a:cs typeface="Hepta Slab Regular" pitchFamily="34" charset="-120"/>
              </a:rPr>
              <a:t>Barriers to engagement with Insurance</a:t>
            </a:r>
          </a:p>
          <a:p>
            <a:pPr defTabSz="304815"/>
            <a:r>
              <a:rPr lang="en-US" sz="1600" dirty="0">
                <a:solidFill>
                  <a:srgbClr val="191919"/>
                </a:solidFill>
                <a:latin typeface="Hepta Slab Regular" pitchFamily="34" charset="0"/>
                <a:ea typeface="Hepta Slab Regular" pitchFamily="34" charset="-122"/>
                <a:cs typeface="Hepta Slab Regular" pitchFamily="34" charset="-120"/>
              </a:rPr>
              <a:t>	Emotions and attitudes associated with the product category 	&amp; their impact on customer </a:t>
            </a:r>
            <a:r>
              <a:rPr lang="en-US" sz="1600" dirty="0" err="1">
                <a:solidFill>
                  <a:srgbClr val="191919"/>
                </a:solidFill>
                <a:latin typeface="Hepta Slab Regular" pitchFamily="34" charset="0"/>
                <a:ea typeface="Hepta Slab Regular" pitchFamily="34" charset="-122"/>
                <a:cs typeface="Hepta Slab Regular" pitchFamily="34" charset="-120"/>
              </a:rPr>
              <a:t>behaviour</a:t>
            </a:r>
            <a:endParaRPr lang="en-US" sz="1600" dirty="0">
              <a:solidFill>
                <a:srgbClr val="191919"/>
              </a:solidFill>
              <a:latin typeface="Hepta Slab Regular" pitchFamily="34" charset="0"/>
              <a:ea typeface="Hepta Slab Regular" pitchFamily="34" charset="-122"/>
              <a:cs typeface="Hepta Slab Regular" pitchFamily="34" charset="-120"/>
            </a:endParaRPr>
          </a:p>
          <a:p>
            <a:pPr defTabSz="304815"/>
            <a:endParaRPr lang="en-US" sz="1600" dirty="0">
              <a:solidFill>
                <a:srgbClr val="191919"/>
              </a:solidFill>
              <a:latin typeface="Hepta Slab Regular" pitchFamily="34" charset="0"/>
              <a:ea typeface="Hepta Slab Regular" pitchFamily="34" charset="-122"/>
              <a:cs typeface="Hepta Slab Regular" pitchFamily="34" charset="-120"/>
            </a:endParaRPr>
          </a:p>
          <a:p>
            <a:pPr defTabSz="304815"/>
            <a:r>
              <a:rPr lang="en-US" sz="1600" dirty="0">
                <a:solidFill>
                  <a:srgbClr val="191919"/>
                </a:solidFill>
                <a:latin typeface="Hepta Slab Regular" pitchFamily="34" charset="0"/>
                <a:ea typeface="Hepta Slab Regular" pitchFamily="34" charset="-122"/>
                <a:cs typeface="Hepta Slab Regular" pitchFamily="34" charset="-120"/>
              </a:rPr>
              <a:t>Barriers to engagement with the Brand</a:t>
            </a:r>
          </a:p>
          <a:p>
            <a:pPr lvl="1" defTabSz="304815"/>
            <a:r>
              <a:rPr lang="en-US" sz="1600" dirty="0">
                <a:solidFill>
                  <a:srgbClr val="191919"/>
                </a:solidFill>
                <a:latin typeface="Hepta Slab Regular" pitchFamily="34" charset="0"/>
                <a:ea typeface="Hepta Slab Regular" pitchFamily="34" charset="-122"/>
                <a:cs typeface="Hepta Slab Regular" pitchFamily="34" charset="-120"/>
              </a:rPr>
              <a:t>Emotions and attitudes associated with the brand, product &amp; touchpoints &amp; their impact on customer </a:t>
            </a:r>
            <a:r>
              <a:rPr lang="en-US" sz="1600" dirty="0" err="1">
                <a:solidFill>
                  <a:srgbClr val="191919"/>
                </a:solidFill>
                <a:latin typeface="Hepta Slab Regular" pitchFamily="34" charset="0"/>
                <a:ea typeface="Hepta Slab Regular" pitchFamily="34" charset="-122"/>
                <a:cs typeface="Hepta Slab Regular" pitchFamily="34" charset="-120"/>
              </a:rPr>
              <a:t>behaviour</a:t>
            </a:r>
            <a:endParaRPr lang="en-US" sz="1600" dirty="0">
              <a:solidFill>
                <a:srgbClr val="191919"/>
              </a:solidFill>
              <a:latin typeface="Hepta Slab Regular" pitchFamily="34" charset="0"/>
              <a:ea typeface="Hepta Slab Regular" pitchFamily="34" charset="-122"/>
              <a:cs typeface="Hepta Slab Regular" pitchFamily="34" charset="-120"/>
            </a:endParaRPr>
          </a:p>
          <a:p>
            <a:pPr defTabSz="304815"/>
            <a:endParaRPr lang="en-US" sz="1600" dirty="0">
              <a:solidFill>
                <a:srgbClr val="191919"/>
              </a:solidFill>
              <a:latin typeface="Hepta Slab Regular" pitchFamily="34" charset="0"/>
              <a:ea typeface="Hepta Slab Regular" pitchFamily="34" charset="-122"/>
              <a:cs typeface="Hepta Slab Regular" pitchFamily="34" charset="-120"/>
            </a:endParaRPr>
          </a:p>
          <a:p>
            <a:pPr defTabSz="304815"/>
            <a:r>
              <a:rPr lang="en-US" sz="1600" dirty="0">
                <a:solidFill>
                  <a:srgbClr val="191919"/>
                </a:solidFill>
                <a:latin typeface="Hepta Slab Regular" pitchFamily="34" charset="0"/>
                <a:ea typeface="Hepta Slab Regular" pitchFamily="34" charset="-122"/>
                <a:cs typeface="Hepta Slab Regular" pitchFamily="34" charset="-120"/>
              </a:rPr>
              <a:t>Barriers to premium renewal transaction</a:t>
            </a:r>
          </a:p>
          <a:p>
            <a:pPr defTabSz="304815"/>
            <a:r>
              <a:rPr lang="en-US" sz="1600" dirty="0">
                <a:solidFill>
                  <a:srgbClr val="191919"/>
                </a:solidFill>
                <a:latin typeface="Hepta Slab Regular" pitchFamily="34" charset="0"/>
                <a:ea typeface="Hepta Slab Regular" pitchFamily="34" charset="-122"/>
                <a:cs typeface="Hepta Slab Regular" pitchFamily="34" charset="-120"/>
              </a:rPr>
              <a:t>	Areas of high effort and friction in the renewal transaction</a:t>
            </a:r>
          </a:p>
          <a:p>
            <a:pPr defTabSz="304815"/>
            <a:endParaRPr lang="en-US" sz="1600" dirty="0">
              <a:solidFill>
                <a:srgbClr val="191919"/>
              </a:solidFill>
              <a:latin typeface="Hepta Slab Regular" pitchFamily="34" charset="0"/>
              <a:ea typeface="Hepta Slab Regular" pitchFamily="34" charset="-122"/>
              <a:cs typeface="Hepta Slab Regular" pitchFamily="34" charset="-120"/>
            </a:endParaRPr>
          </a:p>
        </p:txBody>
      </p:sp>
      <p:grpSp>
        <p:nvGrpSpPr>
          <p:cNvPr id="10" name="Group 9">
            <a:extLst>
              <a:ext uri="{FF2B5EF4-FFF2-40B4-BE49-F238E27FC236}">
                <a16:creationId xmlns:a16="http://schemas.microsoft.com/office/drawing/2014/main" id="{10488A26-90E9-4FBD-7EBC-6F895DD540B6}"/>
              </a:ext>
            </a:extLst>
          </p:cNvPr>
          <p:cNvGrpSpPr/>
          <p:nvPr/>
        </p:nvGrpSpPr>
        <p:grpSpPr>
          <a:xfrm>
            <a:off x="3749125" y="6380723"/>
            <a:ext cx="7266875" cy="319116"/>
            <a:chOff x="5647250" y="6623140"/>
            <a:chExt cx="10900313" cy="478674"/>
          </a:xfrm>
        </p:grpSpPr>
        <p:sp>
          <p:nvSpPr>
            <p:cNvPr id="11" name="Title 1">
              <a:extLst>
                <a:ext uri="{FF2B5EF4-FFF2-40B4-BE49-F238E27FC236}">
                  <a16:creationId xmlns:a16="http://schemas.microsoft.com/office/drawing/2014/main" id="{8CACD9CD-B916-EE10-01C4-C5A3ACE3F9FF}"/>
                </a:ext>
              </a:extLst>
            </p:cNvPr>
            <p:cNvSpPr txBox="1">
              <a:spLocks/>
            </p:cNvSpPr>
            <p:nvPr/>
          </p:nvSpPr>
          <p:spPr>
            <a:xfrm>
              <a:off x="8016631" y="6751854"/>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rgbClr val="E7E6E6">
                      <a:lumMod val="10000"/>
                    </a:srgbClr>
                  </a:solidFill>
                  <a:latin typeface="Montserrat Medium" pitchFamily="2" charset="0"/>
                  <a:cs typeface="Hepta Slab" pitchFamily="2" charset="0"/>
                </a:rPr>
                <a:t>TERRAGNI CONSULTING (P) LTD PRIVATE AND CONFIDENTIAL ©</a:t>
              </a:r>
            </a:p>
          </p:txBody>
        </p:sp>
        <p:pic>
          <p:nvPicPr>
            <p:cNvPr id="12" name="Picture 11">
              <a:extLst>
                <a:ext uri="{FF2B5EF4-FFF2-40B4-BE49-F238E27FC236}">
                  <a16:creationId xmlns:a16="http://schemas.microsoft.com/office/drawing/2014/main" id="{E75ED141-618D-DDBC-9203-E11731981680}"/>
                </a:ext>
              </a:extLst>
            </p:cNvPr>
            <p:cNvPicPr>
              <a:picLocks noChangeAspect="1"/>
            </p:cNvPicPr>
            <p:nvPr/>
          </p:nvPicPr>
          <p:blipFill rotWithShape="1">
            <a:blip r:embed="rId3">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3" name="Picture 12">
              <a:extLst>
                <a:ext uri="{FF2B5EF4-FFF2-40B4-BE49-F238E27FC236}">
                  <a16:creationId xmlns:a16="http://schemas.microsoft.com/office/drawing/2014/main" id="{92619C5D-562C-E0F7-2859-FF29771649F9}"/>
                </a:ext>
              </a:extLst>
            </p:cNvPr>
            <p:cNvPicPr>
              <a:picLocks noChangeAspect="1"/>
            </p:cNvPicPr>
            <p:nvPr/>
          </p:nvPicPr>
          <p:blipFill rotWithShape="1">
            <a:blip r:embed="rId4">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pic>
        <p:nvPicPr>
          <p:cNvPr id="4" name="Picture 3">
            <a:extLst>
              <a:ext uri="{FF2B5EF4-FFF2-40B4-BE49-F238E27FC236}">
                <a16:creationId xmlns:a16="http://schemas.microsoft.com/office/drawing/2014/main" id="{DBAB39F1-A8DD-9C63-5DF3-E65646477F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6000" y="155774"/>
            <a:ext cx="2280000" cy="2280000"/>
          </a:xfrm>
          <a:prstGeom prst="rect">
            <a:avLst/>
          </a:prstGeom>
        </p:spPr>
      </p:pic>
    </p:spTree>
    <p:extLst>
      <p:ext uri="{BB962C8B-B14F-4D97-AF65-F5344CB8AC3E}">
        <p14:creationId xmlns:p14="http://schemas.microsoft.com/office/powerpoint/2010/main" val="1461494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A65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schemeClr val="bg1">
                  <a:lumMod val="75000"/>
                </a:scheme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schemeClr val="bg1">
                  <a:lumMod val="75000"/>
                </a:schemeClr>
              </a:solidFill>
              <a:latin typeface="Montserrat SemiBold" pitchFamily="2" charset="0"/>
            </a:endParaRPr>
          </a:p>
          <a:p>
            <a:pPr defTabSz="304815"/>
            <a:r>
              <a:rPr lang="en-US" sz="1333" dirty="0">
                <a:solidFill>
                  <a:srgbClr val="7030A0"/>
                </a:solidFill>
                <a:latin typeface="Montserrat SemiBold" pitchFamily="2" charset="0"/>
              </a:rPr>
              <a:t>Opportunities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11" name="Object5">
            <a:extLst>
              <a:ext uri="{FF2B5EF4-FFF2-40B4-BE49-F238E27FC236}">
                <a16:creationId xmlns:a16="http://schemas.microsoft.com/office/drawing/2014/main" id="{AF2AE1F4-E20B-A7B5-3FB6-517EA4463599}"/>
              </a:ext>
            </a:extLst>
          </p:cNvPr>
          <p:cNvSpPr/>
          <p:nvPr/>
        </p:nvSpPr>
        <p:spPr>
          <a:xfrm>
            <a:off x="3599649" y="2744924"/>
            <a:ext cx="6905892" cy="2712247"/>
          </a:xfrm>
          <a:prstGeom prst="rect">
            <a:avLst/>
          </a:prstGeom>
          <a:noFill/>
          <a:ln/>
        </p:spPr>
        <p:txBody>
          <a:bodyPr wrap="square" lIns="0" tIns="0" rIns="0" bIns="0" rtlCol="0" anchor="t"/>
          <a:lstStyle/>
          <a:p>
            <a:pPr defTabSz="304815"/>
            <a:r>
              <a:rPr lang="en-US" sz="1600" dirty="0">
                <a:solidFill>
                  <a:srgbClr val="191919"/>
                </a:solidFill>
                <a:latin typeface="Hepta Slab SemiBold" pitchFamily="2" charset="0"/>
                <a:ea typeface="Hepta Slab Regular" pitchFamily="34" charset="-122"/>
                <a:cs typeface="Hepta Slab SemiBold" pitchFamily="2" charset="0"/>
              </a:rPr>
              <a:t>Emotional Anchors</a:t>
            </a:r>
            <a:endParaRPr lang="en-US" sz="1600" dirty="0">
              <a:solidFill>
                <a:srgbClr val="191919"/>
              </a:solidFill>
              <a:latin typeface="Hepta Slab Regular" pitchFamily="2" charset="0"/>
              <a:ea typeface="Hepta Slab Regular" pitchFamily="34" charset="-122"/>
              <a:cs typeface="Hepta Slab Regular" pitchFamily="2" charset="0"/>
            </a:endParaRPr>
          </a:p>
          <a:p>
            <a:pPr defTabSz="304815"/>
            <a:endParaRPr lang="en-US" sz="1600" dirty="0">
              <a:solidFill>
                <a:srgbClr val="191919"/>
              </a:solidFill>
              <a:latin typeface="Hepta Slab Regular" pitchFamily="2" charset="0"/>
              <a:ea typeface="Hepta Slab Regular" pitchFamily="34" charset="-122"/>
              <a:cs typeface="Hepta Slab Regular" pitchFamily="2" charset="0"/>
            </a:endParaRPr>
          </a:p>
          <a:p>
            <a:pPr defTabSz="304815"/>
            <a:r>
              <a:rPr lang="en-US" sz="1600" dirty="0">
                <a:solidFill>
                  <a:srgbClr val="191919"/>
                </a:solidFill>
                <a:latin typeface="Hepta Slab Regular" pitchFamily="2" charset="0"/>
                <a:ea typeface="Hepta Slab Regular" pitchFamily="34" charset="-122"/>
                <a:cs typeface="Hepta Slab Regular" pitchFamily="2" charset="0"/>
              </a:rPr>
              <a:t>Contextual Relevance - Goal relevance and Regulatory Focus</a:t>
            </a:r>
          </a:p>
          <a:p>
            <a:pPr defTabSz="304815"/>
            <a:endParaRPr lang="en-US" sz="1600" dirty="0">
              <a:solidFill>
                <a:srgbClr val="191919"/>
              </a:solidFill>
              <a:latin typeface="Hepta Slab Regular" pitchFamily="2" charset="0"/>
              <a:ea typeface="Hepta Slab Regular" pitchFamily="34" charset="-122"/>
              <a:cs typeface="Hepta Slab Regular" pitchFamily="2" charset="0"/>
            </a:endParaRPr>
          </a:p>
          <a:p>
            <a:pPr defTabSz="304815"/>
            <a:r>
              <a:rPr lang="en-US" sz="1600" dirty="0">
                <a:solidFill>
                  <a:srgbClr val="191919"/>
                </a:solidFill>
                <a:latin typeface="Hepta Slab Regular" pitchFamily="2" charset="0"/>
                <a:ea typeface="Hepta Slab Regular" pitchFamily="34" charset="-122"/>
                <a:cs typeface="Hepta Slab Regular" pitchFamily="2" charset="0"/>
              </a:rPr>
              <a:t>Concepts to Specifics Gap – while life insurance deemed relevant as a category, no salience attached with own specific policy</a:t>
            </a:r>
          </a:p>
          <a:p>
            <a:pPr defTabSz="304815"/>
            <a:endParaRPr lang="en-US" sz="1600" dirty="0">
              <a:solidFill>
                <a:srgbClr val="191919"/>
              </a:solidFill>
              <a:latin typeface="Hepta Slab Regular" pitchFamily="2" charset="0"/>
              <a:ea typeface="Hepta Slab Regular" pitchFamily="34" charset="-122"/>
              <a:cs typeface="Hepta Slab Regular" pitchFamily="2" charset="0"/>
            </a:endParaRPr>
          </a:p>
          <a:p>
            <a:pPr defTabSz="304815"/>
            <a:r>
              <a:rPr lang="en-US" sz="1600" dirty="0">
                <a:solidFill>
                  <a:srgbClr val="191919"/>
                </a:solidFill>
                <a:latin typeface="Hepta Slab Regular" pitchFamily="2" charset="0"/>
                <a:ea typeface="Hepta Slab Regular" pitchFamily="34" charset="-122"/>
                <a:cs typeface="Hepta Slab Regular" pitchFamily="2" charset="0"/>
              </a:rPr>
              <a:t>Transparency – Totality &amp; Intuitiveness</a:t>
            </a:r>
          </a:p>
          <a:p>
            <a:pPr defTabSz="304815"/>
            <a:endParaRPr lang="en-US" sz="1600" dirty="0">
              <a:solidFill>
                <a:srgbClr val="191919"/>
              </a:solidFill>
              <a:latin typeface="Hepta Slab Regular" pitchFamily="2" charset="0"/>
              <a:ea typeface="Hepta Slab Regular" pitchFamily="34" charset="-122"/>
              <a:cs typeface="Hepta Slab Regular" pitchFamily="2" charset="0"/>
            </a:endParaRPr>
          </a:p>
          <a:p>
            <a:pPr defTabSz="304815"/>
            <a:r>
              <a:rPr lang="en-US" sz="1600" dirty="0">
                <a:solidFill>
                  <a:srgbClr val="191919"/>
                </a:solidFill>
                <a:latin typeface="Hepta Slab Regular" pitchFamily="2" charset="0"/>
                <a:ea typeface="Hepta Slab Regular" pitchFamily="34" charset="-122"/>
                <a:cs typeface="Hepta Slab Regular" pitchFamily="2" charset="0"/>
              </a:rPr>
              <a:t>Consistency-Across the entire lifecycle</a:t>
            </a:r>
          </a:p>
          <a:p>
            <a:pPr defTabSz="304815"/>
            <a:endParaRPr lang="en-US" sz="1600" dirty="0">
              <a:solidFill>
                <a:srgbClr val="191919"/>
              </a:solidFill>
              <a:latin typeface="Hepta Slab Regular" pitchFamily="2" charset="0"/>
              <a:ea typeface="Hepta Slab Regular" pitchFamily="34" charset="-122"/>
              <a:cs typeface="Hepta Slab Regular" pitchFamily="2" charset="0"/>
            </a:endParaRPr>
          </a:p>
          <a:p>
            <a:pPr defTabSz="304815"/>
            <a:r>
              <a:rPr lang="en-US" sz="1600" dirty="0">
                <a:solidFill>
                  <a:srgbClr val="191919"/>
                </a:solidFill>
                <a:latin typeface="Hepta Slab Regular" pitchFamily="2" charset="0"/>
                <a:ea typeface="Hepta Slab Regular" pitchFamily="34" charset="-122"/>
                <a:cs typeface="Hepta Slab Regular" pitchFamily="2" charset="0"/>
              </a:rPr>
              <a:t>Flexibility- Ability to control outcome</a:t>
            </a:r>
          </a:p>
          <a:p>
            <a:pPr defTabSz="304815"/>
            <a:endParaRPr lang="en-US" sz="1600" dirty="0">
              <a:solidFill>
                <a:srgbClr val="191919"/>
              </a:solidFill>
              <a:latin typeface="Hepta Slab Regular" pitchFamily="2" charset="0"/>
              <a:ea typeface="Hepta Slab Regular" pitchFamily="34" charset="-122"/>
              <a:cs typeface="Hepta Slab Regular" pitchFamily="2" charset="0"/>
            </a:endParaRPr>
          </a:p>
          <a:p>
            <a:pPr defTabSz="304815"/>
            <a:endParaRPr lang="en-US" sz="1600" dirty="0">
              <a:solidFill>
                <a:srgbClr val="191919"/>
              </a:solidFill>
              <a:latin typeface="Hepta Slab Regular" pitchFamily="2" charset="0"/>
              <a:ea typeface="Hepta Slab Regular" pitchFamily="34" charset="-122"/>
              <a:cs typeface="Hepta Slab Regular" pitchFamily="2" charset="0"/>
            </a:endParaRPr>
          </a:p>
        </p:txBody>
      </p:sp>
      <p:grpSp>
        <p:nvGrpSpPr>
          <p:cNvPr id="18" name="Group 17">
            <a:extLst>
              <a:ext uri="{FF2B5EF4-FFF2-40B4-BE49-F238E27FC236}">
                <a16:creationId xmlns:a16="http://schemas.microsoft.com/office/drawing/2014/main" id="{05B7EA54-163A-BB31-C796-143ECA0C0394}"/>
              </a:ext>
            </a:extLst>
          </p:cNvPr>
          <p:cNvGrpSpPr/>
          <p:nvPr/>
        </p:nvGrpSpPr>
        <p:grpSpPr>
          <a:xfrm>
            <a:off x="3749125" y="6380723"/>
            <a:ext cx="7266875" cy="319116"/>
            <a:chOff x="5647250" y="6623140"/>
            <a:chExt cx="10900313" cy="478674"/>
          </a:xfrm>
        </p:grpSpPr>
        <p:sp>
          <p:nvSpPr>
            <p:cNvPr id="19" name="Title 1">
              <a:extLst>
                <a:ext uri="{FF2B5EF4-FFF2-40B4-BE49-F238E27FC236}">
                  <a16:creationId xmlns:a16="http://schemas.microsoft.com/office/drawing/2014/main" id="{13D9AA4D-07B3-ACC1-DF75-F0E4B678BA52}"/>
                </a:ext>
              </a:extLst>
            </p:cNvPr>
            <p:cNvSpPr txBox="1">
              <a:spLocks/>
            </p:cNvSpPr>
            <p:nvPr/>
          </p:nvSpPr>
          <p:spPr>
            <a:xfrm>
              <a:off x="8016631" y="6751854"/>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rgbClr val="E7E6E6">
                      <a:lumMod val="10000"/>
                    </a:srgbClr>
                  </a:solidFill>
                  <a:latin typeface="Montserrat Medium" pitchFamily="2" charset="0"/>
                  <a:cs typeface="Hepta Slab" pitchFamily="2" charset="0"/>
                </a:rPr>
                <a:t>TERRAGNI CONSULTING (P) LTD PRIVATE AND CONFIDENTIAL ©</a:t>
              </a:r>
            </a:p>
          </p:txBody>
        </p:sp>
        <p:pic>
          <p:nvPicPr>
            <p:cNvPr id="20" name="Picture 19">
              <a:extLst>
                <a:ext uri="{FF2B5EF4-FFF2-40B4-BE49-F238E27FC236}">
                  <a16:creationId xmlns:a16="http://schemas.microsoft.com/office/drawing/2014/main" id="{CE564903-E8F1-840A-73EB-1EECB40D3273}"/>
                </a:ext>
              </a:extLst>
            </p:cNvPr>
            <p:cNvPicPr>
              <a:picLocks noChangeAspect="1"/>
            </p:cNvPicPr>
            <p:nvPr/>
          </p:nvPicPr>
          <p:blipFill rotWithShape="1">
            <a:blip r:embed="rId3">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21" name="Picture 20">
              <a:extLst>
                <a:ext uri="{FF2B5EF4-FFF2-40B4-BE49-F238E27FC236}">
                  <a16:creationId xmlns:a16="http://schemas.microsoft.com/office/drawing/2014/main" id="{339FDEA7-D275-32BA-FFD4-4E1DE27D9D47}"/>
                </a:ext>
              </a:extLst>
            </p:cNvPr>
            <p:cNvPicPr>
              <a:picLocks noChangeAspect="1"/>
            </p:cNvPicPr>
            <p:nvPr/>
          </p:nvPicPr>
          <p:blipFill rotWithShape="1">
            <a:blip r:embed="rId4">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pic>
        <p:nvPicPr>
          <p:cNvPr id="4" name="Picture 3">
            <a:extLst>
              <a:ext uri="{FF2B5EF4-FFF2-40B4-BE49-F238E27FC236}">
                <a16:creationId xmlns:a16="http://schemas.microsoft.com/office/drawing/2014/main" id="{FA5D43F2-F6C9-0223-5434-97FF434368A7}"/>
              </a:ext>
            </a:extLst>
          </p:cNvPr>
          <p:cNvPicPr>
            <a:picLocks noChangeAspect="1"/>
          </p:cNvPicPr>
          <p:nvPr/>
        </p:nvPicPr>
        <p:blipFill rotWithShape="1">
          <a:blip r:embed="rId5">
            <a:extLst>
              <a:ext uri="{28A0092B-C50C-407E-A947-70E740481C1C}">
                <a14:useLocalDpi xmlns:a14="http://schemas.microsoft.com/office/drawing/2010/main" val="0"/>
              </a:ext>
            </a:extLst>
          </a:blip>
          <a:srcRect l="4179" t="-21740" r="-4179" b="21740"/>
          <a:stretch/>
        </p:blipFill>
        <p:spPr>
          <a:xfrm>
            <a:off x="2806016" y="-495421"/>
            <a:ext cx="2807288" cy="2807288"/>
          </a:xfrm>
          <a:prstGeom prst="rect">
            <a:avLst/>
          </a:prstGeom>
        </p:spPr>
      </p:pic>
    </p:spTree>
    <p:extLst>
      <p:ext uri="{BB962C8B-B14F-4D97-AF65-F5344CB8AC3E}">
        <p14:creationId xmlns:p14="http://schemas.microsoft.com/office/powerpoint/2010/main" val="2766022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1CAF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a:t>
            </a:r>
          </a:p>
          <a:p>
            <a:pPr defTabSz="304815"/>
            <a:endParaRPr lang="en-US" sz="1333" dirty="0">
              <a:solidFill>
                <a:prstClr val="white">
                  <a:lumMod val="75000"/>
                </a:prstClr>
              </a:solidFill>
              <a:latin typeface="Montserrat SemiBold" pitchFamily="2" charset="0"/>
            </a:endParaRPr>
          </a:p>
          <a:p>
            <a:pPr defTabSz="304815"/>
            <a:r>
              <a:rPr lang="en-US" sz="1333" dirty="0">
                <a:solidFill>
                  <a:srgbClr val="7030A0"/>
                </a:solidFill>
                <a:latin typeface="Montserrat SemiBold" pitchFamily="2" charset="0"/>
              </a:rPr>
              <a:t>Our Methodology</a:t>
            </a:r>
            <a:endParaRPr lang="en-US" sz="1333" dirty="0">
              <a:solidFill>
                <a:prstClr val="white">
                  <a:lumMod val="75000"/>
                </a:prst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grpSp>
        <p:nvGrpSpPr>
          <p:cNvPr id="10" name="Group 9">
            <a:extLst>
              <a:ext uri="{FF2B5EF4-FFF2-40B4-BE49-F238E27FC236}">
                <a16:creationId xmlns:a16="http://schemas.microsoft.com/office/drawing/2014/main" id="{10488A26-90E9-4FBD-7EBC-6F895DD540B6}"/>
              </a:ext>
            </a:extLst>
          </p:cNvPr>
          <p:cNvGrpSpPr/>
          <p:nvPr/>
        </p:nvGrpSpPr>
        <p:grpSpPr>
          <a:xfrm>
            <a:off x="3749125" y="6380723"/>
            <a:ext cx="7266875" cy="319116"/>
            <a:chOff x="5647250" y="6623140"/>
            <a:chExt cx="10900313" cy="478674"/>
          </a:xfrm>
        </p:grpSpPr>
        <p:sp>
          <p:nvSpPr>
            <p:cNvPr id="11" name="Title 1">
              <a:extLst>
                <a:ext uri="{FF2B5EF4-FFF2-40B4-BE49-F238E27FC236}">
                  <a16:creationId xmlns:a16="http://schemas.microsoft.com/office/drawing/2014/main" id="{8CACD9CD-B916-EE10-01C4-C5A3ACE3F9FF}"/>
                </a:ext>
              </a:extLst>
            </p:cNvPr>
            <p:cNvSpPr txBox="1">
              <a:spLocks/>
            </p:cNvSpPr>
            <p:nvPr/>
          </p:nvSpPr>
          <p:spPr>
            <a:xfrm>
              <a:off x="8016631" y="6751854"/>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rgbClr val="E7E6E6">
                      <a:lumMod val="10000"/>
                    </a:srgbClr>
                  </a:solidFill>
                  <a:latin typeface="Montserrat Medium" pitchFamily="2" charset="0"/>
                  <a:cs typeface="Hepta Slab" pitchFamily="2" charset="0"/>
                </a:rPr>
                <a:t>TERRAGNI CONSULTING (P) LTD PRIVATE AND CONFIDENTIAL ©</a:t>
              </a:r>
            </a:p>
          </p:txBody>
        </p:sp>
        <p:pic>
          <p:nvPicPr>
            <p:cNvPr id="12" name="Picture 11">
              <a:extLst>
                <a:ext uri="{FF2B5EF4-FFF2-40B4-BE49-F238E27FC236}">
                  <a16:creationId xmlns:a16="http://schemas.microsoft.com/office/drawing/2014/main" id="{E75ED141-618D-DDBC-9203-E11731981680}"/>
                </a:ext>
              </a:extLst>
            </p:cNvPr>
            <p:cNvPicPr>
              <a:picLocks noChangeAspect="1"/>
            </p:cNvPicPr>
            <p:nvPr/>
          </p:nvPicPr>
          <p:blipFill rotWithShape="1">
            <a:blip r:embed="rId3">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3" name="Picture 12">
              <a:extLst>
                <a:ext uri="{FF2B5EF4-FFF2-40B4-BE49-F238E27FC236}">
                  <a16:creationId xmlns:a16="http://schemas.microsoft.com/office/drawing/2014/main" id="{92619C5D-562C-E0F7-2859-FF29771649F9}"/>
                </a:ext>
              </a:extLst>
            </p:cNvPr>
            <p:cNvPicPr>
              <a:picLocks noChangeAspect="1"/>
            </p:cNvPicPr>
            <p:nvPr/>
          </p:nvPicPr>
          <p:blipFill rotWithShape="1">
            <a:blip r:embed="rId4">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pic>
        <p:nvPicPr>
          <p:cNvPr id="4" name="Picture 3">
            <a:extLst>
              <a:ext uri="{FF2B5EF4-FFF2-40B4-BE49-F238E27FC236}">
                <a16:creationId xmlns:a16="http://schemas.microsoft.com/office/drawing/2014/main" id="{DBAB39F1-A8DD-9C63-5DF3-E65646477F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6000" y="78364"/>
            <a:ext cx="2280000" cy="2280000"/>
          </a:xfrm>
          <a:prstGeom prst="rect">
            <a:avLst/>
          </a:prstGeom>
        </p:spPr>
      </p:pic>
      <p:grpSp>
        <p:nvGrpSpPr>
          <p:cNvPr id="5" name="Group 4">
            <a:extLst>
              <a:ext uri="{FF2B5EF4-FFF2-40B4-BE49-F238E27FC236}">
                <a16:creationId xmlns:a16="http://schemas.microsoft.com/office/drawing/2014/main" id="{B76901C9-BC0B-BF22-EA0F-51CFC7FB1766}"/>
              </a:ext>
            </a:extLst>
          </p:cNvPr>
          <p:cNvGrpSpPr/>
          <p:nvPr/>
        </p:nvGrpSpPr>
        <p:grpSpPr>
          <a:xfrm>
            <a:off x="3207438" y="520937"/>
            <a:ext cx="8334541" cy="5815640"/>
            <a:chOff x="2891767" y="838200"/>
            <a:chExt cx="17983858" cy="12932614"/>
          </a:xfrm>
        </p:grpSpPr>
        <p:sp>
          <p:nvSpPr>
            <p:cNvPr id="6" name="Oval 5">
              <a:extLst>
                <a:ext uri="{FF2B5EF4-FFF2-40B4-BE49-F238E27FC236}">
                  <a16:creationId xmlns:a16="http://schemas.microsoft.com/office/drawing/2014/main" id="{565848F4-4F4E-31A8-B823-C83D81921DA2}"/>
                </a:ext>
              </a:extLst>
            </p:cNvPr>
            <p:cNvSpPr/>
            <p:nvPr/>
          </p:nvSpPr>
          <p:spPr>
            <a:xfrm flipH="1">
              <a:off x="9516021" y="4578911"/>
              <a:ext cx="4563487" cy="4563489"/>
            </a:xfrm>
            <a:prstGeom prst="ellipse">
              <a:avLst/>
            </a:prstGeom>
            <a:solidFill>
              <a:srgbClr val="F5F3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4815"/>
              <a:endParaRPr lang="ru-RU" sz="1733">
                <a:solidFill>
                  <a:prstClr val="white"/>
                </a:solidFill>
                <a:latin typeface="Calibri" panose="020F0502020204030204"/>
                <a:cs typeface="Hepta Slab" pitchFamily="2" charset="0"/>
              </a:endParaRPr>
            </a:p>
          </p:txBody>
        </p:sp>
        <p:cxnSp>
          <p:nvCxnSpPr>
            <p:cNvPr id="7" name="Straight Connector 6">
              <a:extLst>
                <a:ext uri="{FF2B5EF4-FFF2-40B4-BE49-F238E27FC236}">
                  <a16:creationId xmlns:a16="http://schemas.microsoft.com/office/drawing/2014/main" id="{20080B20-3A70-CADE-B6B5-8A8F94B12E0E}"/>
                </a:ext>
              </a:extLst>
            </p:cNvPr>
            <p:cNvCxnSpPr>
              <a:cxnSpLocks/>
            </p:cNvCxnSpPr>
            <p:nvPr/>
          </p:nvCxnSpPr>
          <p:spPr>
            <a:xfrm>
              <a:off x="3151388" y="6324600"/>
              <a:ext cx="7955022" cy="0"/>
            </a:xfrm>
            <a:prstGeom prst="line">
              <a:avLst/>
            </a:prstGeom>
            <a:ln w="63500">
              <a:solidFill>
                <a:srgbClr val="3C7EFF"/>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632947D-4C85-3162-7BF2-2856CA950EBC}"/>
                </a:ext>
              </a:extLst>
            </p:cNvPr>
            <p:cNvSpPr/>
            <p:nvPr/>
          </p:nvSpPr>
          <p:spPr>
            <a:xfrm>
              <a:off x="9536144" y="8340321"/>
              <a:ext cx="4563487" cy="4563489"/>
            </a:xfrm>
            <a:prstGeom prst="ellipse">
              <a:avLst/>
            </a:prstGeom>
            <a:solidFill>
              <a:srgbClr val="F5F3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4815"/>
              <a:endParaRPr lang="ru-RU" sz="1733">
                <a:solidFill>
                  <a:prstClr val="white"/>
                </a:solidFill>
                <a:latin typeface="Calibri" panose="020F0502020204030204"/>
                <a:cs typeface="Hepta Slab" pitchFamily="2" charset="0"/>
              </a:endParaRPr>
            </a:p>
          </p:txBody>
        </p:sp>
        <p:sp>
          <p:nvSpPr>
            <p:cNvPr id="9" name="Oval 8">
              <a:extLst>
                <a:ext uri="{FF2B5EF4-FFF2-40B4-BE49-F238E27FC236}">
                  <a16:creationId xmlns:a16="http://schemas.microsoft.com/office/drawing/2014/main" id="{6D09D019-7C8C-0E5B-545C-5549097F9757}"/>
                </a:ext>
              </a:extLst>
            </p:cNvPr>
            <p:cNvSpPr/>
            <p:nvPr/>
          </p:nvSpPr>
          <p:spPr>
            <a:xfrm>
              <a:off x="9536144" y="838200"/>
              <a:ext cx="4563487" cy="4563489"/>
            </a:xfrm>
            <a:prstGeom prst="ellipse">
              <a:avLst/>
            </a:prstGeom>
            <a:solidFill>
              <a:srgbClr val="F5F3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4815"/>
              <a:endParaRPr lang="ru-RU" sz="1733">
                <a:solidFill>
                  <a:prstClr val="white"/>
                </a:solidFill>
                <a:latin typeface="Calibri" panose="020F0502020204030204"/>
                <a:cs typeface="Hepta Slab" pitchFamily="2" charset="0"/>
              </a:endParaRPr>
            </a:p>
          </p:txBody>
        </p:sp>
        <p:cxnSp>
          <p:nvCxnSpPr>
            <p:cNvPr id="14" name="Straight Connector 13">
              <a:extLst>
                <a:ext uri="{FF2B5EF4-FFF2-40B4-BE49-F238E27FC236}">
                  <a16:creationId xmlns:a16="http://schemas.microsoft.com/office/drawing/2014/main" id="{56F4B76B-750D-9F08-D1B1-DDD7C58C4B4C}"/>
                </a:ext>
              </a:extLst>
            </p:cNvPr>
            <p:cNvCxnSpPr>
              <a:cxnSpLocks/>
            </p:cNvCxnSpPr>
            <p:nvPr/>
          </p:nvCxnSpPr>
          <p:spPr>
            <a:xfrm>
              <a:off x="12768203" y="9996622"/>
              <a:ext cx="7955022" cy="0"/>
            </a:xfrm>
            <a:prstGeom prst="line">
              <a:avLst/>
            </a:prstGeom>
            <a:ln w="635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CB6794E-D0B6-0318-281B-1900A6835191}"/>
                </a:ext>
              </a:extLst>
            </p:cNvPr>
            <p:cNvCxnSpPr>
              <a:cxnSpLocks/>
            </p:cNvCxnSpPr>
            <p:nvPr/>
          </p:nvCxnSpPr>
          <p:spPr>
            <a:xfrm>
              <a:off x="12768203" y="2376622"/>
              <a:ext cx="7955022" cy="0"/>
            </a:xfrm>
            <a:prstGeom prst="line">
              <a:avLst/>
            </a:prstGeom>
            <a:ln w="63500">
              <a:solidFill>
                <a:srgbClr val="FF36BB"/>
              </a:solidFill>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FDF5DF05-39C7-F9AD-2409-B7C5D0833C05}"/>
                </a:ext>
              </a:extLst>
            </p:cNvPr>
            <p:cNvSpPr/>
            <p:nvPr/>
          </p:nvSpPr>
          <p:spPr>
            <a:xfrm>
              <a:off x="9536144" y="838200"/>
              <a:ext cx="2271103" cy="4562413"/>
            </a:xfrm>
            <a:custGeom>
              <a:avLst/>
              <a:gdLst>
                <a:gd name="connsiteX0" fmla="*/ 1791607 w 1791607"/>
                <a:gd name="connsiteY0" fmla="*/ 0 h 3599152"/>
                <a:gd name="connsiteX1" fmla="*/ 1791607 w 1791607"/>
                <a:gd name="connsiteY1" fmla="*/ 3599152 h 3599152"/>
                <a:gd name="connsiteX2" fmla="*/ 1615960 w 1791607"/>
                <a:gd name="connsiteY2" fmla="*/ 3590283 h 3599152"/>
                <a:gd name="connsiteX3" fmla="*/ 0 w 1791607"/>
                <a:gd name="connsiteY3" fmla="*/ 1799576 h 3599152"/>
                <a:gd name="connsiteX4" fmla="*/ 1615960 w 1791607"/>
                <a:gd name="connsiteY4" fmla="*/ 8869 h 35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1607" h="3599152">
                  <a:moveTo>
                    <a:pt x="1791607" y="0"/>
                  </a:moveTo>
                  <a:lnTo>
                    <a:pt x="1791607" y="3599152"/>
                  </a:lnTo>
                  <a:lnTo>
                    <a:pt x="1615960" y="3590283"/>
                  </a:lnTo>
                  <a:cubicBezTo>
                    <a:pt x="708299" y="3498105"/>
                    <a:pt x="0" y="2731557"/>
                    <a:pt x="0" y="1799576"/>
                  </a:cubicBezTo>
                  <a:cubicBezTo>
                    <a:pt x="0" y="867595"/>
                    <a:pt x="708299" y="101047"/>
                    <a:pt x="1615960" y="8869"/>
                  </a:cubicBezTo>
                  <a:close/>
                </a:path>
              </a:pathLst>
            </a:custGeom>
            <a:solidFill>
              <a:srgbClr val="FF36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304815"/>
              <a:endParaRPr lang="ru-RU" sz="1733">
                <a:solidFill>
                  <a:prstClr val="white"/>
                </a:solidFill>
                <a:latin typeface="Calibri" panose="020F0502020204030204"/>
                <a:cs typeface="Hepta Slab" pitchFamily="2" charset="0"/>
              </a:endParaRPr>
            </a:p>
          </p:txBody>
        </p:sp>
        <p:sp>
          <p:nvSpPr>
            <p:cNvPr id="17" name="Freeform: Shape 16">
              <a:extLst>
                <a:ext uri="{FF2B5EF4-FFF2-40B4-BE49-F238E27FC236}">
                  <a16:creationId xmlns:a16="http://schemas.microsoft.com/office/drawing/2014/main" id="{D658E3D6-58F4-5D47-D093-8C7B0477C4EC}"/>
                </a:ext>
              </a:extLst>
            </p:cNvPr>
            <p:cNvSpPr/>
            <p:nvPr/>
          </p:nvSpPr>
          <p:spPr>
            <a:xfrm flipH="1">
              <a:off x="11808403" y="4578911"/>
              <a:ext cx="2271104" cy="4562413"/>
            </a:xfrm>
            <a:custGeom>
              <a:avLst/>
              <a:gdLst>
                <a:gd name="connsiteX0" fmla="*/ 1791607 w 1791607"/>
                <a:gd name="connsiteY0" fmla="*/ 0 h 3599152"/>
                <a:gd name="connsiteX1" fmla="*/ 1791607 w 1791607"/>
                <a:gd name="connsiteY1" fmla="*/ 3599152 h 3599152"/>
                <a:gd name="connsiteX2" fmla="*/ 1615960 w 1791607"/>
                <a:gd name="connsiteY2" fmla="*/ 3590283 h 3599152"/>
                <a:gd name="connsiteX3" fmla="*/ 0 w 1791607"/>
                <a:gd name="connsiteY3" fmla="*/ 1799576 h 3599152"/>
                <a:gd name="connsiteX4" fmla="*/ 1615960 w 1791607"/>
                <a:gd name="connsiteY4" fmla="*/ 8869 h 35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1607" h="3599152">
                  <a:moveTo>
                    <a:pt x="1791607" y="0"/>
                  </a:moveTo>
                  <a:lnTo>
                    <a:pt x="1791607" y="3599152"/>
                  </a:lnTo>
                  <a:lnTo>
                    <a:pt x="1615960" y="3590283"/>
                  </a:lnTo>
                  <a:cubicBezTo>
                    <a:pt x="708299" y="3498105"/>
                    <a:pt x="0" y="2731557"/>
                    <a:pt x="0" y="1799576"/>
                  </a:cubicBezTo>
                  <a:cubicBezTo>
                    <a:pt x="0" y="867595"/>
                    <a:pt x="708299" y="101047"/>
                    <a:pt x="1615960" y="8869"/>
                  </a:cubicBezTo>
                  <a:close/>
                </a:path>
              </a:pathLst>
            </a:custGeom>
            <a:solidFill>
              <a:srgbClr val="3C7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304815"/>
              <a:endParaRPr lang="ru-RU" sz="1733">
                <a:solidFill>
                  <a:prstClr val="white"/>
                </a:solidFill>
                <a:latin typeface="Calibri" panose="020F0502020204030204"/>
                <a:cs typeface="Hepta Slab" pitchFamily="2" charset="0"/>
              </a:endParaRPr>
            </a:p>
          </p:txBody>
        </p:sp>
        <p:sp>
          <p:nvSpPr>
            <p:cNvPr id="18" name="Oval 17">
              <a:extLst>
                <a:ext uri="{FF2B5EF4-FFF2-40B4-BE49-F238E27FC236}">
                  <a16:creationId xmlns:a16="http://schemas.microsoft.com/office/drawing/2014/main" id="{A20EE116-76D0-D987-0A50-9CC8EAC61194}"/>
                </a:ext>
              </a:extLst>
            </p:cNvPr>
            <p:cNvSpPr/>
            <p:nvPr/>
          </p:nvSpPr>
          <p:spPr>
            <a:xfrm>
              <a:off x="10338221" y="1640277"/>
              <a:ext cx="2959333" cy="2959333"/>
            </a:xfrm>
            <a:prstGeom prst="ellipse">
              <a:avLst/>
            </a:prstGeom>
            <a:solidFill>
              <a:srgbClr val="E1CAF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4815"/>
              <a:endParaRPr lang="ru-RU" sz="1733">
                <a:solidFill>
                  <a:prstClr val="white"/>
                </a:solidFill>
                <a:latin typeface="Calibri" panose="020F0502020204030204"/>
                <a:cs typeface="Hepta Slab" pitchFamily="2" charset="0"/>
              </a:endParaRPr>
            </a:p>
          </p:txBody>
        </p:sp>
        <p:sp>
          <p:nvSpPr>
            <p:cNvPr id="19" name="Freeform: Shape 18">
              <a:extLst>
                <a:ext uri="{FF2B5EF4-FFF2-40B4-BE49-F238E27FC236}">
                  <a16:creationId xmlns:a16="http://schemas.microsoft.com/office/drawing/2014/main" id="{CD11BE66-E4AD-8DCF-6172-1E1F00CC861D}"/>
                </a:ext>
              </a:extLst>
            </p:cNvPr>
            <p:cNvSpPr/>
            <p:nvPr/>
          </p:nvSpPr>
          <p:spPr>
            <a:xfrm>
              <a:off x="9536144" y="8340321"/>
              <a:ext cx="2271104" cy="4562413"/>
            </a:xfrm>
            <a:custGeom>
              <a:avLst/>
              <a:gdLst>
                <a:gd name="connsiteX0" fmla="*/ 1791607 w 1791607"/>
                <a:gd name="connsiteY0" fmla="*/ 0 h 3599152"/>
                <a:gd name="connsiteX1" fmla="*/ 1791607 w 1791607"/>
                <a:gd name="connsiteY1" fmla="*/ 3599152 h 3599152"/>
                <a:gd name="connsiteX2" fmla="*/ 1615960 w 1791607"/>
                <a:gd name="connsiteY2" fmla="*/ 3590283 h 3599152"/>
                <a:gd name="connsiteX3" fmla="*/ 0 w 1791607"/>
                <a:gd name="connsiteY3" fmla="*/ 1799576 h 3599152"/>
                <a:gd name="connsiteX4" fmla="*/ 1615960 w 1791607"/>
                <a:gd name="connsiteY4" fmla="*/ 8869 h 35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1607" h="3599152">
                  <a:moveTo>
                    <a:pt x="1791607" y="0"/>
                  </a:moveTo>
                  <a:lnTo>
                    <a:pt x="1791607" y="3599152"/>
                  </a:lnTo>
                  <a:lnTo>
                    <a:pt x="1615960" y="3590283"/>
                  </a:lnTo>
                  <a:cubicBezTo>
                    <a:pt x="708299" y="3498105"/>
                    <a:pt x="0" y="2731557"/>
                    <a:pt x="0" y="1799576"/>
                  </a:cubicBezTo>
                  <a:cubicBezTo>
                    <a:pt x="0" y="867595"/>
                    <a:pt x="708299" y="101047"/>
                    <a:pt x="1615960" y="8869"/>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304815"/>
              <a:endParaRPr lang="ru-RU" sz="1733" dirty="0">
                <a:solidFill>
                  <a:prstClr val="white"/>
                </a:solidFill>
                <a:latin typeface="Calibri" panose="020F0502020204030204"/>
                <a:cs typeface="Hepta Slab" pitchFamily="2" charset="0"/>
              </a:endParaRPr>
            </a:p>
          </p:txBody>
        </p:sp>
        <p:sp>
          <p:nvSpPr>
            <p:cNvPr id="20" name="Oval 19">
              <a:extLst>
                <a:ext uri="{FF2B5EF4-FFF2-40B4-BE49-F238E27FC236}">
                  <a16:creationId xmlns:a16="http://schemas.microsoft.com/office/drawing/2014/main" id="{690EEE64-7123-37BB-830B-1E8F88D1F0D9}"/>
                </a:ext>
              </a:extLst>
            </p:cNvPr>
            <p:cNvSpPr/>
            <p:nvPr/>
          </p:nvSpPr>
          <p:spPr>
            <a:xfrm>
              <a:off x="10338221" y="9142399"/>
              <a:ext cx="2959333" cy="2959333"/>
            </a:xfrm>
            <a:prstGeom prst="ellipse">
              <a:avLst/>
            </a:prstGeom>
            <a:solidFill>
              <a:srgbClr val="E1CAF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4815"/>
              <a:endParaRPr lang="ru-RU" sz="1733">
                <a:solidFill>
                  <a:prstClr val="white"/>
                </a:solidFill>
                <a:latin typeface="Calibri" panose="020F0502020204030204"/>
                <a:cs typeface="Hepta Slab" pitchFamily="2" charset="0"/>
              </a:endParaRPr>
            </a:p>
          </p:txBody>
        </p:sp>
        <p:sp>
          <p:nvSpPr>
            <p:cNvPr id="21" name="Oval 20">
              <a:extLst>
                <a:ext uri="{FF2B5EF4-FFF2-40B4-BE49-F238E27FC236}">
                  <a16:creationId xmlns:a16="http://schemas.microsoft.com/office/drawing/2014/main" id="{37F6E0B2-FFA3-00D2-4056-B7C3D3086BB6}"/>
                </a:ext>
              </a:extLst>
            </p:cNvPr>
            <p:cNvSpPr/>
            <p:nvPr/>
          </p:nvSpPr>
          <p:spPr>
            <a:xfrm flipH="1">
              <a:off x="10338221" y="5380988"/>
              <a:ext cx="2959333" cy="2959333"/>
            </a:xfrm>
            <a:prstGeom prst="ellipse">
              <a:avLst/>
            </a:prstGeom>
            <a:solidFill>
              <a:srgbClr val="E1CAF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4815"/>
              <a:endParaRPr lang="ru-RU" sz="1733">
                <a:solidFill>
                  <a:prstClr val="white"/>
                </a:solidFill>
                <a:latin typeface="Calibri" panose="020F0502020204030204"/>
                <a:cs typeface="Hepta Slab" pitchFamily="2" charset="0"/>
              </a:endParaRPr>
            </a:p>
          </p:txBody>
        </p:sp>
        <p:sp>
          <p:nvSpPr>
            <p:cNvPr id="22" name="TextBox 21">
              <a:extLst>
                <a:ext uri="{FF2B5EF4-FFF2-40B4-BE49-F238E27FC236}">
                  <a16:creationId xmlns:a16="http://schemas.microsoft.com/office/drawing/2014/main" id="{58445061-807C-93A5-DD53-AA2A59A74014}"/>
                </a:ext>
              </a:extLst>
            </p:cNvPr>
            <p:cNvSpPr txBox="1"/>
            <p:nvPr/>
          </p:nvSpPr>
          <p:spPr>
            <a:xfrm>
              <a:off x="10953215" y="2863947"/>
              <a:ext cx="1860777" cy="733331"/>
            </a:xfrm>
            <a:prstGeom prst="rect">
              <a:avLst/>
            </a:prstGeom>
            <a:noFill/>
          </p:spPr>
          <p:txBody>
            <a:bodyPr wrap="square" rtlCol="0">
              <a:spAutoFit/>
            </a:bodyPr>
            <a:lstStyle/>
            <a:p>
              <a:pPr algn="ctr" defTabSz="1218203" eaLnBrk="0" fontAlgn="base" hangingPunct="0">
                <a:lnSpc>
                  <a:spcPct val="150000"/>
                </a:lnSpc>
                <a:spcBef>
                  <a:spcPct val="0"/>
                </a:spcBef>
                <a:spcAft>
                  <a:spcPct val="0"/>
                </a:spcAft>
                <a:defRPr/>
              </a:pPr>
              <a:r>
                <a:rPr lang="en-US" sz="1733" b="1" spc="400" baseline="30000" dirty="0">
                  <a:solidFill>
                    <a:prstClr val="black"/>
                  </a:solidFill>
                  <a:latin typeface="Hepta Slab" pitchFamily="2" charset="0"/>
                  <a:ea typeface="Roboto Cn" pitchFamily="2" charset="0"/>
                  <a:cs typeface="Hepta Slab" pitchFamily="2" charset="0"/>
                </a:rPr>
                <a:t>1</a:t>
              </a:r>
            </a:p>
          </p:txBody>
        </p:sp>
        <p:sp>
          <p:nvSpPr>
            <p:cNvPr id="23" name="TextBox 22">
              <a:extLst>
                <a:ext uri="{FF2B5EF4-FFF2-40B4-BE49-F238E27FC236}">
                  <a16:creationId xmlns:a16="http://schemas.microsoft.com/office/drawing/2014/main" id="{58CC637C-1569-637D-6418-2BE0D8D036EE}"/>
                </a:ext>
              </a:extLst>
            </p:cNvPr>
            <p:cNvSpPr txBox="1"/>
            <p:nvPr/>
          </p:nvSpPr>
          <p:spPr>
            <a:xfrm>
              <a:off x="10907423" y="6529365"/>
              <a:ext cx="1860777" cy="733331"/>
            </a:xfrm>
            <a:prstGeom prst="rect">
              <a:avLst/>
            </a:prstGeom>
            <a:noFill/>
          </p:spPr>
          <p:txBody>
            <a:bodyPr wrap="square" rtlCol="0">
              <a:spAutoFit/>
            </a:bodyPr>
            <a:lstStyle/>
            <a:p>
              <a:pPr algn="ctr" defTabSz="1218203" eaLnBrk="0" fontAlgn="base" hangingPunct="0">
                <a:lnSpc>
                  <a:spcPct val="150000"/>
                </a:lnSpc>
                <a:spcBef>
                  <a:spcPct val="0"/>
                </a:spcBef>
                <a:spcAft>
                  <a:spcPct val="0"/>
                </a:spcAft>
                <a:defRPr/>
              </a:pPr>
              <a:r>
                <a:rPr lang="en-US" sz="1733" b="1" spc="400" baseline="30000" dirty="0">
                  <a:solidFill>
                    <a:prstClr val="black"/>
                  </a:solidFill>
                  <a:latin typeface="Hepta Slab" pitchFamily="2" charset="0"/>
                  <a:ea typeface="Roboto Cn" pitchFamily="2" charset="0"/>
                  <a:cs typeface="Hepta Slab" pitchFamily="2" charset="0"/>
                </a:rPr>
                <a:t>2</a:t>
              </a:r>
            </a:p>
          </p:txBody>
        </p:sp>
        <p:sp>
          <p:nvSpPr>
            <p:cNvPr id="24" name="TextBox 23">
              <a:extLst>
                <a:ext uri="{FF2B5EF4-FFF2-40B4-BE49-F238E27FC236}">
                  <a16:creationId xmlns:a16="http://schemas.microsoft.com/office/drawing/2014/main" id="{00C31503-EA68-A9E4-D211-8FA7C67A7EB6}"/>
                </a:ext>
              </a:extLst>
            </p:cNvPr>
            <p:cNvSpPr txBox="1"/>
            <p:nvPr/>
          </p:nvSpPr>
          <p:spPr>
            <a:xfrm>
              <a:off x="10907423" y="10301265"/>
              <a:ext cx="1860777" cy="733331"/>
            </a:xfrm>
            <a:prstGeom prst="rect">
              <a:avLst/>
            </a:prstGeom>
            <a:noFill/>
          </p:spPr>
          <p:txBody>
            <a:bodyPr wrap="square" rtlCol="0">
              <a:spAutoFit/>
            </a:bodyPr>
            <a:lstStyle/>
            <a:p>
              <a:pPr algn="ctr" defTabSz="1218203" eaLnBrk="0" fontAlgn="base" hangingPunct="0">
                <a:lnSpc>
                  <a:spcPct val="150000"/>
                </a:lnSpc>
                <a:spcBef>
                  <a:spcPct val="0"/>
                </a:spcBef>
                <a:spcAft>
                  <a:spcPct val="0"/>
                </a:spcAft>
                <a:defRPr/>
              </a:pPr>
              <a:r>
                <a:rPr lang="en-US" sz="1733" b="1" spc="400" baseline="30000" dirty="0">
                  <a:solidFill>
                    <a:prstClr val="black"/>
                  </a:solidFill>
                  <a:latin typeface="Hepta Slab" pitchFamily="2" charset="0"/>
                  <a:ea typeface="Roboto Cn" pitchFamily="2" charset="0"/>
                  <a:cs typeface="Hepta Slab" pitchFamily="2" charset="0"/>
                </a:rPr>
                <a:t>3</a:t>
              </a:r>
            </a:p>
          </p:txBody>
        </p:sp>
        <p:sp>
          <p:nvSpPr>
            <p:cNvPr id="25" name="TextBox 24">
              <a:extLst>
                <a:ext uri="{FF2B5EF4-FFF2-40B4-BE49-F238E27FC236}">
                  <a16:creationId xmlns:a16="http://schemas.microsoft.com/office/drawing/2014/main" id="{899E148A-5EBB-2782-0A69-932B340A96F9}"/>
                </a:ext>
              </a:extLst>
            </p:cNvPr>
            <p:cNvSpPr txBox="1"/>
            <p:nvPr/>
          </p:nvSpPr>
          <p:spPr>
            <a:xfrm>
              <a:off x="2891767" y="6915268"/>
              <a:ext cx="6664499" cy="4242422"/>
            </a:xfrm>
            <a:prstGeom prst="rect">
              <a:avLst/>
            </a:prstGeom>
            <a:noFill/>
          </p:spPr>
          <p:txBody>
            <a:bodyPr wrap="square" rtlCol="0">
              <a:spAutoFit/>
            </a:bodyPr>
            <a:lstStyle/>
            <a:p>
              <a:pPr defTabSz="304815">
                <a:lnSpc>
                  <a:spcPct val="150000"/>
                </a:lnSpc>
                <a:spcBef>
                  <a:spcPts val="1600"/>
                </a:spcBef>
              </a:pPr>
              <a:r>
                <a:rPr lang="en-US" sz="1867" baseline="30000" dirty="0">
                  <a:solidFill>
                    <a:prstClr val="black"/>
                  </a:solidFill>
                  <a:latin typeface="Hepta Slab" pitchFamily="2" charset="0"/>
                  <a:ea typeface="Roboto Cn" pitchFamily="2" charset="0"/>
                  <a:cs typeface="Hepta Slab" pitchFamily="2" charset="0"/>
                </a:rPr>
                <a:t>Phenomenological in-depth interactions for episodic recall.</a:t>
              </a:r>
            </a:p>
            <a:p>
              <a:pPr defTabSz="304815">
                <a:lnSpc>
                  <a:spcPct val="150000"/>
                </a:lnSpc>
                <a:spcBef>
                  <a:spcPts val="1600"/>
                </a:spcBef>
              </a:pPr>
              <a:r>
                <a:rPr lang="en-US" sz="1867" baseline="30000" dirty="0">
                  <a:solidFill>
                    <a:prstClr val="black"/>
                  </a:solidFill>
                  <a:latin typeface="Hepta Slab" pitchFamily="2" charset="0"/>
                  <a:ea typeface="Roboto Cn" pitchFamily="2" charset="0"/>
                  <a:cs typeface="Hepta Slab" pitchFamily="2" charset="0"/>
                </a:rPr>
                <a:t>One-on-One in-depth interactions, </a:t>
              </a:r>
            </a:p>
            <a:p>
              <a:pPr defTabSz="304815">
                <a:lnSpc>
                  <a:spcPct val="150000"/>
                </a:lnSpc>
                <a:spcBef>
                  <a:spcPts val="1600"/>
                </a:spcBef>
              </a:pPr>
              <a:r>
                <a:rPr lang="en-US" sz="1867" baseline="30000" dirty="0">
                  <a:solidFill>
                    <a:prstClr val="black"/>
                  </a:solidFill>
                  <a:latin typeface="Hepta Slab" pitchFamily="2" charset="0"/>
                  <a:ea typeface="Roboto Cn" pitchFamily="2" charset="0"/>
                  <a:cs typeface="Hepta Slab" pitchFamily="2" charset="0"/>
                </a:rPr>
                <a:t>53 hours of interview transcripts</a:t>
              </a:r>
            </a:p>
          </p:txBody>
        </p:sp>
        <p:sp>
          <p:nvSpPr>
            <p:cNvPr id="26" name="TextBox 25">
              <a:extLst>
                <a:ext uri="{FF2B5EF4-FFF2-40B4-BE49-F238E27FC236}">
                  <a16:creationId xmlns:a16="http://schemas.microsoft.com/office/drawing/2014/main" id="{5F6E872C-84C9-BBC5-5863-AD745A6ED0C6}"/>
                </a:ext>
              </a:extLst>
            </p:cNvPr>
            <p:cNvSpPr txBox="1"/>
            <p:nvPr/>
          </p:nvSpPr>
          <p:spPr>
            <a:xfrm>
              <a:off x="2981562" y="5355742"/>
              <a:ext cx="5293665" cy="733331"/>
            </a:xfrm>
            <a:prstGeom prst="rect">
              <a:avLst/>
            </a:prstGeom>
            <a:noFill/>
          </p:spPr>
          <p:txBody>
            <a:bodyPr wrap="square" rtlCol="0">
              <a:spAutoFit/>
            </a:bodyPr>
            <a:lstStyle/>
            <a:p>
              <a:pPr defTabSz="304815">
                <a:lnSpc>
                  <a:spcPct val="150000"/>
                </a:lnSpc>
              </a:pPr>
              <a:r>
                <a:rPr lang="en-US" sz="1733" b="1" baseline="30000" dirty="0">
                  <a:solidFill>
                    <a:srgbClr val="3C7EFF"/>
                  </a:solidFill>
                  <a:latin typeface="Hepta Slab" pitchFamily="2" charset="0"/>
                  <a:ea typeface="Roboto Cn" pitchFamily="2" charset="0"/>
                  <a:cs typeface="Hepta Slab" pitchFamily="2" charset="0"/>
                </a:rPr>
                <a:t>Qualitative Insights</a:t>
              </a:r>
            </a:p>
          </p:txBody>
        </p:sp>
        <p:sp>
          <p:nvSpPr>
            <p:cNvPr id="28" name="TextBox 27">
              <a:extLst>
                <a:ext uri="{FF2B5EF4-FFF2-40B4-BE49-F238E27FC236}">
                  <a16:creationId xmlns:a16="http://schemas.microsoft.com/office/drawing/2014/main" id="{0D17F3B5-3DF8-E2A0-D701-A7927DD1A407}"/>
                </a:ext>
              </a:extLst>
            </p:cNvPr>
            <p:cNvSpPr txBox="1"/>
            <p:nvPr/>
          </p:nvSpPr>
          <p:spPr>
            <a:xfrm>
              <a:off x="14941402" y="2925610"/>
              <a:ext cx="5934223" cy="1869330"/>
            </a:xfrm>
            <a:prstGeom prst="rect">
              <a:avLst/>
            </a:prstGeom>
            <a:noFill/>
          </p:spPr>
          <p:txBody>
            <a:bodyPr wrap="square" rtlCol="0">
              <a:spAutoFit/>
            </a:bodyPr>
            <a:lstStyle/>
            <a:p>
              <a:pPr defTabSz="304815">
                <a:lnSpc>
                  <a:spcPct val="150000"/>
                </a:lnSpc>
                <a:spcBef>
                  <a:spcPts val="1600"/>
                </a:spcBef>
              </a:pPr>
              <a:r>
                <a:rPr lang="en-US" sz="1867" baseline="30000" dirty="0">
                  <a:solidFill>
                    <a:prstClr val="black"/>
                  </a:solidFill>
                  <a:latin typeface="Hepta Slab" pitchFamily="2" charset="0"/>
                  <a:ea typeface="Roboto Cn" pitchFamily="2" charset="0"/>
                  <a:cs typeface="Hepta Slab" pitchFamily="2" charset="0"/>
                </a:rPr>
                <a:t>5 lakh+ Records –</a:t>
              </a:r>
            </a:p>
            <a:p>
              <a:pPr defTabSz="304815">
                <a:lnSpc>
                  <a:spcPct val="150000"/>
                </a:lnSpc>
                <a:spcBef>
                  <a:spcPts val="1600"/>
                </a:spcBef>
              </a:pPr>
              <a:r>
                <a:rPr lang="en-US" sz="1867" baseline="30000" dirty="0">
                  <a:solidFill>
                    <a:prstClr val="black"/>
                  </a:solidFill>
                  <a:latin typeface="Hepta Slab" pitchFamily="2" charset="0"/>
                  <a:ea typeface="Roboto Cn" pitchFamily="2" charset="0"/>
                  <a:cs typeface="Hepta Slab" pitchFamily="2" charset="0"/>
                </a:rPr>
                <a:t>3 Years Time Span</a:t>
              </a:r>
            </a:p>
          </p:txBody>
        </p:sp>
        <p:sp>
          <p:nvSpPr>
            <p:cNvPr id="29" name="TextBox 28">
              <a:extLst>
                <a:ext uri="{FF2B5EF4-FFF2-40B4-BE49-F238E27FC236}">
                  <a16:creationId xmlns:a16="http://schemas.microsoft.com/office/drawing/2014/main" id="{A1356F9E-49CE-2C29-AADC-1470A776DC2D}"/>
                </a:ext>
              </a:extLst>
            </p:cNvPr>
            <p:cNvSpPr txBox="1"/>
            <p:nvPr/>
          </p:nvSpPr>
          <p:spPr>
            <a:xfrm>
              <a:off x="14941402" y="10440953"/>
              <a:ext cx="5934223" cy="3329861"/>
            </a:xfrm>
            <a:prstGeom prst="rect">
              <a:avLst/>
            </a:prstGeom>
            <a:noFill/>
          </p:spPr>
          <p:txBody>
            <a:bodyPr wrap="square" rtlCol="0">
              <a:spAutoFit/>
            </a:bodyPr>
            <a:lstStyle/>
            <a:p>
              <a:pPr defTabSz="304815">
                <a:lnSpc>
                  <a:spcPct val="150000"/>
                </a:lnSpc>
                <a:spcBef>
                  <a:spcPts val="1600"/>
                </a:spcBef>
              </a:pPr>
              <a:r>
                <a:rPr lang="en-US" sz="1867" baseline="30000" dirty="0">
                  <a:solidFill>
                    <a:prstClr val="black"/>
                  </a:solidFill>
                  <a:latin typeface="Hepta Slab" pitchFamily="2" charset="0"/>
                  <a:ea typeface="Roboto Cn" pitchFamily="2" charset="0"/>
                  <a:cs typeface="Hepta Slab" pitchFamily="2" charset="0"/>
                </a:rPr>
                <a:t>Released to all the customer online studies testing: Trustworthiness, Touch Points Interaction Friction, Redemption Insights</a:t>
              </a:r>
            </a:p>
          </p:txBody>
        </p:sp>
        <p:sp>
          <p:nvSpPr>
            <p:cNvPr id="30" name="TextBox 29">
              <a:extLst>
                <a:ext uri="{FF2B5EF4-FFF2-40B4-BE49-F238E27FC236}">
                  <a16:creationId xmlns:a16="http://schemas.microsoft.com/office/drawing/2014/main" id="{10D17DFE-BFC2-7D88-858C-A5776DBA61A6}"/>
                </a:ext>
              </a:extLst>
            </p:cNvPr>
            <p:cNvSpPr txBox="1"/>
            <p:nvPr/>
          </p:nvSpPr>
          <p:spPr>
            <a:xfrm>
              <a:off x="16149416" y="1475560"/>
              <a:ext cx="4726209" cy="733331"/>
            </a:xfrm>
            <a:prstGeom prst="rect">
              <a:avLst/>
            </a:prstGeom>
            <a:noFill/>
          </p:spPr>
          <p:txBody>
            <a:bodyPr wrap="square" rtlCol="0">
              <a:spAutoFit/>
            </a:bodyPr>
            <a:lstStyle/>
            <a:p>
              <a:pPr algn="r" defTabSz="304815">
                <a:lnSpc>
                  <a:spcPct val="150000"/>
                </a:lnSpc>
              </a:pPr>
              <a:r>
                <a:rPr lang="en-US" sz="1733" b="1" baseline="30000" dirty="0">
                  <a:solidFill>
                    <a:srgbClr val="FF36BB"/>
                  </a:solidFill>
                  <a:latin typeface="Hepta Slab" pitchFamily="2" charset="0"/>
                  <a:ea typeface="Roboto Cn" pitchFamily="2" charset="0"/>
                  <a:cs typeface="Hepta Slab" pitchFamily="2" charset="0"/>
                </a:rPr>
                <a:t>Quantitative Insights</a:t>
              </a:r>
            </a:p>
          </p:txBody>
        </p:sp>
        <p:sp>
          <p:nvSpPr>
            <p:cNvPr id="31" name="TextBox 30">
              <a:extLst>
                <a:ext uri="{FF2B5EF4-FFF2-40B4-BE49-F238E27FC236}">
                  <a16:creationId xmlns:a16="http://schemas.microsoft.com/office/drawing/2014/main" id="{0016DEAC-C186-7B73-480D-0F7BC12678DF}"/>
                </a:ext>
              </a:extLst>
            </p:cNvPr>
            <p:cNvSpPr txBox="1"/>
            <p:nvPr/>
          </p:nvSpPr>
          <p:spPr>
            <a:xfrm>
              <a:off x="15913397" y="8018337"/>
              <a:ext cx="4726209" cy="1919665"/>
            </a:xfrm>
            <a:prstGeom prst="rect">
              <a:avLst/>
            </a:prstGeom>
            <a:noFill/>
          </p:spPr>
          <p:txBody>
            <a:bodyPr wrap="square" rtlCol="0">
              <a:spAutoFit/>
            </a:bodyPr>
            <a:lstStyle/>
            <a:p>
              <a:pPr algn="r" defTabSz="304815">
                <a:lnSpc>
                  <a:spcPct val="150000"/>
                </a:lnSpc>
              </a:pPr>
              <a:r>
                <a:rPr lang="en-US" sz="1733" b="1" baseline="30000" dirty="0">
                  <a:solidFill>
                    <a:srgbClr val="7030A0"/>
                  </a:solidFill>
                  <a:latin typeface="Hepta Slab" pitchFamily="2" charset="0"/>
                  <a:ea typeface="Roboto Cn" pitchFamily="2" charset="0"/>
                  <a:cs typeface="Hepta Slab" pitchFamily="2" charset="0"/>
                </a:rPr>
                <a:t>Consumer Neuroscience Based Widespan Assessment</a:t>
              </a:r>
            </a:p>
          </p:txBody>
        </p:sp>
      </p:grpSp>
    </p:spTree>
    <p:extLst>
      <p:ext uri="{BB962C8B-B14F-4D97-AF65-F5344CB8AC3E}">
        <p14:creationId xmlns:p14="http://schemas.microsoft.com/office/powerpoint/2010/main" val="2399804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817617"/>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1DB550-F1ED-303D-9DC0-540691ED0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6001" y="-33749"/>
            <a:ext cx="2426243" cy="2426243"/>
          </a:xfrm>
          <a:prstGeom prst="rect">
            <a:avLst/>
          </a:prstGeom>
        </p:spPr>
      </p:pic>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3">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schemeClr val="bg1">
                  <a:lumMod val="75000"/>
                </a:schemeClr>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a:t>
            </a:r>
            <a:endParaRPr lang="en-US" sz="1333" dirty="0">
              <a:solidFill>
                <a:schemeClr val="bg1">
                  <a:lumMod val="75000"/>
                </a:scheme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srgbClr val="817617"/>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11" name="Object5">
            <a:extLst>
              <a:ext uri="{FF2B5EF4-FFF2-40B4-BE49-F238E27FC236}">
                <a16:creationId xmlns:a16="http://schemas.microsoft.com/office/drawing/2014/main" id="{AF2AE1F4-E20B-A7B5-3FB6-517EA4463599}"/>
              </a:ext>
            </a:extLst>
          </p:cNvPr>
          <p:cNvSpPr/>
          <p:nvPr/>
        </p:nvSpPr>
        <p:spPr>
          <a:xfrm>
            <a:off x="3691729" y="2528900"/>
            <a:ext cx="7696859" cy="782566"/>
          </a:xfrm>
          <a:prstGeom prst="rect">
            <a:avLst/>
          </a:prstGeom>
          <a:noFill/>
          <a:ln/>
        </p:spPr>
        <p:txBody>
          <a:bodyPr wrap="square" lIns="0" tIns="0" rIns="0" bIns="0" rtlCol="0" anchor="t"/>
          <a:lstStyle/>
          <a:p>
            <a:pPr defTabSz="304815"/>
            <a:r>
              <a:rPr lang="en-US" sz="1600" dirty="0">
                <a:solidFill>
                  <a:srgbClr val="F5F3E4"/>
                </a:solidFill>
                <a:latin typeface="Hepta Slab SemiBold" pitchFamily="2" charset="0"/>
                <a:ea typeface="Hepta Slab Regular" pitchFamily="34" charset="-122"/>
                <a:cs typeface="Hepta Slab SemiBold" pitchFamily="2" charset="0"/>
              </a:rPr>
              <a:t>Design</a:t>
            </a: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r>
              <a:rPr lang="en-US" sz="1600" dirty="0">
                <a:solidFill>
                  <a:srgbClr val="F5F3E4"/>
                </a:solidFill>
                <a:latin typeface="Hepta Slab Regular" pitchFamily="2" charset="0"/>
                <a:ea typeface="Hepta Slab Regular" pitchFamily="34" charset="-122"/>
                <a:cs typeface="Hepta Slab Regular" pitchFamily="2" charset="0"/>
              </a:rPr>
              <a:t>Relevant and timely nudges to drive customer </a:t>
            </a:r>
            <a:r>
              <a:rPr lang="en-US" sz="1600" dirty="0" err="1">
                <a:solidFill>
                  <a:srgbClr val="F5F3E4"/>
                </a:solidFill>
                <a:latin typeface="Hepta Slab Regular" pitchFamily="2" charset="0"/>
                <a:ea typeface="Hepta Slab Regular" pitchFamily="34" charset="-122"/>
                <a:cs typeface="Hepta Slab Regular" pitchFamily="2" charset="0"/>
              </a:rPr>
              <a:t>behaviour</a:t>
            </a:r>
            <a:r>
              <a:rPr lang="en-US" sz="1600" dirty="0">
                <a:solidFill>
                  <a:srgbClr val="F5F3E4"/>
                </a:solidFill>
                <a:latin typeface="Hepta Slab Regular" pitchFamily="2" charset="0"/>
                <a:ea typeface="Hepta Slab Regular" pitchFamily="34" charset="-122"/>
                <a:cs typeface="Hepta Slab Regular" pitchFamily="2" charset="0"/>
              </a:rPr>
              <a:t> shifts (EAST* framework for </a:t>
            </a:r>
            <a:r>
              <a:rPr lang="en-US" sz="1600" dirty="0" err="1">
                <a:solidFill>
                  <a:srgbClr val="F5F3E4"/>
                </a:solidFill>
                <a:latin typeface="Hepta Slab Regular" pitchFamily="2" charset="0"/>
                <a:ea typeface="Hepta Slab Regular" pitchFamily="34" charset="-122"/>
                <a:cs typeface="Hepta Slab Regular" pitchFamily="2" charset="0"/>
              </a:rPr>
              <a:t>behaviour</a:t>
            </a:r>
            <a:r>
              <a:rPr lang="en-US" sz="1600" dirty="0">
                <a:solidFill>
                  <a:srgbClr val="F5F3E4"/>
                </a:solidFill>
                <a:latin typeface="Hepta Slab Regular" pitchFamily="2" charset="0"/>
                <a:ea typeface="Hepta Slab Regular" pitchFamily="34" charset="-122"/>
                <a:cs typeface="Hepta Slab Regular" pitchFamily="2" charset="0"/>
              </a:rPr>
              <a:t> shifts)</a:t>
            </a: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r>
              <a:rPr lang="en-US" sz="1600" dirty="0">
                <a:solidFill>
                  <a:srgbClr val="F5F3E4"/>
                </a:solidFill>
                <a:latin typeface="Hepta Slab SemiBold" pitchFamily="2" charset="0"/>
                <a:ea typeface="Hepta Slab Regular" pitchFamily="34" charset="-122"/>
                <a:cs typeface="Hepta Slab SemiBold" pitchFamily="2" charset="0"/>
              </a:rPr>
              <a:t>Re-Design</a:t>
            </a: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r>
              <a:rPr lang="en-US" sz="1600" dirty="0">
                <a:solidFill>
                  <a:srgbClr val="F5F3E4"/>
                </a:solidFill>
                <a:latin typeface="Hepta Slab Regular" pitchFamily="2" charset="0"/>
                <a:ea typeface="Hepta Slab Regular" pitchFamily="34" charset="-122"/>
                <a:cs typeface="Hepta Slab Regular" pitchFamily="2" charset="0"/>
              </a:rPr>
              <a:t>Premium Renewal Processes</a:t>
            </a:r>
          </a:p>
          <a:p>
            <a:pPr defTabSz="304815"/>
            <a:r>
              <a:rPr lang="en-US" sz="1600" dirty="0">
                <a:solidFill>
                  <a:srgbClr val="F5F3E4"/>
                </a:solidFill>
                <a:latin typeface="Hepta Slab Regular" pitchFamily="2" charset="0"/>
                <a:ea typeface="Hepta Slab Regular" pitchFamily="34" charset="-122"/>
                <a:cs typeface="Hepta Slab Regular" pitchFamily="2" charset="0"/>
              </a:rPr>
              <a:t>Touchpoints</a:t>
            </a:r>
          </a:p>
          <a:p>
            <a:pPr defTabSz="304815"/>
            <a:r>
              <a:rPr lang="en-US" sz="1600" dirty="0">
                <a:solidFill>
                  <a:srgbClr val="F5F3E4"/>
                </a:solidFill>
                <a:latin typeface="Hepta Slab Regular" pitchFamily="2" charset="0"/>
                <a:ea typeface="Hepta Slab Regular" pitchFamily="34" charset="-122"/>
                <a:cs typeface="Hepta Slab Regular" pitchFamily="2" charset="0"/>
              </a:rPr>
              <a:t>Customer  Communication </a:t>
            </a:r>
          </a:p>
          <a:p>
            <a:pPr defTabSz="304815"/>
            <a:r>
              <a:rPr lang="en-US" sz="1600" dirty="0">
                <a:solidFill>
                  <a:srgbClr val="F5F3E4"/>
                </a:solidFill>
                <a:latin typeface="Hepta Slab Regular" pitchFamily="2" charset="0"/>
                <a:ea typeface="Hepta Slab Regular" pitchFamily="34" charset="-122"/>
                <a:cs typeface="Hepta Slab Regular" pitchFamily="2" charset="0"/>
              </a:rPr>
              <a:t>Customer Data Enrichment</a:t>
            </a:r>
          </a:p>
          <a:p>
            <a:pPr defTabSz="304815"/>
            <a:r>
              <a:rPr lang="en-US" sz="1600" dirty="0">
                <a:solidFill>
                  <a:srgbClr val="F5F3E4"/>
                </a:solidFill>
                <a:latin typeface="Hepta Slab Regular" pitchFamily="2" charset="0"/>
                <a:ea typeface="Hepta Slab Regular" pitchFamily="34" charset="-122"/>
                <a:cs typeface="Hepta Slab Regular" pitchFamily="2" charset="0"/>
              </a:rPr>
              <a:t>For focused solution delivery</a:t>
            </a:r>
          </a:p>
        </p:txBody>
      </p:sp>
      <p:grpSp>
        <p:nvGrpSpPr>
          <p:cNvPr id="26" name="Group 25">
            <a:extLst>
              <a:ext uri="{FF2B5EF4-FFF2-40B4-BE49-F238E27FC236}">
                <a16:creationId xmlns:a16="http://schemas.microsoft.com/office/drawing/2014/main" id="{4EA62BCD-F6D9-441A-B2D5-CD4E98969517}"/>
              </a:ext>
            </a:extLst>
          </p:cNvPr>
          <p:cNvGrpSpPr/>
          <p:nvPr/>
        </p:nvGrpSpPr>
        <p:grpSpPr>
          <a:xfrm>
            <a:off x="3690609" y="6309000"/>
            <a:ext cx="7275789" cy="480001"/>
            <a:chOff x="5535913" y="9283499"/>
            <a:chExt cx="10913683" cy="720001"/>
          </a:xfrm>
        </p:grpSpPr>
        <p:pic>
          <p:nvPicPr>
            <p:cNvPr id="28" name="Picture 27">
              <a:extLst>
                <a:ext uri="{FF2B5EF4-FFF2-40B4-BE49-F238E27FC236}">
                  <a16:creationId xmlns:a16="http://schemas.microsoft.com/office/drawing/2014/main" id="{E8A22581-630E-02A7-0EF8-6114431B65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9" name="Picture 28">
              <a:extLst>
                <a:ext uri="{FF2B5EF4-FFF2-40B4-BE49-F238E27FC236}">
                  <a16:creationId xmlns:a16="http://schemas.microsoft.com/office/drawing/2014/main" id="{C55B5FDB-01C4-6269-F110-A270604FB1EE}"/>
                </a:ext>
              </a:extLst>
            </p:cNvPr>
            <p:cNvPicPr>
              <a:picLocks noChangeAspect="1"/>
            </p:cNvPicPr>
            <p:nvPr/>
          </p:nvPicPr>
          <p:blipFill rotWithShape="1">
            <a:blip r:embed="rId5">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30" name="Title 1">
              <a:extLst>
                <a:ext uri="{FF2B5EF4-FFF2-40B4-BE49-F238E27FC236}">
                  <a16:creationId xmlns:a16="http://schemas.microsoft.com/office/drawing/2014/main" id="{AB4E9D9F-2682-FF3A-594B-F6CA471CA0D0}"/>
                </a:ext>
              </a:extLst>
            </p:cNvPr>
            <p:cNvSpPr txBox="1">
              <a:spLocks/>
            </p:cNvSpPr>
            <p:nvPr/>
          </p:nvSpPr>
          <p:spPr>
            <a:xfrm>
              <a:off x="7993069" y="9519798"/>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chemeClr val="bg1"/>
                  </a:solidFill>
                  <a:latin typeface="Montserrat Medium" pitchFamily="2" charset="0"/>
                  <a:cs typeface="Hepta Slab" pitchFamily="2" charset="0"/>
                </a:rPr>
                <a:t>TERRAGNI CONSULTING (P) LTD PRIVATE AND CONFIDENTIAL ©</a:t>
              </a:r>
            </a:p>
          </p:txBody>
        </p:sp>
      </p:grpSp>
    </p:spTree>
    <p:extLst>
      <p:ext uri="{BB962C8B-B14F-4D97-AF65-F5344CB8AC3E}">
        <p14:creationId xmlns:p14="http://schemas.microsoft.com/office/powerpoint/2010/main" val="240859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17617"/>
        </a:solidFill>
        <a:effectLst/>
      </p:bgPr>
    </p:bg>
    <p:spTree>
      <p:nvGrpSpPr>
        <p:cNvPr id="1" name="">
          <a:extLst>
            <a:ext uri="{FF2B5EF4-FFF2-40B4-BE49-F238E27FC236}">
              <a16:creationId xmlns:a16="http://schemas.microsoft.com/office/drawing/2014/main" id="{EB04337C-F931-4A24-D6FB-CABB8527F0F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2F64584-3876-6ECC-21A0-631DA4EA0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6001" y="-33749"/>
            <a:ext cx="2426243" cy="2426243"/>
          </a:xfrm>
          <a:prstGeom prst="rect">
            <a:avLst/>
          </a:prstGeom>
        </p:spPr>
      </p:pic>
      <p:pic>
        <p:nvPicPr>
          <p:cNvPr id="3" name="Picture 2">
            <a:extLst>
              <a:ext uri="{FF2B5EF4-FFF2-40B4-BE49-F238E27FC236}">
                <a16:creationId xmlns:a16="http://schemas.microsoft.com/office/drawing/2014/main" id="{0F702953-5659-7247-1158-9563B6550DF8}"/>
              </a:ext>
            </a:extLst>
          </p:cNvPr>
          <p:cNvPicPr>
            <a:picLocks noChangeAspect="1"/>
          </p:cNvPicPr>
          <p:nvPr/>
        </p:nvPicPr>
        <p:blipFill rotWithShape="1">
          <a:blip r:embed="rId3">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sp>
        <p:nvSpPr>
          <p:cNvPr id="27" name="Object6">
            <a:extLst>
              <a:ext uri="{FF2B5EF4-FFF2-40B4-BE49-F238E27FC236}">
                <a16:creationId xmlns:a16="http://schemas.microsoft.com/office/drawing/2014/main" id="{2B311315-F147-764F-F32B-6FE086143CA6}"/>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schemeClr val="bg1">
                  <a:lumMod val="75000"/>
                </a:schemeClr>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a:t>
            </a:r>
            <a:endParaRPr lang="en-US" sz="1333" dirty="0">
              <a:solidFill>
                <a:schemeClr val="bg1">
                  <a:lumMod val="75000"/>
                </a:scheme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srgbClr val="817617"/>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11" name="Object5">
            <a:extLst>
              <a:ext uri="{FF2B5EF4-FFF2-40B4-BE49-F238E27FC236}">
                <a16:creationId xmlns:a16="http://schemas.microsoft.com/office/drawing/2014/main" id="{C5C90C1C-A152-8888-A6F0-C0319A02E807}"/>
              </a:ext>
            </a:extLst>
          </p:cNvPr>
          <p:cNvSpPr/>
          <p:nvPr/>
        </p:nvSpPr>
        <p:spPr>
          <a:xfrm>
            <a:off x="3690609" y="2168860"/>
            <a:ext cx="7696859" cy="782566"/>
          </a:xfrm>
          <a:prstGeom prst="rect">
            <a:avLst/>
          </a:prstGeom>
          <a:noFill/>
          <a:ln/>
        </p:spPr>
        <p:txBody>
          <a:bodyPr wrap="square" lIns="0" tIns="0" rIns="0" bIns="0" rtlCol="0" anchor="t"/>
          <a:lstStyle/>
          <a:p>
            <a:pPr defTabSz="304815"/>
            <a:r>
              <a:rPr lang="en-US" sz="1600" dirty="0">
                <a:solidFill>
                  <a:srgbClr val="F5F3E4"/>
                </a:solidFill>
                <a:latin typeface="Hepta Slab SemiBold" pitchFamily="2" charset="0"/>
                <a:ea typeface="Hepta Slab Regular" pitchFamily="34" charset="-122"/>
                <a:cs typeface="Hepta Slab SemiBold" pitchFamily="2" charset="0"/>
              </a:rPr>
              <a:t>Overcoming barriers to Premium Renewal </a:t>
            </a: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r>
              <a:rPr lang="en-US" sz="1600" dirty="0">
                <a:solidFill>
                  <a:srgbClr val="F5F3E4"/>
                </a:solidFill>
                <a:latin typeface="Hepta Slab Regular" pitchFamily="2" charset="0"/>
                <a:ea typeface="Hepta Slab Regular" pitchFamily="34" charset="-122"/>
                <a:cs typeface="Hepta Slab Regular" pitchFamily="2" charset="0"/>
              </a:rPr>
              <a:t>Communication architecture revamp</a:t>
            </a: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p:txBody>
      </p:sp>
      <p:grpSp>
        <p:nvGrpSpPr>
          <p:cNvPr id="26" name="Group 25">
            <a:extLst>
              <a:ext uri="{FF2B5EF4-FFF2-40B4-BE49-F238E27FC236}">
                <a16:creationId xmlns:a16="http://schemas.microsoft.com/office/drawing/2014/main" id="{F2154D80-E1E1-3EFB-DDC7-0BCFB0C25975}"/>
              </a:ext>
            </a:extLst>
          </p:cNvPr>
          <p:cNvGrpSpPr/>
          <p:nvPr/>
        </p:nvGrpSpPr>
        <p:grpSpPr>
          <a:xfrm>
            <a:off x="3690609" y="6309000"/>
            <a:ext cx="7275789" cy="480001"/>
            <a:chOff x="5535913" y="9283499"/>
            <a:chExt cx="10913683" cy="720001"/>
          </a:xfrm>
        </p:grpSpPr>
        <p:pic>
          <p:nvPicPr>
            <p:cNvPr id="28" name="Picture 27">
              <a:extLst>
                <a:ext uri="{FF2B5EF4-FFF2-40B4-BE49-F238E27FC236}">
                  <a16:creationId xmlns:a16="http://schemas.microsoft.com/office/drawing/2014/main" id="{B611F821-D05E-A715-6744-205FC0096F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9" name="Picture 28">
              <a:extLst>
                <a:ext uri="{FF2B5EF4-FFF2-40B4-BE49-F238E27FC236}">
                  <a16:creationId xmlns:a16="http://schemas.microsoft.com/office/drawing/2014/main" id="{ED505C0A-87BC-B88D-1B0B-F28A78414E90}"/>
                </a:ext>
              </a:extLst>
            </p:cNvPr>
            <p:cNvPicPr>
              <a:picLocks noChangeAspect="1"/>
            </p:cNvPicPr>
            <p:nvPr/>
          </p:nvPicPr>
          <p:blipFill rotWithShape="1">
            <a:blip r:embed="rId5">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30" name="Title 1">
              <a:extLst>
                <a:ext uri="{FF2B5EF4-FFF2-40B4-BE49-F238E27FC236}">
                  <a16:creationId xmlns:a16="http://schemas.microsoft.com/office/drawing/2014/main" id="{8B776E40-2D5B-54B9-E8B9-7C2E731C9CCF}"/>
                </a:ext>
              </a:extLst>
            </p:cNvPr>
            <p:cNvSpPr txBox="1">
              <a:spLocks/>
            </p:cNvSpPr>
            <p:nvPr/>
          </p:nvSpPr>
          <p:spPr>
            <a:xfrm>
              <a:off x="7993069" y="9519798"/>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chemeClr val="bg1"/>
                  </a:solidFill>
                  <a:latin typeface="Montserrat Medium" pitchFamily="2" charset="0"/>
                  <a:cs typeface="Hepta Slab" pitchFamily="2" charset="0"/>
                </a:rPr>
                <a:t>TERRAGNI CONSULTING (P) LTD PRIVATE AND CONFIDENTIAL ©</a:t>
              </a:r>
            </a:p>
          </p:txBody>
        </p:sp>
      </p:grpSp>
      <p:pic>
        <p:nvPicPr>
          <p:cNvPr id="2" name="Picture 1">
            <a:extLst>
              <a:ext uri="{FF2B5EF4-FFF2-40B4-BE49-F238E27FC236}">
                <a16:creationId xmlns:a16="http://schemas.microsoft.com/office/drawing/2014/main" id="{F0DE0675-9ECB-DBA1-4389-CCCBDC23FD5D}"/>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9562" b="74104" l="7463" r="93035">
                        <a14:foregroundMark x1="48259" y1="10359" x2="9453" y2="71315"/>
                        <a14:foregroundMark x1="9453" y1="71315" x2="55721" y2="72510"/>
                        <a14:foregroundMark x1="55721" y1="72510" x2="93035" y2="72112"/>
                        <a14:foregroundMark x1="93035" y1="72112" x2="93532" y2="72112"/>
                        <a14:foregroundMark x1="51244" y1="9960" x2="52736" y2="11554"/>
                        <a14:foregroundMark x1="8458" y1="68127" x2="7463" y2="74104"/>
                        <a14:foregroundMark x1="50168" y1="37943" x2="68217" y2="56821"/>
                        <a14:foregroundMark x1="46269" y1="33865" x2="49543" y2="37289"/>
                        <a14:foregroundMark x1="47113" y1="63180" x2="31343" y2="65737"/>
                        <a14:foregroundMark x1="60269" y1="69919" x2="67164" y2="70916"/>
                        <a14:foregroundMark x1="31343" y1="65737" x2="54873" y2="69139"/>
                        <a14:foregroundMark x1="64798" y1="58956" x2="60775" y2="38621"/>
                        <a14:foregroundMark x1="67164" y1="70916" x2="66143" y2="65756"/>
                        <a14:backgroundMark x1="56716" y1="31474" x2="64677" y2="35458"/>
                        <a14:backgroundMark x1="60697" y1="62151" x2="66169" y2="65737"/>
                        <a14:backgroundMark x1="57214" y1="59761" x2="58209" y2="65737"/>
                      </a14:backgroundRemoval>
                    </a14:imgEffect>
                  </a14:imgLayer>
                </a14:imgProps>
              </a:ext>
              <a:ext uri="{28A0092B-C50C-407E-A947-70E740481C1C}">
                <a14:useLocalDpi xmlns:a14="http://schemas.microsoft.com/office/drawing/2010/main" val="0"/>
              </a:ext>
            </a:extLst>
          </a:blip>
          <a:srcRect t="3538" b="20506"/>
          <a:stretch/>
        </p:blipFill>
        <p:spPr>
          <a:xfrm>
            <a:off x="3599649" y="3128277"/>
            <a:ext cx="1417223" cy="1344233"/>
          </a:xfrm>
          <a:prstGeom prst="rect">
            <a:avLst/>
          </a:prstGeom>
        </p:spPr>
      </p:pic>
      <p:pic>
        <p:nvPicPr>
          <p:cNvPr id="4" name="Picture 2" descr="Related image">
            <a:extLst>
              <a:ext uri="{FF2B5EF4-FFF2-40B4-BE49-F238E27FC236}">
                <a16:creationId xmlns:a16="http://schemas.microsoft.com/office/drawing/2014/main" id="{544CC31C-0FC9-778F-6B25-5EA37BCE7CF4}"/>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2381" b="96259" l="1667" r="98000">
                        <a14:foregroundMark x1="7333" y1="46939" x2="8000" y2="46259"/>
                        <a14:foregroundMark x1="51000" y1="3061" x2="50667" y2="4082"/>
                        <a14:foregroundMark x1="39667" y1="86735" x2="46333" y2="91156"/>
                        <a14:foregroundMark x1="84667" y1="45238" x2="91333" y2="59524"/>
                        <a14:foregroundMark x1="51000" y1="96259" x2="53000" y2="93537"/>
                        <a14:foregroundMark x1="7333" y1="51361" x2="1667" y2="52041"/>
                        <a14:foregroundMark x1="93000" y1="48980" x2="98000" y2="52721"/>
                      </a14:backgroundRemoval>
                    </a14:imgEffect>
                  </a14:imgLayer>
                </a14:imgProps>
              </a:ext>
              <a:ext uri="{28A0092B-C50C-407E-A947-70E740481C1C}">
                <a14:useLocalDpi xmlns:a14="http://schemas.microsoft.com/office/drawing/2010/main" val="0"/>
              </a:ext>
            </a:extLst>
          </a:blip>
          <a:srcRect/>
          <a:stretch>
            <a:fillRect/>
          </a:stretch>
        </p:blipFill>
        <p:spPr bwMode="auto">
          <a:xfrm>
            <a:off x="9264352" y="3201214"/>
            <a:ext cx="1532586" cy="15019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794BB83-34F5-4B02-A541-F21F795D78BF}"/>
              </a:ext>
            </a:extLst>
          </p:cNvPr>
          <p:cNvSpPr txBox="1"/>
          <p:nvPr/>
        </p:nvSpPr>
        <p:spPr>
          <a:xfrm>
            <a:off x="3539716" y="4742880"/>
            <a:ext cx="2736304" cy="738664"/>
          </a:xfrm>
          <a:prstGeom prst="rect">
            <a:avLst/>
          </a:prstGeom>
          <a:noFill/>
        </p:spPr>
        <p:txBody>
          <a:bodyPr wrap="square">
            <a:spAutoFit/>
          </a:bodyPr>
          <a:lstStyle/>
          <a:p>
            <a:pPr defTabSz="304815"/>
            <a:r>
              <a:rPr lang="en-US" sz="1400" dirty="0">
                <a:solidFill>
                  <a:srgbClr val="F5F3E4"/>
                </a:solidFill>
                <a:latin typeface="Hepta Slab" pitchFamily="2" charset="0"/>
                <a:ea typeface="Hepta Slab Regular" pitchFamily="34" charset="-122"/>
                <a:cs typeface="Hepta Slab" pitchFamily="2" charset="0"/>
              </a:rPr>
              <a:t>Renewal communication architecture need to be revamped</a:t>
            </a:r>
          </a:p>
        </p:txBody>
      </p:sp>
      <p:sp>
        <p:nvSpPr>
          <p:cNvPr id="8" name="TextBox 7">
            <a:extLst>
              <a:ext uri="{FF2B5EF4-FFF2-40B4-BE49-F238E27FC236}">
                <a16:creationId xmlns:a16="http://schemas.microsoft.com/office/drawing/2014/main" id="{BE754CE9-12A6-791B-48F5-4B0433F1BD81}"/>
              </a:ext>
            </a:extLst>
          </p:cNvPr>
          <p:cNvSpPr txBox="1"/>
          <p:nvPr/>
        </p:nvSpPr>
        <p:spPr>
          <a:xfrm>
            <a:off x="8667256" y="4810975"/>
            <a:ext cx="2736304" cy="1169551"/>
          </a:xfrm>
          <a:prstGeom prst="rect">
            <a:avLst/>
          </a:prstGeom>
          <a:noFill/>
        </p:spPr>
        <p:txBody>
          <a:bodyPr wrap="square">
            <a:spAutoFit/>
          </a:bodyPr>
          <a:lstStyle/>
          <a:p>
            <a:pPr defTabSz="304815"/>
            <a:r>
              <a:rPr lang="en-US" sz="1400" dirty="0">
                <a:solidFill>
                  <a:srgbClr val="F5F3E4"/>
                </a:solidFill>
                <a:latin typeface="Hepta Slab" pitchFamily="2" charset="0"/>
                <a:ea typeface="Hepta Slab Regular" pitchFamily="34" charset="-122"/>
                <a:cs typeface="Hepta Slab" pitchFamily="2" charset="0"/>
              </a:rPr>
              <a:t>Relooking and revamping payment experience through all medium for customer ease, efficiency and enablement</a:t>
            </a:r>
          </a:p>
        </p:txBody>
      </p:sp>
    </p:spTree>
    <p:extLst>
      <p:ext uri="{BB962C8B-B14F-4D97-AF65-F5344CB8AC3E}">
        <p14:creationId xmlns:p14="http://schemas.microsoft.com/office/powerpoint/2010/main" val="415181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17617"/>
        </a:solidFill>
        <a:effectLst/>
      </p:bgPr>
    </p:bg>
    <p:spTree>
      <p:nvGrpSpPr>
        <p:cNvPr id="1" name="">
          <a:extLst>
            <a:ext uri="{FF2B5EF4-FFF2-40B4-BE49-F238E27FC236}">
              <a16:creationId xmlns:a16="http://schemas.microsoft.com/office/drawing/2014/main" id="{50073E35-1D9C-CD22-8F95-C41D186512F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A15DFEA-1D07-7AD3-B9E6-EFC094305E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6001" y="-33749"/>
            <a:ext cx="2426243" cy="2426243"/>
          </a:xfrm>
          <a:prstGeom prst="rect">
            <a:avLst/>
          </a:prstGeom>
        </p:spPr>
      </p:pic>
      <p:pic>
        <p:nvPicPr>
          <p:cNvPr id="3" name="Picture 2">
            <a:extLst>
              <a:ext uri="{FF2B5EF4-FFF2-40B4-BE49-F238E27FC236}">
                <a16:creationId xmlns:a16="http://schemas.microsoft.com/office/drawing/2014/main" id="{F865AD78-A618-DBCF-EB5A-BAC2E1426BCB}"/>
              </a:ext>
            </a:extLst>
          </p:cNvPr>
          <p:cNvPicPr>
            <a:picLocks noChangeAspect="1"/>
          </p:cNvPicPr>
          <p:nvPr/>
        </p:nvPicPr>
        <p:blipFill rotWithShape="1">
          <a:blip r:embed="rId3">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sp>
        <p:nvSpPr>
          <p:cNvPr id="27" name="Object6">
            <a:extLst>
              <a:ext uri="{FF2B5EF4-FFF2-40B4-BE49-F238E27FC236}">
                <a16:creationId xmlns:a16="http://schemas.microsoft.com/office/drawing/2014/main" id="{2871B2B2-433F-7445-83FC-2E49F6D01F05}"/>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schemeClr val="bg1">
                  <a:lumMod val="75000"/>
                </a:schemeClr>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chemeClr val="bg1">
                  <a:lumMod val="75000"/>
                </a:scheme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srgbClr val="817617"/>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11" name="Object5">
            <a:extLst>
              <a:ext uri="{FF2B5EF4-FFF2-40B4-BE49-F238E27FC236}">
                <a16:creationId xmlns:a16="http://schemas.microsoft.com/office/drawing/2014/main" id="{72679AFA-07C8-C19E-E481-36E3BF0C86B7}"/>
              </a:ext>
            </a:extLst>
          </p:cNvPr>
          <p:cNvSpPr/>
          <p:nvPr/>
        </p:nvSpPr>
        <p:spPr>
          <a:xfrm>
            <a:off x="3690609" y="2168860"/>
            <a:ext cx="7696859" cy="782566"/>
          </a:xfrm>
          <a:prstGeom prst="rect">
            <a:avLst/>
          </a:prstGeom>
          <a:noFill/>
          <a:ln/>
        </p:spPr>
        <p:txBody>
          <a:bodyPr wrap="square" lIns="0" tIns="0" rIns="0" bIns="0" rtlCol="0" anchor="t"/>
          <a:lstStyle/>
          <a:p>
            <a:pPr defTabSz="304815"/>
            <a:r>
              <a:rPr lang="en-US" sz="1600" dirty="0">
                <a:solidFill>
                  <a:srgbClr val="F5F3E4"/>
                </a:solidFill>
                <a:latin typeface="Hepta Slab SemiBold" pitchFamily="2" charset="0"/>
                <a:ea typeface="Hepta Slab Regular" pitchFamily="34" charset="-122"/>
                <a:cs typeface="Hepta Slab SemiBold" pitchFamily="2" charset="0"/>
              </a:rPr>
              <a:t>Ways ahead </a:t>
            </a: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a:p>
            <a:pPr defTabSz="304815"/>
            <a:endParaRPr lang="en-US" sz="1600" dirty="0">
              <a:solidFill>
                <a:srgbClr val="F5F3E4"/>
              </a:solidFill>
              <a:latin typeface="Hepta Slab Regular" pitchFamily="2" charset="0"/>
              <a:ea typeface="Hepta Slab Regular" pitchFamily="34" charset="-122"/>
              <a:cs typeface="Hepta Slab Regular" pitchFamily="2" charset="0"/>
            </a:endParaRPr>
          </a:p>
        </p:txBody>
      </p:sp>
      <p:grpSp>
        <p:nvGrpSpPr>
          <p:cNvPr id="26" name="Group 25">
            <a:extLst>
              <a:ext uri="{FF2B5EF4-FFF2-40B4-BE49-F238E27FC236}">
                <a16:creationId xmlns:a16="http://schemas.microsoft.com/office/drawing/2014/main" id="{A50E8DB3-E7B6-9432-EAC5-817B72B66C31}"/>
              </a:ext>
            </a:extLst>
          </p:cNvPr>
          <p:cNvGrpSpPr/>
          <p:nvPr/>
        </p:nvGrpSpPr>
        <p:grpSpPr>
          <a:xfrm>
            <a:off x="3690609" y="6309000"/>
            <a:ext cx="7275789" cy="480001"/>
            <a:chOff x="5535913" y="9283499"/>
            <a:chExt cx="10913683" cy="720001"/>
          </a:xfrm>
        </p:grpSpPr>
        <p:pic>
          <p:nvPicPr>
            <p:cNvPr id="28" name="Picture 27">
              <a:extLst>
                <a:ext uri="{FF2B5EF4-FFF2-40B4-BE49-F238E27FC236}">
                  <a16:creationId xmlns:a16="http://schemas.microsoft.com/office/drawing/2014/main" id="{0586178F-B084-3B23-1280-57CB4B6828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9" name="Picture 28">
              <a:extLst>
                <a:ext uri="{FF2B5EF4-FFF2-40B4-BE49-F238E27FC236}">
                  <a16:creationId xmlns:a16="http://schemas.microsoft.com/office/drawing/2014/main" id="{4326940C-2D6A-493C-2078-80E485EF1654}"/>
                </a:ext>
              </a:extLst>
            </p:cNvPr>
            <p:cNvPicPr>
              <a:picLocks noChangeAspect="1"/>
            </p:cNvPicPr>
            <p:nvPr/>
          </p:nvPicPr>
          <p:blipFill rotWithShape="1">
            <a:blip r:embed="rId5">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30" name="Title 1">
              <a:extLst>
                <a:ext uri="{FF2B5EF4-FFF2-40B4-BE49-F238E27FC236}">
                  <a16:creationId xmlns:a16="http://schemas.microsoft.com/office/drawing/2014/main" id="{5B288D34-CF2C-7537-5A72-40AF1ECB71D5}"/>
                </a:ext>
              </a:extLst>
            </p:cNvPr>
            <p:cNvSpPr txBox="1">
              <a:spLocks/>
            </p:cNvSpPr>
            <p:nvPr/>
          </p:nvSpPr>
          <p:spPr>
            <a:xfrm>
              <a:off x="7993069" y="9519798"/>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chemeClr val="bg1"/>
                  </a:solidFill>
                  <a:latin typeface="Montserrat Medium" pitchFamily="2" charset="0"/>
                  <a:cs typeface="Hepta Slab" pitchFamily="2" charset="0"/>
                </a:rPr>
                <a:t>TERRAGNI CONSULTING (P) LTD PRIVATE AND CONFIDENTIAL ©</a:t>
              </a:r>
            </a:p>
          </p:txBody>
        </p:sp>
      </p:grpSp>
      <p:grpSp>
        <p:nvGrpSpPr>
          <p:cNvPr id="19" name="Group 18">
            <a:extLst>
              <a:ext uri="{FF2B5EF4-FFF2-40B4-BE49-F238E27FC236}">
                <a16:creationId xmlns:a16="http://schemas.microsoft.com/office/drawing/2014/main" id="{367B29FA-59B2-8F53-8D36-F345A77B605C}"/>
              </a:ext>
            </a:extLst>
          </p:cNvPr>
          <p:cNvGrpSpPr/>
          <p:nvPr/>
        </p:nvGrpSpPr>
        <p:grpSpPr>
          <a:xfrm>
            <a:off x="3605397" y="3031960"/>
            <a:ext cx="7597069" cy="2637574"/>
            <a:chOff x="3529286" y="2951426"/>
            <a:chExt cx="7597069" cy="2637574"/>
          </a:xfrm>
        </p:grpSpPr>
        <p:sp>
          <p:nvSpPr>
            <p:cNvPr id="6" name="TextBox 5">
              <a:extLst>
                <a:ext uri="{FF2B5EF4-FFF2-40B4-BE49-F238E27FC236}">
                  <a16:creationId xmlns:a16="http://schemas.microsoft.com/office/drawing/2014/main" id="{3D297625-2A3E-96BF-542D-2B596D0D6EC9}"/>
                </a:ext>
              </a:extLst>
            </p:cNvPr>
            <p:cNvSpPr txBox="1"/>
            <p:nvPr/>
          </p:nvSpPr>
          <p:spPr>
            <a:xfrm>
              <a:off x="3529286" y="3691778"/>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Customer context based</a:t>
              </a:r>
            </a:p>
          </p:txBody>
        </p:sp>
        <p:sp>
          <p:nvSpPr>
            <p:cNvPr id="8" name="TextBox 7">
              <a:extLst>
                <a:ext uri="{FF2B5EF4-FFF2-40B4-BE49-F238E27FC236}">
                  <a16:creationId xmlns:a16="http://schemas.microsoft.com/office/drawing/2014/main" id="{93CE71F4-7572-DF0B-B57D-BB7B5A38ACCD}"/>
                </a:ext>
              </a:extLst>
            </p:cNvPr>
            <p:cNvSpPr txBox="1"/>
            <p:nvPr/>
          </p:nvSpPr>
          <p:spPr>
            <a:xfrm>
              <a:off x="7842119" y="2969052"/>
              <a:ext cx="3259334" cy="338554"/>
            </a:xfrm>
            <a:prstGeom prst="rect">
              <a:avLst/>
            </a:prstGeom>
            <a:noFill/>
          </p:spPr>
          <p:txBody>
            <a:bodyPr wrap="square">
              <a:spAutoFit/>
            </a:bodyPr>
            <a:lstStyle/>
            <a:p>
              <a:pPr defTabSz="304815"/>
              <a:r>
                <a:rPr lang="en-US" sz="1600" dirty="0">
                  <a:solidFill>
                    <a:srgbClr val="F5F3E4"/>
                  </a:solidFill>
                  <a:latin typeface="Hepta Slab SemiBold" pitchFamily="2" charset="0"/>
                  <a:ea typeface="Hepta Slab Regular" pitchFamily="34" charset="-122"/>
                  <a:cs typeface="Hepta Slab SemiBold" pitchFamily="2" charset="0"/>
                </a:rPr>
                <a:t>Triggering</a:t>
              </a:r>
            </a:p>
          </p:txBody>
        </p:sp>
        <p:sp>
          <p:nvSpPr>
            <p:cNvPr id="5" name="TextBox 4">
              <a:extLst>
                <a:ext uri="{FF2B5EF4-FFF2-40B4-BE49-F238E27FC236}">
                  <a16:creationId xmlns:a16="http://schemas.microsoft.com/office/drawing/2014/main" id="{6B9831B3-BB19-CFA6-4E55-F9903866A600}"/>
                </a:ext>
              </a:extLst>
            </p:cNvPr>
            <p:cNvSpPr txBox="1"/>
            <p:nvPr/>
          </p:nvSpPr>
          <p:spPr>
            <a:xfrm>
              <a:off x="3529286" y="4302715"/>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Customer segment based</a:t>
              </a:r>
            </a:p>
          </p:txBody>
        </p:sp>
        <p:sp>
          <p:nvSpPr>
            <p:cNvPr id="9" name="TextBox 8">
              <a:extLst>
                <a:ext uri="{FF2B5EF4-FFF2-40B4-BE49-F238E27FC236}">
                  <a16:creationId xmlns:a16="http://schemas.microsoft.com/office/drawing/2014/main" id="{C810E58D-3C9C-93B7-C90C-AF078B4B2AD2}"/>
                </a:ext>
              </a:extLst>
            </p:cNvPr>
            <p:cNvSpPr txBox="1"/>
            <p:nvPr/>
          </p:nvSpPr>
          <p:spPr>
            <a:xfrm>
              <a:off x="3529286" y="2996945"/>
              <a:ext cx="3259334" cy="338554"/>
            </a:xfrm>
            <a:prstGeom prst="rect">
              <a:avLst/>
            </a:prstGeom>
            <a:noFill/>
          </p:spPr>
          <p:txBody>
            <a:bodyPr wrap="square">
              <a:spAutoFit/>
            </a:bodyPr>
            <a:lstStyle/>
            <a:p>
              <a:pPr defTabSz="304815"/>
              <a:r>
                <a:rPr lang="en-US" sz="1600" dirty="0">
                  <a:solidFill>
                    <a:srgbClr val="F5F3E4"/>
                  </a:solidFill>
                  <a:latin typeface="Hepta Slab SemiBold" pitchFamily="2" charset="0"/>
                  <a:ea typeface="Hepta Slab Regular" pitchFamily="34" charset="-122"/>
                  <a:cs typeface="Hepta Slab SemiBold" pitchFamily="2" charset="0"/>
                </a:rPr>
                <a:t>Communication model</a:t>
              </a:r>
            </a:p>
          </p:txBody>
        </p:sp>
        <p:sp>
          <p:nvSpPr>
            <p:cNvPr id="10" name="TextBox 9">
              <a:extLst>
                <a:ext uri="{FF2B5EF4-FFF2-40B4-BE49-F238E27FC236}">
                  <a16:creationId xmlns:a16="http://schemas.microsoft.com/office/drawing/2014/main" id="{4001B872-B9F6-CAA3-6330-3270317DC4A4}"/>
                </a:ext>
              </a:extLst>
            </p:cNvPr>
            <p:cNvSpPr txBox="1"/>
            <p:nvPr/>
          </p:nvSpPr>
          <p:spPr>
            <a:xfrm>
              <a:off x="7846919" y="3616970"/>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Attention</a:t>
              </a:r>
            </a:p>
          </p:txBody>
        </p:sp>
        <p:sp>
          <p:nvSpPr>
            <p:cNvPr id="12" name="TextBox 11">
              <a:extLst>
                <a:ext uri="{FF2B5EF4-FFF2-40B4-BE49-F238E27FC236}">
                  <a16:creationId xmlns:a16="http://schemas.microsoft.com/office/drawing/2014/main" id="{4E610D0D-4D98-4AE3-860A-4BE83B0C4747}"/>
                </a:ext>
              </a:extLst>
            </p:cNvPr>
            <p:cNvSpPr txBox="1"/>
            <p:nvPr/>
          </p:nvSpPr>
          <p:spPr>
            <a:xfrm>
              <a:off x="7855325" y="4306717"/>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Curiosity </a:t>
              </a:r>
            </a:p>
          </p:txBody>
        </p:sp>
        <p:sp>
          <p:nvSpPr>
            <p:cNvPr id="13" name="TextBox 12">
              <a:extLst>
                <a:ext uri="{FF2B5EF4-FFF2-40B4-BE49-F238E27FC236}">
                  <a16:creationId xmlns:a16="http://schemas.microsoft.com/office/drawing/2014/main" id="{3B93A472-4958-29F2-0062-B14DCFEBB1D8}"/>
                </a:ext>
              </a:extLst>
            </p:cNvPr>
            <p:cNvSpPr txBox="1"/>
            <p:nvPr/>
          </p:nvSpPr>
          <p:spPr>
            <a:xfrm>
              <a:off x="7867021" y="4984758"/>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Behaviour </a:t>
              </a:r>
            </a:p>
          </p:txBody>
        </p:sp>
        <p:cxnSp>
          <p:nvCxnSpPr>
            <p:cNvPr id="15" name="Straight Connector 14">
              <a:extLst>
                <a:ext uri="{FF2B5EF4-FFF2-40B4-BE49-F238E27FC236}">
                  <a16:creationId xmlns:a16="http://schemas.microsoft.com/office/drawing/2014/main" id="{33C28305-1070-E0CE-EDBE-3E30395195FB}"/>
                </a:ext>
              </a:extLst>
            </p:cNvPr>
            <p:cNvCxnSpPr>
              <a:cxnSpLocks/>
              <a:stCxn id="11" idx="2"/>
            </p:cNvCxnSpPr>
            <p:nvPr/>
          </p:nvCxnSpPr>
          <p:spPr>
            <a:xfrm>
              <a:off x="7539039" y="2951426"/>
              <a:ext cx="22562" cy="263757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F530FD3-4950-037F-FB18-0C698A685F01}"/>
                </a:ext>
              </a:extLst>
            </p:cNvPr>
            <p:cNvCxnSpPr>
              <a:cxnSpLocks/>
            </p:cNvCxnSpPr>
            <p:nvPr/>
          </p:nvCxnSpPr>
          <p:spPr>
            <a:xfrm>
              <a:off x="3611981" y="3429000"/>
              <a:ext cx="604841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84534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17617"/>
        </a:solidFill>
        <a:effectLst/>
      </p:bgPr>
    </p:bg>
    <p:spTree>
      <p:nvGrpSpPr>
        <p:cNvPr id="1" name="">
          <a:extLst>
            <a:ext uri="{FF2B5EF4-FFF2-40B4-BE49-F238E27FC236}">
              <a16:creationId xmlns:a16="http://schemas.microsoft.com/office/drawing/2014/main" id="{9FBE5B57-70FF-45FC-C435-816E4DB0C3E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99C09AF-48BA-1C9D-F80C-DC3CF30438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6001" y="-33749"/>
            <a:ext cx="2426243" cy="2426243"/>
          </a:xfrm>
          <a:prstGeom prst="rect">
            <a:avLst/>
          </a:prstGeom>
        </p:spPr>
      </p:pic>
      <p:pic>
        <p:nvPicPr>
          <p:cNvPr id="3" name="Picture 2">
            <a:extLst>
              <a:ext uri="{FF2B5EF4-FFF2-40B4-BE49-F238E27FC236}">
                <a16:creationId xmlns:a16="http://schemas.microsoft.com/office/drawing/2014/main" id="{52E51EF0-907F-FDB2-1165-905EAEBF76D0}"/>
              </a:ext>
            </a:extLst>
          </p:cNvPr>
          <p:cNvPicPr>
            <a:picLocks noChangeAspect="1"/>
          </p:cNvPicPr>
          <p:nvPr/>
        </p:nvPicPr>
        <p:blipFill rotWithShape="1">
          <a:blip r:embed="rId3">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sp>
        <p:nvSpPr>
          <p:cNvPr id="27" name="Object6">
            <a:extLst>
              <a:ext uri="{FF2B5EF4-FFF2-40B4-BE49-F238E27FC236}">
                <a16:creationId xmlns:a16="http://schemas.microsoft.com/office/drawing/2014/main" id="{A2771007-00F9-3DFE-E775-41C65EBFEC26}"/>
              </a:ext>
            </a:extLst>
          </p:cNvPr>
          <p:cNvSpPr/>
          <p:nvPr/>
        </p:nvSpPr>
        <p:spPr>
          <a:xfrm>
            <a:off x="340315" y="1569000"/>
            <a:ext cx="1913171" cy="402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schemeClr val="bg1">
                  <a:lumMod val="75000"/>
                </a:schemeClr>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chemeClr val="bg1">
                  <a:lumMod val="75000"/>
                </a:scheme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srgbClr val="817617"/>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rgbClr val="817617"/>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11" name="Object5">
            <a:extLst>
              <a:ext uri="{FF2B5EF4-FFF2-40B4-BE49-F238E27FC236}">
                <a16:creationId xmlns:a16="http://schemas.microsoft.com/office/drawing/2014/main" id="{11CB63FA-A49A-F0A6-912E-9331543DB4C5}"/>
              </a:ext>
            </a:extLst>
          </p:cNvPr>
          <p:cNvSpPr/>
          <p:nvPr/>
        </p:nvSpPr>
        <p:spPr>
          <a:xfrm>
            <a:off x="3690609" y="2168860"/>
            <a:ext cx="7696859" cy="782566"/>
          </a:xfrm>
          <a:prstGeom prst="rect">
            <a:avLst/>
          </a:prstGeom>
          <a:noFill/>
          <a:ln/>
        </p:spPr>
        <p:txBody>
          <a:bodyPr wrap="square" lIns="0" tIns="0" rIns="0" bIns="0" rtlCol="0" anchor="t"/>
          <a:lstStyle/>
          <a:p>
            <a:pPr defTabSz="304815"/>
            <a:r>
              <a:rPr lang="en-US" sz="1600" dirty="0">
                <a:solidFill>
                  <a:srgbClr val="F5F3E4"/>
                </a:solidFill>
                <a:latin typeface="Hepta Slab SemiBold" pitchFamily="2" charset="0"/>
                <a:ea typeface="Hepta Slab Regular" pitchFamily="34" charset="-122"/>
                <a:cs typeface="Hepta Slab SemiBold" pitchFamily="2" charset="0"/>
              </a:rPr>
              <a:t>Communication to overcome barriers to renewal</a:t>
            </a:r>
            <a:endParaRPr lang="en-US" sz="1600" dirty="0">
              <a:solidFill>
                <a:srgbClr val="F5F3E4"/>
              </a:solidFill>
              <a:latin typeface="Hepta Slab Regular" pitchFamily="2" charset="0"/>
              <a:ea typeface="Hepta Slab Regular" pitchFamily="34" charset="-122"/>
              <a:cs typeface="Hepta Slab Regular" pitchFamily="2" charset="0"/>
            </a:endParaRPr>
          </a:p>
        </p:txBody>
      </p:sp>
      <p:grpSp>
        <p:nvGrpSpPr>
          <p:cNvPr id="26" name="Group 25">
            <a:extLst>
              <a:ext uri="{FF2B5EF4-FFF2-40B4-BE49-F238E27FC236}">
                <a16:creationId xmlns:a16="http://schemas.microsoft.com/office/drawing/2014/main" id="{933D1D93-13DB-C0DD-4462-566F58702213}"/>
              </a:ext>
            </a:extLst>
          </p:cNvPr>
          <p:cNvGrpSpPr/>
          <p:nvPr/>
        </p:nvGrpSpPr>
        <p:grpSpPr>
          <a:xfrm>
            <a:off x="3690609" y="6309000"/>
            <a:ext cx="7275789" cy="480001"/>
            <a:chOff x="5535913" y="9283499"/>
            <a:chExt cx="10913683" cy="720001"/>
          </a:xfrm>
        </p:grpSpPr>
        <p:pic>
          <p:nvPicPr>
            <p:cNvPr id="28" name="Picture 27">
              <a:extLst>
                <a:ext uri="{FF2B5EF4-FFF2-40B4-BE49-F238E27FC236}">
                  <a16:creationId xmlns:a16="http://schemas.microsoft.com/office/drawing/2014/main" id="{A6B2C2C5-19F0-7005-9544-E940D309C1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9" name="Picture 28">
              <a:extLst>
                <a:ext uri="{FF2B5EF4-FFF2-40B4-BE49-F238E27FC236}">
                  <a16:creationId xmlns:a16="http://schemas.microsoft.com/office/drawing/2014/main" id="{03AEFB13-E354-E087-0553-02051BB6A400}"/>
                </a:ext>
              </a:extLst>
            </p:cNvPr>
            <p:cNvPicPr>
              <a:picLocks noChangeAspect="1"/>
            </p:cNvPicPr>
            <p:nvPr/>
          </p:nvPicPr>
          <p:blipFill rotWithShape="1">
            <a:blip r:embed="rId5">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30" name="Title 1">
              <a:extLst>
                <a:ext uri="{FF2B5EF4-FFF2-40B4-BE49-F238E27FC236}">
                  <a16:creationId xmlns:a16="http://schemas.microsoft.com/office/drawing/2014/main" id="{42C2AB2D-199D-9926-B9BD-5CD3AF57D695}"/>
                </a:ext>
              </a:extLst>
            </p:cNvPr>
            <p:cNvSpPr txBox="1">
              <a:spLocks/>
            </p:cNvSpPr>
            <p:nvPr/>
          </p:nvSpPr>
          <p:spPr>
            <a:xfrm>
              <a:off x="7993069" y="9519798"/>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chemeClr val="bg1"/>
                  </a:solidFill>
                  <a:latin typeface="Montserrat Medium" pitchFamily="2" charset="0"/>
                  <a:cs typeface="Hepta Slab" pitchFamily="2" charset="0"/>
                </a:rPr>
                <a:t>TERRAGNI CONSULTING (P) LTD PRIVATE AND CONFIDENTIAL ©</a:t>
              </a:r>
            </a:p>
          </p:txBody>
        </p:sp>
      </p:grpSp>
      <p:grpSp>
        <p:nvGrpSpPr>
          <p:cNvPr id="19" name="Group 18">
            <a:extLst>
              <a:ext uri="{FF2B5EF4-FFF2-40B4-BE49-F238E27FC236}">
                <a16:creationId xmlns:a16="http://schemas.microsoft.com/office/drawing/2014/main" id="{416ED52E-5679-177B-0624-082A50A74F36}"/>
              </a:ext>
            </a:extLst>
          </p:cNvPr>
          <p:cNvGrpSpPr/>
          <p:nvPr/>
        </p:nvGrpSpPr>
        <p:grpSpPr>
          <a:xfrm>
            <a:off x="3573437" y="2945682"/>
            <a:ext cx="7603573" cy="2988346"/>
            <a:chOff x="3511336" y="2943914"/>
            <a:chExt cx="7603573" cy="2988346"/>
          </a:xfrm>
        </p:grpSpPr>
        <p:sp>
          <p:nvSpPr>
            <p:cNvPr id="6" name="TextBox 5">
              <a:extLst>
                <a:ext uri="{FF2B5EF4-FFF2-40B4-BE49-F238E27FC236}">
                  <a16:creationId xmlns:a16="http://schemas.microsoft.com/office/drawing/2014/main" id="{08E07DE5-548D-631A-732B-523E59D15E95}"/>
                </a:ext>
              </a:extLst>
            </p:cNvPr>
            <p:cNvSpPr txBox="1"/>
            <p:nvPr/>
          </p:nvSpPr>
          <p:spPr>
            <a:xfrm>
              <a:off x="3546001" y="4171662"/>
              <a:ext cx="3580995"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Increasing Policy Stickiness</a:t>
              </a:r>
            </a:p>
          </p:txBody>
        </p:sp>
        <p:sp>
          <p:nvSpPr>
            <p:cNvPr id="8" name="TextBox 7">
              <a:extLst>
                <a:ext uri="{FF2B5EF4-FFF2-40B4-BE49-F238E27FC236}">
                  <a16:creationId xmlns:a16="http://schemas.microsoft.com/office/drawing/2014/main" id="{C4D67F2D-040D-EA2B-ACE8-CA37EC04384C}"/>
                </a:ext>
              </a:extLst>
            </p:cNvPr>
            <p:cNvSpPr txBox="1"/>
            <p:nvPr/>
          </p:nvSpPr>
          <p:spPr>
            <a:xfrm>
              <a:off x="7842119" y="2943914"/>
              <a:ext cx="3259334" cy="338554"/>
            </a:xfrm>
            <a:prstGeom prst="rect">
              <a:avLst/>
            </a:prstGeom>
            <a:noFill/>
          </p:spPr>
          <p:txBody>
            <a:bodyPr wrap="square">
              <a:spAutoFit/>
            </a:bodyPr>
            <a:lstStyle/>
            <a:p>
              <a:pPr defTabSz="304815"/>
              <a:r>
                <a:rPr lang="en-US" sz="1600" dirty="0">
                  <a:solidFill>
                    <a:srgbClr val="F5F3E4"/>
                  </a:solidFill>
                  <a:latin typeface="Hepta Slab SemiBold" pitchFamily="2" charset="0"/>
                  <a:ea typeface="Hepta Slab Regular" pitchFamily="34" charset="-122"/>
                  <a:cs typeface="Hepta Slab SemiBold" pitchFamily="2" charset="0"/>
                </a:rPr>
                <a:t>Communication categories</a:t>
              </a:r>
            </a:p>
          </p:txBody>
        </p:sp>
        <p:sp>
          <p:nvSpPr>
            <p:cNvPr id="5" name="TextBox 4">
              <a:extLst>
                <a:ext uri="{FF2B5EF4-FFF2-40B4-BE49-F238E27FC236}">
                  <a16:creationId xmlns:a16="http://schemas.microsoft.com/office/drawing/2014/main" id="{239F3255-9D37-861F-8CE1-1D8391224EAB}"/>
                </a:ext>
              </a:extLst>
            </p:cNvPr>
            <p:cNvSpPr txBox="1"/>
            <p:nvPr/>
          </p:nvSpPr>
          <p:spPr>
            <a:xfrm>
              <a:off x="3546001" y="4658843"/>
              <a:ext cx="3558432"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Enhancing customer connect</a:t>
              </a:r>
            </a:p>
          </p:txBody>
        </p:sp>
        <p:sp>
          <p:nvSpPr>
            <p:cNvPr id="9" name="TextBox 8">
              <a:extLst>
                <a:ext uri="{FF2B5EF4-FFF2-40B4-BE49-F238E27FC236}">
                  <a16:creationId xmlns:a16="http://schemas.microsoft.com/office/drawing/2014/main" id="{C65C794E-79E9-96AF-EE56-9D4D74583EE6}"/>
                </a:ext>
              </a:extLst>
            </p:cNvPr>
            <p:cNvSpPr txBox="1"/>
            <p:nvPr/>
          </p:nvSpPr>
          <p:spPr>
            <a:xfrm>
              <a:off x="3529286" y="2996945"/>
              <a:ext cx="3259334" cy="338554"/>
            </a:xfrm>
            <a:prstGeom prst="rect">
              <a:avLst/>
            </a:prstGeom>
            <a:noFill/>
          </p:spPr>
          <p:txBody>
            <a:bodyPr wrap="square">
              <a:spAutoFit/>
            </a:bodyPr>
            <a:lstStyle/>
            <a:p>
              <a:pPr defTabSz="304815"/>
              <a:r>
                <a:rPr lang="en-US" sz="1600" dirty="0">
                  <a:solidFill>
                    <a:srgbClr val="F5F3E4"/>
                  </a:solidFill>
                  <a:latin typeface="Hepta Slab SemiBold" pitchFamily="2" charset="0"/>
                  <a:ea typeface="Hepta Slab Regular" pitchFamily="34" charset="-122"/>
                  <a:cs typeface="Hepta Slab SemiBold" pitchFamily="2" charset="0"/>
                </a:rPr>
                <a:t>Intended outcomes</a:t>
              </a:r>
            </a:p>
          </p:txBody>
        </p:sp>
        <p:sp>
          <p:nvSpPr>
            <p:cNvPr id="10" name="TextBox 9">
              <a:extLst>
                <a:ext uri="{FF2B5EF4-FFF2-40B4-BE49-F238E27FC236}">
                  <a16:creationId xmlns:a16="http://schemas.microsoft.com/office/drawing/2014/main" id="{87CA66BB-0CFF-7C55-D3AA-A2DBB258E435}"/>
                </a:ext>
              </a:extLst>
            </p:cNvPr>
            <p:cNvSpPr txBox="1"/>
            <p:nvPr/>
          </p:nvSpPr>
          <p:spPr>
            <a:xfrm>
              <a:off x="7855575" y="3588401"/>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Renewal Communication</a:t>
              </a:r>
            </a:p>
          </p:txBody>
        </p:sp>
        <p:sp>
          <p:nvSpPr>
            <p:cNvPr id="12" name="TextBox 11">
              <a:extLst>
                <a:ext uri="{FF2B5EF4-FFF2-40B4-BE49-F238E27FC236}">
                  <a16:creationId xmlns:a16="http://schemas.microsoft.com/office/drawing/2014/main" id="{CEBD0F60-3247-3BC1-FDC6-095532313ED3}"/>
                </a:ext>
              </a:extLst>
            </p:cNvPr>
            <p:cNvSpPr txBox="1"/>
            <p:nvPr/>
          </p:nvSpPr>
          <p:spPr>
            <a:xfrm>
              <a:off x="7855575" y="4145513"/>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Product Benefits</a:t>
              </a:r>
            </a:p>
          </p:txBody>
        </p:sp>
        <p:sp>
          <p:nvSpPr>
            <p:cNvPr id="13" name="TextBox 12">
              <a:extLst>
                <a:ext uri="{FF2B5EF4-FFF2-40B4-BE49-F238E27FC236}">
                  <a16:creationId xmlns:a16="http://schemas.microsoft.com/office/drawing/2014/main" id="{1352D05A-2F20-DFF7-E7AB-585625C79B12}"/>
                </a:ext>
              </a:extLst>
            </p:cNvPr>
            <p:cNvSpPr txBox="1"/>
            <p:nvPr/>
          </p:nvSpPr>
          <p:spPr>
            <a:xfrm>
              <a:off x="7831639" y="4664149"/>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Customer Engagement</a:t>
              </a:r>
            </a:p>
          </p:txBody>
        </p:sp>
        <p:sp>
          <p:nvSpPr>
            <p:cNvPr id="2" name="TextBox 1">
              <a:extLst>
                <a:ext uri="{FF2B5EF4-FFF2-40B4-BE49-F238E27FC236}">
                  <a16:creationId xmlns:a16="http://schemas.microsoft.com/office/drawing/2014/main" id="{BD1C5E83-ABD3-4B0E-B35D-87850D0CB1B9}"/>
                </a:ext>
              </a:extLst>
            </p:cNvPr>
            <p:cNvSpPr txBox="1"/>
            <p:nvPr/>
          </p:nvSpPr>
          <p:spPr>
            <a:xfrm>
              <a:off x="3529286" y="4937831"/>
              <a:ext cx="3701873" cy="584775"/>
            </a:xfrm>
            <a:prstGeom prst="rect">
              <a:avLst/>
            </a:prstGeom>
            <a:noFill/>
          </p:spPr>
          <p:txBody>
            <a:bodyPr wrap="square">
              <a:spAutoFit/>
            </a:bodyPr>
            <a:lstStyle/>
            <a:p>
              <a:pPr defTabSz="304815"/>
              <a:endParaRPr lang="en-US" sz="1600" dirty="0">
                <a:solidFill>
                  <a:srgbClr val="F5F3E4"/>
                </a:solidFill>
                <a:latin typeface="Hepta Slab" pitchFamily="2" charset="0"/>
                <a:ea typeface="Hepta Slab Regular" pitchFamily="34" charset="-122"/>
                <a:cs typeface="Hepta Slab" pitchFamily="2" charset="0"/>
              </a:endParaRPr>
            </a:p>
            <a:p>
              <a:pPr defTabSz="304815"/>
              <a:r>
                <a:rPr lang="en-US" sz="1600" dirty="0">
                  <a:solidFill>
                    <a:srgbClr val="F5F3E4"/>
                  </a:solidFill>
                  <a:latin typeface="Hepta Slab" pitchFamily="2" charset="0"/>
                  <a:ea typeface="Hepta Slab Regular" pitchFamily="34" charset="-122"/>
                  <a:cs typeface="Hepta Slab" pitchFamily="2" charset="0"/>
                </a:rPr>
                <a:t>Enhancing digital (online) ease</a:t>
              </a:r>
            </a:p>
          </p:txBody>
        </p:sp>
        <p:sp>
          <p:nvSpPr>
            <p:cNvPr id="4" name="TextBox 3">
              <a:extLst>
                <a:ext uri="{FF2B5EF4-FFF2-40B4-BE49-F238E27FC236}">
                  <a16:creationId xmlns:a16="http://schemas.microsoft.com/office/drawing/2014/main" id="{DF78E8EF-330A-C1B7-FCB8-03844D7F8326}"/>
                </a:ext>
              </a:extLst>
            </p:cNvPr>
            <p:cNvSpPr txBox="1"/>
            <p:nvPr/>
          </p:nvSpPr>
          <p:spPr>
            <a:xfrm>
              <a:off x="7842119" y="5157961"/>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Data Enrichment</a:t>
              </a:r>
            </a:p>
          </p:txBody>
        </p:sp>
        <p:sp>
          <p:nvSpPr>
            <p:cNvPr id="14" name="TextBox 13">
              <a:extLst>
                <a:ext uri="{FF2B5EF4-FFF2-40B4-BE49-F238E27FC236}">
                  <a16:creationId xmlns:a16="http://schemas.microsoft.com/office/drawing/2014/main" id="{39755A50-FC35-33E4-F8F2-2D4FBFD27E2E}"/>
                </a:ext>
              </a:extLst>
            </p:cNvPr>
            <p:cNvSpPr txBox="1"/>
            <p:nvPr/>
          </p:nvSpPr>
          <p:spPr>
            <a:xfrm>
              <a:off x="7831639" y="5593706"/>
              <a:ext cx="3259334" cy="338554"/>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Seasonal Communication</a:t>
              </a:r>
            </a:p>
          </p:txBody>
        </p:sp>
        <p:sp>
          <p:nvSpPr>
            <p:cNvPr id="15" name="TextBox 14">
              <a:extLst>
                <a:ext uri="{FF2B5EF4-FFF2-40B4-BE49-F238E27FC236}">
                  <a16:creationId xmlns:a16="http://schemas.microsoft.com/office/drawing/2014/main" id="{E9F72C33-65FD-9C4A-6960-FAAF89BC98FD}"/>
                </a:ext>
              </a:extLst>
            </p:cNvPr>
            <p:cNvSpPr txBox="1"/>
            <p:nvPr/>
          </p:nvSpPr>
          <p:spPr>
            <a:xfrm>
              <a:off x="3511336" y="3457951"/>
              <a:ext cx="3701873" cy="584775"/>
            </a:xfrm>
            <a:prstGeom prst="rect">
              <a:avLst/>
            </a:prstGeom>
            <a:noFill/>
          </p:spPr>
          <p:txBody>
            <a:bodyPr wrap="square">
              <a:spAutoFit/>
            </a:bodyPr>
            <a:lstStyle/>
            <a:p>
              <a:pPr defTabSz="304815"/>
              <a:r>
                <a:rPr lang="en-US" sz="1600" dirty="0">
                  <a:solidFill>
                    <a:srgbClr val="F5F3E4"/>
                  </a:solidFill>
                  <a:latin typeface="Hepta Slab" pitchFamily="2" charset="0"/>
                  <a:ea typeface="Hepta Slab Regular" pitchFamily="34" charset="-122"/>
                  <a:cs typeface="Hepta Slab" pitchFamily="2" charset="0"/>
                </a:rPr>
                <a:t>Bridging the concepts to specifics gap</a:t>
              </a:r>
            </a:p>
          </p:txBody>
        </p:sp>
      </p:grpSp>
    </p:spTree>
    <p:extLst>
      <p:ext uri="{BB962C8B-B14F-4D97-AF65-F5344CB8AC3E}">
        <p14:creationId xmlns:p14="http://schemas.microsoft.com/office/powerpoint/2010/main" val="1828116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696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3924300" y="673101"/>
            <a:ext cx="4341691" cy="5506535"/>
          </a:xfrm>
          <a:prstGeom prst="rect">
            <a:avLst/>
          </a:prstGeom>
        </p:spPr>
      </p:pic>
      <p:pic>
        <p:nvPicPr>
          <p:cNvPr id="3" name="Image 1" descr="preencoded.png"/>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374900" y="2357862"/>
            <a:ext cx="1237553" cy="402447"/>
          </a:xfrm>
          <a:prstGeom prst="rect">
            <a:avLst/>
          </a:prstGeom>
        </p:spPr>
      </p:pic>
      <p:sp>
        <p:nvSpPr>
          <p:cNvPr id="4" name="Text 0"/>
          <p:cNvSpPr/>
          <p:nvPr/>
        </p:nvSpPr>
        <p:spPr>
          <a:xfrm>
            <a:off x="539750" y="457200"/>
            <a:ext cx="2762250" cy="215900"/>
          </a:xfrm>
          <a:prstGeom prst="rect">
            <a:avLst/>
          </a:prstGeom>
          <a:noFill/>
          <a:ln/>
        </p:spPr>
        <p:txBody>
          <a:bodyPr wrap="square" lIns="0" tIns="0" rIns="0" bIns="0" rtlCol="0" anchor="t"/>
          <a:lstStyle/>
          <a:p>
            <a:pPr defTabSz="609630">
              <a:lnSpc>
                <a:spcPts val="1700"/>
              </a:lnSpc>
            </a:pPr>
            <a:r>
              <a:rPr lang="en-US" sz="1400" dirty="0">
                <a:solidFill>
                  <a:srgbClr val="FFFFFF"/>
                </a:solidFill>
                <a:latin typeface="Montserrat SemiBold" pitchFamily="34" charset="0"/>
                <a:ea typeface="Montserrat SemiBold" pitchFamily="34" charset="-122"/>
                <a:cs typeface="Montserrat SemiBold" pitchFamily="34" charset="-120"/>
              </a:rPr>
              <a:t>SAMPLE</a:t>
            </a:r>
          </a:p>
          <a:p>
            <a:pPr defTabSz="609630">
              <a:lnSpc>
                <a:spcPts val="1700"/>
              </a:lnSpc>
            </a:pPr>
            <a:r>
              <a:rPr lang="en-US" sz="1400" dirty="0">
                <a:solidFill>
                  <a:srgbClr val="FFFFFF"/>
                </a:solidFill>
                <a:latin typeface="Montserrat SemiBold" pitchFamily="34" charset="0"/>
              </a:rPr>
              <a:t>For illustrative purposes only</a:t>
            </a:r>
            <a:endParaRPr lang="en-US" sz="1400" dirty="0">
              <a:solidFill>
                <a:prstClr val="black"/>
              </a:solidFill>
              <a:latin typeface="Calibri" panose="020F0502020204030204"/>
            </a:endParaRPr>
          </a:p>
          <a:p>
            <a:pPr defTabSz="609630">
              <a:lnSpc>
                <a:spcPts val="1700"/>
              </a:lnSpc>
            </a:pPr>
            <a:endParaRPr lang="en-US" sz="1400" dirty="0">
              <a:solidFill>
                <a:prstClr val="black"/>
              </a:solidFill>
              <a:latin typeface="Calibri" panose="020F0502020204030204"/>
            </a:endParaRPr>
          </a:p>
        </p:txBody>
      </p:sp>
      <p:sp>
        <p:nvSpPr>
          <p:cNvPr id="5" name="Text 1"/>
          <p:cNvSpPr/>
          <p:nvPr/>
        </p:nvSpPr>
        <p:spPr>
          <a:xfrm>
            <a:off x="4068650" y="813079"/>
            <a:ext cx="2855442" cy="3450603"/>
          </a:xfrm>
          <a:prstGeom prst="rect">
            <a:avLst/>
          </a:prstGeom>
          <a:noFill/>
          <a:ln/>
        </p:spPr>
        <p:txBody>
          <a:bodyPr wrap="square" lIns="0" tIns="0" rIns="0" bIns="0" rtlCol="0" anchor="t"/>
          <a:lstStyle/>
          <a:p>
            <a:pPr defTabSz="609630">
              <a:lnSpc>
                <a:spcPts val="2353"/>
              </a:lnSpc>
            </a:pPr>
            <a:r>
              <a:rPr lang="en-US" sz="2353" dirty="0">
                <a:latin typeface="Itim Regular" pitchFamily="34" charset="0"/>
                <a:ea typeface="Itim Regular" pitchFamily="34" charset="-122"/>
                <a:cs typeface="Itim Regular" pitchFamily="34" charset="-120"/>
              </a:rPr>
              <a:t>Remember!
Your premium is due!
Every step towards your child’s dreams counts.
And you’re about</a:t>
            </a:r>
            <a:br>
              <a:rPr sz="1200" dirty="0">
                <a:latin typeface="Calibri" panose="020F0502020204030204"/>
              </a:rPr>
            </a:br>
            <a:r>
              <a:rPr lang="en-US" sz="2353" dirty="0">
                <a:latin typeface="Itim Regular" pitchFamily="34" charset="0"/>
                <a:ea typeface="Itim Regular" pitchFamily="34" charset="-122"/>
                <a:cs typeface="Itim Regular" pitchFamily="34" charset="-120"/>
              </a:rPr>
              <a:t>to miss one!</a:t>
            </a:r>
            <a:endParaRPr lang="en-US" sz="2353" dirty="0">
              <a:latin typeface="Calibri" panose="020F0502020204030204"/>
            </a:endParaRPr>
          </a:p>
        </p:txBody>
      </p:sp>
      <p:sp>
        <p:nvSpPr>
          <p:cNvPr id="6" name="Text 2"/>
          <p:cNvSpPr/>
          <p:nvPr/>
        </p:nvSpPr>
        <p:spPr>
          <a:xfrm>
            <a:off x="4064000" y="4551489"/>
            <a:ext cx="1298882" cy="1485900"/>
          </a:xfrm>
          <a:prstGeom prst="rect">
            <a:avLst/>
          </a:prstGeom>
          <a:noFill/>
          <a:ln/>
        </p:spPr>
        <p:txBody>
          <a:bodyPr wrap="square" lIns="0" tIns="0" rIns="0" bIns="0" rtlCol="0" anchor="t"/>
          <a:lstStyle/>
          <a:p>
            <a:pPr defTabSz="609630">
              <a:lnSpc>
                <a:spcPts val="1971"/>
              </a:lnSpc>
            </a:pPr>
            <a:r>
              <a:rPr lang="en-US" sz="1699" dirty="0">
                <a:solidFill>
                  <a:srgbClr val="FFFFFF"/>
                </a:solidFill>
                <a:latin typeface="Inter Extra Bold" pitchFamily="34" charset="0"/>
                <a:ea typeface="Inter Extra Bold" pitchFamily="34" charset="-122"/>
                <a:cs typeface="Inter Extra Bold" pitchFamily="34" charset="-120"/>
              </a:rPr>
              <a:t>Take 
the step. 
</a:t>
            </a:r>
            <a:r>
              <a:rPr lang="en-US" sz="1699" dirty="0">
                <a:solidFill>
                  <a:srgbClr val="FFFFFF"/>
                </a:solidFill>
                <a:latin typeface="Inter Regular" pitchFamily="34" charset="0"/>
                <a:ea typeface="Inter Regular" pitchFamily="34" charset="-122"/>
                <a:cs typeface="Inter Regular" pitchFamily="34" charset="-120"/>
              </a:rPr>
              <a:t>Pay your policy premium now.</a:t>
            </a:r>
            <a:endParaRPr lang="en-US" sz="1699" dirty="0">
              <a:solidFill>
                <a:prstClr val="black"/>
              </a:solidFill>
              <a:latin typeface="Calibri" panose="020F0502020204030204"/>
            </a:endParaRPr>
          </a:p>
        </p:txBody>
      </p:sp>
      <p:sp>
        <p:nvSpPr>
          <p:cNvPr id="7" name="Text 3"/>
          <p:cNvSpPr/>
          <p:nvPr/>
        </p:nvSpPr>
        <p:spPr>
          <a:xfrm>
            <a:off x="6762750" y="5676621"/>
            <a:ext cx="1384300" cy="368300"/>
          </a:xfrm>
          <a:prstGeom prst="rect">
            <a:avLst/>
          </a:prstGeom>
          <a:noFill/>
          <a:ln/>
        </p:spPr>
        <p:txBody>
          <a:bodyPr wrap="square" lIns="0" tIns="0" rIns="0" bIns="0" rtlCol="0" anchor="t"/>
          <a:lstStyle/>
          <a:p>
            <a:pPr defTabSz="609630">
              <a:lnSpc>
                <a:spcPts val="1453"/>
              </a:lnSpc>
            </a:pPr>
            <a:r>
              <a:rPr lang="en-US" sz="1699" dirty="0">
                <a:solidFill>
                  <a:srgbClr val="1E1E1E"/>
                </a:solidFill>
                <a:latin typeface="Michroma Regular" pitchFamily="34" charset="0"/>
                <a:ea typeface="Michroma Regular" pitchFamily="34" charset="-122"/>
                <a:cs typeface="Michroma Regular" pitchFamily="34" charset="-120"/>
              </a:rPr>
              <a:t>Evolve 
Insurance</a:t>
            </a:r>
            <a:endParaRPr lang="en-US" sz="1699" dirty="0">
              <a:solidFill>
                <a:prstClr val="black"/>
              </a:solidFill>
              <a:latin typeface="Calibri" panose="020F0502020204030204"/>
            </a:endParaRPr>
          </a:p>
        </p:txBody>
      </p:sp>
      <p:sp>
        <p:nvSpPr>
          <p:cNvPr id="8" name="Text 4"/>
          <p:cNvSpPr/>
          <p:nvPr/>
        </p:nvSpPr>
        <p:spPr>
          <a:xfrm>
            <a:off x="1466850" y="2114550"/>
            <a:ext cx="1365250" cy="139700"/>
          </a:xfrm>
          <a:prstGeom prst="rect">
            <a:avLst/>
          </a:prstGeom>
          <a:noFill/>
          <a:ln/>
        </p:spPr>
        <p:txBody>
          <a:bodyPr wrap="square" lIns="0" tIns="0" rIns="0" bIns="0" rtlCol="0" anchor="t"/>
          <a:lstStyle/>
          <a:p>
            <a:pPr defTabSz="609630">
              <a:lnSpc>
                <a:spcPts val="1100"/>
              </a:lnSpc>
            </a:pPr>
            <a:r>
              <a:rPr lang="en-US" sz="1400" kern="0" spc="-50" dirty="0">
                <a:solidFill>
                  <a:srgbClr val="000000"/>
                </a:solidFill>
                <a:latin typeface="Montserrat SemiBold" pitchFamily="34" charset="0"/>
                <a:ea typeface="Montserrat SemiBold" pitchFamily="34" charset="-122"/>
                <a:cs typeface="Montserrat SemiBold" pitchFamily="34" charset="-120"/>
              </a:rPr>
              <a:t>Goal relevance</a:t>
            </a:r>
            <a:endParaRPr lang="en-US" sz="1400" dirty="0">
              <a:solidFill>
                <a:prstClr val="black"/>
              </a:solidFill>
              <a:latin typeface="Calibri" panose="020F0502020204030204"/>
            </a:endParaRPr>
          </a:p>
        </p:txBody>
      </p:sp>
      <p:grpSp>
        <p:nvGrpSpPr>
          <p:cNvPr id="9" name="Group 8">
            <a:extLst>
              <a:ext uri="{FF2B5EF4-FFF2-40B4-BE49-F238E27FC236}">
                <a16:creationId xmlns:a16="http://schemas.microsoft.com/office/drawing/2014/main" id="{1B7C1ABC-C664-F294-CF5F-F5FFD7450042}"/>
              </a:ext>
            </a:extLst>
          </p:cNvPr>
          <p:cNvGrpSpPr/>
          <p:nvPr/>
        </p:nvGrpSpPr>
        <p:grpSpPr>
          <a:xfrm>
            <a:off x="2141642" y="6340528"/>
            <a:ext cx="7266875" cy="319116"/>
            <a:chOff x="5647250" y="6623140"/>
            <a:chExt cx="10900313" cy="478674"/>
          </a:xfrm>
        </p:grpSpPr>
        <p:sp>
          <p:nvSpPr>
            <p:cNvPr id="10" name="Title 1">
              <a:extLst>
                <a:ext uri="{FF2B5EF4-FFF2-40B4-BE49-F238E27FC236}">
                  <a16:creationId xmlns:a16="http://schemas.microsoft.com/office/drawing/2014/main" id="{AD5F635D-7854-7E20-17B3-371D3AAC858E}"/>
                </a:ext>
              </a:extLst>
            </p:cNvPr>
            <p:cNvSpPr txBox="1">
              <a:spLocks/>
            </p:cNvSpPr>
            <p:nvPr/>
          </p:nvSpPr>
          <p:spPr>
            <a:xfrm>
              <a:off x="8016631" y="6751854"/>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rgbClr val="E7E6E6">
                      <a:lumMod val="10000"/>
                    </a:srgbClr>
                  </a:solidFill>
                  <a:latin typeface="Montserrat Medium" pitchFamily="2" charset="0"/>
                  <a:cs typeface="Hepta Slab" pitchFamily="2" charset="0"/>
                </a:rPr>
                <a:t>TERRAGNI CONSULTING (P) LTD PRIVATE AND CONFIDENTIAL ©</a:t>
              </a:r>
            </a:p>
          </p:txBody>
        </p:sp>
        <p:pic>
          <p:nvPicPr>
            <p:cNvPr id="11" name="Picture 10">
              <a:extLst>
                <a:ext uri="{FF2B5EF4-FFF2-40B4-BE49-F238E27FC236}">
                  <a16:creationId xmlns:a16="http://schemas.microsoft.com/office/drawing/2014/main" id="{5858CCAB-A53F-056E-A341-BA3A9589B25E}"/>
                </a:ext>
              </a:extLst>
            </p:cNvPr>
            <p:cNvPicPr>
              <a:picLocks noChangeAspect="1"/>
            </p:cNvPicPr>
            <p:nvPr/>
          </p:nvPicPr>
          <p:blipFill rotWithShape="1">
            <a:blip r:embed="rId6">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2" name="Picture 11">
              <a:extLst>
                <a:ext uri="{FF2B5EF4-FFF2-40B4-BE49-F238E27FC236}">
                  <a16:creationId xmlns:a16="http://schemas.microsoft.com/office/drawing/2014/main" id="{B1405080-27DF-727E-165A-D363398445D7}"/>
                </a:ext>
              </a:extLst>
            </p:cNvPr>
            <p:cNvPicPr>
              <a:picLocks noChangeAspect="1"/>
            </p:cNvPicPr>
            <p:nvPr/>
          </p:nvPicPr>
          <p:blipFill rotWithShape="1">
            <a:blip r:embed="rId7">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696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6527800" y="895350"/>
            <a:ext cx="5632450" cy="5962650"/>
          </a:xfrm>
          <a:prstGeom prst="rect">
            <a:avLst/>
          </a:prstGeom>
        </p:spPr>
      </p:pic>
      <p:pic>
        <p:nvPicPr>
          <p:cNvPr id="3" name="Image 1" descr="preencoded.png"/>
          <p:cNvPicPr>
            <a:picLocks noChangeAspect="1"/>
          </p:cNvPicPr>
          <p:nvPr/>
        </p:nvPicPr>
        <p:blipFill>
          <a:blip r:embed="rId4"/>
          <a:srcRect/>
          <a:stretch/>
        </p:blipFill>
        <p:spPr>
          <a:xfrm>
            <a:off x="1333500" y="895350"/>
            <a:ext cx="5632450" cy="5962650"/>
          </a:xfrm>
          <a:prstGeom prst="rect">
            <a:avLst/>
          </a:prstGeom>
        </p:spPr>
      </p:pic>
      <p:pic>
        <p:nvPicPr>
          <p:cNvPr id="4" name="Image 2" descr="preencoded.png"/>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04850" y="3619500"/>
            <a:ext cx="859698" cy="754469"/>
          </a:xfrm>
          <a:prstGeom prst="rect">
            <a:avLst/>
          </a:prstGeom>
        </p:spPr>
      </p:pic>
      <p:sp>
        <p:nvSpPr>
          <p:cNvPr id="5" name="Text 0"/>
          <p:cNvSpPr/>
          <p:nvPr/>
        </p:nvSpPr>
        <p:spPr>
          <a:xfrm>
            <a:off x="355600" y="317500"/>
            <a:ext cx="2762250" cy="215900"/>
          </a:xfrm>
          <a:prstGeom prst="rect">
            <a:avLst/>
          </a:prstGeom>
          <a:noFill/>
          <a:ln/>
        </p:spPr>
        <p:txBody>
          <a:bodyPr wrap="square" lIns="0" tIns="0" rIns="0" bIns="0" rtlCol="0" anchor="t"/>
          <a:lstStyle/>
          <a:p>
            <a:pPr defTabSz="609630">
              <a:lnSpc>
                <a:spcPts val="1700"/>
              </a:lnSpc>
            </a:pPr>
            <a:r>
              <a:rPr lang="en-US" sz="1400" dirty="0">
                <a:solidFill>
                  <a:srgbClr val="FFFFFF"/>
                </a:solidFill>
                <a:latin typeface="Montserrat SemiBold" pitchFamily="34" charset="0"/>
                <a:ea typeface="Montserrat SemiBold" pitchFamily="34" charset="-122"/>
                <a:cs typeface="Montserrat SemiBold" pitchFamily="34" charset="-120"/>
              </a:rPr>
              <a:t>SAMPLE</a:t>
            </a:r>
          </a:p>
          <a:p>
            <a:pPr defTabSz="609630">
              <a:lnSpc>
                <a:spcPts val="1700"/>
              </a:lnSpc>
            </a:pPr>
            <a:r>
              <a:rPr lang="en-US" sz="1400" dirty="0">
                <a:solidFill>
                  <a:srgbClr val="FFFFFF"/>
                </a:solidFill>
                <a:latin typeface="Montserrat SemiBold" pitchFamily="34" charset="0"/>
              </a:rPr>
              <a:t>For illustrative purposes only</a:t>
            </a:r>
            <a:endParaRPr lang="en-US" sz="1400" dirty="0">
              <a:solidFill>
                <a:prstClr val="black"/>
              </a:solidFill>
              <a:latin typeface="Calibri" panose="020F0502020204030204"/>
            </a:endParaRPr>
          </a:p>
        </p:txBody>
      </p:sp>
      <p:sp>
        <p:nvSpPr>
          <p:cNvPr id="6" name="Text 1"/>
          <p:cNvSpPr/>
          <p:nvPr/>
        </p:nvSpPr>
        <p:spPr>
          <a:xfrm>
            <a:off x="3536950" y="723900"/>
            <a:ext cx="831850" cy="222250"/>
          </a:xfrm>
          <a:prstGeom prst="rect">
            <a:avLst/>
          </a:prstGeom>
          <a:noFill/>
          <a:ln/>
        </p:spPr>
        <p:txBody>
          <a:bodyPr wrap="square" lIns="0" tIns="0" rIns="0" bIns="0" rtlCol="0" anchor="t"/>
          <a:lstStyle/>
          <a:p>
            <a:pPr defTabSz="609630">
              <a:lnSpc>
                <a:spcPts val="1700"/>
              </a:lnSpc>
            </a:pPr>
            <a:r>
              <a:rPr lang="en-US" sz="1400" dirty="0">
                <a:solidFill>
                  <a:srgbClr val="191919"/>
                </a:solidFill>
                <a:latin typeface="Montserrat SemiBold" pitchFamily="34" charset="0"/>
                <a:ea typeface="Montserrat SemiBold" pitchFamily="34" charset="-122"/>
                <a:cs typeface="Montserrat SemiBold" pitchFamily="34" charset="-120"/>
              </a:rPr>
              <a:t>Before</a:t>
            </a:r>
            <a:endParaRPr lang="en-US" sz="1400" dirty="0">
              <a:solidFill>
                <a:prstClr val="black"/>
              </a:solidFill>
              <a:latin typeface="Calibri" panose="020F0502020204030204"/>
            </a:endParaRPr>
          </a:p>
        </p:txBody>
      </p:sp>
      <p:sp>
        <p:nvSpPr>
          <p:cNvPr id="7" name="Text 2"/>
          <p:cNvSpPr/>
          <p:nvPr/>
        </p:nvSpPr>
        <p:spPr>
          <a:xfrm>
            <a:off x="8934450" y="774700"/>
            <a:ext cx="831850" cy="222250"/>
          </a:xfrm>
          <a:prstGeom prst="rect">
            <a:avLst/>
          </a:prstGeom>
          <a:noFill/>
          <a:ln/>
        </p:spPr>
        <p:txBody>
          <a:bodyPr wrap="square" lIns="0" tIns="0" rIns="0" bIns="0" rtlCol="0" anchor="t"/>
          <a:lstStyle/>
          <a:p>
            <a:pPr defTabSz="609630">
              <a:lnSpc>
                <a:spcPts val="1700"/>
              </a:lnSpc>
            </a:pPr>
            <a:r>
              <a:rPr lang="en-US" sz="1400" dirty="0">
                <a:solidFill>
                  <a:srgbClr val="191919"/>
                </a:solidFill>
                <a:latin typeface="Montserrat SemiBold" pitchFamily="34" charset="0"/>
                <a:ea typeface="Montserrat SemiBold" pitchFamily="34" charset="-122"/>
                <a:cs typeface="Montserrat SemiBold" pitchFamily="34" charset="-120"/>
              </a:rPr>
              <a:t>After</a:t>
            </a:r>
            <a:endParaRPr lang="en-US" sz="1400" dirty="0">
              <a:solidFill>
                <a:prstClr val="black"/>
              </a:solidFill>
              <a:latin typeface="Calibri" panose="020F0502020204030204"/>
            </a:endParaRPr>
          </a:p>
        </p:txBody>
      </p:sp>
      <p:sp>
        <p:nvSpPr>
          <p:cNvPr id="8" name="Text 3"/>
          <p:cNvSpPr/>
          <p:nvPr/>
        </p:nvSpPr>
        <p:spPr>
          <a:xfrm>
            <a:off x="196850" y="4489450"/>
            <a:ext cx="1365250" cy="139700"/>
          </a:xfrm>
          <a:prstGeom prst="rect">
            <a:avLst/>
          </a:prstGeom>
          <a:noFill/>
          <a:ln/>
        </p:spPr>
        <p:txBody>
          <a:bodyPr wrap="square" lIns="0" tIns="0" rIns="0" bIns="0" rtlCol="0" anchor="t"/>
          <a:lstStyle/>
          <a:p>
            <a:pPr defTabSz="609630">
              <a:lnSpc>
                <a:spcPts val="1100"/>
              </a:lnSpc>
            </a:pPr>
            <a:r>
              <a:rPr lang="en-US" sz="1400" kern="0" spc="-50" dirty="0">
                <a:solidFill>
                  <a:srgbClr val="000000"/>
                </a:solidFill>
                <a:latin typeface="Montserrat SemiBold" pitchFamily="34" charset="0"/>
                <a:ea typeface="Montserrat SemiBold" pitchFamily="34" charset="-122"/>
                <a:cs typeface="Montserrat SemiBold" pitchFamily="34" charset="-120"/>
              </a:rPr>
              <a:t>Empathy Gap</a:t>
            </a:r>
            <a:endParaRPr lang="en-US" sz="1400" dirty="0">
              <a:solidFill>
                <a:prstClr val="black"/>
              </a:solidFill>
              <a:latin typeface="Calibri" panose="020F0502020204030204"/>
            </a:endParaRPr>
          </a:p>
        </p:txBody>
      </p:sp>
      <p:grpSp>
        <p:nvGrpSpPr>
          <p:cNvPr id="9" name="Group 8">
            <a:extLst>
              <a:ext uri="{FF2B5EF4-FFF2-40B4-BE49-F238E27FC236}">
                <a16:creationId xmlns:a16="http://schemas.microsoft.com/office/drawing/2014/main" id="{DF8A75BF-C35B-1C6E-01CA-77D96B59FA95}"/>
              </a:ext>
            </a:extLst>
          </p:cNvPr>
          <p:cNvGrpSpPr/>
          <p:nvPr/>
        </p:nvGrpSpPr>
        <p:grpSpPr>
          <a:xfrm>
            <a:off x="2963652" y="6380942"/>
            <a:ext cx="7266875" cy="319116"/>
            <a:chOff x="5647250" y="6623140"/>
            <a:chExt cx="10900313" cy="478674"/>
          </a:xfrm>
        </p:grpSpPr>
        <p:sp>
          <p:nvSpPr>
            <p:cNvPr id="10" name="Title 1">
              <a:extLst>
                <a:ext uri="{FF2B5EF4-FFF2-40B4-BE49-F238E27FC236}">
                  <a16:creationId xmlns:a16="http://schemas.microsoft.com/office/drawing/2014/main" id="{25C40FD9-B4D2-111F-5983-AEE58E4396E9}"/>
                </a:ext>
              </a:extLst>
            </p:cNvPr>
            <p:cNvSpPr txBox="1">
              <a:spLocks/>
            </p:cNvSpPr>
            <p:nvPr/>
          </p:nvSpPr>
          <p:spPr>
            <a:xfrm>
              <a:off x="8016631" y="6751854"/>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rgbClr val="E7E6E6">
                      <a:lumMod val="10000"/>
                    </a:srgbClr>
                  </a:solidFill>
                  <a:latin typeface="Montserrat Medium" pitchFamily="2" charset="0"/>
                  <a:cs typeface="Hepta Slab" pitchFamily="2" charset="0"/>
                </a:rPr>
                <a:t>TERRAGNI CONSULTING (P) LTD PRIVATE AND CONFIDENTIAL ©</a:t>
              </a:r>
            </a:p>
          </p:txBody>
        </p:sp>
        <p:pic>
          <p:nvPicPr>
            <p:cNvPr id="11" name="Picture 10">
              <a:extLst>
                <a:ext uri="{FF2B5EF4-FFF2-40B4-BE49-F238E27FC236}">
                  <a16:creationId xmlns:a16="http://schemas.microsoft.com/office/drawing/2014/main" id="{2374C0EC-56E3-C3E4-98A1-201EE42513CB}"/>
                </a:ext>
              </a:extLst>
            </p:cNvPr>
            <p:cNvPicPr>
              <a:picLocks noChangeAspect="1"/>
            </p:cNvPicPr>
            <p:nvPr/>
          </p:nvPicPr>
          <p:blipFill rotWithShape="1">
            <a:blip r:embed="rId7">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2" name="Picture 11">
              <a:extLst>
                <a:ext uri="{FF2B5EF4-FFF2-40B4-BE49-F238E27FC236}">
                  <a16:creationId xmlns:a16="http://schemas.microsoft.com/office/drawing/2014/main" id="{3B26916D-6399-C9F9-8A3B-711E772D5C08}"/>
                </a:ext>
              </a:extLst>
            </p:cNvPr>
            <p:cNvPicPr>
              <a:picLocks noChangeAspect="1"/>
            </p:cNvPicPr>
            <p:nvPr/>
          </p:nvPicPr>
          <p:blipFill rotWithShape="1">
            <a:blip r:embed="rId8">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1CAF1"/>
        </a:solidFill>
        <a:effectLst/>
      </p:bgPr>
    </p:bg>
    <p:spTree>
      <p:nvGrpSpPr>
        <p:cNvPr id="1" name="">
          <a:extLst>
            <a:ext uri="{FF2B5EF4-FFF2-40B4-BE49-F238E27FC236}">
              <a16:creationId xmlns:a16="http://schemas.microsoft.com/office/drawing/2014/main" id="{6F325D79-E740-0DFD-7FAD-2070300B6F5E}"/>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05CB920-5FD6-9E89-DB83-58D5E9F8A7AD}"/>
              </a:ext>
            </a:extLst>
          </p:cNvPr>
          <p:cNvGrpSpPr/>
          <p:nvPr/>
        </p:nvGrpSpPr>
        <p:grpSpPr>
          <a:xfrm>
            <a:off x="1333500" y="895350"/>
            <a:ext cx="5632450" cy="5962650"/>
            <a:chOff x="1333500" y="895350"/>
            <a:chExt cx="5632450" cy="5962650"/>
          </a:xfrm>
        </p:grpSpPr>
        <p:pic>
          <p:nvPicPr>
            <p:cNvPr id="3" name="Image 1" descr="preencoded.png">
              <a:extLst>
                <a:ext uri="{FF2B5EF4-FFF2-40B4-BE49-F238E27FC236}">
                  <a16:creationId xmlns:a16="http://schemas.microsoft.com/office/drawing/2014/main" id="{A7065993-A4CD-CC10-C5BE-D78B85546818}"/>
                </a:ext>
              </a:extLst>
            </p:cNvPr>
            <p:cNvPicPr>
              <a:picLocks noChangeAspect="1"/>
            </p:cNvPicPr>
            <p:nvPr/>
          </p:nvPicPr>
          <p:blipFill>
            <a:blip r:embed="rId3"/>
            <a:srcRect/>
            <a:stretch/>
          </p:blipFill>
          <p:spPr>
            <a:xfrm>
              <a:off x="1333500" y="895350"/>
              <a:ext cx="5632450" cy="5962650"/>
            </a:xfrm>
            <a:prstGeom prst="rect">
              <a:avLst/>
            </a:prstGeom>
          </p:spPr>
        </p:pic>
        <p:sp>
          <p:nvSpPr>
            <p:cNvPr id="13" name="Rectangle: Rounded Corners 12">
              <a:extLst>
                <a:ext uri="{FF2B5EF4-FFF2-40B4-BE49-F238E27FC236}">
                  <a16:creationId xmlns:a16="http://schemas.microsoft.com/office/drawing/2014/main" id="{4FBC7AF9-6ADC-4EB8-AEF4-1FB259AE0C5F}"/>
                </a:ext>
              </a:extLst>
            </p:cNvPr>
            <p:cNvSpPr/>
            <p:nvPr/>
          </p:nvSpPr>
          <p:spPr>
            <a:xfrm>
              <a:off x="2019348" y="3406762"/>
              <a:ext cx="3320568" cy="2326494"/>
            </a:xfrm>
            <a:prstGeom prst="roundRect">
              <a:avLst>
                <a:gd name="adj" fmla="val 18683"/>
              </a:avLst>
            </a:prstGeom>
            <a:solidFill>
              <a:srgbClr val="E9E9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Dear Customer, besides Network Hospitals, you can now avail cashless facility at any hospital of your choice. Please make sure that you intimate the claim 48 hours before hospitalisation for planned treatment and within 24 hours in case of hospitalisation. Call 044-6900 6900 to know more – STAR Health</a:t>
              </a:r>
            </a:p>
          </p:txBody>
        </p:sp>
      </p:grpSp>
      <p:grpSp>
        <p:nvGrpSpPr>
          <p:cNvPr id="16" name="Group 15">
            <a:extLst>
              <a:ext uri="{FF2B5EF4-FFF2-40B4-BE49-F238E27FC236}">
                <a16:creationId xmlns:a16="http://schemas.microsoft.com/office/drawing/2014/main" id="{A38C2903-1EC0-81AB-C0B1-84CB8A97EB59}"/>
              </a:ext>
            </a:extLst>
          </p:cNvPr>
          <p:cNvGrpSpPr/>
          <p:nvPr/>
        </p:nvGrpSpPr>
        <p:grpSpPr>
          <a:xfrm>
            <a:off x="6527800" y="895350"/>
            <a:ext cx="5632450" cy="5962650"/>
            <a:chOff x="6527800" y="895350"/>
            <a:chExt cx="5632450" cy="5962650"/>
          </a:xfrm>
        </p:grpSpPr>
        <p:pic>
          <p:nvPicPr>
            <p:cNvPr id="2" name="Image 0" descr="preencoded.png">
              <a:extLst>
                <a:ext uri="{FF2B5EF4-FFF2-40B4-BE49-F238E27FC236}">
                  <a16:creationId xmlns:a16="http://schemas.microsoft.com/office/drawing/2014/main" id="{1D5CB57A-5787-F5C3-A0DB-2FD74A2A7F39}"/>
                </a:ext>
              </a:extLst>
            </p:cNvPr>
            <p:cNvPicPr>
              <a:picLocks noChangeAspect="1"/>
            </p:cNvPicPr>
            <p:nvPr/>
          </p:nvPicPr>
          <p:blipFill>
            <a:blip r:embed="rId4"/>
            <a:srcRect/>
            <a:stretch/>
          </p:blipFill>
          <p:spPr>
            <a:xfrm>
              <a:off x="6527800" y="895350"/>
              <a:ext cx="5632450" cy="5962650"/>
            </a:xfrm>
            <a:prstGeom prst="rect">
              <a:avLst/>
            </a:prstGeom>
          </p:spPr>
        </p:pic>
        <p:sp>
          <p:nvSpPr>
            <p:cNvPr id="14" name="Rectangle: Rounded Corners 13">
              <a:extLst>
                <a:ext uri="{FF2B5EF4-FFF2-40B4-BE49-F238E27FC236}">
                  <a16:creationId xmlns:a16="http://schemas.microsoft.com/office/drawing/2014/main" id="{5B5CBC6A-9FCC-9B66-F576-FA4002F496DE}"/>
                </a:ext>
              </a:extLst>
            </p:cNvPr>
            <p:cNvSpPr/>
            <p:nvPr/>
          </p:nvSpPr>
          <p:spPr>
            <a:xfrm>
              <a:off x="7212124" y="3406762"/>
              <a:ext cx="3708412" cy="2833674"/>
            </a:xfrm>
            <a:prstGeom prst="roundRect">
              <a:avLst>
                <a:gd name="adj" fmla="val 12018"/>
              </a:avLst>
            </a:prstGeom>
            <a:solidFill>
              <a:srgbClr val="E9E9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Dear [Name], you can now avail cashless facility at any hospital of your choice. All </a:t>
              </a:r>
              <a:r>
                <a:rPr lang="en-US" sz="1400">
                  <a:solidFill>
                    <a:schemeClr val="tx1"/>
                  </a:solidFill>
                </a:rPr>
                <a:t>of you have to do is </a:t>
              </a:r>
              <a:r>
                <a:rPr lang="en-US" sz="1400" dirty="0">
                  <a:solidFill>
                    <a:schemeClr val="tx1"/>
                  </a:solidFill>
                </a:rPr>
                <a:t>notify us 48 hours in advance for planned treatments or within 24 hours of </a:t>
              </a:r>
              <a:r>
                <a:rPr lang="en-US" sz="1400" dirty="0" err="1">
                  <a:solidFill>
                    <a:schemeClr val="tx1"/>
                  </a:solidFill>
                </a:rPr>
                <a:t>hospitalisation</a:t>
              </a:r>
              <a:r>
                <a:rPr lang="en-US" sz="1400" dirty="0">
                  <a:solidFill>
                    <a:schemeClr val="tx1"/>
                  </a:solidFill>
                </a:rPr>
                <a:t>, and we'll take care of the rest. </a:t>
              </a:r>
            </a:p>
            <a:p>
              <a:endParaRPr lang="en-US" sz="1400" dirty="0">
                <a:solidFill>
                  <a:schemeClr val="tx1"/>
                </a:solidFill>
              </a:endParaRPr>
            </a:p>
            <a:p>
              <a:r>
                <a:rPr lang="en-US" sz="1400" dirty="0">
                  <a:solidFill>
                    <a:schemeClr val="tx1"/>
                  </a:solidFill>
                </a:rPr>
                <a:t>For more information, reach out to us at 044-6900 6900. We're committed to providing the best care possible, wherever you are.</a:t>
              </a:r>
            </a:p>
            <a:p>
              <a:endParaRPr lang="en-US" sz="1400" dirty="0">
                <a:solidFill>
                  <a:schemeClr val="tx1"/>
                </a:solidFill>
              </a:endParaRPr>
            </a:p>
            <a:p>
              <a:r>
                <a:rPr lang="en-US" sz="1400" dirty="0">
                  <a:solidFill>
                    <a:schemeClr val="tx1"/>
                  </a:solidFill>
                </a:rPr>
                <a:t>Warm regards,</a:t>
              </a:r>
            </a:p>
            <a:p>
              <a:r>
                <a:rPr lang="en-US" sz="1400" dirty="0">
                  <a:solidFill>
                    <a:schemeClr val="tx1"/>
                  </a:solidFill>
                </a:rPr>
                <a:t>STAR Health</a:t>
              </a:r>
              <a:endParaRPr lang="en-IN" sz="1400" dirty="0">
                <a:solidFill>
                  <a:schemeClr val="tx1"/>
                </a:solidFill>
              </a:endParaRPr>
            </a:p>
          </p:txBody>
        </p:sp>
      </p:grpSp>
      <p:sp>
        <p:nvSpPr>
          <p:cNvPr id="5" name="Text 0">
            <a:extLst>
              <a:ext uri="{FF2B5EF4-FFF2-40B4-BE49-F238E27FC236}">
                <a16:creationId xmlns:a16="http://schemas.microsoft.com/office/drawing/2014/main" id="{81477B5A-49FC-17A6-ED2C-4FC56E35D466}"/>
              </a:ext>
            </a:extLst>
          </p:cNvPr>
          <p:cNvSpPr/>
          <p:nvPr/>
        </p:nvSpPr>
        <p:spPr>
          <a:xfrm>
            <a:off x="355600" y="317500"/>
            <a:ext cx="2762250" cy="215900"/>
          </a:xfrm>
          <a:prstGeom prst="rect">
            <a:avLst/>
          </a:prstGeom>
          <a:noFill/>
          <a:ln/>
        </p:spPr>
        <p:txBody>
          <a:bodyPr wrap="square" lIns="0" tIns="0" rIns="0" bIns="0" rtlCol="0" anchor="t"/>
          <a:lstStyle/>
          <a:p>
            <a:pPr defTabSz="609630">
              <a:lnSpc>
                <a:spcPts val="1700"/>
              </a:lnSpc>
            </a:pPr>
            <a:r>
              <a:rPr lang="en-US" sz="1400" dirty="0">
                <a:latin typeface="Montserrat SemiBold" pitchFamily="34" charset="0"/>
                <a:ea typeface="Montserrat SemiBold" pitchFamily="34" charset="-122"/>
                <a:cs typeface="Montserrat SemiBold" pitchFamily="34" charset="-120"/>
              </a:rPr>
              <a:t>SAMPLE for </a:t>
            </a:r>
            <a:r>
              <a:rPr lang="en-US" sz="1400" b="1" dirty="0">
                <a:latin typeface="Montserrat SemiBold" pitchFamily="34" charset="0"/>
                <a:ea typeface="Montserrat SemiBold" pitchFamily="34" charset="-122"/>
                <a:cs typeface="Montserrat SemiBold" pitchFamily="34" charset="-120"/>
              </a:rPr>
              <a:t>Star Health</a:t>
            </a:r>
          </a:p>
          <a:p>
            <a:pPr defTabSz="609630">
              <a:lnSpc>
                <a:spcPts val="1700"/>
              </a:lnSpc>
            </a:pPr>
            <a:r>
              <a:rPr lang="en-US" sz="1400" dirty="0">
                <a:latin typeface="Montserrat SemiBold" pitchFamily="34" charset="0"/>
              </a:rPr>
              <a:t>For illustrative purposes only</a:t>
            </a:r>
            <a:endParaRPr lang="en-US" sz="1400" dirty="0">
              <a:latin typeface="Calibri" panose="020F0502020204030204"/>
            </a:endParaRPr>
          </a:p>
        </p:txBody>
      </p:sp>
      <p:sp>
        <p:nvSpPr>
          <p:cNvPr id="6" name="Text 1">
            <a:extLst>
              <a:ext uri="{FF2B5EF4-FFF2-40B4-BE49-F238E27FC236}">
                <a16:creationId xmlns:a16="http://schemas.microsoft.com/office/drawing/2014/main" id="{ADDCDDBD-2C7D-27EE-38E7-E12922CE8CAE}"/>
              </a:ext>
            </a:extLst>
          </p:cNvPr>
          <p:cNvSpPr/>
          <p:nvPr/>
        </p:nvSpPr>
        <p:spPr>
          <a:xfrm>
            <a:off x="3536950" y="723900"/>
            <a:ext cx="831850" cy="222250"/>
          </a:xfrm>
          <a:prstGeom prst="rect">
            <a:avLst/>
          </a:prstGeom>
          <a:noFill/>
          <a:ln/>
        </p:spPr>
        <p:txBody>
          <a:bodyPr wrap="square" lIns="0" tIns="0" rIns="0" bIns="0" rtlCol="0" anchor="t"/>
          <a:lstStyle/>
          <a:p>
            <a:pPr defTabSz="609630">
              <a:lnSpc>
                <a:spcPts val="1700"/>
              </a:lnSpc>
            </a:pPr>
            <a:r>
              <a:rPr lang="en-US" sz="1400" dirty="0">
                <a:solidFill>
                  <a:srgbClr val="191919"/>
                </a:solidFill>
                <a:latin typeface="Montserrat SemiBold" pitchFamily="34" charset="0"/>
                <a:ea typeface="Montserrat SemiBold" pitchFamily="34" charset="-122"/>
                <a:cs typeface="Montserrat SemiBold" pitchFamily="34" charset="-120"/>
              </a:rPr>
              <a:t>Before</a:t>
            </a:r>
            <a:endParaRPr lang="en-US" sz="1400" dirty="0">
              <a:solidFill>
                <a:prstClr val="black"/>
              </a:solidFill>
              <a:latin typeface="Calibri" panose="020F0502020204030204"/>
            </a:endParaRPr>
          </a:p>
        </p:txBody>
      </p:sp>
      <p:sp>
        <p:nvSpPr>
          <p:cNvPr id="7" name="Text 2">
            <a:extLst>
              <a:ext uri="{FF2B5EF4-FFF2-40B4-BE49-F238E27FC236}">
                <a16:creationId xmlns:a16="http://schemas.microsoft.com/office/drawing/2014/main" id="{C4C9B8DF-C4C8-2919-BDE8-21FCC8B51052}"/>
              </a:ext>
            </a:extLst>
          </p:cNvPr>
          <p:cNvSpPr/>
          <p:nvPr/>
        </p:nvSpPr>
        <p:spPr>
          <a:xfrm>
            <a:off x="8934450" y="774700"/>
            <a:ext cx="831850" cy="222250"/>
          </a:xfrm>
          <a:prstGeom prst="rect">
            <a:avLst/>
          </a:prstGeom>
          <a:noFill/>
          <a:ln/>
        </p:spPr>
        <p:txBody>
          <a:bodyPr wrap="square" lIns="0" tIns="0" rIns="0" bIns="0" rtlCol="0" anchor="t"/>
          <a:lstStyle/>
          <a:p>
            <a:pPr defTabSz="609630">
              <a:lnSpc>
                <a:spcPts val="1700"/>
              </a:lnSpc>
            </a:pPr>
            <a:r>
              <a:rPr lang="en-US" sz="1400" dirty="0">
                <a:solidFill>
                  <a:srgbClr val="191919"/>
                </a:solidFill>
                <a:latin typeface="Montserrat SemiBold" pitchFamily="34" charset="0"/>
                <a:ea typeface="Montserrat SemiBold" pitchFamily="34" charset="-122"/>
                <a:cs typeface="Montserrat SemiBold" pitchFamily="34" charset="-120"/>
              </a:rPr>
              <a:t>After</a:t>
            </a:r>
            <a:endParaRPr lang="en-US" sz="1400" dirty="0">
              <a:solidFill>
                <a:prstClr val="black"/>
              </a:solidFill>
              <a:latin typeface="Calibri" panose="020F0502020204030204"/>
            </a:endParaRPr>
          </a:p>
        </p:txBody>
      </p:sp>
      <p:sp>
        <p:nvSpPr>
          <p:cNvPr id="8" name="Text 3">
            <a:extLst>
              <a:ext uri="{FF2B5EF4-FFF2-40B4-BE49-F238E27FC236}">
                <a16:creationId xmlns:a16="http://schemas.microsoft.com/office/drawing/2014/main" id="{86498658-9622-0CF2-2FBA-44D047332141}"/>
              </a:ext>
            </a:extLst>
          </p:cNvPr>
          <p:cNvSpPr/>
          <p:nvPr/>
        </p:nvSpPr>
        <p:spPr>
          <a:xfrm>
            <a:off x="10480662" y="247650"/>
            <a:ext cx="1714500" cy="355600"/>
          </a:xfrm>
          <a:prstGeom prst="rect">
            <a:avLst/>
          </a:prstGeom>
          <a:noFill/>
          <a:ln/>
        </p:spPr>
        <p:txBody>
          <a:bodyPr wrap="square" lIns="0" tIns="0" rIns="0" bIns="0" rtlCol="0" anchor="t"/>
          <a:lstStyle/>
          <a:p>
            <a:pPr defTabSz="609630"/>
            <a:r>
              <a:rPr lang="en-US" sz="1400" kern="0" spc="-50" dirty="0">
                <a:solidFill>
                  <a:srgbClr val="000000"/>
                </a:solidFill>
                <a:latin typeface="Montserrat SemiBold" pitchFamily="34" charset="0"/>
                <a:ea typeface="Montserrat SemiBold" pitchFamily="34" charset="-122"/>
                <a:cs typeface="Montserrat SemiBold" pitchFamily="34" charset="-120"/>
              </a:rPr>
              <a:t>Reassurance</a:t>
            </a:r>
          </a:p>
          <a:p>
            <a:pPr defTabSz="609630"/>
            <a:r>
              <a:rPr lang="en-US" sz="1400" kern="0" spc="-50" dirty="0">
                <a:solidFill>
                  <a:srgbClr val="000000"/>
                </a:solidFill>
                <a:latin typeface="Montserrat SemiBold" pitchFamily="34" charset="0"/>
              </a:rPr>
              <a:t>Perception of ease</a:t>
            </a:r>
          </a:p>
          <a:p>
            <a:pPr defTabSz="609630"/>
            <a:r>
              <a:rPr lang="en-US" sz="1400" kern="0" spc="-50" dirty="0">
                <a:solidFill>
                  <a:srgbClr val="000000"/>
                </a:solidFill>
                <a:latin typeface="Montserrat SemiBold" pitchFamily="34" charset="0"/>
              </a:rPr>
              <a:t>Empathy</a:t>
            </a:r>
            <a:endParaRPr lang="en-US" sz="1400" dirty="0">
              <a:solidFill>
                <a:prstClr val="black"/>
              </a:solidFill>
              <a:latin typeface="Calibri" panose="020F0502020204030204"/>
            </a:endParaRPr>
          </a:p>
        </p:txBody>
      </p:sp>
      <p:grpSp>
        <p:nvGrpSpPr>
          <p:cNvPr id="9" name="Group 8">
            <a:extLst>
              <a:ext uri="{FF2B5EF4-FFF2-40B4-BE49-F238E27FC236}">
                <a16:creationId xmlns:a16="http://schemas.microsoft.com/office/drawing/2014/main" id="{71C57B55-1B3C-4EFD-18F7-83C64953D6DA}"/>
              </a:ext>
            </a:extLst>
          </p:cNvPr>
          <p:cNvGrpSpPr/>
          <p:nvPr/>
        </p:nvGrpSpPr>
        <p:grpSpPr>
          <a:xfrm>
            <a:off x="2963652" y="6380942"/>
            <a:ext cx="7266875" cy="319116"/>
            <a:chOff x="5647250" y="6623140"/>
            <a:chExt cx="10900313" cy="478674"/>
          </a:xfrm>
        </p:grpSpPr>
        <p:sp>
          <p:nvSpPr>
            <p:cNvPr id="10" name="Title 1">
              <a:extLst>
                <a:ext uri="{FF2B5EF4-FFF2-40B4-BE49-F238E27FC236}">
                  <a16:creationId xmlns:a16="http://schemas.microsoft.com/office/drawing/2014/main" id="{414B3502-8E09-469A-8939-D4D90A2CB5CB}"/>
                </a:ext>
              </a:extLst>
            </p:cNvPr>
            <p:cNvSpPr txBox="1">
              <a:spLocks/>
            </p:cNvSpPr>
            <p:nvPr/>
          </p:nvSpPr>
          <p:spPr>
            <a:xfrm>
              <a:off x="8016631" y="6751854"/>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rgbClr val="E7E6E6">
                      <a:lumMod val="10000"/>
                    </a:srgbClr>
                  </a:solidFill>
                  <a:latin typeface="Montserrat Medium" pitchFamily="2" charset="0"/>
                  <a:cs typeface="Hepta Slab" pitchFamily="2" charset="0"/>
                </a:rPr>
                <a:t>TERRAGNI CONSULTING (P) LTD PRIVATE AND CONFIDENTIAL ©</a:t>
              </a:r>
            </a:p>
          </p:txBody>
        </p:sp>
        <p:pic>
          <p:nvPicPr>
            <p:cNvPr id="11" name="Picture 10">
              <a:extLst>
                <a:ext uri="{FF2B5EF4-FFF2-40B4-BE49-F238E27FC236}">
                  <a16:creationId xmlns:a16="http://schemas.microsoft.com/office/drawing/2014/main" id="{41E84749-DBCE-C1CE-C7AC-519EEC3FB7F5}"/>
                </a:ext>
              </a:extLst>
            </p:cNvPr>
            <p:cNvPicPr>
              <a:picLocks noChangeAspect="1"/>
            </p:cNvPicPr>
            <p:nvPr/>
          </p:nvPicPr>
          <p:blipFill rotWithShape="1">
            <a:blip r:embed="rId5">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2" name="Picture 11">
              <a:extLst>
                <a:ext uri="{FF2B5EF4-FFF2-40B4-BE49-F238E27FC236}">
                  <a16:creationId xmlns:a16="http://schemas.microsoft.com/office/drawing/2014/main" id="{6B94A8BE-3054-9A95-1527-AB405FD84332}"/>
                </a:ext>
              </a:extLst>
            </p:cNvPr>
            <p:cNvPicPr>
              <a:picLocks noChangeAspect="1"/>
            </p:cNvPicPr>
            <p:nvPr/>
          </p:nvPicPr>
          <p:blipFill rotWithShape="1">
            <a:blip r:embed="rId6">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cxnSp>
        <p:nvCxnSpPr>
          <p:cNvPr id="18" name="Straight Arrow Connector 17">
            <a:extLst>
              <a:ext uri="{FF2B5EF4-FFF2-40B4-BE49-F238E27FC236}">
                <a16:creationId xmlns:a16="http://schemas.microsoft.com/office/drawing/2014/main" id="{31F18FCE-79DA-81B7-858B-137881F6F9BC}"/>
              </a:ext>
            </a:extLst>
          </p:cNvPr>
          <p:cNvCxnSpPr>
            <a:cxnSpLocks/>
          </p:cNvCxnSpPr>
          <p:nvPr/>
        </p:nvCxnSpPr>
        <p:spPr>
          <a:xfrm flipH="1">
            <a:off x="10560496" y="1089037"/>
            <a:ext cx="468052" cy="2123939"/>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61952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DE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51000"/>
            <a:ext cx="3259334" cy="69090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340315" y="1569000"/>
            <a:ext cx="1913171" cy="4260000"/>
          </a:xfrm>
          <a:prstGeom prst="rect">
            <a:avLst/>
          </a:prstGeom>
          <a:noFill/>
          <a:ln/>
        </p:spPr>
        <p:txBody>
          <a:bodyPr wrap="square" lIns="0" tIns="0" rIns="0" bIns="0" rtlCol="0" anchor="t"/>
          <a:lstStyle/>
          <a:p>
            <a:pPr defTabSz="304815"/>
            <a:r>
              <a:rPr lang="en-US" sz="1333"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304815"/>
            <a:endParaRPr lang="en-US" sz="1333" dirty="0">
              <a:solidFill>
                <a:srgbClr val="3C2472"/>
              </a:solidFill>
              <a:latin typeface="Montserrat SemiBold" pitchFamily="2" charset="0"/>
              <a:ea typeface="Montserrat ExtraBold" pitchFamily="34" charset="-122"/>
              <a:cs typeface="Montserrat ExtraBold" pitchFamily="34" charset="-120"/>
            </a:endParaRPr>
          </a:p>
          <a:p>
            <a:pPr defTabSz="304815"/>
            <a:r>
              <a:rPr lang="en-US" sz="1333" dirty="0">
                <a:solidFill>
                  <a:prstClr val="white">
                    <a:lumMod val="75000"/>
                  </a:prstClr>
                </a:solidFill>
                <a:latin typeface="Montserrat SemiBold" pitchFamily="2" charset="0"/>
              </a:rPr>
              <a:t>Challenge</a:t>
            </a:r>
          </a:p>
          <a:p>
            <a:pPr defTabSz="304815"/>
            <a:endParaRPr lang="en-US" sz="1333" dirty="0">
              <a:solidFill>
                <a:prstClr val="white">
                  <a:lumMod val="75000"/>
                </a:prstClr>
              </a:solidFill>
              <a:latin typeface="Montserrat SemiBold" pitchFamily="2" charset="0"/>
            </a:endParaRPr>
          </a:p>
          <a:p>
            <a:pPr defTabSz="304815"/>
            <a:r>
              <a:rPr lang="en-US" sz="1333" dirty="0">
                <a:solidFill>
                  <a:schemeClr val="bg1">
                    <a:lumMod val="75000"/>
                  </a:schemeClr>
                </a:solidFill>
                <a:latin typeface="Montserrat SemiBold" pitchFamily="2" charset="0"/>
              </a:rPr>
              <a:t>What We Did</a:t>
            </a:r>
          </a:p>
          <a:p>
            <a:pPr defTabSz="304815"/>
            <a:endParaRPr lang="en-US" sz="1333" dirty="0">
              <a:solidFill>
                <a:schemeClr val="bg1">
                  <a:lumMod val="75000"/>
                </a:schemeClr>
              </a:solidFill>
              <a:latin typeface="Montserrat SemiBold" pitchFamily="2" charset="0"/>
            </a:endParaRPr>
          </a:p>
          <a:p>
            <a:pPr defTabSz="304815"/>
            <a:r>
              <a:rPr lang="en-US" sz="1333" dirty="0">
                <a:solidFill>
                  <a:prstClr val="white">
                    <a:lumMod val="75000"/>
                  </a:prstClr>
                </a:solidFill>
                <a:latin typeface="Montserrat SemiBold" pitchFamily="2" charset="0"/>
              </a:rPr>
              <a:t>Opportunities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Our Methodology</a:t>
            </a:r>
            <a:endParaRPr lang="en-US" sz="1333" dirty="0">
              <a:solidFill>
                <a:schemeClr val="bg1">
                  <a:lumMod val="75000"/>
                </a:scheme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Solutions</a:t>
            </a:r>
          </a:p>
          <a:p>
            <a:pPr defTabSz="304815"/>
            <a:endParaRPr lang="en-US" sz="1333" dirty="0">
              <a:solidFill>
                <a:prstClr val="white">
                  <a:lumMod val="75000"/>
                </a:prstClr>
              </a:solidFill>
              <a:latin typeface="Montserrat SemiBold" pitchFamily="2" charset="0"/>
            </a:endParaRPr>
          </a:p>
          <a:p>
            <a:pPr defTabSz="304815"/>
            <a:r>
              <a:rPr lang="en-US" sz="1333" dirty="0">
                <a:solidFill>
                  <a:prstClr val="white">
                    <a:lumMod val="75000"/>
                  </a:prstClr>
                </a:solidFill>
                <a:latin typeface="Montserrat SemiBold" pitchFamily="2" charset="0"/>
              </a:rPr>
              <a:t>Samples</a:t>
            </a:r>
          </a:p>
          <a:p>
            <a:pPr defTabSz="304815"/>
            <a:endParaRPr lang="en-US" sz="1333" dirty="0">
              <a:solidFill>
                <a:prstClr val="white">
                  <a:lumMod val="75000"/>
                </a:prstClr>
              </a:solidFill>
              <a:latin typeface="Montserrat SemiBold" pitchFamily="2" charset="0"/>
            </a:endParaRPr>
          </a:p>
          <a:p>
            <a:pPr defTabSz="304815"/>
            <a:r>
              <a:rPr lang="en-US" sz="1333" dirty="0">
                <a:solidFill>
                  <a:srgbClr val="7030A0"/>
                </a:solidFill>
                <a:latin typeface="Montserrat SemiBold" pitchFamily="2" charset="0"/>
              </a:rPr>
              <a:t>Business Outcomes</a:t>
            </a:r>
          </a:p>
          <a:p>
            <a:pPr defTabSz="304815"/>
            <a:endParaRPr lang="en-US" sz="1333" dirty="0">
              <a:solidFill>
                <a:prstClr val="white">
                  <a:lumMod val="75000"/>
                </a:prstClr>
              </a:solidFill>
              <a:latin typeface="Montserrat SemiBold" pitchFamily="2" charset="0"/>
            </a:endParaRPr>
          </a:p>
          <a:p>
            <a:pPr defTabSz="304815"/>
            <a:endParaRPr lang="en-US" sz="1333" dirty="0">
              <a:solidFill>
                <a:prstClr val="white">
                  <a:lumMod val="75000"/>
                </a:prstClr>
              </a:solidFill>
              <a:latin typeface="Montserrat SemiBold" pitchFamily="2" charset="0"/>
            </a:endParaRPr>
          </a:p>
        </p:txBody>
      </p:sp>
      <p:sp>
        <p:nvSpPr>
          <p:cNvPr id="15" name="Object4">
            <a:extLst>
              <a:ext uri="{FF2B5EF4-FFF2-40B4-BE49-F238E27FC236}">
                <a16:creationId xmlns:a16="http://schemas.microsoft.com/office/drawing/2014/main" id="{905BF8BE-E126-A81E-05B2-03B371733F08}"/>
              </a:ext>
            </a:extLst>
          </p:cNvPr>
          <p:cNvSpPr/>
          <p:nvPr/>
        </p:nvSpPr>
        <p:spPr>
          <a:xfrm>
            <a:off x="3755740" y="2780928"/>
            <a:ext cx="8161077" cy="1440000"/>
          </a:xfrm>
          <a:prstGeom prst="rect">
            <a:avLst/>
          </a:prstGeom>
          <a:noFill/>
          <a:ln/>
        </p:spPr>
        <p:txBody>
          <a:bodyPr wrap="square" lIns="0" tIns="0" rIns="0" bIns="0" rtlCol="0" anchor="t"/>
          <a:lstStyle/>
          <a:p>
            <a:pPr defTabSz="304815">
              <a:lnSpc>
                <a:spcPct val="200000"/>
              </a:lnSpc>
            </a:pPr>
            <a:r>
              <a:rPr lang="en-IN" sz="1600" dirty="0">
                <a:solidFill>
                  <a:srgbClr val="7030A0"/>
                </a:solidFill>
                <a:latin typeface="Noto Emoji" panose="05020103010202020202" pitchFamily="18" charset="0"/>
                <a:ea typeface="Noto Emoji" panose="05020103010202020202" pitchFamily="18" charset="0"/>
                <a:cs typeface="Hepta Slab Regular" pitchFamily="2" charset="0"/>
              </a:rPr>
              <a:t>⬆</a:t>
            </a:r>
            <a:r>
              <a:rPr lang="en-US" sz="1600" dirty="0">
                <a:solidFill>
                  <a:srgbClr val="191919"/>
                </a:solidFill>
                <a:latin typeface="Hepta Slab Regular" pitchFamily="2" charset="0"/>
                <a:cs typeface="Hepta Slab Regular" pitchFamily="2" charset="0"/>
              </a:rPr>
              <a:t>Improved Persistency </a:t>
            </a:r>
          </a:p>
          <a:p>
            <a:pPr defTabSz="304815">
              <a:lnSpc>
                <a:spcPct val="200000"/>
              </a:lnSpc>
            </a:pPr>
            <a:r>
              <a:rPr lang="en-IN" sz="1600" dirty="0">
                <a:solidFill>
                  <a:srgbClr val="7030A0"/>
                </a:solidFill>
                <a:latin typeface="Noto Emoji" panose="05020103010202020202" pitchFamily="18" charset="0"/>
                <a:ea typeface="Noto Emoji" panose="05020103010202020202" pitchFamily="18" charset="0"/>
                <a:cs typeface="Hepta Slab Regular" pitchFamily="2" charset="0"/>
              </a:rPr>
              <a:t>⬆</a:t>
            </a:r>
            <a:r>
              <a:rPr lang="en-US" sz="1600" dirty="0">
                <a:solidFill>
                  <a:srgbClr val="191919"/>
                </a:solidFill>
                <a:latin typeface="Hepta Slab Regular" pitchFamily="2" charset="0"/>
                <a:cs typeface="Hepta Slab Regular" pitchFamily="2" charset="0"/>
              </a:rPr>
              <a:t>Enhanced Digital (online) Adoption</a:t>
            </a:r>
          </a:p>
          <a:p>
            <a:pPr defTabSz="304815">
              <a:lnSpc>
                <a:spcPct val="200000"/>
              </a:lnSpc>
            </a:pPr>
            <a:r>
              <a:rPr lang="en-IN" sz="1600" dirty="0">
                <a:solidFill>
                  <a:srgbClr val="7030A0"/>
                </a:solidFill>
                <a:latin typeface="Noto Emoji" panose="05020103010202020202" pitchFamily="18" charset="0"/>
                <a:ea typeface="Noto Emoji" panose="05020103010202020202" pitchFamily="18" charset="0"/>
                <a:cs typeface="Hepta Slab Regular" pitchFamily="2" charset="0"/>
              </a:rPr>
              <a:t>⬇</a:t>
            </a:r>
            <a:r>
              <a:rPr lang="en-US" sz="1600" dirty="0">
                <a:solidFill>
                  <a:srgbClr val="191919"/>
                </a:solidFill>
                <a:latin typeface="Hepta Slab Regular" pitchFamily="2" charset="0"/>
                <a:cs typeface="Hepta Slab Regular" pitchFamily="2" charset="0"/>
              </a:rPr>
              <a:t>Reduced Cost of Service</a:t>
            </a:r>
          </a:p>
          <a:p>
            <a:pPr defTabSz="304815">
              <a:lnSpc>
                <a:spcPct val="200000"/>
              </a:lnSpc>
            </a:pPr>
            <a:r>
              <a:rPr lang="en-IN" sz="1600" dirty="0">
                <a:solidFill>
                  <a:srgbClr val="7030A0"/>
                </a:solidFill>
                <a:latin typeface="Noto Emoji" panose="05020103010202020202" pitchFamily="18" charset="0"/>
                <a:ea typeface="Noto Emoji" panose="05020103010202020202" pitchFamily="18" charset="0"/>
                <a:cs typeface="Hepta Slab Regular" pitchFamily="2" charset="0"/>
              </a:rPr>
              <a:t>⬆</a:t>
            </a:r>
            <a:r>
              <a:rPr lang="en-US" sz="1600" dirty="0">
                <a:solidFill>
                  <a:srgbClr val="191919"/>
                </a:solidFill>
                <a:latin typeface="Hepta Slab Regular" pitchFamily="2" charset="0"/>
                <a:cs typeface="Hepta Slab Regular" pitchFamily="2" charset="0"/>
              </a:rPr>
              <a:t>Enhanced Customer Connect and </a:t>
            </a:r>
            <a:r>
              <a:rPr lang="en-US" sz="1600" dirty="0" err="1">
                <a:solidFill>
                  <a:srgbClr val="191919"/>
                </a:solidFill>
                <a:latin typeface="Hepta Slab Regular" pitchFamily="2" charset="0"/>
                <a:cs typeface="Hepta Slab Regular" pitchFamily="2" charset="0"/>
              </a:rPr>
              <a:t>Contactability</a:t>
            </a:r>
            <a:endParaRPr lang="en-US" sz="1600" dirty="0">
              <a:solidFill>
                <a:srgbClr val="191919"/>
              </a:solidFill>
              <a:latin typeface="Hepta Slab Regular" pitchFamily="2" charset="0"/>
              <a:cs typeface="Hepta Slab Regular" pitchFamily="2" charset="0"/>
            </a:endParaRPr>
          </a:p>
          <a:p>
            <a:pPr defTabSz="304815">
              <a:lnSpc>
                <a:spcPct val="200000"/>
              </a:lnSpc>
            </a:pPr>
            <a:endParaRPr lang="en-US" sz="1600" dirty="0">
              <a:solidFill>
                <a:srgbClr val="191919"/>
              </a:solidFill>
              <a:latin typeface="Hepta Slab Regular" pitchFamily="2" charset="0"/>
              <a:cs typeface="Hepta Slab Regular" pitchFamily="2" charset="0"/>
            </a:endParaRPr>
          </a:p>
          <a:p>
            <a:pPr defTabSz="304815">
              <a:lnSpc>
                <a:spcPct val="200000"/>
              </a:lnSpc>
            </a:pPr>
            <a:endParaRPr lang="en-US" sz="1600" dirty="0">
              <a:solidFill>
                <a:srgbClr val="191919"/>
              </a:solidFill>
              <a:latin typeface="Hepta Slab Regular" pitchFamily="2" charset="0"/>
              <a:cs typeface="Hepta Slab Regular" pitchFamily="2" charset="0"/>
            </a:endParaRPr>
          </a:p>
        </p:txBody>
      </p:sp>
      <p:grpSp>
        <p:nvGrpSpPr>
          <p:cNvPr id="26" name="Group 25">
            <a:extLst>
              <a:ext uri="{FF2B5EF4-FFF2-40B4-BE49-F238E27FC236}">
                <a16:creationId xmlns:a16="http://schemas.microsoft.com/office/drawing/2014/main" id="{9A693E3A-0875-8DFA-B1D5-9E79C03643C1}"/>
              </a:ext>
            </a:extLst>
          </p:cNvPr>
          <p:cNvGrpSpPr/>
          <p:nvPr/>
        </p:nvGrpSpPr>
        <p:grpSpPr>
          <a:xfrm>
            <a:off x="3690609" y="6309000"/>
            <a:ext cx="7275789" cy="480001"/>
            <a:chOff x="5535913" y="9283499"/>
            <a:chExt cx="10913683" cy="720001"/>
          </a:xfrm>
        </p:grpSpPr>
        <p:pic>
          <p:nvPicPr>
            <p:cNvPr id="28" name="Picture 27">
              <a:extLst>
                <a:ext uri="{FF2B5EF4-FFF2-40B4-BE49-F238E27FC236}">
                  <a16:creationId xmlns:a16="http://schemas.microsoft.com/office/drawing/2014/main" id="{7B34A65A-FF03-3C15-5691-2B5F5EF58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9" name="Picture 28">
              <a:extLst>
                <a:ext uri="{FF2B5EF4-FFF2-40B4-BE49-F238E27FC236}">
                  <a16:creationId xmlns:a16="http://schemas.microsoft.com/office/drawing/2014/main" id="{3382DA11-7442-5E5E-B45F-429A69B40B4B}"/>
                </a:ext>
              </a:extLst>
            </p:cNvPr>
            <p:cNvPicPr>
              <a:picLocks noChangeAspect="1"/>
            </p:cNvPicPr>
            <p:nvPr/>
          </p:nvPicPr>
          <p:blipFill rotWithShape="1">
            <a:blip r:embed="rId4">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30" name="Title 1">
              <a:extLst>
                <a:ext uri="{FF2B5EF4-FFF2-40B4-BE49-F238E27FC236}">
                  <a16:creationId xmlns:a16="http://schemas.microsoft.com/office/drawing/2014/main" id="{2616B91C-32F4-0482-816C-B938FFE039BE}"/>
                </a:ext>
              </a:extLst>
            </p:cNvPr>
            <p:cNvSpPr txBox="1">
              <a:spLocks/>
            </p:cNvSpPr>
            <p:nvPr/>
          </p:nvSpPr>
          <p:spPr>
            <a:xfrm>
              <a:off x="7993069" y="9519798"/>
              <a:ext cx="6137989" cy="2474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en-IN" sz="900" dirty="0">
                  <a:solidFill>
                    <a:schemeClr val="bg1"/>
                  </a:solidFill>
                  <a:latin typeface="Montserrat Medium" pitchFamily="2" charset="0"/>
                  <a:cs typeface="Hepta Slab" pitchFamily="2" charset="0"/>
                </a:rPr>
                <a:t>TERRAGNI CONSULTING (P) LTD PRIVATE AND CONFIDENTIAL ©</a:t>
              </a:r>
            </a:p>
          </p:txBody>
        </p:sp>
      </p:grpSp>
      <p:pic>
        <p:nvPicPr>
          <p:cNvPr id="4" name="Picture 3">
            <a:extLst>
              <a:ext uri="{FF2B5EF4-FFF2-40B4-BE49-F238E27FC236}">
                <a16:creationId xmlns:a16="http://schemas.microsoft.com/office/drawing/2014/main" id="{0EF26FDB-CE8B-1D2B-E3A3-91334D8D63DB}"/>
              </a:ext>
            </a:extLst>
          </p:cNvPr>
          <p:cNvPicPr>
            <a:picLocks noChangeAspect="1"/>
          </p:cNvPicPr>
          <p:nvPr/>
        </p:nvPicPr>
        <p:blipFill rotWithShape="1">
          <a:blip r:embed="rId5">
            <a:extLst>
              <a:ext uri="{28A0092B-C50C-407E-A947-70E740481C1C}">
                <a14:useLocalDpi xmlns:a14="http://schemas.microsoft.com/office/drawing/2010/main" val="0"/>
              </a:ext>
            </a:extLst>
          </a:blip>
          <a:srcRect t="19165" r="1717" b="24319"/>
          <a:stretch/>
        </p:blipFill>
        <p:spPr>
          <a:xfrm>
            <a:off x="3599649" y="226533"/>
            <a:ext cx="2856351" cy="1642467"/>
          </a:xfrm>
          <a:prstGeom prst="rect">
            <a:avLst/>
          </a:prstGeom>
        </p:spPr>
      </p:pic>
    </p:spTree>
    <p:extLst>
      <p:ext uri="{BB962C8B-B14F-4D97-AF65-F5344CB8AC3E}">
        <p14:creationId xmlns:p14="http://schemas.microsoft.com/office/powerpoint/2010/main" val="1622827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089650" y="1746250"/>
            <a:ext cx="6350" cy="3365500"/>
          </a:xfrm>
          <a:prstGeom prst="rect">
            <a:avLst/>
          </a:prstGeom>
        </p:spPr>
      </p:pic>
      <p:sp>
        <p:nvSpPr>
          <p:cNvPr id="3" name="Object2"/>
          <p:cNvSpPr/>
          <p:nvPr/>
        </p:nvSpPr>
        <p:spPr>
          <a:xfrm>
            <a:off x="1130300" y="3048000"/>
            <a:ext cx="4014470" cy="762000"/>
          </a:xfrm>
          <a:prstGeom prst="rect">
            <a:avLst/>
          </a:prstGeom>
          <a:noFill/>
          <a:ln/>
        </p:spPr>
        <p:txBody>
          <a:bodyPr wrap="square" lIns="0" tIns="0" rIns="0" bIns="0" rtlCol="0" anchor="t"/>
          <a:lstStyle/>
          <a:p>
            <a:pPr defTabSz="304815">
              <a:lnSpc>
                <a:spcPts val="6000"/>
              </a:lnSpc>
            </a:pPr>
            <a:r>
              <a:rPr lang="en-US" sz="4800" b="1" dirty="0">
                <a:solidFill>
                  <a:srgbClr val="F5F3E4"/>
                </a:solidFill>
                <a:latin typeface="Hepta Slab Bold" pitchFamily="34" charset="0"/>
                <a:ea typeface="Hepta Slab Bold" pitchFamily="34" charset="-122"/>
                <a:cs typeface="Hepta Slab Bold" pitchFamily="34" charset="-120"/>
              </a:rPr>
              <a:t>Thank You</a:t>
            </a:r>
            <a:endParaRPr lang="en-US" sz="4800" dirty="0">
              <a:solidFill>
                <a:prstClr val="black"/>
              </a:solidFill>
              <a:latin typeface="Calibri" panose="020F0502020204030204"/>
            </a:endParaRPr>
          </a:p>
        </p:txBody>
      </p:sp>
      <p:sp>
        <p:nvSpPr>
          <p:cNvPr id="4" name="Object3"/>
          <p:cNvSpPr/>
          <p:nvPr/>
        </p:nvSpPr>
        <p:spPr>
          <a:xfrm>
            <a:off x="6576000" y="2577525"/>
            <a:ext cx="4546600" cy="1702950"/>
          </a:xfrm>
          <a:prstGeom prst="rect">
            <a:avLst/>
          </a:prstGeom>
          <a:noFill/>
          <a:ln/>
        </p:spPr>
        <p:txBody>
          <a:bodyPr wrap="square" lIns="0" tIns="0" rIns="0" bIns="0" rtlCol="0" anchor="t"/>
          <a:lstStyle/>
          <a:p>
            <a:pPr defTabSz="304815">
              <a:lnSpc>
                <a:spcPts val="4000"/>
              </a:lnSpc>
            </a:pPr>
            <a:r>
              <a:rPr lang="en-US" sz="3200" dirty="0">
                <a:solidFill>
                  <a:srgbClr val="F5F3E4"/>
                </a:solidFill>
                <a:latin typeface="Hepta Slab Regular" pitchFamily="34" charset="0"/>
                <a:ea typeface="Hepta Slab Regular" pitchFamily="34" charset="-122"/>
                <a:cs typeface="Hepta Slab Regular" pitchFamily="34" charset="-120"/>
              </a:rPr>
              <a:t>dipti@terragni.in
+91 895 698 2522</a:t>
            </a:r>
            <a:endParaRPr lang="en-US" sz="3200" dirty="0">
              <a:solidFill>
                <a:prstClr val="black"/>
              </a:solidFill>
              <a:latin typeface="Calibri" panose="020F0502020204030204"/>
            </a:endParaRPr>
          </a:p>
        </p:txBody>
      </p:sp>
      <p:grpSp>
        <p:nvGrpSpPr>
          <p:cNvPr id="5" name="Group 4">
            <a:extLst>
              <a:ext uri="{FF2B5EF4-FFF2-40B4-BE49-F238E27FC236}">
                <a16:creationId xmlns:a16="http://schemas.microsoft.com/office/drawing/2014/main" id="{BDB93B21-C61B-4782-BCB8-67162AB74915}"/>
              </a:ext>
            </a:extLst>
          </p:cNvPr>
          <p:cNvGrpSpPr/>
          <p:nvPr/>
        </p:nvGrpSpPr>
        <p:grpSpPr>
          <a:xfrm>
            <a:off x="-114988" y="6122716"/>
            <a:ext cx="11920615" cy="929149"/>
            <a:chOff x="-172482" y="9184073"/>
            <a:chExt cx="17880922" cy="1393723"/>
          </a:xfrm>
        </p:grpSpPr>
        <p:sp>
          <p:nvSpPr>
            <p:cNvPr id="6" name="Title 1">
              <a:extLst>
                <a:ext uri="{FF2B5EF4-FFF2-40B4-BE49-F238E27FC236}">
                  <a16:creationId xmlns:a16="http://schemas.microsoft.com/office/drawing/2014/main" id="{E1E61F5A-9D3A-456E-81A1-A884BEB95D41}"/>
                </a:ext>
              </a:extLst>
            </p:cNvPr>
            <p:cNvSpPr txBox="1">
              <a:spLocks/>
            </p:cNvSpPr>
            <p:nvPr/>
          </p:nvSpPr>
          <p:spPr>
            <a:xfrm>
              <a:off x="5681815" y="9781058"/>
              <a:ext cx="7071061" cy="26932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09630"/>
              <a:r>
                <a:rPr lang="en-US" sz="1067" dirty="0">
                  <a:solidFill>
                    <a:prstClr val="white"/>
                  </a:solidFill>
                  <a:latin typeface="Montserrat Medium" pitchFamily="2" charset="0"/>
                  <a:cs typeface="Hepta Slab" pitchFamily="2" charset="0"/>
                </a:rPr>
                <a:t>TERRAGNI CONSULTING (P) LTD PRIVATE AND CONFIDENTIAL ©</a:t>
              </a:r>
            </a:p>
          </p:txBody>
        </p:sp>
        <p:pic>
          <p:nvPicPr>
            <p:cNvPr id="7" name="Picture 6">
              <a:extLst>
                <a:ext uri="{FF2B5EF4-FFF2-40B4-BE49-F238E27FC236}">
                  <a16:creationId xmlns:a16="http://schemas.microsoft.com/office/drawing/2014/main" id="{FEABC857-D541-41C5-8AA8-881FC10C42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8" name="Picture 7">
              <a:extLst>
                <a:ext uri="{FF2B5EF4-FFF2-40B4-BE49-F238E27FC236}">
                  <a16:creationId xmlns:a16="http://schemas.microsoft.com/office/drawing/2014/main" id="{51A0D35D-74D3-47E0-9C4E-59C0BF32FE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4064000" cy="3257550"/>
          </a:xfrm>
          <a:prstGeom prst="rect">
            <a:avLst/>
          </a:prstGeom>
        </p:spPr>
      </p:pic>
      <p:pic>
        <p:nvPicPr>
          <p:cNvPr id="3" name="Object 2" descr="preencoded.png"/>
          <p:cNvPicPr>
            <a:picLocks noChangeAspect="1"/>
          </p:cNvPicPr>
          <p:nvPr/>
        </p:nvPicPr>
        <p:blipFill>
          <a:blip r:embed="rId4"/>
          <a:srcRect/>
          <a:stretch/>
        </p:blipFill>
        <p:spPr>
          <a:xfrm>
            <a:off x="4064000" y="0"/>
            <a:ext cx="4064000" cy="3257550"/>
          </a:xfrm>
          <a:prstGeom prst="rect">
            <a:avLst/>
          </a:prstGeom>
        </p:spPr>
      </p:pic>
      <p:pic>
        <p:nvPicPr>
          <p:cNvPr id="4" name="Object 3" descr="preencoded.png"/>
          <p:cNvPicPr>
            <a:picLocks noChangeAspect="1"/>
          </p:cNvPicPr>
          <p:nvPr/>
        </p:nvPicPr>
        <p:blipFill>
          <a:blip r:embed="rId5"/>
          <a:srcRect/>
          <a:stretch/>
        </p:blipFill>
        <p:spPr>
          <a:xfrm>
            <a:off x="8128000" y="0"/>
            <a:ext cx="4064000" cy="3257550"/>
          </a:xfrm>
          <a:prstGeom prst="rect">
            <a:avLst/>
          </a:prstGeom>
        </p:spPr>
      </p:pic>
      <p:sp>
        <p:nvSpPr>
          <p:cNvPr id="5" name="Object4"/>
          <p:cNvSpPr/>
          <p:nvPr/>
        </p:nvSpPr>
        <p:spPr>
          <a:xfrm>
            <a:off x="1708150" y="336550"/>
            <a:ext cx="609600" cy="254000"/>
          </a:xfrm>
          <a:prstGeom prst="rect">
            <a:avLst/>
          </a:prstGeom>
          <a:noFill/>
          <a:ln/>
        </p:spPr>
        <p:txBody>
          <a:bodyPr wrap="square" lIns="0" tIns="0" rIns="0" bIns="0" rtlCol="0" anchor="t"/>
          <a:lstStyle/>
          <a:p>
            <a:pPr defTabSz="304815">
              <a:lnSpc>
                <a:spcPts val="2000"/>
              </a:lnSpc>
            </a:pPr>
            <a:r>
              <a:rPr lang="en-US" sz="1600" b="1" dirty="0">
                <a:solidFill>
                  <a:srgbClr val="F5F3E4"/>
                </a:solidFill>
                <a:latin typeface="Hepta Slab Bold" pitchFamily="34" charset="0"/>
                <a:ea typeface="Hepta Slab Bold" pitchFamily="34" charset="-122"/>
                <a:cs typeface="Hepta Slab Bold" pitchFamily="34" charset="-120"/>
              </a:rPr>
              <a:t>India</a:t>
            </a:r>
            <a:endParaRPr lang="en-US" sz="1600" dirty="0">
              <a:solidFill>
                <a:prstClr val="black"/>
              </a:solidFill>
              <a:latin typeface="Calibri" panose="020F0502020204030204"/>
            </a:endParaRPr>
          </a:p>
        </p:txBody>
      </p:sp>
      <p:sp>
        <p:nvSpPr>
          <p:cNvPr id="6" name="Object5"/>
          <p:cNvSpPr/>
          <p:nvPr/>
        </p:nvSpPr>
        <p:spPr>
          <a:xfrm>
            <a:off x="5638800" y="336550"/>
            <a:ext cx="889000" cy="254000"/>
          </a:xfrm>
          <a:prstGeom prst="rect">
            <a:avLst/>
          </a:prstGeom>
          <a:noFill/>
          <a:ln/>
        </p:spPr>
        <p:txBody>
          <a:bodyPr wrap="square" lIns="0" tIns="0" rIns="0" bIns="0" rtlCol="0" anchor="t"/>
          <a:lstStyle/>
          <a:p>
            <a:pPr defTabSz="304815">
              <a:lnSpc>
                <a:spcPts val="2000"/>
              </a:lnSpc>
            </a:pPr>
            <a:r>
              <a:rPr lang="en-US" sz="1600" b="1" dirty="0">
                <a:solidFill>
                  <a:srgbClr val="F5F3E4"/>
                </a:solidFill>
                <a:latin typeface="Hepta Slab Bold" pitchFamily="34" charset="0"/>
                <a:ea typeface="Hepta Slab Bold" pitchFamily="34" charset="-122"/>
                <a:cs typeface="Hepta Slab Bold" pitchFamily="34" charset="-120"/>
              </a:rPr>
              <a:t>London</a:t>
            </a:r>
            <a:endParaRPr lang="en-US" sz="1600" dirty="0">
              <a:solidFill>
                <a:prstClr val="black"/>
              </a:solidFill>
              <a:latin typeface="Calibri" panose="020F0502020204030204"/>
            </a:endParaRPr>
          </a:p>
        </p:txBody>
      </p:sp>
      <p:sp>
        <p:nvSpPr>
          <p:cNvPr id="7" name="Object6"/>
          <p:cNvSpPr/>
          <p:nvPr/>
        </p:nvSpPr>
        <p:spPr>
          <a:xfrm>
            <a:off x="9505950" y="336550"/>
            <a:ext cx="1187450" cy="254000"/>
          </a:xfrm>
          <a:prstGeom prst="rect">
            <a:avLst/>
          </a:prstGeom>
          <a:noFill/>
          <a:ln/>
        </p:spPr>
        <p:txBody>
          <a:bodyPr wrap="square" lIns="0" tIns="0" rIns="0" bIns="0" rtlCol="0" anchor="t"/>
          <a:lstStyle/>
          <a:p>
            <a:pPr defTabSz="304815">
              <a:lnSpc>
                <a:spcPts val="2000"/>
              </a:lnSpc>
            </a:pPr>
            <a:r>
              <a:rPr lang="en-US" sz="1600" b="1" dirty="0">
                <a:solidFill>
                  <a:srgbClr val="F5F3E4"/>
                </a:solidFill>
                <a:latin typeface="Hepta Slab Bold" pitchFamily="34" charset="0"/>
                <a:ea typeface="Hepta Slab Bold" pitchFamily="34" charset="-122"/>
                <a:cs typeface="Hepta Slab Bold" pitchFamily="34" charset="-120"/>
              </a:rPr>
              <a:t>Bucharest</a:t>
            </a:r>
            <a:endParaRPr lang="en-US" sz="1600" dirty="0">
              <a:solidFill>
                <a:prstClr val="black"/>
              </a:solidFill>
              <a:latin typeface="Calibri" panose="020F0502020204030204"/>
            </a:endParaRPr>
          </a:p>
        </p:txBody>
      </p:sp>
      <p:sp>
        <p:nvSpPr>
          <p:cNvPr id="8" name="Object7"/>
          <p:cNvSpPr/>
          <p:nvPr/>
        </p:nvSpPr>
        <p:spPr>
          <a:xfrm>
            <a:off x="4716845" y="4613958"/>
            <a:ext cx="2732911" cy="558800"/>
          </a:xfrm>
          <a:prstGeom prst="rect">
            <a:avLst/>
          </a:prstGeom>
          <a:noFill/>
          <a:ln/>
        </p:spPr>
        <p:txBody>
          <a:bodyPr wrap="square" lIns="0" tIns="0" rIns="0" bIns="0" rtlCol="0" anchor="t"/>
          <a:lstStyle/>
          <a:p>
            <a:pPr algn="ctr" defTabSz="304815">
              <a:lnSpc>
                <a:spcPts val="2200"/>
              </a:lnSpc>
            </a:pPr>
            <a:r>
              <a:rPr lang="en-US" dirty="0">
                <a:solidFill>
                  <a:srgbClr val="F5F3E4"/>
                </a:solidFill>
                <a:latin typeface="Montserrat ExtraBold" pitchFamily="34" charset="0"/>
                <a:ea typeface="Montserrat ExtraBold" pitchFamily="34" charset="-122"/>
                <a:cs typeface="Montserrat ExtraBold" pitchFamily="34" charset="-120"/>
              </a:rPr>
              <a:t>www.terragni.in
www.buyerbrain.com</a:t>
            </a:r>
            <a:endParaRPr lang="en-US" dirty="0">
              <a:solidFill>
                <a:prstClr val="black"/>
              </a:solidFill>
              <a:latin typeface="Calibri" panose="020F0502020204030204"/>
            </a:endParaRPr>
          </a:p>
        </p:txBody>
      </p:sp>
      <p:grpSp>
        <p:nvGrpSpPr>
          <p:cNvPr id="9" name="Group 8">
            <a:extLst>
              <a:ext uri="{FF2B5EF4-FFF2-40B4-BE49-F238E27FC236}">
                <a16:creationId xmlns:a16="http://schemas.microsoft.com/office/drawing/2014/main" id="{9ED8BA93-BFB9-43A1-A8E5-A2E535C4302E}"/>
              </a:ext>
            </a:extLst>
          </p:cNvPr>
          <p:cNvGrpSpPr/>
          <p:nvPr/>
        </p:nvGrpSpPr>
        <p:grpSpPr>
          <a:xfrm>
            <a:off x="-114988" y="6122716"/>
            <a:ext cx="11920615" cy="929149"/>
            <a:chOff x="-172482" y="9184073"/>
            <a:chExt cx="17880922" cy="1393723"/>
          </a:xfrm>
        </p:grpSpPr>
        <p:sp>
          <p:nvSpPr>
            <p:cNvPr id="10" name="Title 1">
              <a:extLst>
                <a:ext uri="{FF2B5EF4-FFF2-40B4-BE49-F238E27FC236}">
                  <a16:creationId xmlns:a16="http://schemas.microsoft.com/office/drawing/2014/main" id="{57EFBAB2-8D9B-4D59-BC35-807813541343}"/>
                </a:ext>
              </a:extLst>
            </p:cNvPr>
            <p:cNvSpPr txBox="1">
              <a:spLocks/>
            </p:cNvSpPr>
            <p:nvPr/>
          </p:nvSpPr>
          <p:spPr>
            <a:xfrm>
              <a:off x="5681815" y="9781056"/>
              <a:ext cx="7026580" cy="16897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09630"/>
              <a:r>
                <a:rPr lang="en-IN" sz="1067" dirty="0">
                  <a:solidFill>
                    <a:prstClr val="white"/>
                  </a:solidFill>
                  <a:latin typeface="Montserrat Medium" pitchFamily="2" charset="0"/>
                  <a:cs typeface="Hepta Slab" pitchFamily="2" charset="0"/>
                </a:rPr>
                <a:t>TERRAGNI CONSULTING (P) LTD PRIVATE AND CONFIDENTIAL ©</a:t>
              </a:r>
            </a:p>
          </p:txBody>
        </p:sp>
        <p:pic>
          <p:nvPicPr>
            <p:cNvPr id="11" name="Picture 10">
              <a:extLst>
                <a:ext uri="{FF2B5EF4-FFF2-40B4-BE49-F238E27FC236}">
                  <a16:creationId xmlns:a16="http://schemas.microsoft.com/office/drawing/2014/main" id="{85BA4B19-4EC2-41DF-8F6F-83738A9800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12" name="Picture 11">
              <a:extLst>
                <a:ext uri="{FF2B5EF4-FFF2-40B4-BE49-F238E27FC236}">
                  <a16:creationId xmlns:a16="http://schemas.microsoft.com/office/drawing/2014/main" id="{AC9CDB73-5157-4EE7-AFFD-9BEBBDD50E7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931</Words>
  <Application>Microsoft Office PowerPoint</Application>
  <PresentationFormat>Widescreen</PresentationFormat>
  <Paragraphs>315</Paragraphs>
  <Slides>16</Slides>
  <Notes>6</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16</vt:i4>
      </vt:variant>
    </vt:vector>
  </HeadingPairs>
  <TitlesOfParts>
    <vt:vector size="34" baseType="lpstr">
      <vt:lpstr>Arial</vt:lpstr>
      <vt:lpstr>Calibri</vt:lpstr>
      <vt:lpstr>Calibri Light</vt:lpstr>
      <vt:lpstr>Hepta Slab</vt:lpstr>
      <vt:lpstr>Hepta Slab Bold</vt:lpstr>
      <vt:lpstr>Hepta Slab ExtraBold</vt:lpstr>
      <vt:lpstr>Hepta Slab Regular</vt:lpstr>
      <vt:lpstr>Hepta Slab SemiBold</vt:lpstr>
      <vt:lpstr>Inter Extra Bold</vt:lpstr>
      <vt:lpstr>Inter Regular</vt:lpstr>
      <vt:lpstr>Itim Regular</vt:lpstr>
      <vt:lpstr>Michroma Regular</vt:lpstr>
      <vt:lpstr>Montserrat ExtraBold</vt:lpstr>
      <vt:lpstr>Montserrat Medium</vt:lpstr>
      <vt:lpstr>Montserrat SemiBold</vt:lpstr>
      <vt:lpstr>Noto Emoji</vt: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Dipti Sapatnekar</dc:creator>
  <cp:lastModifiedBy>Dipti Sapatnekar</cp:lastModifiedBy>
  <cp:revision>28</cp:revision>
  <dcterms:created xsi:type="dcterms:W3CDTF">2023-01-25T10:36:35Z</dcterms:created>
  <dcterms:modified xsi:type="dcterms:W3CDTF">2024-08-06T05:51:05Z</dcterms:modified>
</cp:coreProperties>
</file>