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3" r:id="rId2"/>
  </p:sldMasterIdLst>
  <p:notesMasterIdLst>
    <p:notesMasterId r:id="rId17"/>
  </p:notesMasterIdLst>
  <p:sldIdLst>
    <p:sldId id="1584" r:id="rId3"/>
    <p:sldId id="1595" r:id="rId4"/>
    <p:sldId id="1585" r:id="rId5"/>
    <p:sldId id="1586" r:id="rId6"/>
    <p:sldId id="350" r:id="rId7"/>
    <p:sldId id="1587" r:id="rId8"/>
    <p:sldId id="354" r:id="rId9"/>
    <p:sldId id="770" r:id="rId10"/>
    <p:sldId id="1596" r:id="rId11"/>
    <p:sldId id="1588" r:id="rId12"/>
    <p:sldId id="1594" r:id="rId13"/>
    <p:sldId id="1593" r:id="rId14"/>
    <p:sldId id="271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Hepta Slab" pitchFamily="2" charset="0"/>
      <p:regular r:id="rId24"/>
      <p:bold r:id="rId25"/>
    </p:embeddedFont>
    <p:embeddedFont>
      <p:font typeface="Hepta Slab Bold" pitchFamily="2" charset="0"/>
      <p:bold r:id="rId26"/>
    </p:embeddedFont>
    <p:embeddedFont>
      <p:font typeface="Hepta Slab ExtraBold" pitchFamily="2" charset="0"/>
      <p:bold r:id="rId27"/>
    </p:embeddedFont>
    <p:embeddedFont>
      <p:font typeface="Hepta Slab Regular" pitchFamily="2" charset="0"/>
      <p:regular r:id="rId28"/>
    </p:embeddedFont>
    <p:embeddedFont>
      <p:font typeface="Hepta Slab SemiBold" pitchFamily="2" charset="0"/>
      <p:bold r:id="rId29"/>
    </p:embeddedFont>
    <p:embeddedFont>
      <p:font typeface="Montserrat" pitchFamily="2" charset="0"/>
      <p:regular r:id="rId30"/>
      <p:bold r:id="rId31"/>
      <p:italic r:id="rId32"/>
      <p:boldItalic r:id="rId33"/>
    </p:embeddedFont>
    <p:embeddedFont>
      <p:font typeface="Montserrat Medium" pitchFamily="2" charset="0"/>
      <p:regular r:id="rId34"/>
      <p:italic r:id="rId35"/>
    </p:embeddedFont>
    <p:embeddedFont>
      <p:font typeface="Montserrat SemiBold" pitchFamily="2" charset="0"/>
      <p:bold r:id="rId36"/>
      <p:boldItalic r:id="rId37"/>
    </p:embeddedFont>
    <p:embeddedFont>
      <p:font typeface="Noto Emoji" panose="05020103010202020202" pitchFamily="18" charset="0"/>
      <p:regular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817617"/>
    <a:srgbClr val="3C2472"/>
    <a:srgbClr val="811717"/>
    <a:srgbClr val="BFBFBF"/>
    <a:srgbClr val="FFA65F"/>
    <a:srgbClr val="7E3CAF"/>
    <a:srgbClr val="C7E4F4"/>
    <a:srgbClr val="FFE90C"/>
    <a:srgbClr val="FF3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3" autoAdjust="0"/>
    <p:restoredTop sz="95033" autoAdjust="0"/>
  </p:normalViewPr>
  <p:slideViewPr>
    <p:cSldViewPr>
      <p:cViewPr varScale="1">
        <p:scale>
          <a:sx n="53" d="100"/>
          <a:sy n="53" d="100"/>
        </p:scale>
        <p:origin x="533" y="67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2" d="100"/>
        <a:sy n="142" d="100"/>
      </p:scale>
      <p:origin x="0" y="-9461"/>
    </p:cViewPr>
  </p:sorterViewPr>
  <p:notesViewPr>
    <p:cSldViewPr>
      <p:cViewPr varScale="1">
        <p:scale>
          <a:sx n="63" d="100"/>
          <a:sy n="63" d="100"/>
        </p:scale>
        <p:origin x="3206" y="53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presProps" Target="pres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17790-6DFE-4940-8CA4-61EE1B647741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6AF7A-43AD-4463-BF1A-F91465FB32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542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6AF7A-43AD-4463-BF1A-F91465FB326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670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95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15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147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045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9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881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2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48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77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0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015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79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EA42-13E0-41FB-A68F-5FBD4A82D1C9}" type="datetimeFigureOut">
              <a:rPr lang="en-IN" smtClean="0"/>
              <a:t>25-08-2023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4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99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6">
            <a:extLst>
              <a:ext uri="{FF2B5EF4-FFF2-40B4-BE49-F238E27FC236}">
                <a16:creationId xmlns:a16="http://schemas.microsoft.com/office/drawing/2014/main" id="{7FF1EF97-377A-4E2F-B4BC-0ECF24D2D3D4}"/>
              </a:ext>
            </a:extLst>
          </p:cNvPr>
          <p:cNvSpPr/>
          <p:nvPr/>
        </p:nvSpPr>
        <p:spPr>
          <a:xfrm>
            <a:off x="1224000" y="2216684"/>
            <a:ext cx="11700000" cy="297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457223"/>
            <a:r>
              <a:rPr lang="en-US" sz="9600" dirty="0">
                <a:solidFill>
                  <a:srgbClr val="F5F3E4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A Terragni</a:t>
            </a:r>
          </a:p>
          <a:p>
            <a:pPr defTabSz="457223"/>
            <a:r>
              <a:rPr lang="en-US" sz="9600" dirty="0">
                <a:solidFill>
                  <a:srgbClr val="F5F3E4"/>
                </a:solidFill>
                <a:latin typeface="Hepta Slab ExtraBold" pitchFamily="2" charset="0"/>
                <a:cs typeface="Hepta Slab ExtraBold" pitchFamily="2" charset="0"/>
              </a:rPr>
              <a:t>Case Study</a:t>
            </a:r>
          </a:p>
        </p:txBody>
      </p:sp>
      <p:sp>
        <p:nvSpPr>
          <p:cNvPr id="5" name="Object6">
            <a:extLst>
              <a:ext uri="{FF2B5EF4-FFF2-40B4-BE49-F238E27FC236}">
                <a16:creationId xmlns:a16="http://schemas.microsoft.com/office/drawing/2014/main" id="{3E0BAEEE-A595-D314-E921-60B7FA4811A8}"/>
              </a:ext>
            </a:extLst>
          </p:cNvPr>
          <p:cNvSpPr/>
          <p:nvPr/>
        </p:nvSpPr>
        <p:spPr>
          <a:xfrm>
            <a:off x="1224000" y="5863500"/>
            <a:ext cx="10080000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457223"/>
            <a:r>
              <a:rPr lang="en-US" sz="3600" dirty="0">
                <a:solidFill>
                  <a:srgbClr val="F5F3E4"/>
                </a:solidFill>
                <a:latin typeface="Hepta Slab Regular" pitchFamily="2" charset="0"/>
                <a:ea typeface="Montserrat ExtraBold" pitchFamily="34" charset="-122"/>
                <a:cs typeface="Hepta Slab Regular" pitchFamily="2" charset="0"/>
              </a:rPr>
              <a:t>Driving App Adoption in Life Insurance</a:t>
            </a:r>
            <a:endParaRPr lang="en-US" sz="3600" dirty="0">
              <a:solidFill>
                <a:srgbClr val="F5F3E4"/>
              </a:solidFill>
              <a:latin typeface="Hepta Slab Regular" pitchFamily="2" charset="0"/>
              <a:cs typeface="Hepta Slab Regular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905B95-5EA2-CFE1-E38B-4E69AFD2BC61}"/>
              </a:ext>
            </a:extLst>
          </p:cNvPr>
          <p:cNvGrpSpPr/>
          <p:nvPr/>
        </p:nvGrpSpPr>
        <p:grpSpPr>
          <a:xfrm>
            <a:off x="-172482" y="9184075"/>
            <a:ext cx="17880923" cy="1393724"/>
            <a:chOff x="-172482" y="9184073"/>
            <a:chExt cx="17880922" cy="139372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14453AC-FF3B-46C9-7C95-D93605B4C661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914445"/>
              <a:r>
                <a:rPr lang="en-IN" sz="1601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9FDB63-50D1-8247-6623-2E5C85689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D4B987-A66D-E3E4-AF4A-EB86C9C39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420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6">
            <a:extLst>
              <a:ext uri="{FF2B5EF4-FFF2-40B4-BE49-F238E27FC236}">
                <a16:creationId xmlns:a16="http://schemas.microsoft.com/office/drawing/2014/main" id="{7FF1EF97-377A-4E2F-B4BC-0ECF24D2D3D4}"/>
              </a:ext>
            </a:extLst>
          </p:cNvPr>
          <p:cNvSpPr/>
          <p:nvPr/>
        </p:nvSpPr>
        <p:spPr>
          <a:xfrm>
            <a:off x="1044000" y="1183500"/>
            <a:ext cx="11700000" cy="112318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457223"/>
            <a:r>
              <a:rPr lang="en-US" sz="6000" dirty="0">
                <a:solidFill>
                  <a:srgbClr val="F5F3E4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Note</a:t>
            </a:r>
            <a:endParaRPr lang="en-US" sz="6000" dirty="0">
              <a:solidFill>
                <a:srgbClr val="F5F3E4"/>
              </a:solidFill>
              <a:latin typeface="Hepta Slab ExtraBold" pitchFamily="2" charset="0"/>
              <a:cs typeface="Hepta Slab ExtraBold" pitchFamily="2" charset="0"/>
            </a:endParaRPr>
          </a:p>
        </p:txBody>
      </p:sp>
      <p:sp>
        <p:nvSpPr>
          <p:cNvPr id="5" name="Object6">
            <a:extLst>
              <a:ext uri="{FF2B5EF4-FFF2-40B4-BE49-F238E27FC236}">
                <a16:creationId xmlns:a16="http://schemas.microsoft.com/office/drawing/2014/main" id="{3E0BAEEE-A595-D314-E921-60B7FA4811A8}"/>
              </a:ext>
            </a:extLst>
          </p:cNvPr>
          <p:cNvSpPr/>
          <p:nvPr/>
        </p:nvSpPr>
        <p:spPr>
          <a:xfrm>
            <a:off x="1044000" y="3343500"/>
            <a:ext cx="12780000" cy="4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457223"/>
            <a:r>
              <a:rPr lang="en-US" sz="2800" dirty="0">
                <a:solidFill>
                  <a:srgbClr val="F5F3E4"/>
                </a:solidFill>
                <a:latin typeface="Hepta Slab Regular" pitchFamily="2" charset="0"/>
                <a:ea typeface="Montserrat ExtraBold" pitchFamily="34" charset="-122"/>
                <a:cs typeface="Hepta Slab Regular" pitchFamily="2" charset="0"/>
              </a:rPr>
              <a:t>The following extract is from a larger consulting project. </a:t>
            </a:r>
          </a:p>
          <a:p>
            <a:pPr defTabSz="457223"/>
            <a:r>
              <a:rPr lang="en-US" sz="2800" dirty="0">
                <a:solidFill>
                  <a:srgbClr val="F5F3E4"/>
                </a:solidFill>
                <a:latin typeface="Hepta Slab Regular" pitchFamily="2" charset="0"/>
                <a:ea typeface="Montserrat ExtraBold" pitchFamily="34" charset="-122"/>
                <a:cs typeface="Hepta Slab Regular" pitchFamily="2" charset="0"/>
              </a:rPr>
              <a:t>The app was one part of the project.</a:t>
            </a:r>
            <a:endParaRPr lang="en-US" sz="2800" dirty="0">
              <a:solidFill>
                <a:srgbClr val="F5F3E4"/>
              </a:solidFill>
              <a:latin typeface="Hepta Slab Regular" pitchFamily="2" charset="0"/>
              <a:cs typeface="Hepta Slab Regular" pitchFamily="2" charset="0"/>
            </a:endParaRPr>
          </a:p>
          <a:p>
            <a:pPr defTabSz="457223"/>
            <a:endParaRPr lang="en-US" sz="2800" dirty="0">
              <a:solidFill>
                <a:srgbClr val="F5F3E4"/>
              </a:solidFill>
              <a:latin typeface="Hepta Slab Regular" pitchFamily="2" charset="0"/>
              <a:cs typeface="Hepta Slab Regular" pitchFamily="2" charset="0"/>
            </a:endParaRPr>
          </a:p>
          <a:p>
            <a:pPr defTabSz="457223"/>
            <a:r>
              <a:rPr lang="en-US" sz="2800" dirty="0">
                <a:solidFill>
                  <a:srgbClr val="F5F3E4"/>
                </a:solidFill>
                <a:latin typeface="Hepta Slab Regular" pitchFamily="2" charset="0"/>
                <a:cs typeface="Hepta Slab Regular" pitchFamily="2" charset="0"/>
              </a:rPr>
              <a:t>A project for only the app would involve a shorter methodology as follows: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Regular" pitchFamily="2" charset="0"/>
              <a:cs typeface="Hepta Slab Regular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Montserrat" pitchFamily="2" charset="0"/>
                <a:cs typeface="Hepta Slab Regular" pitchFamily="2" charset="0"/>
              </a:rPr>
              <a:t>A probe of the communication artefacts, a small insight exercise into the current adopters of the app to understand the context, adoption and continued usability insights: perceived usefulness, perceived ease of use and attitude towards app and brand. The STEPPS* framework for virality will be used.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905B95-5EA2-CFE1-E38B-4E69AFD2BC61}"/>
              </a:ext>
            </a:extLst>
          </p:cNvPr>
          <p:cNvGrpSpPr/>
          <p:nvPr/>
        </p:nvGrpSpPr>
        <p:grpSpPr>
          <a:xfrm>
            <a:off x="-172482" y="9184075"/>
            <a:ext cx="17880923" cy="1393724"/>
            <a:chOff x="-172482" y="9184073"/>
            <a:chExt cx="17880922" cy="139372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14453AC-FF3B-46C9-7C95-D93605B4C661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914445"/>
              <a:r>
                <a:rPr lang="en-IN" sz="1601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9FDB63-50D1-8247-6623-2E5C85689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D4B987-A66D-E3E4-AF4A-EB86C9C39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2E42732-0345-25CF-50E8-B4ECDE087BA3}"/>
              </a:ext>
            </a:extLst>
          </p:cNvPr>
          <p:cNvSpPr txBox="1"/>
          <p:nvPr/>
        </p:nvSpPr>
        <p:spPr>
          <a:xfrm>
            <a:off x="864000" y="8546427"/>
            <a:ext cx="1981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Montserrat" pitchFamily="2" charset="0"/>
              </a:rPr>
              <a:t>*Jonah Berger, 2013.</a:t>
            </a:r>
          </a:p>
        </p:txBody>
      </p:sp>
    </p:spTree>
    <p:extLst>
      <p:ext uri="{BB962C8B-B14F-4D97-AF65-F5344CB8AC3E}">
        <p14:creationId xmlns:p14="http://schemas.microsoft.com/office/powerpoint/2010/main" val="478986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4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5535914" y="9463501"/>
            <a:ext cx="10913684" cy="720002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0473" y="235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000" dirty="0">
                <a:solidFill>
                  <a:srgbClr val="814A17"/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457223"/>
            <a:endParaRPr lang="en-US" sz="2000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Barriers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Framework 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2000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29" name="Object6">
            <a:extLst>
              <a:ext uri="{FF2B5EF4-FFF2-40B4-BE49-F238E27FC236}">
                <a16:creationId xmlns:a16="http://schemas.microsoft.com/office/drawing/2014/main" id="{7FFB36EB-6BB8-0373-703D-3762D700F5DA}"/>
              </a:ext>
            </a:extLst>
          </p:cNvPr>
          <p:cNvSpPr/>
          <p:nvPr/>
        </p:nvSpPr>
        <p:spPr>
          <a:xfrm>
            <a:off x="5535912" y="2370284"/>
            <a:ext cx="3425175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457223"/>
            <a:r>
              <a:rPr lang="en-US" sz="6600" dirty="0">
                <a:solidFill>
                  <a:srgbClr val="FFA65F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Top 4</a:t>
            </a:r>
            <a:endParaRPr lang="en-US" sz="6600" dirty="0">
              <a:solidFill>
                <a:srgbClr val="FFA65F"/>
              </a:solidFill>
              <a:latin typeface="Hepta Slab ExtraBold" pitchFamily="2" charset="0"/>
              <a:cs typeface="Hepta Slab ExtraBold" pitchFamily="2" charset="0"/>
            </a:endParaRPr>
          </a:p>
        </p:txBody>
      </p:sp>
      <p:sp>
        <p:nvSpPr>
          <p:cNvPr id="31" name="Object5">
            <a:extLst>
              <a:ext uri="{FF2B5EF4-FFF2-40B4-BE49-F238E27FC236}">
                <a16:creationId xmlns:a16="http://schemas.microsoft.com/office/drawing/2014/main" id="{161E54A7-4AD9-6473-8202-C09144517DBC}"/>
              </a:ext>
            </a:extLst>
          </p:cNvPr>
          <p:cNvSpPr/>
          <p:nvPr/>
        </p:nvSpPr>
        <p:spPr>
          <a:xfrm>
            <a:off x="5535914" y="3832421"/>
            <a:ext cx="3954182" cy="105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Players In Private Life Insurance Sector</a:t>
            </a:r>
          </a:p>
        </p:txBody>
      </p:sp>
      <p:sp>
        <p:nvSpPr>
          <p:cNvPr id="32" name="Object5">
            <a:extLst>
              <a:ext uri="{FF2B5EF4-FFF2-40B4-BE49-F238E27FC236}">
                <a16:creationId xmlns:a16="http://schemas.microsoft.com/office/drawing/2014/main" id="{D0F42D0B-599B-4129-6B9E-9A7A0F07050A}"/>
              </a:ext>
            </a:extLst>
          </p:cNvPr>
          <p:cNvSpPr/>
          <p:nvPr/>
        </p:nvSpPr>
        <p:spPr>
          <a:xfrm>
            <a:off x="10557682" y="3824732"/>
            <a:ext cx="3023630" cy="37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Offices pan India</a:t>
            </a:r>
          </a:p>
        </p:txBody>
      </p:sp>
      <p:sp>
        <p:nvSpPr>
          <p:cNvPr id="35" name="Object6">
            <a:extLst>
              <a:ext uri="{FF2B5EF4-FFF2-40B4-BE49-F238E27FC236}">
                <a16:creationId xmlns:a16="http://schemas.microsoft.com/office/drawing/2014/main" id="{73687B3F-84A9-5378-8894-588151DCD771}"/>
              </a:ext>
            </a:extLst>
          </p:cNvPr>
          <p:cNvSpPr/>
          <p:nvPr/>
        </p:nvSpPr>
        <p:spPr>
          <a:xfrm>
            <a:off x="10570095" y="2400914"/>
            <a:ext cx="1908372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457223"/>
            <a:r>
              <a:rPr lang="en-US" sz="6600" dirty="0">
                <a:solidFill>
                  <a:srgbClr val="FFA65F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638</a:t>
            </a:r>
          </a:p>
        </p:txBody>
      </p:sp>
      <p:sp>
        <p:nvSpPr>
          <p:cNvPr id="37" name="Object5">
            <a:extLst>
              <a:ext uri="{FF2B5EF4-FFF2-40B4-BE49-F238E27FC236}">
                <a16:creationId xmlns:a16="http://schemas.microsoft.com/office/drawing/2014/main" id="{D1A673E3-06E0-20E6-83C2-4D67DEFF27E3}"/>
              </a:ext>
            </a:extLst>
          </p:cNvPr>
          <p:cNvSpPr/>
          <p:nvPr/>
        </p:nvSpPr>
        <p:spPr>
          <a:xfrm>
            <a:off x="5561331" y="5566052"/>
            <a:ext cx="726273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A Large Workforce Of Insurance Advisors And Other Channel Intermediaries</a:t>
            </a:r>
          </a:p>
        </p:txBody>
      </p:sp>
    </p:spTree>
    <p:extLst>
      <p:ext uri="{BB962C8B-B14F-4D97-AF65-F5344CB8AC3E}">
        <p14:creationId xmlns:p14="http://schemas.microsoft.com/office/powerpoint/2010/main" val="489556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5535914" y="9463501"/>
            <a:ext cx="10913684" cy="720002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0473" y="235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457223"/>
            <a:endParaRPr lang="en-US" sz="2000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457223"/>
            <a:r>
              <a:rPr lang="en-US" sz="2000" dirty="0">
                <a:solidFill>
                  <a:srgbClr val="811717"/>
                </a:solidFill>
                <a:latin typeface="Montserrat SemiBold" pitchFamily="2" charset="0"/>
              </a:rPr>
              <a:t>Challenge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Barriers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Framework 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2000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8" name="Object4">
            <a:extLst>
              <a:ext uri="{FF2B5EF4-FFF2-40B4-BE49-F238E27FC236}">
                <a16:creationId xmlns:a16="http://schemas.microsoft.com/office/drawing/2014/main" id="{2F56AE42-39CB-B537-760E-303F926E7512}"/>
              </a:ext>
            </a:extLst>
          </p:cNvPr>
          <p:cNvSpPr/>
          <p:nvPr/>
        </p:nvSpPr>
        <p:spPr>
          <a:xfrm>
            <a:off x="5535912" y="3703500"/>
            <a:ext cx="9008088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4001" b="1" dirty="0">
                <a:solidFill>
                  <a:srgbClr val="FF3131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Customer engagement, retention and growth</a:t>
            </a:r>
          </a:p>
        </p:txBody>
      </p:sp>
      <p:sp>
        <p:nvSpPr>
          <p:cNvPr id="19" name="Object5">
            <a:extLst>
              <a:ext uri="{FF2B5EF4-FFF2-40B4-BE49-F238E27FC236}">
                <a16:creationId xmlns:a16="http://schemas.microsoft.com/office/drawing/2014/main" id="{A0F99477-C5D6-0452-07F2-AC3B186E7605}"/>
              </a:ext>
            </a:extLst>
          </p:cNvPr>
          <p:cNvSpPr/>
          <p:nvPr/>
        </p:nvSpPr>
        <p:spPr>
          <a:xfrm>
            <a:off x="5535912" y="5368500"/>
            <a:ext cx="11384952" cy="3375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Majority of the customers do not see the relevance of an insurance app, unclear on what the benefits are and therefore averse to downloading the app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More than 63% of customers are not aware or not comfortable with digital payment gateways for insurance related transactions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Lack of information about insurance as a product category &amp; financial instrument 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457223"/>
            <a:endParaRPr lang="en-US" sz="24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457223"/>
            <a:endParaRPr lang="en-US" sz="24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457223"/>
            <a:endParaRPr lang="en-US" sz="24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457223"/>
            <a:endParaRPr lang="en-US" sz="24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EDF7AD-76FC-8BB5-EF96-0B1481E6C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000" y="0"/>
            <a:ext cx="3780000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9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0473" y="235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457223"/>
            <a:endParaRPr lang="en-US" sz="2000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rgbClr val="7030A0"/>
                </a:solidFill>
                <a:latin typeface="Montserrat SemiBold" pitchFamily="2" charset="0"/>
              </a:rPr>
              <a:t>What We Did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Barriers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Framework 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2000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9" name="Object5">
            <a:extLst>
              <a:ext uri="{FF2B5EF4-FFF2-40B4-BE49-F238E27FC236}">
                <a16:creationId xmlns:a16="http://schemas.microsoft.com/office/drawing/2014/main" id="{A0F99477-C5D6-0452-07F2-AC3B186E7605}"/>
              </a:ext>
            </a:extLst>
          </p:cNvPr>
          <p:cNvSpPr/>
          <p:nvPr/>
        </p:nvSpPr>
        <p:spPr>
          <a:xfrm>
            <a:off x="5623688" y="4423500"/>
            <a:ext cx="10808088" cy="330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4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engagement with Insurance</a:t>
            </a:r>
          </a:p>
          <a:p>
            <a:pPr defTabSz="457223"/>
            <a:r>
              <a:rPr lang="en-US" sz="24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	Emotions and attitudes associated with the product category 	&amp; their impact on customer </a:t>
            </a:r>
            <a:r>
              <a:rPr lang="en-US" sz="2400" dirty="0" err="1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behaviour</a:t>
            </a:r>
            <a:endParaRPr lang="en-US" sz="24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457223"/>
            <a:endParaRPr lang="en-US" sz="24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457223"/>
            <a:r>
              <a:rPr lang="en-US" sz="24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engagement with an app exclusively for insurance</a:t>
            </a:r>
          </a:p>
          <a:p>
            <a:pPr marL="685800" lvl="1" defTabSz="457223"/>
            <a:r>
              <a:rPr lang="en-US" sz="24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Emotions and attitudes associated with the brand, product &amp; touchpoints &amp; their impact on customer </a:t>
            </a:r>
            <a:r>
              <a:rPr lang="en-US" sz="2400" dirty="0" err="1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behaviour</a:t>
            </a:r>
            <a:endParaRPr lang="en-US" sz="24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457223"/>
            <a:endParaRPr lang="en-US" sz="24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457223"/>
            <a:r>
              <a:rPr lang="en-US" sz="24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engagement with the Brand</a:t>
            </a:r>
          </a:p>
          <a:p>
            <a:pPr marL="685800" lvl="1" defTabSz="457223"/>
            <a:r>
              <a:rPr lang="en-US" sz="24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Emotions and attitudes associated with the brand, product &amp; touchpoints &amp; their impact on customer </a:t>
            </a:r>
            <a:r>
              <a:rPr lang="en-US" sz="2400" dirty="0" err="1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behaviour</a:t>
            </a:r>
            <a:endParaRPr lang="en-US" sz="24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457223"/>
            <a:endParaRPr lang="en-US" sz="24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457223"/>
            <a:endParaRPr lang="en-US" sz="24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5623688" y="9571085"/>
            <a:ext cx="10900313" cy="478674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BAB39F1-A8DD-9C63-5DF3-E65646477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00" y="233661"/>
            <a:ext cx="3420000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9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0473" y="235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457223"/>
            <a:endParaRPr lang="en-US" sz="2000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rgbClr val="7030A0"/>
                </a:solidFill>
                <a:latin typeface="Montserrat SemiBold" pitchFamily="2" charset="0"/>
              </a:rPr>
              <a:t>What We Did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Barriers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Framework 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2000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5623688" y="9571085"/>
            <a:ext cx="10900313" cy="478674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BAB39F1-A8DD-9C63-5DF3-E65646477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00" y="117546"/>
            <a:ext cx="3420000" cy="3420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76901C9-BC0B-BF22-EA0F-51CFC7FB1766}"/>
              </a:ext>
            </a:extLst>
          </p:cNvPr>
          <p:cNvGrpSpPr/>
          <p:nvPr/>
        </p:nvGrpSpPr>
        <p:grpSpPr>
          <a:xfrm>
            <a:off x="4811158" y="781406"/>
            <a:ext cx="12501812" cy="8985550"/>
            <a:chOff x="2891767" y="838200"/>
            <a:chExt cx="17983858" cy="1332116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65848F4-4F4E-31A8-B823-C83D81921DA2}"/>
                </a:ext>
              </a:extLst>
            </p:cNvPr>
            <p:cNvSpPr/>
            <p:nvPr/>
          </p:nvSpPr>
          <p:spPr>
            <a:xfrm flipH="1">
              <a:off x="9516021" y="4578911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23"/>
              <a:endParaRPr lang="ru-RU" sz="2599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0080B20-3A70-CADE-B6B5-8A8F94B12E0E}"/>
                </a:ext>
              </a:extLst>
            </p:cNvPr>
            <p:cNvCxnSpPr>
              <a:cxnSpLocks/>
            </p:cNvCxnSpPr>
            <p:nvPr/>
          </p:nvCxnSpPr>
          <p:spPr>
            <a:xfrm>
              <a:off x="3151388" y="6324600"/>
              <a:ext cx="7955022" cy="0"/>
            </a:xfrm>
            <a:prstGeom prst="line">
              <a:avLst/>
            </a:prstGeom>
            <a:ln w="63500">
              <a:solidFill>
                <a:srgbClr val="3C7E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32947D-4C85-3162-7BF2-2856CA950EBC}"/>
                </a:ext>
              </a:extLst>
            </p:cNvPr>
            <p:cNvSpPr/>
            <p:nvPr/>
          </p:nvSpPr>
          <p:spPr>
            <a:xfrm>
              <a:off x="9536144" y="8340321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23"/>
              <a:endParaRPr lang="ru-RU" sz="2599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D09D019-7C8C-0E5B-545C-5549097F9757}"/>
                </a:ext>
              </a:extLst>
            </p:cNvPr>
            <p:cNvSpPr/>
            <p:nvPr/>
          </p:nvSpPr>
          <p:spPr>
            <a:xfrm>
              <a:off x="9536144" y="838200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23"/>
              <a:endParaRPr lang="ru-RU" sz="2599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F4B76B-750D-9F08-D1B1-DDD7C58C4B4C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203" y="9996622"/>
              <a:ext cx="7955022" cy="0"/>
            </a:xfrm>
            <a:prstGeom prst="line">
              <a:avLst/>
            </a:prstGeom>
            <a:ln w="635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CB6794E-D0B6-0318-281B-1900A6835191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203" y="2376622"/>
              <a:ext cx="7955022" cy="0"/>
            </a:xfrm>
            <a:prstGeom prst="line">
              <a:avLst/>
            </a:prstGeom>
            <a:ln w="63500">
              <a:solidFill>
                <a:srgbClr val="FF36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DF5DF05-39C7-F9AD-2409-B7C5D0833C05}"/>
                </a:ext>
              </a:extLst>
            </p:cNvPr>
            <p:cNvSpPr/>
            <p:nvPr/>
          </p:nvSpPr>
          <p:spPr>
            <a:xfrm>
              <a:off x="9536144" y="838200"/>
              <a:ext cx="2271103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FF36B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23"/>
              <a:endParaRPr lang="ru-RU" sz="2599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658E3D6-58F4-5D47-D093-8C7B0477C4EC}"/>
                </a:ext>
              </a:extLst>
            </p:cNvPr>
            <p:cNvSpPr/>
            <p:nvPr/>
          </p:nvSpPr>
          <p:spPr>
            <a:xfrm flipH="1">
              <a:off x="11808403" y="4578911"/>
              <a:ext cx="2271104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3C7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23"/>
              <a:endParaRPr lang="ru-RU" sz="2599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20EE116-76D0-D987-0A50-9CC8EAC61194}"/>
                </a:ext>
              </a:extLst>
            </p:cNvPr>
            <p:cNvSpPr/>
            <p:nvPr/>
          </p:nvSpPr>
          <p:spPr>
            <a:xfrm>
              <a:off x="10338221" y="1640277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23"/>
              <a:endParaRPr lang="ru-RU" sz="2599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11BE66-E4AD-8DCF-6172-1E1F00CC861D}"/>
                </a:ext>
              </a:extLst>
            </p:cNvPr>
            <p:cNvSpPr/>
            <p:nvPr/>
          </p:nvSpPr>
          <p:spPr>
            <a:xfrm>
              <a:off x="9536144" y="8340321"/>
              <a:ext cx="2271104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23"/>
              <a:endParaRPr lang="ru-RU" sz="2599" dirty="0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90EEE64-7123-37BB-830B-1E8F88D1F0D9}"/>
                </a:ext>
              </a:extLst>
            </p:cNvPr>
            <p:cNvSpPr/>
            <p:nvPr/>
          </p:nvSpPr>
          <p:spPr>
            <a:xfrm>
              <a:off x="10338221" y="9142399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23"/>
              <a:endParaRPr lang="ru-RU" sz="2599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7F6E0B2-FFA3-00D2-4056-B7C3D3086BB6}"/>
                </a:ext>
              </a:extLst>
            </p:cNvPr>
            <p:cNvSpPr/>
            <p:nvPr/>
          </p:nvSpPr>
          <p:spPr>
            <a:xfrm flipH="1">
              <a:off x="10338221" y="5380988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23"/>
              <a:endParaRPr lang="ru-RU" sz="2599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8445061-807C-93A5-DD53-AA2A59A74014}"/>
                </a:ext>
              </a:extLst>
            </p:cNvPr>
            <p:cNvSpPr txBox="1"/>
            <p:nvPr/>
          </p:nvSpPr>
          <p:spPr>
            <a:xfrm>
              <a:off x="10953215" y="2863947"/>
              <a:ext cx="1860778" cy="664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827305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599" b="1" spc="6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CC637C-1569-637D-6418-2BE0D8D036EE}"/>
                </a:ext>
              </a:extLst>
            </p:cNvPr>
            <p:cNvSpPr txBox="1"/>
            <p:nvPr/>
          </p:nvSpPr>
          <p:spPr>
            <a:xfrm>
              <a:off x="10907423" y="6529365"/>
              <a:ext cx="1860778" cy="664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827305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599" b="1" spc="6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C31503-EA68-A9E4-D211-8FA7C67A7EB6}"/>
                </a:ext>
              </a:extLst>
            </p:cNvPr>
            <p:cNvSpPr txBox="1"/>
            <p:nvPr/>
          </p:nvSpPr>
          <p:spPr>
            <a:xfrm>
              <a:off x="10907423" y="10301265"/>
              <a:ext cx="1860778" cy="664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827305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599" b="1" spc="6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9E148A-5EBB-2782-0A69-932B340A96F9}"/>
                </a:ext>
              </a:extLst>
            </p:cNvPr>
            <p:cNvSpPr txBox="1"/>
            <p:nvPr/>
          </p:nvSpPr>
          <p:spPr>
            <a:xfrm>
              <a:off x="2891767" y="6915268"/>
              <a:ext cx="6664499" cy="3535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23">
                <a:lnSpc>
                  <a:spcPct val="150000"/>
                </a:lnSpc>
                <a:spcBef>
                  <a:spcPts val="2400"/>
                </a:spcBef>
              </a:pPr>
              <a:r>
                <a:rPr lang="en-US" sz="2801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Phenomenological in depth interactions for episodic recall.</a:t>
              </a:r>
            </a:p>
            <a:p>
              <a:pPr defTabSz="457223">
                <a:lnSpc>
                  <a:spcPct val="150000"/>
                </a:lnSpc>
                <a:spcBef>
                  <a:spcPts val="2400"/>
                </a:spcBef>
              </a:pPr>
              <a:r>
                <a:rPr lang="en-US" sz="2801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One-on-One in-depth interactions, </a:t>
              </a:r>
            </a:p>
            <a:p>
              <a:pPr defTabSz="457223">
                <a:lnSpc>
                  <a:spcPct val="150000"/>
                </a:lnSpc>
                <a:spcBef>
                  <a:spcPts val="2400"/>
                </a:spcBef>
              </a:pPr>
              <a:r>
                <a:rPr lang="en-US" sz="2801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50 hours of interview transcripts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6E872C-84C9-BBC5-5863-AD745A6ED0C6}"/>
                </a:ext>
              </a:extLst>
            </p:cNvPr>
            <p:cNvSpPr txBox="1"/>
            <p:nvPr/>
          </p:nvSpPr>
          <p:spPr>
            <a:xfrm>
              <a:off x="2981562" y="5355742"/>
              <a:ext cx="5293665" cy="664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23">
                <a:lnSpc>
                  <a:spcPct val="150000"/>
                </a:lnSpc>
              </a:pPr>
              <a:r>
                <a:rPr lang="en-US" sz="2599" b="1" baseline="30000" dirty="0">
                  <a:solidFill>
                    <a:srgbClr val="3C7EFF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Qualitative Insights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17F3B5-3DF8-E2A0-D701-A7927DD1A407}"/>
                </a:ext>
              </a:extLst>
            </p:cNvPr>
            <p:cNvSpPr txBox="1"/>
            <p:nvPr/>
          </p:nvSpPr>
          <p:spPr>
            <a:xfrm>
              <a:off x="14941402" y="2925611"/>
              <a:ext cx="5934223" cy="18011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23">
                <a:lnSpc>
                  <a:spcPct val="150000"/>
                </a:lnSpc>
                <a:spcBef>
                  <a:spcPts val="2400"/>
                </a:spcBef>
              </a:pPr>
              <a:r>
                <a:rPr lang="en-US" sz="2801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2 lakh+ Records –</a:t>
              </a:r>
            </a:p>
            <a:p>
              <a:pPr defTabSz="457223">
                <a:lnSpc>
                  <a:spcPct val="150000"/>
                </a:lnSpc>
                <a:spcBef>
                  <a:spcPts val="2400"/>
                </a:spcBef>
              </a:pPr>
              <a:r>
                <a:rPr lang="en-US" sz="2801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3 Years Time Span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356F9E-49CE-2C29-AADC-1470A776DC2D}"/>
                </a:ext>
              </a:extLst>
            </p:cNvPr>
            <p:cNvSpPr txBox="1"/>
            <p:nvPr/>
          </p:nvSpPr>
          <p:spPr>
            <a:xfrm>
              <a:off x="14941402" y="10440953"/>
              <a:ext cx="5934223" cy="371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23">
                <a:lnSpc>
                  <a:spcPct val="150000"/>
                </a:lnSpc>
                <a:spcBef>
                  <a:spcPts val="2400"/>
                </a:spcBef>
              </a:pPr>
              <a:r>
                <a:rPr lang="en-US" sz="2801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Released to all the customer</a:t>
              </a:r>
            </a:p>
            <a:p>
              <a:pPr defTabSz="457223">
                <a:lnSpc>
                  <a:spcPct val="150000"/>
                </a:lnSpc>
                <a:spcBef>
                  <a:spcPts val="2400"/>
                </a:spcBef>
              </a:pPr>
              <a:r>
                <a:rPr lang="en-US" sz="2801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online studies testing: Trustworthiness, Touch Points Interaction Friction, Redemption Insights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D17DFE-BFC2-7D88-858C-A5776DBA61A6}"/>
                </a:ext>
              </a:extLst>
            </p:cNvPr>
            <p:cNvSpPr txBox="1"/>
            <p:nvPr/>
          </p:nvSpPr>
          <p:spPr>
            <a:xfrm>
              <a:off x="16149416" y="1475561"/>
              <a:ext cx="4726209" cy="664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223">
                <a:lnSpc>
                  <a:spcPct val="150000"/>
                </a:lnSpc>
              </a:pPr>
              <a:r>
                <a:rPr lang="en-US" sz="2599" b="1" baseline="30000" dirty="0">
                  <a:solidFill>
                    <a:srgbClr val="FF36BB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Quantitative Insights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16DEAC-C186-7B73-480D-0F7BC12678DF}"/>
                </a:ext>
              </a:extLst>
            </p:cNvPr>
            <p:cNvSpPr txBox="1"/>
            <p:nvPr/>
          </p:nvSpPr>
          <p:spPr>
            <a:xfrm>
              <a:off x="15913397" y="8018336"/>
              <a:ext cx="4726209" cy="1850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223">
                <a:lnSpc>
                  <a:spcPct val="150000"/>
                </a:lnSpc>
              </a:pPr>
              <a:r>
                <a:rPr lang="en-US" sz="2599" b="1" baseline="30000" dirty="0">
                  <a:solidFill>
                    <a:srgbClr val="7030A0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Consumer Neuroscience Based Widespan Assessment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2209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 Medium" pitchFamily="2" charset="0"/>
                  <a:ea typeface="+mj-ea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0472" y="2353500"/>
            <a:ext cx="2869757" cy="6141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457223"/>
            <a:endParaRPr lang="en-US" sz="2000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What We Did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rgbClr val="3C2472"/>
                </a:solidFill>
                <a:latin typeface="Montserrat SemiBold" pitchFamily="2" charset="0"/>
              </a:rPr>
              <a:t>Barriers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Framework 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2000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5535913" y="4063500"/>
            <a:ext cx="11528088" cy="359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Customers have the perception that life insurance is relevant only during premium payments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Lack of goal-relevance and self-relevance with a life insurance app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Lack of motivation to explore the app due product category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Primed by cross-functional expectations that the insurance app will not be useful as compared to a banking, shopping or other frequently used apps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C415FCF-6ED3-9E9B-6CDB-2E09F3FD49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89"/>
          <a:stretch/>
        </p:blipFill>
        <p:spPr>
          <a:xfrm>
            <a:off x="4658710" y="103499"/>
            <a:ext cx="3248088" cy="264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0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3C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3680A6-6DDB-DA51-00FF-983B4F82D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6809" y="1"/>
            <a:ext cx="4501191" cy="10259858"/>
          </a:xfrm>
          <a:prstGeom prst="rect">
            <a:avLst/>
          </a:prstGeom>
        </p:spPr>
      </p:pic>
      <p:sp>
        <p:nvSpPr>
          <p:cNvPr id="5" name="Object6">
            <a:extLst>
              <a:ext uri="{FF2B5EF4-FFF2-40B4-BE49-F238E27FC236}">
                <a16:creationId xmlns:a16="http://schemas.microsoft.com/office/drawing/2014/main" id="{3E0BAEEE-A595-D314-E921-60B7FA4811A8}"/>
              </a:ext>
            </a:extLst>
          </p:cNvPr>
          <p:cNvSpPr/>
          <p:nvPr/>
        </p:nvSpPr>
        <p:spPr>
          <a:xfrm>
            <a:off x="1224000" y="5863500"/>
            <a:ext cx="8568072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457223">
              <a:defRPr/>
            </a:pPr>
            <a:endParaRPr lang="en-US" sz="3600" dirty="0">
              <a:solidFill>
                <a:srgbClr val="F5F3E4"/>
              </a:solidFill>
              <a:latin typeface="Hepta Slab Regular" pitchFamily="2" charset="0"/>
              <a:cs typeface="Hepta Slab Regular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905B95-5EA2-CFE1-E38B-4E69AFD2BC61}"/>
              </a:ext>
            </a:extLst>
          </p:cNvPr>
          <p:cNvGrpSpPr/>
          <p:nvPr/>
        </p:nvGrpSpPr>
        <p:grpSpPr>
          <a:xfrm>
            <a:off x="-172482" y="9184075"/>
            <a:ext cx="17880923" cy="1393724"/>
            <a:chOff x="-172482" y="9184073"/>
            <a:chExt cx="17880922" cy="139372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14453AC-FF3B-46C9-7C95-D93605B4C661}"/>
                </a:ext>
              </a:extLst>
            </p:cNvPr>
            <p:cNvSpPr txBox="1">
              <a:spLocks/>
            </p:cNvSpPr>
            <p:nvPr/>
          </p:nvSpPr>
          <p:spPr>
            <a:xfrm>
              <a:off x="5573950" y="9781058"/>
              <a:ext cx="7032234" cy="295206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914445">
                <a:defRPr/>
              </a:pPr>
              <a:r>
                <a:rPr lang="en-IN" sz="1601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 ©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9FDB63-50D1-8247-6623-2E5C85689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D4B987-A66D-E3E4-AF4A-EB86C9C39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  <p:sp>
        <p:nvSpPr>
          <p:cNvPr id="3" name="Text 1">
            <a:extLst>
              <a:ext uri="{FF2B5EF4-FFF2-40B4-BE49-F238E27FC236}">
                <a16:creationId xmlns:a16="http://schemas.microsoft.com/office/drawing/2014/main" id="{1EB85E15-DAE4-3E7C-446D-74978C7B6603}"/>
              </a:ext>
            </a:extLst>
          </p:cNvPr>
          <p:cNvSpPr/>
          <p:nvPr/>
        </p:nvSpPr>
        <p:spPr>
          <a:xfrm>
            <a:off x="1044000" y="3317150"/>
            <a:ext cx="771525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825"/>
              </a:lnSpc>
            </a:pPr>
            <a:r>
              <a:rPr lang="en-US" sz="3150" b="0" i="0" kern="0" spc="-75" dirty="0" err="1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Behaviour</a:t>
            </a:r>
            <a:r>
              <a:rPr lang="en-US" sz="3150" b="0" i="0" kern="0" spc="-75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Science Led Communication</a:t>
            </a:r>
            <a:endParaRPr lang="en-US" sz="31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8B12BE4-3CC8-6F87-6538-4802BE60B6FE}"/>
              </a:ext>
            </a:extLst>
          </p:cNvPr>
          <p:cNvSpPr/>
          <p:nvPr/>
        </p:nvSpPr>
        <p:spPr>
          <a:xfrm>
            <a:off x="1044000" y="5050700"/>
            <a:ext cx="7820025" cy="1590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550"/>
              </a:lnSpc>
            </a:pPr>
            <a:r>
              <a:rPr lang="en-US" sz="2400" b="0" i="0" kern="0" spc="-75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 is a ready-to-go behaviour science-based platform. The art of communication infused with the magic of behaviour science. Understand behaviours to strike the right chord, shift behaviours and deliver impact.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011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0473" y="235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457223"/>
            <a:endParaRPr lang="en-US" sz="2000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What We Did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Barriers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rgbClr val="7030A0"/>
                </a:solidFill>
                <a:latin typeface="Montserrat SemiBold" pitchFamily="2" charset="0"/>
              </a:rPr>
              <a:t>Framework</a:t>
            </a:r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2000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5535914" y="1723500"/>
            <a:ext cx="10913684" cy="5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Solutioning Framework: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Relevant and timely nudges in the communication about the app to drive customer </a:t>
            </a:r>
            <a:r>
              <a:rPr lang="en-US" sz="2400" dirty="0" err="1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behaviour</a:t>
            </a:r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 shifts (EAST* framework for </a:t>
            </a:r>
            <a:r>
              <a:rPr lang="en-US" sz="2400" dirty="0" err="1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behaviour</a:t>
            </a:r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 shifts)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EASY: 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Make it hassle-free, intuitive and low effort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ATTRACTIVE: 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Attract attention, incentivize, reward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SOCIAL: 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Show that most people perform the desired</a:t>
            </a:r>
          </a:p>
          <a:p>
            <a:pPr defTabSz="457223"/>
            <a:r>
              <a:rPr lang="en-US" sz="2400" dirty="0" err="1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behaviour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. Use the power of social communities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TIMELY: 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Demonstrate immediate costs and benefits.</a:t>
            </a: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Prompt when customers are most receptive to</a:t>
            </a:r>
          </a:p>
          <a:p>
            <a:pPr defTabSz="457223"/>
            <a:r>
              <a:rPr lang="en-US" sz="2400" dirty="0" err="1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behaviour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 change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4" y="9463501"/>
            <a:ext cx="10913684" cy="720002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734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0473" y="235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457223"/>
            <a:endParaRPr lang="en-US" sz="2000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What We Did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Barriers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rgbClr val="7030A0"/>
                </a:solidFill>
                <a:latin typeface="Montserrat SemiBold" pitchFamily="2" charset="0"/>
              </a:rPr>
              <a:t>Framework</a:t>
            </a:r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2000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5399474" y="3066092"/>
            <a:ext cx="12024526" cy="5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STEPPS* Framework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Social Currency: 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People share things that make them look good or exclusive. 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" pitchFamily="2" charset="0"/>
              <a:ea typeface="Hepta Slab Regular" pitchFamily="34" charset="-122"/>
              <a:cs typeface="Hepta Slab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Triggers: 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External cues prompt people to talk about certain topics. 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" pitchFamily="2" charset="0"/>
              <a:ea typeface="Hepta Slab Regular" pitchFamily="34" charset="-122"/>
              <a:cs typeface="Hepta Slab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Emotion: 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Strong emotions, positive or negative, make content more shareable. 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" pitchFamily="2" charset="0"/>
              <a:ea typeface="Hepta Slab Regular" pitchFamily="34" charset="-122"/>
              <a:cs typeface="Hepta Slab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Public: 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Observable behaviors encourage others to imitate. 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" pitchFamily="2" charset="0"/>
              <a:ea typeface="Hepta Slab Regular" pitchFamily="34" charset="-122"/>
              <a:cs typeface="Hepta Slab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Practical Value: 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Useful information gets shared to help others.</a:t>
            </a:r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 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Stories: 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Relatable narratives stick and are easily shared.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" pitchFamily="2" charset="0"/>
              <a:ea typeface="Hepta Slab Regular" pitchFamily="34" charset="-122"/>
              <a:cs typeface="Hepta Slab" pitchFamily="2" charset="0"/>
            </a:endParaRPr>
          </a:p>
          <a:p>
            <a:pPr defTabSz="457223"/>
            <a:endParaRPr lang="en-US" sz="2400" dirty="0">
              <a:solidFill>
                <a:srgbClr val="F5F3E4"/>
              </a:solidFill>
              <a:latin typeface="Hepta Slab" pitchFamily="2" charset="0"/>
              <a:ea typeface="Hepta Slab Regular" pitchFamily="34" charset="-122"/>
              <a:cs typeface="Hepta Slab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4" y="9463501"/>
            <a:ext cx="10913684" cy="720002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pic>
        <p:nvPicPr>
          <p:cNvPr id="4" name="Picture 3" descr="A fingerprint with a smiley face&#10;&#10;Description automatically generated">
            <a:extLst>
              <a:ext uri="{FF2B5EF4-FFF2-40B4-BE49-F238E27FC236}">
                <a16:creationId xmlns:a16="http://schemas.microsoft.com/office/drawing/2014/main" id="{0FDC31E6-7500-3A4C-4396-DDB435B71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000" y="283500"/>
            <a:ext cx="1689386" cy="2432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1B0197-4305-1DF3-9004-56ECDFA0CDF9}"/>
              </a:ext>
            </a:extLst>
          </p:cNvPr>
          <p:cNvSpPr txBox="1"/>
          <p:nvPr/>
        </p:nvSpPr>
        <p:spPr>
          <a:xfrm>
            <a:off x="5346702" y="8860796"/>
            <a:ext cx="1981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Montserrat" pitchFamily="2" charset="0"/>
              </a:rPr>
              <a:t>*Jonah Berger, 2013.</a:t>
            </a:r>
          </a:p>
        </p:txBody>
      </p:sp>
    </p:spTree>
    <p:extLst>
      <p:ext uri="{BB962C8B-B14F-4D97-AF65-F5344CB8AC3E}">
        <p14:creationId xmlns:p14="http://schemas.microsoft.com/office/powerpoint/2010/main" val="3706509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7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1DB550-F1ED-303D-9DC0-540691ED0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002" y="-50623"/>
            <a:ext cx="3639365" cy="36393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0473" y="235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457223"/>
            <a:endParaRPr lang="en-US" sz="2000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What We Did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Barriers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Framework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rgbClr val="817617"/>
                </a:solidFill>
                <a:latin typeface="Montserrat SemiBold" pitchFamily="2" charset="0"/>
              </a:rPr>
              <a:t>Solutions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2000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5535914" y="3524928"/>
            <a:ext cx="11545289" cy="5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Self-Relevance &amp; Goal-Relevance to drive registration and usage of the app: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Creating messaging with emphasis on Safety, Convenience, Value Addition and Educational Content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" pitchFamily="2" charset="0"/>
              <a:ea typeface="Hepta Slab Regular" pitchFamily="34" charset="-122"/>
              <a:cs typeface="Hepta Slab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Removing Perceived Friction about insurance app surrounding safety and benefits: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Awareness campaigns around individual benefits of the app for </a:t>
            </a:r>
            <a:r>
              <a:rPr lang="en-US" sz="2400" dirty="0" err="1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e.g</a:t>
            </a:r>
            <a:r>
              <a:rPr lang="en-US" sz="2400" dirty="0">
                <a:solidFill>
                  <a:srgbClr val="F5F3E4"/>
                </a:solidFill>
                <a:latin typeface="Hepta Slab" pitchFamily="2" charset="0"/>
                <a:ea typeface="Hepta Slab Regular" pitchFamily="34" charset="-122"/>
                <a:cs typeface="Hepta Slab" pitchFamily="2" charset="0"/>
              </a:rPr>
              <a:t> updating personal details with emphasis on safety 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defTabSz="457223"/>
            <a:r>
              <a:rPr lang="en-US" sz="24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App recommendation through branch and website touchpoints</a:t>
            </a:r>
          </a:p>
          <a:p>
            <a:pPr defTabSz="457223"/>
            <a:endParaRPr lang="en-US" sz="2400" dirty="0">
              <a:solidFill>
                <a:srgbClr val="F5F3E4"/>
              </a:solidFill>
              <a:latin typeface="Hepta Slab" pitchFamily="2" charset="0"/>
              <a:ea typeface="Hepta Slab Regular" pitchFamily="34" charset="-122"/>
              <a:cs typeface="Hepta Slab" pitchFamily="2" charset="0"/>
            </a:endParaRPr>
          </a:p>
          <a:p>
            <a:pPr defTabSz="457223"/>
            <a:endParaRPr lang="en-US" sz="2400" dirty="0">
              <a:solidFill>
                <a:srgbClr val="F5F3E4"/>
              </a:solidFill>
              <a:latin typeface="Hepta Slab" pitchFamily="2" charset="0"/>
              <a:ea typeface="Hepta Slab Regular" pitchFamily="34" charset="-122"/>
              <a:cs typeface="Hepta Slab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4" y="9463501"/>
            <a:ext cx="10913684" cy="720002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3907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0473" y="2353500"/>
            <a:ext cx="2869757" cy="6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457223"/>
            <a:endParaRPr lang="en-US" sz="2000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What We Did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Barriers</a:t>
            </a:r>
          </a:p>
          <a:p>
            <a:pPr defTabSz="457223"/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Framework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457223"/>
            <a:r>
              <a:rPr lang="en-US" sz="2000" dirty="0">
                <a:solidFill>
                  <a:srgbClr val="7030A0"/>
                </a:solidFill>
                <a:latin typeface="Montserrat SemiBold" pitchFamily="2" charset="0"/>
              </a:rPr>
              <a:t>Business Outcomes</a:t>
            </a:r>
          </a:p>
          <a:p>
            <a:pPr defTabSz="457223"/>
            <a:endParaRPr lang="en-US" sz="2000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5" name="Object4">
            <a:extLst>
              <a:ext uri="{FF2B5EF4-FFF2-40B4-BE49-F238E27FC236}">
                <a16:creationId xmlns:a16="http://schemas.microsoft.com/office/drawing/2014/main" id="{905BF8BE-E126-A81E-05B2-03B371733F08}"/>
              </a:ext>
            </a:extLst>
          </p:cNvPr>
          <p:cNvSpPr/>
          <p:nvPr/>
        </p:nvSpPr>
        <p:spPr>
          <a:xfrm>
            <a:off x="5633611" y="4171392"/>
            <a:ext cx="12241616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200000"/>
              </a:lnSpc>
            </a:pPr>
            <a:r>
              <a:rPr lang="en-IN" sz="24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24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Increased App Registrations</a:t>
            </a:r>
          </a:p>
          <a:p>
            <a:pPr defTabSz="457223">
              <a:lnSpc>
                <a:spcPct val="200000"/>
              </a:lnSpc>
            </a:pPr>
            <a:r>
              <a:rPr lang="en-IN" sz="24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24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Increased App Usage</a:t>
            </a:r>
          </a:p>
          <a:p>
            <a:pPr defTabSz="457223">
              <a:lnSpc>
                <a:spcPct val="200000"/>
              </a:lnSpc>
            </a:pPr>
            <a:r>
              <a:rPr lang="en-IN" sz="24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⬇</a:t>
            </a:r>
            <a:r>
              <a:rPr lang="en-US" sz="24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Reduced Cost of Service</a:t>
            </a:r>
          </a:p>
          <a:p>
            <a:pPr defTabSz="457223">
              <a:lnSpc>
                <a:spcPct val="200000"/>
              </a:lnSpc>
            </a:pPr>
            <a:r>
              <a:rPr lang="en-IN" sz="24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24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Enhanced Customer Connect and </a:t>
            </a:r>
            <a:r>
              <a:rPr lang="en-US" sz="2400" dirty="0" err="1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Contactability</a:t>
            </a:r>
            <a:endParaRPr lang="en-US" sz="24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  <a:p>
            <a:pPr defTabSz="457223">
              <a:lnSpc>
                <a:spcPct val="200000"/>
              </a:lnSpc>
            </a:pPr>
            <a:endParaRPr lang="en-US" sz="24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  <a:p>
            <a:pPr defTabSz="457223">
              <a:lnSpc>
                <a:spcPct val="200000"/>
              </a:lnSpc>
            </a:pPr>
            <a:endParaRPr lang="en-US" sz="24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693E3A-0875-8DFA-B1D5-9E79C03643C1}"/>
              </a:ext>
            </a:extLst>
          </p:cNvPr>
          <p:cNvGrpSpPr/>
          <p:nvPr/>
        </p:nvGrpSpPr>
        <p:grpSpPr>
          <a:xfrm>
            <a:off x="5535914" y="9463501"/>
            <a:ext cx="10913684" cy="720002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B34A65A-FF03-3C15-5691-2B5F5EF58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382DA11-7442-5E5E-B45F-429A69B40B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2616B91C-32F4-0482-816C-B938FFE039BE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EF26FDB-CE8B-1D2B-E3A3-91334D8D63D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65" r="1717" b="24319"/>
          <a:stretch/>
        </p:blipFill>
        <p:spPr>
          <a:xfrm>
            <a:off x="5399474" y="339800"/>
            <a:ext cx="4284527" cy="246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36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96000" cy="4886325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0"/>
            <a:ext cx="6096000" cy="4886325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192000" y="0"/>
            <a:ext cx="6096000" cy="4886325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2562225" y="504825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45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India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5"/>
          <p:cNvSpPr/>
          <p:nvPr/>
        </p:nvSpPr>
        <p:spPr>
          <a:xfrm>
            <a:off x="8458200" y="504825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45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London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6"/>
          <p:cNvSpPr/>
          <p:nvPr/>
        </p:nvSpPr>
        <p:spPr>
          <a:xfrm>
            <a:off x="14258925" y="504825"/>
            <a:ext cx="1781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45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Bucharest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7">
            <a:extLst>
              <a:ext uri="{FF2B5EF4-FFF2-40B4-BE49-F238E27FC236}">
                <a16:creationId xmlns:a16="http://schemas.microsoft.com/office/drawing/2014/main" id="{249CC4A6-B0F3-F76D-3E62-0D6EDCBAECC0}"/>
              </a:ext>
            </a:extLst>
          </p:cNvPr>
          <p:cNvSpPr/>
          <p:nvPr/>
        </p:nvSpPr>
        <p:spPr>
          <a:xfrm>
            <a:off x="7847856" y="8563500"/>
            <a:ext cx="2592288" cy="54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solidFill>
                  <a:schemeClr val="bg1"/>
                </a:solidFill>
                <a:latin typeface="Montserrat SemiBold" pitchFamily="2" charset="0"/>
              </a:rPr>
              <a:t>www.terragni.in
www.buyerbrain.com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34475" y="2619375"/>
            <a:ext cx="9525" cy="504825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1695449" y="4572000"/>
            <a:ext cx="60217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Thank You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3"/>
          <p:cNvSpPr/>
          <p:nvPr/>
        </p:nvSpPr>
        <p:spPr>
          <a:xfrm>
            <a:off x="9991725" y="3939075"/>
            <a:ext cx="6819900" cy="240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dipti@terragni.in
+91 89569 82522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4831</TotalTime>
  <Words>889</Words>
  <Application>Microsoft Office PowerPoint</Application>
  <PresentationFormat>Custom</PresentationFormat>
  <Paragraphs>235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Montserrat</vt:lpstr>
      <vt:lpstr>Calibri</vt:lpstr>
      <vt:lpstr>Calibri Light</vt:lpstr>
      <vt:lpstr>Hepta Slab ExtraBold</vt:lpstr>
      <vt:lpstr>Montserrat SemiBold</vt:lpstr>
      <vt:lpstr>Arial</vt:lpstr>
      <vt:lpstr>Hepta Slab SemiBold</vt:lpstr>
      <vt:lpstr>Montserrat Medium</vt:lpstr>
      <vt:lpstr>Hepta Slab Regular</vt:lpstr>
      <vt:lpstr>Noto Emoji</vt:lpstr>
      <vt:lpstr>Hepta Slab Bold</vt:lpstr>
      <vt:lpstr>Hepta Slab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Dipti Sapatnekar</dc:creator>
  <cp:lastModifiedBy>Terragni Five</cp:lastModifiedBy>
  <cp:revision>123</cp:revision>
  <dcterms:created xsi:type="dcterms:W3CDTF">2022-04-12T06:14:32Z</dcterms:created>
  <dcterms:modified xsi:type="dcterms:W3CDTF">2023-08-25T12:56:32Z</dcterms:modified>
</cp:coreProperties>
</file>