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3" r:id="rId2"/>
  </p:sldMasterIdLst>
  <p:notesMasterIdLst>
    <p:notesMasterId r:id="rId16"/>
  </p:notesMasterIdLst>
  <p:sldIdLst>
    <p:sldId id="259" r:id="rId3"/>
    <p:sldId id="358" r:id="rId4"/>
    <p:sldId id="348" r:id="rId5"/>
    <p:sldId id="350" r:id="rId6"/>
    <p:sldId id="360" r:id="rId7"/>
    <p:sldId id="352" r:id="rId8"/>
    <p:sldId id="353" r:id="rId9"/>
    <p:sldId id="356" r:id="rId10"/>
    <p:sldId id="270" r:id="rId11"/>
    <p:sldId id="271" r:id="rId12"/>
    <p:sldId id="357" r:id="rId13"/>
    <p:sldId id="290" r:id="rId14"/>
    <p:sldId id="28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>
      <p:cViewPr varScale="1">
        <p:scale>
          <a:sx n="83" d="100"/>
          <a:sy n="83" d="100"/>
        </p:scale>
        <p:origin x="6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512F71-05AA-45B8-85BB-0379C0267FDB}" type="datetimeFigureOut">
              <a:rPr lang="en-IN" smtClean="0"/>
              <a:t>25-05-2023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92011D-FA4E-45A7-B6D7-D74C88C8ED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00228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23" indent="0" algn="ctr">
              <a:buNone/>
              <a:defRPr sz="2000"/>
            </a:lvl2pPr>
            <a:lvl3pPr marL="914446" indent="0" algn="ctr">
              <a:buNone/>
              <a:defRPr sz="1800"/>
            </a:lvl3pPr>
            <a:lvl4pPr marL="1371669" indent="0" algn="ctr">
              <a:buNone/>
              <a:defRPr sz="1600"/>
            </a:lvl4pPr>
            <a:lvl5pPr marL="1828891" indent="0" algn="ctr">
              <a:buNone/>
              <a:defRPr sz="1600"/>
            </a:lvl5pPr>
            <a:lvl6pPr marL="2286114" indent="0" algn="ctr">
              <a:buNone/>
              <a:defRPr sz="1600"/>
            </a:lvl6pPr>
            <a:lvl7pPr marL="2743337" indent="0" algn="ctr">
              <a:buNone/>
              <a:defRPr sz="1600"/>
            </a:lvl7pPr>
            <a:lvl8pPr marL="3200560" indent="0" algn="ctr">
              <a:buNone/>
              <a:defRPr sz="1600"/>
            </a:lvl8pPr>
            <a:lvl9pPr marL="3657783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BEA42-13E0-41FB-A68F-5FBD4A82D1C9}" type="datetimeFigureOut">
              <a:rPr lang="en-IN" smtClean="0"/>
              <a:t>25-05-2023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FEF3A-9EDB-45A3-8F8C-28BAE7165C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19903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BEA42-13E0-41FB-A68F-5FBD4A82D1C9}" type="datetimeFigureOut">
              <a:rPr lang="en-IN" smtClean="0"/>
              <a:t>25-05-2023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FEF3A-9EDB-45A3-8F8C-28BAE7165C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10232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23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46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6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9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11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33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56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78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BEA42-13E0-41FB-A68F-5FBD4A82D1C9}" type="datetimeFigureOut">
              <a:rPr lang="en-IN" smtClean="0"/>
              <a:t>25-05-2023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FEF3A-9EDB-45A3-8F8C-28BAE7165C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34034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6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6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BEA42-13E0-41FB-A68F-5FBD4A82D1C9}" type="datetimeFigureOut">
              <a:rPr lang="en-IN" smtClean="0"/>
              <a:t>25-05-2023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FEF3A-9EDB-45A3-8F8C-28BAE7165C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80602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23" indent="0">
              <a:buNone/>
              <a:defRPr sz="2000" b="1"/>
            </a:lvl2pPr>
            <a:lvl3pPr marL="914446" indent="0">
              <a:buNone/>
              <a:defRPr sz="1800" b="1"/>
            </a:lvl3pPr>
            <a:lvl4pPr marL="1371669" indent="0">
              <a:buNone/>
              <a:defRPr sz="1600" b="1"/>
            </a:lvl4pPr>
            <a:lvl5pPr marL="1828891" indent="0">
              <a:buNone/>
              <a:defRPr sz="1600" b="1"/>
            </a:lvl5pPr>
            <a:lvl6pPr marL="2286114" indent="0">
              <a:buNone/>
              <a:defRPr sz="1600" b="1"/>
            </a:lvl6pPr>
            <a:lvl7pPr marL="2743337" indent="0">
              <a:buNone/>
              <a:defRPr sz="1600" b="1"/>
            </a:lvl7pPr>
            <a:lvl8pPr marL="3200560" indent="0">
              <a:buNone/>
              <a:defRPr sz="1600" b="1"/>
            </a:lvl8pPr>
            <a:lvl9pPr marL="365778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23" indent="0">
              <a:buNone/>
              <a:defRPr sz="2000" b="1"/>
            </a:lvl2pPr>
            <a:lvl3pPr marL="914446" indent="0">
              <a:buNone/>
              <a:defRPr sz="1800" b="1"/>
            </a:lvl3pPr>
            <a:lvl4pPr marL="1371669" indent="0">
              <a:buNone/>
              <a:defRPr sz="1600" b="1"/>
            </a:lvl4pPr>
            <a:lvl5pPr marL="1828891" indent="0">
              <a:buNone/>
              <a:defRPr sz="1600" b="1"/>
            </a:lvl5pPr>
            <a:lvl6pPr marL="2286114" indent="0">
              <a:buNone/>
              <a:defRPr sz="1600" b="1"/>
            </a:lvl6pPr>
            <a:lvl7pPr marL="2743337" indent="0">
              <a:buNone/>
              <a:defRPr sz="1600" b="1"/>
            </a:lvl7pPr>
            <a:lvl8pPr marL="3200560" indent="0">
              <a:buNone/>
              <a:defRPr sz="1600" b="1"/>
            </a:lvl8pPr>
            <a:lvl9pPr marL="365778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BEA42-13E0-41FB-A68F-5FBD4A82D1C9}" type="datetimeFigureOut">
              <a:rPr lang="en-IN" smtClean="0"/>
              <a:t>25-05-2023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FEF3A-9EDB-45A3-8F8C-28BAE7165C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91735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BEA42-13E0-41FB-A68F-5FBD4A82D1C9}" type="datetimeFigureOut">
              <a:rPr lang="en-IN" smtClean="0"/>
              <a:t>25-05-2023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FEF3A-9EDB-45A3-8F8C-28BAE7165C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29198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BEA42-13E0-41FB-A68F-5FBD4A82D1C9}" type="datetimeFigureOut">
              <a:rPr lang="en-IN" smtClean="0"/>
              <a:t>25-05-2023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FEF3A-9EDB-45A3-8F8C-28BAE7165C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06537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23" indent="0">
              <a:buNone/>
              <a:defRPr sz="1400"/>
            </a:lvl2pPr>
            <a:lvl3pPr marL="914446" indent="0">
              <a:buNone/>
              <a:defRPr sz="1200"/>
            </a:lvl3pPr>
            <a:lvl4pPr marL="1371669" indent="0">
              <a:buNone/>
              <a:defRPr sz="1000"/>
            </a:lvl4pPr>
            <a:lvl5pPr marL="1828891" indent="0">
              <a:buNone/>
              <a:defRPr sz="1000"/>
            </a:lvl5pPr>
            <a:lvl6pPr marL="2286114" indent="0">
              <a:buNone/>
              <a:defRPr sz="1000"/>
            </a:lvl6pPr>
            <a:lvl7pPr marL="2743337" indent="0">
              <a:buNone/>
              <a:defRPr sz="1000"/>
            </a:lvl7pPr>
            <a:lvl8pPr marL="3200560" indent="0">
              <a:buNone/>
              <a:defRPr sz="1000"/>
            </a:lvl8pPr>
            <a:lvl9pPr marL="365778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BEA42-13E0-41FB-A68F-5FBD4A82D1C9}" type="datetimeFigureOut">
              <a:rPr lang="en-IN" smtClean="0"/>
              <a:t>25-05-2023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FEF3A-9EDB-45A3-8F8C-28BAE7165C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40828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23" indent="0">
              <a:buNone/>
              <a:defRPr sz="1400"/>
            </a:lvl2pPr>
            <a:lvl3pPr marL="914446" indent="0">
              <a:buNone/>
              <a:defRPr sz="1200"/>
            </a:lvl3pPr>
            <a:lvl4pPr marL="1371669" indent="0">
              <a:buNone/>
              <a:defRPr sz="1000"/>
            </a:lvl4pPr>
            <a:lvl5pPr marL="1828891" indent="0">
              <a:buNone/>
              <a:defRPr sz="1000"/>
            </a:lvl5pPr>
            <a:lvl6pPr marL="2286114" indent="0">
              <a:buNone/>
              <a:defRPr sz="1000"/>
            </a:lvl6pPr>
            <a:lvl7pPr marL="2743337" indent="0">
              <a:buNone/>
              <a:defRPr sz="1000"/>
            </a:lvl7pPr>
            <a:lvl8pPr marL="3200560" indent="0">
              <a:buNone/>
              <a:defRPr sz="1000"/>
            </a:lvl8pPr>
            <a:lvl9pPr marL="365778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BEA42-13E0-41FB-A68F-5FBD4A82D1C9}" type="datetimeFigureOut">
              <a:rPr lang="en-IN" smtClean="0"/>
              <a:t>25-05-2023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FEF3A-9EDB-45A3-8F8C-28BAE7165C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96837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BEA42-13E0-41FB-A68F-5FBD4A82D1C9}" type="datetimeFigureOut">
              <a:rPr lang="en-IN" smtClean="0"/>
              <a:t>25-05-2023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FEF3A-9EDB-45A3-8F8C-28BAE7165C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6310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6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6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BEA42-13E0-41FB-A68F-5FBD4A82D1C9}" type="datetimeFigureOut">
              <a:rPr lang="en-IN" smtClean="0"/>
              <a:t>25-05-2023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FEF3A-9EDB-45A3-8F8C-28BAE7165C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14221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35871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89982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6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7BEA42-13E0-41FB-A68F-5FBD4A82D1C9}" type="datetimeFigureOut">
              <a:rPr lang="en-IN" smtClean="0"/>
              <a:t>25-05-2023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FFEF3A-9EDB-45A3-8F8C-28BAE7165C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2397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46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11" indent="-228611" algn="l" defTabSz="914446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34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57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80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503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726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949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171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394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23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46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69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91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114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337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560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783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7097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</p:sldLayoutIdLst>
  <p:hf sldNum="0" hdr="0" ftr="0" dt="0"/>
  <p:txStyles>
    <p:titleStyle>
      <a:lvl1pPr algn="ctr" defTabSz="609630" rtl="0" eaLnBrk="1" latinLnBrk="0" hangingPunct="1">
        <a:spcBef>
          <a:spcPct val="0"/>
        </a:spcBef>
        <a:buNone/>
        <a:defRPr sz="29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11" indent="-228611" algn="l" defTabSz="609630" rtl="0" eaLnBrk="1" latinLnBrk="0" hangingPunct="1">
        <a:spcBef>
          <a:spcPct val="20000"/>
        </a:spcBef>
        <a:buFont typeface="Arial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1pPr>
      <a:lvl2pPr marL="495325" indent="-190510" algn="l" defTabSz="609630" rtl="0" eaLnBrk="1" latinLnBrk="0" hangingPunct="1">
        <a:spcBef>
          <a:spcPct val="20000"/>
        </a:spcBef>
        <a:buFont typeface="Arial" pitchFamily="34" charset="0"/>
        <a:buChar char="–"/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762038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66853" indent="-152408" algn="l" defTabSz="609630" rtl="0" eaLnBrk="1" latinLnBrk="0" hangingPunct="1">
        <a:spcBef>
          <a:spcPct val="20000"/>
        </a:spcBef>
        <a:buFont typeface="Arial" pitchFamily="34" charset="0"/>
        <a:buChar char="–"/>
        <a:defRPr sz="1333" kern="1200">
          <a:solidFill>
            <a:schemeClr val="tx1"/>
          </a:solidFill>
          <a:latin typeface="+mn-lt"/>
          <a:ea typeface="+mn-ea"/>
          <a:cs typeface="+mn-cs"/>
        </a:defRPr>
      </a:lvl4pPr>
      <a:lvl5pPr marL="1371669" indent="-152408" algn="l" defTabSz="609630" rtl="0" eaLnBrk="1" latinLnBrk="0" hangingPunct="1">
        <a:spcBef>
          <a:spcPct val="20000"/>
        </a:spcBef>
        <a:buFont typeface="Arial" pitchFamily="34" charset="0"/>
        <a:buChar char="»"/>
        <a:defRPr sz="1333" kern="1200">
          <a:solidFill>
            <a:schemeClr val="tx1"/>
          </a:solidFill>
          <a:latin typeface="+mn-lt"/>
          <a:ea typeface="+mn-ea"/>
          <a:cs typeface="+mn-cs"/>
        </a:defRPr>
      </a:lvl5pPr>
      <a:lvl6pPr marL="167648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6pPr>
      <a:lvl7pPr marL="1981299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7pPr>
      <a:lvl8pPr marL="228611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8pPr>
      <a:lvl9pPr marL="2590930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15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3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4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6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07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9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707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522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../media/image20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.png"/><Relationship Id="rId5" Type="http://schemas.openxmlformats.org/officeDocument/2006/relationships/image" Target="../media/image23.jpeg"/><Relationship Id="rId4" Type="http://schemas.openxmlformats.org/officeDocument/2006/relationships/image" Target="../media/image2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6">
            <a:extLst>
              <a:ext uri="{FF2B5EF4-FFF2-40B4-BE49-F238E27FC236}">
                <a16:creationId xmlns:a16="http://schemas.microsoft.com/office/drawing/2014/main" id="{7FF1EF97-377A-4E2F-B4BC-0ECF24D2D3D4}"/>
              </a:ext>
            </a:extLst>
          </p:cNvPr>
          <p:cNvSpPr/>
          <p:nvPr/>
        </p:nvSpPr>
        <p:spPr>
          <a:xfrm>
            <a:off x="816000" y="1477789"/>
            <a:ext cx="7800000" cy="198000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Autofit/>
          </a:bodyPr>
          <a:lstStyle/>
          <a:p>
            <a:pPr defTabSz="304815"/>
            <a:r>
              <a:rPr lang="en-US" sz="6400" dirty="0">
                <a:solidFill>
                  <a:srgbClr val="F5F3E4"/>
                </a:solidFill>
                <a:latin typeface="Hepta Slab ExtraBold" pitchFamily="2" charset="0"/>
                <a:ea typeface="Montserrat ExtraBold" pitchFamily="34" charset="-122"/>
                <a:cs typeface="Hepta Slab ExtraBold" pitchFamily="2" charset="0"/>
              </a:rPr>
              <a:t>A Terragni</a:t>
            </a:r>
          </a:p>
          <a:p>
            <a:pPr defTabSz="304815"/>
            <a:r>
              <a:rPr lang="en-US" sz="6400" dirty="0">
                <a:solidFill>
                  <a:srgbClr val="F5F3E4"/>
                </a:solidFill>
                <a:latin typeface="Hepta Slab ExtraBold" pitchFamily="2" charset="0"/>
                <a:cs typeface="Hepta Slab ExtraBold" pitchFamily="2" charset="0"/>
              </a:rPr>
              <a:t>Case Study</a:t>
            </a:r>
          </a:p>
        </p:txBody>
      </p:sp>
      <p:sp>
        <p:nvSpPr>
          <p:cNvPr id="5" name="Object6">
            <a:extLst>
              <a:ext uri="{FF2B5EF4-FFF2-40B4-BE49-F238E27FC236}">
                <a16:creationId xmlns:a16="http://schemas.microsoft.com/office/drawing/2014/main" id="{3E0BAEEE-A595-D314-E921-60B7FA4811A8}"/>
              </a:ext>
            </a:extLst>
          </p:cNvPr>
          <p:cNvSpPr/>
          <p:nvPr/>
        </p:nvSpPr>
        <p:spPr>
          <a:xfrm>
            <a:off x="816000" y="3909000"/>
            <a:ext cx="5784056" cy="8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defTabSz="304815"/>
            <a:r>
              <a:rPr lang="en-US" sz="2400" dirty="0">
                <a:solidFill>
                  <a:srgbClr val="F5F3E4"/>
                </a:solidFill>
                <a:latin typeface="Hepta Slab Regular" pitchFamily="2" charset="0"/>
                <a:ea typeface="Montserrat ExtraBold" pitchFamily="34" charset="-122"/>
                <a:cs typeface="Hepta Slab Regular" pitchFamily="2" charset="0"/>
              </a:rPr>
              <a:t>Driving Growth in Life Insurance</a:t>
            </a:r>
            <a:endParaRPr lang="en-US" sz="2400" dirty="0">
              <a:solidFill>
                <a:srgbClr val="F5F3E4"/>
              </a:solidFill>
              <a:latin typeface="Hepta Slab Regular" pitchFamily="2" charset="0"/>
              <a:cs typeface="Hepta Slab Regular" pitchFamily="2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C905B95-5EA2-CFE1-E38B-4E69AFD2BC61}"/>
              </a:ext>
            </a:extLst>
          </p:cNvPr>
          <p:cNvGrpSpPr/>
          <p:nvPr/>
        </p:nvGrpSpPr>
        <p:grpSpPr>
          <a:xfrm>
            <a:off x="-114988" y="6122716"/>
            <a:ext cx="11920615" cy="929149"/>
            <a:chOff x="-172482" y="9184073"/>
            <a:chExt cx="17880922" cy="1393723"/>
          </a:xfrm>
        </p:grpSpPr>
        <p:sp>
          <p:nvSpPr>
            <p:cNvPr id="11" name="Title 1">
              <a:extLst>
                <a:ext uri="{FF2B5EF4-FFF2-40B4-BE49-F238E27FC236}">
                  <a16:creationId xmlns:a16="http://schemas.microsoft.com/office/drawing/2014/main" id="{714453AC-FF3B-46C9-7C95-D93605B4C661}"/>
                </a:ext>
              </a:extLst>
            </p:cNvPr>
            <p:cNvSpPr txBox="1">
              <a:spLocks/>
            </p:cNvSpPr>
            <p:nvPr/>
          </p:nvSpPr>
          <p:spPr>
            <a:xfrm>
              <a:off x="5681816" y="9781056"/>
              <a:ext cx="6924368" cy="295207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defTabSz="609630"/>
              <a:r>
                <a:rPr lang="en-IN" sz="1067" dirty="0">
                  <a:solidFill>
                    <a:prstClr val="white"/>
                  </a:solidFill>
                  <a:latin typeface="Montserrat Medium" pitchFamily="2" charset="0"/>
                  <a:cs typeface="Hepta Slab" pitchFamily="2" charset="0"/>
                </a:rPr>
                <a:t>TERRAGNI CONSULTING (P) LTD PRIVATE AND CONFIDENTIAL</a:t>
              </a: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B79FDB63-50D1-8247-6623-2E5C8568973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940881" y="9806942"/>
              <a:ext cx="1767559" cy="269321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F6D4B987-A66D-E3E4-AF4A-EB86C9C3959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72482" y="9184073"/>
              <a:ext cx="2822459" cy="139372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800760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14A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E4482F-1768-0708-5E75-3F20FF7A321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83"/>
          <a:stretch/>
        </p:blipFill>
        <p:spPr>
          <a:xfrm>
            <a:off x="0" y="-51000"/>
            <a:ext cx="3259334" cy="6909000"/>
          </a:xfrm>
          <a:prstGeom prst="rect">
            <a:avLst/>
          </a:prstGeom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D9E82159-FA6A-F771-ABDB-00FE67323392}"/>
              </a:ext>
            </a:extLst>
          </p:cNvPr>
          <p:cNvGrpSpPr/>
          <p:nvPr/>
        </p:nvGrpSpPr>
        <p:grpSpPr>
          <a:xfrm>
            <a:off x="3690609" y="6309000"/>
            <a:ext cx="7275789" cy="480001"/>
            <a:chOff x="5535913" y="9283499"/>
            <a:chExt cx="10913683" cy="720001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FF70E79A-7DBF-AFDD-1E9F-0A64361AE4F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882773" y="9511053"/>
              <a:ext cx="1566823" cy="238735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5AB76AF9-8B9A-D3FA-E967-C8F37605F31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127" t="21918" r="12518" b="19802"/>
            <a:stretch/>
          </p:blipFill>
          <p:spPr>
            <a:xfrm>
              <a:off x="5535913" y="9283499"/>
              <a:ext cx="1810243" cy="720001"/>
            </a:xfrm>
            <a:prstGeom prst="rect">
              <a:avLst/>
            </a:prstGeom>
          </p:spPr>
        </p:pic>
        <p:sp>
          <p:nvSpPr>
            <p:cNvPr id="24" name="Title 1">
              <a:extLst>
                <a:ext uri="{FF2B5EF4-FFF2-40B4-BE49-F238E27FC236}">
                  <a16:creationId xmlns:a16="http://schemas.microsoft.com/office/drawing/2014/main" id="{D3AC0D77-3D49-E06C-0A77-99EE8A2AD98B}"/>
                </a:ext>
              </a:extLst>
            </p:cNvPr>
            <p:cNvSpPr txBox="1">
              <a:spLocks/>
            </p:cNvSpPr>
            <p:nvPr/>
          </p:nvSpPr>
          <p:spPr>
            <a:xfrm>
              <a:off x="7993069" y="9519798"/>
              <a:ext cx="6137989" cy="247401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 defTabSz="609630"/>
              <a:r>
                <a:rPr lang="en-IN" sz="800" dirty="0">
                  <a:solidFill>
                    <a:prstClr val="white"/>
                  </a:solidFill>
                  <a:latin typeface="Montserrat Medium" pitchFamily="2" charset="0"/>
                  <a:cs typeface="Hepta Slab" pitchFamily="2" charset="0"/>
                </a:rPr>
                <a:t>TERRAGNI CONSULTING (P) LTD PRIVATE AND CONFIDENTIAL</a:t>
              </a:r>
            </a:p>
          </p:txBody>
        </p:sp>
      </p:grpSp>
      <p:sp>
        <p:nvSpPr>
          <p:cNvPr id="27" name="Object6">
            <a:extLst>
              <a:ext uri="{FF2B5EF4-FFF2-40B4-BE49-F238E27FC236}">
                <a16:creationId xmlns:a16="http://schemas.microsoft.com/office/drawing/2014/main" id="{9586A94B-61E5-D4FE-AF7D-AFC9F553AEE9}"/>
              </a:ext>
            </a:extLst>
          </p:cNvPr>
          <p:cNvSpPr/>
          <p:nvPr/>
        </p:nvSpPr>
        <p:spPr>
          <a:xfrm>
            <a:off x="340315" y="1569000"/>
            <a:ext cx="1913171" cy="40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304815"/>
            <a:r>
              <a:rPr lang="en-US" sz="1333" dirty="0">
                <a:solidFill>
                  <a:srgbClr val="814A17"/>
                </a:solidFill>
                <a:latin typeface="Montserrat SemiBold" pitchFamily="2" charset="0"/>
                <a:ea typeface="Montserrat ExtraBold" pitchFamily="34" charset="-122"/>
                <a:cs typeface="Montserrat ExtraBold" pitchFamily="34" charset="-120"/>
              </a:rPr>
              <a:t>Client Background</a:t>
            </a:r>
          </a:p>
          <a:p>
            <a:pPr defTabSz="304815"/>
            <a:endParaRPr lang="en-US" sz="1333" dirty="0">
              <a:solidFill>
                <a:srgbClr val="3C2472"/>
              </a:solidFill>
              <a:latin typeface="Montserrat SemiBold" pitchFamily="2" charset="0"/>
              <a:ea typeface="Montserrat ExtraBold" pitchFamily="34" charset="-122"/>
              <a:cs typeface="Montserrat ExtraBold" pitchFamily="34" charset="-120"/>
            </a:endParaRPr>
          </a:p>
          <a:p>
            <a:pPr defTabSz="304815"/>
            <a:r>
              <a:rPr lang="en-US" sz="1333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Challenge</a:t>
            </a:r>
          </a:p>
          <a:p>
            <a:pPr defTabSz="304815"/>
            <a:endParaRPr lang="en-US" sz="1333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304815"/>
            <a:r>
              <a:rPr lang="en-US" sz="1333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What We Did</a:t>
            </a:r>
          </a:p>
          <a:p>
            <a:pPr defTabSz="304815"/>
            <a:endParaRPr lang="en-US" sz="1333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304815"/>
            <a:r>
              <a:rPr lang="en-US" sz="1333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Strengths</a:t>
            </a:r>
          </a:p>
          <a:p>
            <a:pPr defTabSz="304815"/>
            <a:endParaRPr lang="en-US" sz="1333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304815"/>
            <a:r>
              <a:rPr lang="en-US" sz="1333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Opportunities</a:t>
            </a:r>
          </a:p>
          <a:p>
            <a:pPr defTabSz="304815"/>
            <a:endParaRPr lang="en-US" sz="1333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304815"/>
            <a:r>
              <a:rPr lang="en-US" sz="1333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Solutions</a:t>
            </a:r>
          </a:p>
          <a:p>
            <a:pPr defTabSz="304815"/>
            <a:endParaRPr lang="en-US" sz="1333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304815"/>
            <a:r>
              <a:rPr lang="en-US" sz="1333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Samples</a:t>
            </a:r>
          </a:p>
          <a:p>
            <a:pPr defTabSz="304815"/>
            <a:endParaRPr lang="en-US" sz="1333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304815"/>
            <a:r>
              <a:rPr lang="en-US" sz="1333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Business Outcomes</a:t>
            </a:r>
            <a:endParaRPr lang="en-US" sz="1333" dirty="0">
              <a:solidFill>
                <a:srgbClr val="817617"/>
              </a:solidFill>
              <a:latin typeface="Montserrat SemiBold" pitchFamily="2" charset="0"/>
            </a:endParaRPr>
          </a:p>
          <a:p>
            <a:pPr defTabSz="304815"/>
            <a:endParaRPr lang="en-US" sz="1333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</p:txBody>
      </p:sp>
      <p:sp>
        <p:nvSpPr>
          <p:cNvPr id="29" name="Object6">
            <a:extLst>
              <a:ext uri="{FF2B5EF4-FFF2-40B4-BE49-F238E27FC236}">
                <a16:creationId xmlns:a16="http://schemas.microsoft.com/office/drawing/2014/main" id="{7FFB36EB-6BB8-0373-703D-3762D700F5DA}"/>
              </a:ext>
            </a:extLst>
          </p:cNvPr>
          <p:cNvSpPr/>
          <p:nvPr/>
        </p:nvSpPr>
        <p:spPr>
          <a:xfrm>
            <a:off x="3690608" y="1580189"/>
            <a:ext cx="2283450" cy="84000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Autofit/>
          </a:bodyPr>
          <a:lstStyle/>
          <a:p>
            <a:pPr defTabSz="304815"/>
            <a:r>
              <a:rPr lang="en-US" sz="4400" dirty="0">
                <a:solidFill>
                  <a:srgbClr val="FFA65F"/>
                </a:solidFill>
                <a:latin typeface="Hepta Slab ExtraBold" pitchFamily="2" charset="0"/>
                <a:ea typeface="Montserrat ExtraBold" pitchFamily="34" charset="-122"/>
                <a:cs typeface="Hepta Slab ExtraBold" pitchFamily="2" charset="0"/>
              </a:rPr>
              <a:t>Top 4</a:t>
            </a:r>
            <a:endParaRPr lang="en-US" sz="4400" dirty="0">
              <a:solidFill>
                <a:srgbClr val="FFA65F"/>
              </a:solidFill>
              <a:latin typeface="Hepta Slab ExtraBold" pitchFamily="2" charset="0"/>
              <a:cs typeface="Hepta Slab ExtraBold" pitchFamily="2" charset="0"/>
            </a:endParaRPr>
          </a:p>
        </p:txBody>
      </p:sp>
      <p:sp>
        <p:nvSpPr>
          <p:cNvPr id="31" name="Object5">
            <a:extLst>
              <a:ext uri="{FF2B5EF4-FFF2-40B4-BE49-F238E27FC236}">
                <a16:creationId xmlns:a16="http://schemas.microsoft.com/office/drawing/2014/main" id="{161E54A7-4AD9-6473-8202-C09144517DBC}"/>
              </a:ext>
            </a:extLst>
          </p:cNvPr>
          <p:cNvSpPr/>
          <p:nvPr/>
        </p:nvSpPr>
        <p:spPr>
          <a:xfrm>
            <a:off x="3690609" y="2554947"/>
            <a:ext cx="2636121" cy="7052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304815"/>
            <a:r>
              <a:rPr lang="en-US" sz="1600" dirty="0">
                <a:solidFill>
                  <a:srgbClr val="F5F3E4"/>
                </a:solidFill>
                <a:latin typeface="Hepta Slab Regular" pitchFamily="2" charset="0"/>
                <a:ea typeface="Hepta Slab Regular" pitchFamily="34" charset="-122"/>
                <a:cs typeface="Hepta Slab Regular" pitchFamily="2" charset="0"/>
              </a:rPr>
              <a:t>Players In Private Life Insurance Sector</a:t>
            </a:r>
          </a:p>
        </p:txBody>
      </p:sp>
      <p:sp>
        <p:nvSpPr>
          <p:cNvPr id="32" name="Object5">
            <a:extLst>
              <a:ext uri="{FF2B5EF4-FFF2-40B4-BE49-F238E27FC236}">
                <a16:creationId xmlns:a16="http://schemas.microsoft.com/office/drawing/2014/main" id="{D0F42D0B-599B-4129-6B9E-9A7A0F07050A}"/>
              </a:ext>
            </a:extLst>
          </p:cNvPr>
          <p:cNvSpPr/>
          <p:nvPr/>
        </p:nvSpPr>
        <p:spPr>
          <a:xfrm>
            <a:off x="7038454" y="2549821"/>
            <a:ext cx="2015753" cy="247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304815"/>
            <a:r>
              <a:rPr lang="en-US" sz="1600" dirty="0">
                <a:solidFill>
                  <a:srgbClr val="F5F3E4"/>
                </a:solidFill>
                <a:latin typeface="Hepta Slab Regular" pitchFamily="2" charset="0"/>
                <a:ea typeface="Hepta Slab Regular" pitchFamily="34" charset="-122"/>
                <a:cs typeface="Hepta Slab Regular" pitchFamily="2" charset="0"/>
              </a:rPr>
              <a:t>Offices pan India</a:t>
            </a:r>
          </a:p>
        </p:txBody>
      </p:sp>
      <p:sp>
        <p:nvSpPr>
          <p:cNvPr id="35" name="Object6">
            <a:extLst>
              <a:ext uri="{FF2B5EF4-FFF2-40B4-BE49-F238E27FC236}">
                <a16:creationId xmlns:a16="http://schemas.microsoft.com/office/drawing/2014/main" id="{73687B3F-84A9-5378-8894-588151DCD771}"/>
              </a:ext>
            </a:extLst>
          </p:cNvPr>
          <p:cNvSpPr/>
          <p:nvPr/>
        </p:nvSpPr>
        <p:spPr>
          <a:xfrm>
            <a:off x="7046730" y="1600609"/>
            <a:ext cx="1272248" cy="84000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Autofit/>
          </a:bodyPr>
          <a:lstStyle/>
          <a:p>
            <a:pPr defTabSz="304815"/>
            <a:r>
              <a:rPr lang="en-US" sz="4400" dirty="0">
                <a:solidFill>
                  <a:srgbClr val="FFA65F"/>
                </a:solidFill>
                <a:latin typeface="Hepta Slab ExtraBold" pitchFamily="2" charset="0"/>
                <a:ea typeface="Montserrat ExtraBold" pitchFamily="34" charset="-122"/>
                <a:cs typeface="Hepta Slab ExtraBold" pitchFamily="2" charset="0"/>
              </a:rPr>
              <a:t>638</a:t>
            </a:r>
          </a:p>
        </p:txBody>
      </p:sp>
      <p:sp>
        <p:nvSpPr>
          <p:cNvPr id="37" name="Object5">
            <a:extLst>
              <a:ext uri="{FF2B5EF4-FFF2-40B4-BE49-F238E27FC236}">
                <a16:creationId xmlns:a16="http://schemas.microsoft.com/office/drawing/2014/main" id="{D1A673E3-06E0-20E6-83C2-4D67DEFF27E3}"/>
              </a:ext>
            </a:extLst>
          </p:cNvPr>
          <p:cNvSpPr/>
          <p:nvPr/>
        </p:nvSpPr>
        <p:spPr>
          <a:xfrm>
            <a:off x="3707554" y="3710701"/>
            <a:ext cx="4841822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304815"/>
            <a:r>
              <a:rPr lang="en-US" sz="1600" dirty="0">
                <a:solidFill>
                  <a:srgbClr val="F5F3E4"/>
                </a:solidFill>
                <a:latin typeface="Hepta Slab Regular" pitchFamily="2" charset="0"/>
                <a:ea typeface="Hepta Slab Regular" pitchFamily="34" charset="-122"/>
                <a:cs typeface="Hepta Slab Regular" pitchFamily="2" charset="0"/>
              </a:rPr>
              <a:t>A Large Workforce Of Insurance Advisors And Other Channel Intermediaries</a:t>
            </a:r>
          </a:p>
        </p:txBody>
      </p:sp>
    </p:spTree>
    <p:extLst>
      <p:ext uri="{BB962C8B-B14F-4D97-AF65-F5344CB8AC3E}">
        <p14:creationId xmlns:p14="http://schemas.microsoft.com/office/powerpoint/2010/main" val="6730164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117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E4482F-1768-0708-5E75-3F20FF7A321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83"/>
          <a:stretch/>
        </p:blipFill>
        <p:spPr>
          <a:xfrm>
            <a:off x="0" y="-51000"/>
            <a:ext cx="3259334" cy="6909000"/>
          </a:xfrm>
          <a:prstGeom prst="rect">
            <a:avLst/>
          </a:prstGeom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D9E82159-FA6A-F771-ABDB-00FE67323392}"/>
              </a:ext>
            </a:extLst>
          </p:cNvPr>
          <p:cNvGrpSpPr/>
          <p:nvPr/>
        </p:nvGrpSpPr>
        <p:grpSpPr>
          <a:xfrm>
            <a:off x="3690609" y="6309000"/>
            <a:ext cx="7275789" cy="480001"/>
            <a:chOff x="5535913" y="9283499"/>
            <a:chExt cx="10913683" cy="720001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FF70E79A-7DBF-AFDD-1E9F-0A64361AE4F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882773" y="9511053"/>
              <a:ext cx="1566823" cy="238735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5AB76AF9-8B9A-D3FA-E967-C8F37605F31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127" t="21918" r="12518" b="19802"/>
            <a:stretch/>
          </p:blipFill>
          <p:spPr>
            <a:xfrm>
              <a:off x="5535913" y="9283499"/>
              <a:ext cx="1810243" cy="720001"/>
            </a:xfrm>
            <a:prstGeom prst="rect">
              <a:avLst/>
            </a:prstGeom>
          </p:spPr>
        </p:pic>
        <p:sp>
          <p:nvSpPr>
            <p:cNvPr id="24" name="Title 1">
              <a:extLst>
                <a:ext uri="{FF2B5EF4-FFF2-40B4-BE49-F238E27FC236}">
                  <a16:creationId xmlns:a16="http://schemas.microsoft.com/office/drawing/2014/main" id="{D3AC0D77-3D49-E06C-0A77-99EE8A2AD98B}"/>
                </a:ext>
              </a:extLst>
            </p:cNvPr>
            <p:cNvSpPr txBox="1">
              <a:spLocks/>
            </p:cNvSpPr>
            <p:nvPr/>
          </p:nvSpPr>
          <p:spPr>
            <a:xfrm>
              <a:off x="7993069" y="9519798"/>
              <a:ext cx="6137989" cy="247401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 defTabSz="609630"/>
              <a:r>
                <a:rPr lang="en-IN" sz="800" dirty="0">
                  <a:solidFill>
                    <a:prstClr val="white"/>
                  </a:solidFill>
                  <a:latin typeface="Montserrat Medium" pitchFamily="2" charset="0"/>
                  <a:cs typeface="Hepta Slab" pitchFamily="2" charset="0"/>
                </a:rPr>
                <a:t>TERRAGNI CONSULTING (P) LTD PRIVATE AND CONFIDENTIAL</a:t>
              </a:r>
            </a:p>
          </p:txBody>
        </p:sp>
      </p:grpSp>
      <p:sp>
        <p:nvSpPr>
          <p:cNvPr id="27" name="Object6">
            <a:extLst>
              <a:ext uri="{FF2B5EF4-FFF2-40B4-BE49-F238E27FC236}">
                <a16:creationId xmlns:a16="http://schemas.microsoft.com/office/drawing/2014/main" id="{9586A94B-61E5-D4FE-AF7D-AFC9F553AEE9}"/>
              </a:ext>
            </a:extLst>
          </p:cNvPr>
          <p:cNvSpPr/>
          <p:nvPr/>
        </p:nvSpPr>
        <p:spPr>
          <a:xfrm>
            <a:off x="340315" y="1569000"/>
            <a:ext cx="1913171" cy="40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304815"/>
            <a:r>
              <a:rPr lang="en-US" sz="1333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  <a:ea typeface="Montserrat ExtraBold" pitchFamily="34" charset="-122"/>
                <a:cs typeface="Montserrat ExtraBold" pitchFamily="34" charset="-120"/>
              </a:rPr>
              <a:t>Client  Background</a:t>
            </a:r>
          </a:p>
          <a:p>
            <a:pPr defTabSz="304815"/>
            <a:endParaRPr lang="en-US" sz="1333" dirty="0">
              <a:solidFill>
                <a:srgbClr val="3C2472"/>
              </a:solidFill>
              <a:latin typeface="Montserrat SemiBold" pitchFamily="2" charset="0"/>
              <a:ea typeface="Montserrat ExtraBold" pitchFamily="34" charset="-122"/>
              <a:cs typeface="Montserrat ExtraBold" pitchFamily="34" charset="-120"/>
            </a:endParaRPr>
          </a:p>
          <a:p>
            <a:pPr defTabSz="304815"/>
            <a:r>
              <a:rPr lang="en-US" sz="1333" dirty="0">
                <a:solidFill>
                  <a:srgbClr val="811717"/>
                </a:solidFill>
                <a:latin typeface="Montserrat SemiBold" pitchFamily="2" charset="0"/>
              </a:rPr>
              <a:t>Challenge</a:t>
            </a:r>
            <a:endParaRPr lang="en-US" sz="1333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304815"/>
            <a:endParaRPr lang="en-US" sz="1333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304815"/>
            <a:r>
              <a:rPr lang="en-US" sz="1333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What We Did</a:t>
            </a:r>
          </a:p>
          <a:p>
            <a:pPr defTabSz="304815"/>
            <a:endParaRPr lang="en-US" sz="1333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304815"/>
            <a:r>
              <a:rPr lang="en-US" sz="1333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Strengths</a:t>
            </a:r>
          </a:p>
          <a:p>
            <a:pPr defTabSz="304815"/>
            <a:endParaRPr lang="en-US" sz="1333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304815"/>
            <a:r>
              <a:rPr lang="en-US" sz="1333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Opportunities</a:t>
            </a:r>
          </a:p>
          <a:p>
            <a:pPr defTabSz="304815"/>
            <a:endParaRPr lang="en-US" sz="1333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304815"/>
            <a:r>
              <a:rPr lang="en-US" sz="1333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Solutions</a:t>
            </a:r>
          </a:p>
          <a:p>
            <a:pPr defTabSz="304815"/>
            <a:endParaRPr lang="en-US" sz="1333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304815"/>
            <a:r>
              <a:rPr lang="en-US" sz="1333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Samples</a:t>
            </a:r>
          </a:p>
          <a:p>
            <a:pPr defTabSz="304815"/>
            <a:endParaRPr lang="en-US" sz="1333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304815"/>
            <a:r>
              <a:rPr lang="en-US" sz="1333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Business Outcomes</a:t>
            </a:r>
            <a:endParaRPr lang="en-US" sz="1333" dirty="0">
              <a:solidFill>
                <a:srgbClr val="817617"/>
              </a:solidFill>
              <a:latin typeface="Montserrat SemiBold" pitchFamily="2" charset="0"/>
            </a:endParaRPr>
          </a:p>
          <a:p>
            <a:pPr defTabSz="304815"/>
            <a:endParaRPr lang="en-US" sz="1333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</p:txBody>
      </p:sp>
      <p:sp>
        <p:nvSpPr>
          <p:cNvPr id="18" name="Object4">
            <a:extLst>
              <a:ext uri="{FF2B5EF4-FFF2-40B4-BE49-F238E27FC236}">
                <a16:creationId xmlns:a16="http://schemas.microsoft.com/office/drawing/2014/main" id="{2F56AE42-39CB-B537-760E-303F926E7512}"/>
              </a:ext>
            </a:extLst>
          </p:cNvPr>
          <p:cNvSpPr/>
          <p:nvPr/>
        </p:nvSpPr>
        <p:spPr>
          <a:xfrm>
            <a:off x="3690608" y="2469000"/>
            <a:ext cx="7205392" cy="1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304815"/>
            <a:r>
              <a:rPr lang="en-US" sz="2667" b="1" dirty="0">
                <a:solidFill>
                  <a:srgbClr val="FF3131"/>
                </a:solidFill>
                <a:latin typeface="Hepta Slab Bold" pitchFamily="34" charset="0"/>
                <a:ea typeface="Hepta Slab Bold" pitchFamily="34" charset="-122"/>
                <a:cs typeface="Hepta Slab Bold" pitchFamily="34" charset="-120"/>
              </a:rPr>
              <a:t>Customer retention and growth</a:t>
            </a:r>
          </a:p>
        </p:txBody>
      </p:sp>
      <p:sp>
        <p:nvSpPr>
          <p:cNvPr id="19" name="Object5">
            <a:extLst>
              <a:ext uri="{FF2B5EF4-FFF2-40B4-BE49-F238E27FC236}">
                <a16:creationId xmlns:a16="http://schemas.microsoft.com/office/drawing/2014/main" id="{A0F99477-C5D6-0452-07F2-AC3B186E7605}"/>
              </a:ext>
            </a:extLst>
          </p:cNvPr>
          <p:cNvSpPr/>
          <p:nvPr/>
        </p:nvSpPr>
        <p:spPr>
          <a:xfrm>
            <a:off x="3690608" y="3338860"/>
            <a:ext cx="7589968" cy="100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304815"/>
            <a:r>
              <a:rPr lang="en-US" sz="1600" dirty="0">
                <a:solidFill>
                  <a:srgbClr val="F5F3E4"/>
                </a:solidFill>
                <a:latin typeface="Hepta Slab Regular" pitchFamily="2" charset="0"/>
                <a:ea typeface="Hepta Slab Regular" pitchFamily="34" charset="-122"/>
                <a:cs typeface="Hepta Slab Regular" pitchFamily="2" charset="0"/>
              </a:rPr>
              <a:t>More than 63% of customers are not aware or not comfortable with digital payment gateways for renewals</a:t>
            </a:r>
          </a:p>
          <a:p>
            <a:pPr defTabSz="304815"/>
            <a:endParaRPr lang="en-US" sz="1600" dirty="0">
              <a:solidFill>
                <a:srgbClr val="F5F3E4"/>
              </a:solidFill>
              <a:latin typeface="Hepta Slab Regular" pitchFamily="2" charset="0"/>
              <a:ea typeface="Hepta Slab Regular" pitchFamily="34" charset="-122"/>
              <a:cs typeface="Hepta Slab Regular" pitchFamily="2" charset="0"/>
            </a:endParaRPr>
          </a:p>
          <a:p>
            <a:pPr defTabSz="304815"/>
            <a:r>
              <a:rPr lang="en-US" sz="1600" dirty="0">
                <a:solidFill>
                  <a:srgbClr val="F5F3E4"/>
                </a:solidFill>
                <a:latin typeface="Hepta Slab Regular" pitchFamily="2" charset="0"/>
                <a:ea typeface="Hepta Slab Regular" pitchFamily="34" charset="-122"/>
                <a:cs typeface="Hepta Slab Regular" pitchFamily="2" charset="0"/>
              </a:rPr>
              <a:t>Lack of information as a product category &amp; financial instrument </a:t>
            </a:r>
          </a:p>
          <a:p>
            <a:pPr defTabSz="304815"/>
            <a:r>
              <a:rPr lang="en-US" sz="1600" dirty="0">
                <a:solidFill>
                  <a:srgbClr val="F5F3E4"/>
                </a:solidFill>
                <a:latin typeface="Hepta Slab Regular" pitchFamily="2" charset="0"/>
                <a:ea typeface="Hepta Slab Regular" pitchFamily="34" charset="-122"/>
                <a:cs typeface="Hepta Slab Regular" pitchFamily="2" charset="0"/>
              </a:rPr>
              <a:t>(Life Insurance)</a:t>
            </a:r>
          </a:p>
          <a:p>
            <a:pPr defTabSz="304815"/>
            <a:endParaRPr lang="en-US" sz="1600" dirty="0">
              <a:solidFill>
                <a:srgbClr val="F5F3E4"/>
              </a:solidFill>
              <a:latin typeface="Hepta Slab Regular" pitchFamily="2" charset="0"/>
              <a:ea typeface="Hepta Slab Regular" pitchFamily="34" charset="-122"/>
              <a:cs typeface="Hepta Slab Regular" pitchFamily="2" charset="0"/>
            </a:endParaRPr>
          </a:p>
          <a:p>
            <a:pPr defTabSz="304815"/>
            <a:r>
              <a:rPr lang="en-US" sz="1600" dirty="0">
                <a:solidFill>
                  <a:srgbClr val="F5F3E4"/>
                </a:solidFill>
                <a:latin typeface="Hepta Slab Regular" pitchFamily="2" charset="0"/>
                <a:ea typeface="Hepta Slab Regular" pitchFamily="34" charset="-122"/>
                <a:cs typeface="Hepta Slab Regular" pitchFamily="2" charset="0"/>
              </a:rPr>
              <a:t>Low Persistency rate of life insurance policies after 3/5 years of sales </a:t>
            </a:r>
          </a:p>
          <a:p>
            <a:pPr defTabSz="304815"/>
            <a:endParaRPr lang="en-US" sz="1600" dirty="0">
              <a:solidFill>
                <a:srgbClr val="F5F3E4"/>
              </a:solidFill>
              <a:latin typeface="Hepta Slab Regular" pitchFamily="2" charset="0"/>
              <a:ea typeface="Hepta Slab Regular" pitchFamily="34" charset="-122"/>
              <a:cs typeface="Hepta Slab Regular" pitchFamily="2" charset="0"/>
            </a:endParaRPr>
          </a:p>
          <a:p>
            <a:pPr defTabSz="304815"/>
            <a:endParaRPr lang="en-US" sz="1600" dirty="0">
              <a:solidFill>
                <a:srgbClr val="F5F3E4"/>
              </a:solidFill>
              <a:latin typeface="Hepta Slab Regular" pitchFamily="2" charset="0"/>
              <a:ea typeface="Hepta Slab Regular" pitchFamily="34" charset="-122"/>
              <a:cs typeface="Hepta Slab Regular" pitchFamily="2" charset="0"/>
            </a:endParaRPr>
          </a:p>
          <a:p>
            <a:pPr defTabSz="304815"/>
            <a:endParaRPr lang="en-US" sz="1600" dirty="0">
              <a:solidFill>
                <a:srgbClr val="F5F3E4"/>
              </a:solidFill>
              <a:latin typeface="Hepta Slab Regular" pitchFamily="2" charset="0"/>
              <a:ea typeface="Hepta Slab Regular" pitchFamily="34" charset="-122"/>
              <a:cs typeface="Hepta Slab Regular" pitchFamily="2" charset="0"/>
            </a:endParaRPr>
          </a:p>
          <a:p>
            <a:pPr defTabSz="304815"/>
            <a:endParaRPr lang="en-US" sz="1600" dirty="0">
              <a:solidFill>
                <a:srgbClr val="F5F3E4"/>
              </a:solidFill>
              <a:latin typeface="Hepta Slab Regular" pitchFamily="2" charset="0"/>
              <a:ea typeface="Hepta Slab Regular" pitchFamily="34" charset="-122"/>
              <a:cs typeface="Hepta Slab Regular" pitchFamily="2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6EDF7AD-76FC-8BB5-EF96-0B1481E6C1B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9333" y="0"/>
            <a:ext cx="2520000" cy="25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6544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CA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E4482F-1768-0708-5E75-3F20FF7A321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83"/>
          <a:stretch/>
        </p:blipFill>
        <p:spPr>
          <a:xfrm>
            <a:off x="0" y="-51000"/>
            <a:ext cx="3259334" cy="6909000"/>
          </a:xfrm>
          <a:prstGeom prst="rect">
            <a:avLst/>
          </a:prstGeom>
        </p:spPr>
      </p:pic>
      <p:sp>
        <p:nvSpPr>
          <p:cNvPr id="27" name="Object6">
            <a:extLst>
              <a:ext uri="{FF2B5EF4-FFF2-40B4-BE49-F238E27FC236}">
                <a16:creationId xmlns:a16="http://schemas.microsoft.com/office/drawing/2014/main" id="{9586A94B-61E5-D4FE-AF7D-AFC9F553AEE9}"/>
              </a:ext>
            </a:extLst>
          </p:cNvPr>
          <p:cNvSpPr/>
          <p:nvPr/>
        </p:nvSpPr>
        <p:spPr>
          <a:xfrm>
            <a:off x="340315" y="1569000"/>
            <a:ext cx="1913171" cy="40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304815"/>
            <a:r>
              <a:rPr lang="en-US" sz="1333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  <a:ea typeface="Montserrat ExtraBold" pitchFamily="34" charset="-122"/>
                <a:cs typeface="Montserrat ExtraBold" pitchFamily="34" charset="-120"/>
              </a:rPr>
              <a:t>Client  Background</a:t>
            </a:r>
          </a:p>
          <a:p>
            <a:pPr defTabSz="304815"/>
            <a:endParaRPr lang="en-US" sz="1333" dirty="0">
              <a:solidFill>
                <a:srgbClr val="3C2472"/>
              </a:solidFill>
              <a:latin typeface="Montserrat SemiBold" pitchFamily="2" charset="0"/>
              <a:ea typeface="Montserrat ExtraBold" pitchFamily="34" charset="-122"/>
              <a:cs typeface="Montserrat ExtraBold" pitchFamily="34" charset="-120"/>
            </a:endParaRPr>
          </a:p>
          <a:p>
            <a:pPr defTabSz="304815"/>
            <a:r>
              <a:rPr lang="en-US" sz="1333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Challenge</a:t>
            </a:r>
          </a:p>
          <a:p>
            <a:pPr defTabSz="304815"/>
            <a:endParaRPr lang="en-US" sz="1333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304815"/>
            <a:r>
              <a:rPr lang="en-US" sz="1333" dirty="0">
                <a:solidFill>
                  <a:srgbClr val="7030A0"/>
                </a:solidFill>
                <a:latin typeface="Montserrat SemiBold" pitchFamily="2" charset="0"/>
              </a:rPr>
              <a:t>What We Did</a:t>
            </a:r>
          </a:p>
          <a:p>
            <a:pPr defTabSz="304815"/>
            <a:endParaRPr lang="en-US" sz="1333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304815"/>
            <a:r>
              <a:rPr lang="en-US" sz="1333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Strengths</a:t>
            </a:r>
          </a:p>
          <a:p>
            <a:pPr defTabSz="304815"/>
            <a:endParaRPr lang="en-US" sz="1333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304815"/>
            <a:r>
              <a:rPr lang="en-US" sz="1333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Opportunities</a:t>
            </a:r>
          </a:p>
          <a:p>
            <a:pPr defTabSz="304815"/>
            <a:endParaRPr lang="en-US" sz="1333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304815"/>
            <a:r>
              <a:rPr lang="en-US" sz="1333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Solutions</a:t>
            </a:r>
          </a:p>
          <a:p>
            <a:pPr defTabSz="304815"/>
            <a:endParaRPr lang="en-US" sz="1333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304815"/>
            <a:r>
              <a:rPr lang="en-US" sz="1333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Samples</a:t>
            </a:r>
          </a:p>
          <a:p>
            <a:pPr defTabSz="304815"/>
            <a:endParaRPr lang="en-US" sz="1333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304815"/>
            <a:r>
              <a:rPr lang="en-US" sz="1333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Business Outcomes</a:t>
            </a:r>
            <a:endParaRPr lang="en-US" sz="1333" dirty="0">
              <a:solidFill>
                <a:srgbClr val="817617"/>
              </a:solidFill>
              <a:latin typeface="Montserrat SemiBold" pitchFamily="2" charset="0"/>
            </a:endParaRPr>
          </a:p>
          <a:p>
            <a:pPr defTabSz="304815"/>
            <a:endParaRPr lang="en-US" sz="1333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</p:txBody>
      </p:sp>
      <p:sp>
        <p:nvSpPr>
          <p:cNvPr id="19" name="Object5">
            <a:extLst>
              <a:ext uri="{FF2B5EF4-FFF2-40B4-BE49-F238E27FC236}">
                <a16:creationId xmlns:a16="http://schemas.microsoft.com/office/drawing/2014/main" id="{A0F99477-C5D6-0452-07F2-AC3B186E7605}"/>
              </a:ext>
            </a:extLst>
          </p:cNvPr>
          <p:cNvSpPr/>
          <p:nvPr/>
        </p:nvSpPr>
        <p:spPr>
          <a:xfrm>
            <a:off x="3749125" y="2949000"/>
            <a:ext cx="7205392" cy="220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304815"/>
            <a:r>
              <a:rPr lang="en-US" sz="1600" dirty="0">
                <a:solidFill>
                  <a:srgbClr val="191919"/>
                </a:solidFill>
                <a:latin typeface="Hepta Slab Regular" pitchFamily="34" charset="0"/>
                <a:ea typeface="Hepta Slab Regular" pitchFamily="34" charset="-122"/>
                <a:cs typeface="Hepta Slab Regular" pitchFamily="34" charset="-120"/>
              </a:rPr>
              <a:t>Barriers to engagement with Insurance</a:t>
            </a:r>
          </a:p>
          <a:p>
            <a:pPr defTabSz="304815"/>
            <a:r>
              <a:rPr lang="en-US" sz="1600" dirty="0">
                <a:solidFill>
                  <a:srgbClr val="191919"/>
                </a:solidFill>
                <a:latin typeface="Hepta Slab Regular" pitchFamily="34" charset="0"/>
                <a:ea typeface="Hepta Slab Regular" pitchFamily="34" charset="-122"/>
                <a:cs typeface="Hepta Slab Regular" pitchFamily="34" charset="-120"/>
              </a:rPr>
              <a:t>	Emotions and attitudes associated with the product category 	&amp; their impact on customer </a:t>
            </a:r>
            <a:r>
              <a:rPr lang="en-US" sz="1600" dirty="0" err="1">
                <a:solidFill>
                  <a:srgbClr val="191919"/>
                </a:solidFill>
                <a:latin typeface="Hepta Slab Regular" pitchFamily="34" charset="0"/>
                <a:ea typeface="Hepta Slab Regular" pitchFamily="34" charset="-122"/>
                <a:cs typeface="Hepta Slab Regular" pitchFamily="34" charset="-120"/>
              </a:rPr>
              <a:t>behaviour</a:t>
            </a:r>
            <a:endParaRPr lang="en-US" sz="1600" dirty="0">
              <a:solidFill>
                <a:srgbClr val="191919"/>
              </a:solidFill>
              <a:latin typeface="Hepta Slab Regular" pitchFamily="34" charset="0"/>
              <a:ea typeface="Hepta Slab Regular" pitchFamily="34" charset="-122"/>
              <a:cs typeface="Hepta Slab Regular" pitchFamily="34" charset="-120"/>
            </a:endParaRPr>
          </a:p>
          <a:p>
            <a:pPr defTabSz="304815"/>
            <a:endParaRPr lang="en-US" sz="1600" dirty="0">
              <a:solidFill>
                <a:srgbClr val="191919"/>
              </a:solidFill>
              <a:latin typeface="Hepta Slab Regular" pitchFamily="34" charset="0"/>
              <a:ea typeface="Hepta Slab Regular" pitchFamily="34" charset="-122"/>
              <a:cs typeface="Hepta Slab Regular" pitchFamily="34" charset="-120"/>
            </a:endParaRPr>
          </a:p>
          <a:p>
            <a:pPr defTabSz="304815"/>
            <a:r>
              <a:rPr lang="en-US" sz="1600" dirty="0">
                <a:solidFill>
                  <a:srgbClr val="191919"/>
                </a:solidFill>
                <a:latin typeface="Hepta Slab Regular" pitchFamily="34" charset="0"/>
                <a:ea typeface="Hepta Slab Regular" pitchFamily="34" charset="-122"/>
                <a:cs typeface="Hepta Slab Regular" pitchFamily="34" charset="-120"/>
              </a:rPr>
              <a:t>Barriers to engagement with the Brand</a:t>
            </a:r>
          </a:p>
          <a:p>
            <a:pPr lvl="1" defTabSz="304815"/>
            <a:r>
              <a:rPr lang="en-US" sz="1600" dirty="0">
                <a:solidFill>
                  <a:srgbClr val="191919"/>
                </a:solidFill>
                <a:latin typeface="Hepta Slab Regular" pitchFamily="34" charset="0"/>
                <a:ea typeface="Hepta Slab Regular" pitchFamily="34" charset="-122"/>
                <a:cs typeface="Hepta Slab Regular" pitchFamily="34" charset="-120"/>
              </a:rPr>
              <a:t>Emotions and attitudes associated with the brand, product &amp; touchpoints &amp; their impact on customer </a:t>
            </a:r>
            <a:r>
              <a:rPr lang="en-US" sz="1600" dirty="0" err="1">
                <a:solidFill>
                  <a:srgbClr val="191919"/>
                </a:solidFill>
                <a:latin typeface="Hepta Slab Regular" pitchFamily="34" charset="0"/>
                <a:ea typeface="Hepta Slab Regular" pitchFamily="34" charset="-122"/>
                <a:cs typeface="Hepta Slab Regular" pitchFamily="34" charset="-120"/>
              </a:rPr>
              <a:t>behaviour</a:t>
            </a:r>
            <a:endParaRPr lang="en-US" sz="1600" dirty="0">
              <a:solidFill>
                <a:srgbClr val="191919"/>
              </a:solidFill>
              <a:latin typeface="Hepta Slab Regular" pitchFamily="34" charset="0"/>
              <a:ea typeface="Hepta Slab Regular" pitchFamily="34" charset="-122"/>
              <a:cs typeface="Hepta Slab Regular" pitchFamily="34" charset="-120"/>
            </a:endParaRPr>
          </a:p>
          <a:p>
            <a:pPr defTabSz="304815"/>
            <a:endParaRPr lang="en-US" sz="1600" dirty="0">
              <a:solidFill>
                <a:srgbClr val="191919"/>
              </a:solidFill>
              <a:latin typeface="Hepta Slab Regular" pitchFamily="34" charset="0"/>
              <a:ea typeface="Hepta Slab Regular" pitchFamily="34" charset="-122"/>
              <a:cs typeface="Hepta Slab Regular" pitchFamily="34" charset="-120"/>
            </a:endParaRPr>
          </a:p>
          <a:p>
            <a:pPr defTabSz="304815"/>
            <a:r>
              <a:rPr lang="en-US" sz="1600" dirty="0">
                <a:solidFill>
                  <a:srgbClr val="191919"/>
                </a:solidFill>
                <a:latin typeface="Hepta Slab Regular" pitchFamily="34" charset="0"/>
                <a:ea typeface="Hepta Slab Regular" pitchFamily="34" charset="-122"/>
                <a:cs typeface="Hepta Slab Regular" pitchFamily="34" charset="-120"/>
              </a:rPr>
              <a:t>Barriers to premium renewal transaction</a:t>
            </a:r>
          </a:p>
          <a:p>
            <a:pPr defTabSz="304815"/>
            <a:r>
              <a:rPr lang="en-US" sz="1600" dirty="0">
                <a:solidFill>
                  <a:srgbClr val="191919"/>
                </a:solidFill>
                <a:latin typeface="Hepta Slab Regular" pitchFamily="34" charset="0"/>
                <a:ea typeface="Hepta Slab Regular" pitchFamily="34" charset="-122"/>
                <a:cs typeface="Hepta Slab Regular" pitchFamily="34" charset="-120"/>
              </a:rPr>
              <a:t>	Areas of high effort and friction in the renewal transaction</a:t>
            </a:r>
          </a:p>
          <a:p>
            <a:pPr defTabSz="304815"/>
            <a:endParaRPr lang="en-US" sz="1600" dirty="0">
              <a:solidFill>
                <a:srgbClr val="191919"/>
              </a:solidFill>
              <a:latin typeface="Hepta Slab Regular" pitchFamily="34" charset="0"/>
              <a:ea typeface="Hepta Slab Regular" pitchFamily="34" charset="-122"/>
              <a:cs typeface="Hepta Slab Regular" pitchFamily="34" charset="-12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0488A26-90E9-4FBD-7EBC-6F895DD540B6}"/>
              </a:ext>
            </a:extLst>
          </p:cNvPr>
          <p:cNvGrpSpPr/>
          <p:nvPr/>
        </p:nvGrpSpPr>
        <p:grpSpPr>
          <a:xfrm>
            <a:off x="3749125" y="6380723"/>
            <a:ext cx="7266875" cy="319116"/>
            <a:chOff x="5647250" y="6623140"/>
            <a:chExt cx="10900313" cy="478674"/>
          </a:xfrm>
        </p:grpSpPr>
        <p:sp>
          <p:nvSpPr>
            <p:cNvPr id="11" name="Title 1">
              <a:extLst>
                <a:ext uri="{FF2B5EF4-FFF2-40B4-BE49-F238E27FC236}">
                  <a16:creationId xmlns:a16="http://schemas.microsoft.com/office/drawing/2014/main" id="{8CACD9CD-B916-EE10-01C4-C5A3ACE3F9FF}"/>
                </a:ext>
              </a:extLst>
            </p:cNvPr>
            <p:cNvSpPr txBox="1">
              <a:spLocks/>
            </p:cNvSpPr>
            <p:nvPr/>
          </p:nvSpPr>
          <p:spPr>
            <a:xfrm>
              <a:off x="8016631" y="6751854"/>
              <a:ext cx="6137989" cy="247401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 defTabSz="609630"/>
              <a:r>
                <a:rPr lang="en-IN" sz="800" dirty="0">
                  <a:solidFill>
                    <a:srgbClr val="E7E6E6">
                      <a:lumMod val="10000"/>
                    </a:srgbClr>
                  </a:solidFill>
                  <a:latin typeface="Montserrat Medium" pitchFamily="2" charset="0"/>
                  <a:cs typeface="Hepta Slab" pitchFamily="2" charset="0"/>
                </a:rPr>
                <a:t>TERRAGNI CONSULTING (P) LTD PRIVATE AND CONFIDENTIAL</a:t>
              </a: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E75ED141-618D-DDBC-9203-E1173198168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988" t="30266" r="17722" b="31281"/>
            <a:stretch/>
          </p:blipFill>
          <p:spPr>
            <a:xfrm>
              <a:off x="5647250" y="6623140"/>
              <a:ext cx="1595580" cy="478674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92619C5D-562C-E0F7-2859-FF29771649F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797" t="36048" r="14797" b="34013"/>
            <a:stretch/>
          </p:blipFill>
          <p:spPr>
            <a:xfrm>
              <a:off x="14847814" y="6683315"/>
              <a:ext cx="1699749" cy="361704"/>
            </a:xfrm>
            <a:prstGeom prst="rect">
              <a:avLst/>
            </a:prstGeom>
          </p:spPr>
        </p:pic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DBAB39F1-A8DD-9C63-5DF3-E65646477FA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6000" y="155774"/>
            <a:ext cx="2280000" cy="22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14941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CA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E4482F-1768-0708-5E75-3F20FF7A321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83"/>
          <a:stretch/>
        </p:blipFill>
        <p:spPr>
          <a:xfrm>
            <a:off x="0" y="-51000"/>
            <a:ext cx="3259334" cy="6909000"/>
          </a:xfrm>
          <a:prstGeom prst="rect">
            <a:avLst/>
          </a:prstGeom>
        </p:spPr>
      </p:pic>
      <p:sp>
        <p:nvSpPr>
          <p:cNvPr id="27" name="Object6">
            <a:extLst>
              <a:ext uri="{FF2B5EF4-FFF2-40B4-BE49-F238E27FC236}">
                <a16:creationId xmlns:a16="http://schemas.microsoft.com/office/drawing/2014/main" id="{9586A94B-61E5-D4FE-AF7D-AFC9F553AEE9}"/>
              </a:ext>
            </a:extLst>
          </p:cNvPr>
          <p:cNvSpPr/>
          <p:nvPr/>
        </p:nvSpPr>
        <p:spPr>
          <a:xfrm>
            <a:off x="340315" y="1569000"/>
            <a:ext cx="1913171" cy="40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304815"/>
            <a:r>
              <a:rPr lang="en-US" sz="1333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  <a:ea typeface="Montserrat ExtraBold" pitchFamily="34" charset="-122"/>
                <a:cs typeface="Montserrat ExtraBold" pitchFamily="34" charset="-120"/>
              </a:rPr>
              <a:t>Client Background</a:t>
            </a:r>
          </a:p>
          <a:p>
            <a:pPr defTabSz="304815"/>
            <a:endParaRPr lang="en-US" sz="1333" dirty="0">
              <a:solidFill>
                <a:srgbClr val="3C2472"/>
              </a:solidFill>
              <a:latin typeface="Montserrat SemiBold" pitchFamily="2" charset="0"/>
              <a:ea typeface="Montserrat ExtraBold" pitchFamily="34" charset="-122"/>
              <a:cs typeface="Montserrat ExtraBold" pitchFamily="34" charset="-120"/>
            </a:endParaRPr>
          </a:p>
          <a:p>
            <a:pPr defTabSz="304815"/>
            <a:r>
              <a:rPr lang="en-US" sz="1333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Challenge</a:t>
            </a:r>
          </a:p>
          <a:p>
            <a:pPr defTabSz="304815"/>
            <a:endParaRPr lang="en-US" sz="1333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304815"/>
            <a:r>
              <a:rPr lang="en-US" sz="1333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Objective</a:t>
            </a:r>
          </a:p>
          <a:p>
            <a:pPr defTabSz="304815"/>
            <a:endParaRPr lang="en-US" sz="1333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304815"/>
            <a:r>
              <a:rPr lang="en-US" sz="1333" dirty="0">
                <a:solidFill>
                  <a:srgbClr val="7030A0"/>
                </a:solidFill>
                <a:latin typeface="Montserrat SemiBold" pitchFamily="2" charset="0"/>
              </a:rPr>
              <a:t>What We Did</a:t>
            </a:r>
          </a:p>
          <a:p>
            <a:pPr defTabSz="304815"/>
            <a:endParaRPr lang="en-US" sz="1333" dirty="0">
              <a:solidFill>
                <a:srgbClr val="7030A0"/>
              </a:solidFill>
              <a:latin typeface="Montserrat SemiBold" pitchFamily="2" charset="0"/>
            </a:endParaRPr>
          </a:p>
          <a:p>
            <a:pPr defTabSz="304815"/>
            <a:r>
              <a:rPr lang="en-US" sz="1333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Strengths</a:t>
            </a:r>
          </a:p>
          <a:p>
            <a:pPr defTabSz="304815"/>
            <a:endParaRPr lang="en-US" sz="1333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304815"/>
            <a:r>
              <a:rPr lang="en-US" sz="1333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Opportunities</a:t>
            </a:r>
          </a:p>
          <a:p>
            <a:pPr defTabSz="304815"/>
            <a:endParaRPr lang="en-US" sz="1333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304815"/>
            <a:r>
              <a:rPr lang="en-US" sz="1333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Solutions</a:t>
            </a:r>
          </a:p>
          <a:p>
            <a:pPr defTabSz="304815"/>
            <a:endParaRPr lang="en-US" sz="1333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304815"/>
            <a:r>
              <a:rPr lang="en-US" sz="1333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Samples</a:t>
            </a:r>
          </a:p>
          <a:p>
            <a:pPr defTabSz="304815"/>
            <a:endParaRPr lang="en-US" sz="1333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304815"/>
            <a:r>
              <a:rPr lang="en-US" sz="1333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Business Outcomes</a:t>
            </a:r>
            <a:endParaRPr lang="en-US" sz="1333" dirty="0">
              <a:solidFill>
                <a:srgbClr val="817617"/>
              </a:solidFill>
              <a:latin typeface="Montserrat SemiBold" pitchFamily="2" charset="0"/>
            </a:endParaRPr>
          </a:p>
          <a:p>
            <a:pPr defTabSz="304815"/>
            <a:endParaRPr lang="en-US" sz="1333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0488A26-90E9-4FBD-7EBC-6F895DD540B6}"/>
              </a:ext>
            </a:extLst>
          </p:cNvPr>
          <p:cNvGrpSpPr/>
          <p:nvPr/>
        </p:nvGrpSpPr>
        <p:grpSpPr>
          <a:xfrm>
            <a:off x="3749125" y="6380723"/>
            <a:ext cx="7266875" cy="319116"/>
            <a:chOff x="5647250" y="6623140"/>
            <a:chExt cx="10900313" cy="478674"/>
          </a:xfrm>
        </p:grpSpPr>
        <p:sp>
          <p:nvSpPr>
            <p:cNvPr id="11" name="Title 1">
              <a:extLst>
                <a:ext uri="{FF2B5EF4-FFF2-40B4-BE49-F238E27FC236}">
                  <a16:creationId xmlns:a16="http://schemas.microsoft.com/office/drawing/2014/main" id="{8CACD9CD-B916-EE10-01C4-C5A3ACE3F9FF}"/>
                </a:ext>
              </a:extLst>
            </p:cNvPr>
            <p:cNvSpPr txBox="1">
              <a:spLocks/>
            </p:cNvSpPr>
            <p:nvPr/>
          </p:nvSpPr>
          <p:spPr>
            <a:xfrm>
              <a:off x="8016631" y="6751854"/>
              <a:ext cx="6137989" cy="247401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 defTabSz="609630"/>
              <a:r>
                <a:rPr lang="en-IN" sz="800" dirty="0">
                  <a:solidFill>
                    <a:srgbClr val="E7E6E6">
                      <a:lumMod val="10000"/>
                    </a:srgbClr>
                  </a:solidFill>
                  <a:latin typeface="Montserrat Medium" pitchFamily="2" charset="0"/>
                  <a:cs typeface="Hepta Slab" pitchFamily="2" charset="0"/>
                </a:rPr>
                <a:t>TERRAGNI CONSULTING (P) LTD PRIVATE AND CONFIDENTIAL</a:t>
              </a: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E75ED141-618D-DDBC-9203-E1173198168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988" t="30266" r="17722" b="31281"/>
            <a:stretch/>
          </p:blipFill>
          <p:spPr>
            <a:xfrm>
              <a:off x="5647250" y="6623140"/>
              <a:ext cx="1595580" cy="478674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92619C5D-562C-E0F7-2859-FF29771649F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797" t="36048" r="14797" b="34013"/>
            <a:stretch/>
          </p:blipFill>
          <p:spPr>
            <a:xfrm>
              <a:off x="14847814" y="6683315"/>
              <a:ext cx="1699749" cy="361704"/>
            </a:xfrm>
            <a:prstGeom prst="rect">
              <a:avLst/>
            </a:prstGeom>
          </p:spPr>
        </p:pic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DBAB39F1-A8DD-9C63-5DF3-E65646477FA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6000" y="78364"/>
            <a:ext cx="2280000" cy="2280000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B76901C9-BC0B-BF22-EA0F-51CFC7FB1766}"/>
              </a:ext>
            </a:extLst>
          </p:cNvPr>
          <p:cNvGrpSpPr/>
          <p:nvPr/>
        </p:nvGrpSpPr>
        <p:grpSpPr>
          <a:xfrm>
            <a:off x="3207438" y="520937"/>
            <a:ext cx="8334541" cy="6020824"/>
            <a:chOff x="2891767" y="838200"/>
            <a:chExt cx="17983858" cy="13388894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565848F4-4F4E-31A8-B823-C83D81921DA2}"/>
                </a:ext>
              </a:extLst>
            </p:cNvPr>
            <p:cNvSpPr/>
            <p:nvPr/>
          </p:nvSpPr>
          <p:spPr>
            <a:xfrm flipH="1">
              <a:off x="9516021" y="4578911"/>
              <a:ext cx="4563487" cy="4563489"/>
            </a:xfrm>
            <a:prstGeom prst="ellipse">
              <a:avLst/>
            </a:prstGeom>
            <a:solidFill>
              <a:srgbClr val="F5F3E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04815"/>
              <a:endParaRPr lang="ru-RU" sz="1733">
                <a:solidFill>
                  <a:prstClr val="white"/>
                </a:solidFill>
                <a:latin typeface="Calibri" panose="020F0502020204030204"/>
                <a:cs typeface="Hepta Slab" pitchFamily="2" charset="0"/>
              </a:endParaRP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20080B20-3A70-CADE-B6B5-8A8F94B12E0E}"/>
                </a:ext>
              </a:extLst>
            </p:cNvPr>
            <p:cNvCxnSpPr>
              <a:cxnSpLocks/>
            </p:cNvCxnSpPr>
            <p:nvPr/>
          </p:nvCxnSpPr>
          <p:spPr>
            <a:xfrm>
              <a:off x="3151388" y="6324600"/>
              <a:ext cx="7955022" cy="0"/>
            </a:xfrm>
            <a:prstGeom prst="line">
              <a:avLst/>
            </a:prstGeom>
            <a:ln w="63500">
              <a:solidFill>
                <a:srgbClr val="3C7E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8632947D-4C85-3162-7BF2-2856CA950EBC}"/>
                </a:ext>
              </a:extLst>
            </p:cNvPr>
            <p:cNvSpPr/>
            <p:nvPr/>
          </p:nvSpPr>
          <p:spPr>
            <a:xfrm>
              <a:off x="9536144" y="8340321"/>
              <a:ext cx="4563487" cy="4563489"/>
            </a:xfrm>
            <a:prstGeom prst="ellipse">
              <a:avLst/>
            </a:prstGeom>
            <a:solidFill>
              <a:srgbClr val="F5F3E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04815"/>
              <a:endParaRPr lang="ru-RU" sz="1733">
                <a:solidFill>
                  <a:prstClr val="white"/>
                </a:solidFill>
                <a:latin typeface="Calibri" panose="020F0502020204030204"/>
                <a:cs typeface="Hepta Slab" pitchFamily="2" charset="0"/>
              </a:endParaRP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6D09D019-7C8C-0E5B-545C-5549097F9757}"/>
                </a:ext>
              </a:extLst>
            </p:cNvPr>
            <p:cNvSpPr/>
            <p:nvPr/>
          </p:nvSpPr>
          <p:spPr>
            <a:xfrm>
              <a:off x="9536144" y="838200"/>
              <a:ext cx="4563487" cy="4563489"/>
            </a:xfrm>
            <a:prstGeom prst="ellipse">
              <a:avLst/>
            </a:prstGeom>
            <a:solidFill>
              <a:srgbClr val="F5F3E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04815"/>
              <a:endParaRPr lang="ru-RU" sz="1733">
                <a:solidFill>
                  <a:prstClr val="white"/>
                </a:solidFill>
                <a:latin typeface="Calibri" panose="020F0502020204030204"/>
                <a:cs typeface="Hepta Slab" pitchFamily="2" charset="0"/>
              </a:endParaRP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56F4B76B-750D-9F08-D1B1-DDD7C58C4B4C}"/>
                </a:ext>
              </a:extLst>
            </p:cNvPr>
            <p:cNvCxnSpPr>
              <a:cxnSpLocks/>
            </p:cNvCxnSpPr>
            <p:nvPr/>
          </p:nvCxnSpPr>
          <p:spPr>
            <a:xfrm>
              <a:off x="12768203" y="9996622"/>
              <a:ext cx="7955022" cy="0"/>
            </a:xfrm>
            <a:prstGeom prst="line">
              <a:avLst/>
            </a:prstGeom>
            <a:ln w="6350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CB6794E-D0B6-0318-281B-1900A6835191}"/>
                </a:ext>
              </a:extLst>
            </p:cNvPr>
            <p:cNvCxnSpPr>
              <a:cxnSpLocks/>
            </p:cNvCxnSpPr>
            <p:nvPr/>
          </p:nvCxnSpPr>
          <p:spPr>
            <a:xfrm>
              <a:off x="12768203" y="2376622"/>
              <a:ext cx="7955022" cy="0"/>
            </a:xfrm>
            <a:prstGeom prst="line">
              <a:avLst/>
            </a:prstGeom>
            <a:ln w="63500">
              <a:solidFill>
                <a:srgbClr val="FF36B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DF5DF05-39C7-F9AD-2409-B7C5D0833C05}"/>
                </a:ext>
              </a:extLst>
            </p:cNvPr>
            <p:cNvSpPr/>
            <p:nvPr/>
          </p:nvSpPr>
          <p:spPr>
            <a:xfrm>
              <a:off x="9536144" y="838200"/>
              <a:ext cx="2271103" cy="4562413"/>
            </a:xfrm>
            <a:custGeom>
              <a:avLst/>
              <a:gdLst>
                <a:gd name="connsiteX0" fmla="*/ 1791607 w 1791607"/>
                <a:gd name="connsiteY0" fmla="*/ 0 h 3599152"/>
                <a:gd name="connsiteX1" fmla="*/ 1791607 w 1791607"/>
                <a:gd name="connsiteY1" fmla="*/ 3599152 h 3599152"/>
                <a:gd name="connsiteX2" fmla="*/ 1615960 w 1791607"/>
                <a:gd name="connsiteY2" fmla="*/ 3590283 h 3599152"/>
                <a:gd name="connsiteX3" fmla="*/ 0 w 1791607"/>
                <a:gd name="connsiteY3" fmla="*/ 1799576 h 3599152"/>
                <a:gd name="connsiteX4" fmla="*/ 1615960 w 1791607"/>
                <a:gd name="connsiteY4" fmla="*/ 8869 h 3599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91607" h="3599152">
                  <a:moveTo>
                    <a:pt x="1791607" y="0"/>
                  </a:moveTo>
                  <a:lnTo>
                    <a:pt x="1791607" y="3599152"/>
                  </a:lnTo>
                  <a:lnTo>
                    <a:pt x="1615960" y="3590283"/>
                  </a:lnTo>
                  <a:cubicBezTo>
                    <a:pt x="708299" y="3498105"/>
                    <a:pt x="0" y="2731557"/>
                    <a:pt x="0" y="1799576"/>
                  </a:cubicBezTo>
                  <a:cubicBezTo>
                    <a:pt x="0" y="867595"/>
                    <a:pt x="708299" y="101047"/>
                    <a:pt x="1615960" y="8869"/>
                  </a:cubicBezTo>
                  <a:close/>
                </a:path>
              </a:pathLst>
            </a:custGeom>
            <a:solidFill>
              <a:srgbClr val="FF36BB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defTabSz="304815"/>
              <a:endParaRPr lang="ru-RU" sz="1733">
                <a:solidFill>
                  <a:prstClr val="white"/>
                </a:solidFill>
                <a:latin typeface="Calibri" panose="020F0502020204030204"/>
                <a:cs typeface="Hepta Slab" pitchFamily="2" charset="0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D658E3D6-58F4-5D47-D093-8C7B0477C4EC}"/>
                </a:ext>
              </a:extLst>
            </p:cNvPr>
            <p:cNvSpPr/>
            <p:nvPr/>
          </p:nvSpPr>
          <p:spPr>
            <a:xfrm flipH="1">
              <a:off x="11808403" y="4578911"/>
              <a:ext cx="2271104" cy="4562413"/>
            </a:xfrm>
            <a:custGeom>
              <a:avLst/>
              <a:gdLst>
                <a:gd name="connsiteX0" fmla="*/ 1791607 w 1791607"/>
                <a:gd name="connsiteY0" fmla="*/ 0 h 3599152"/>
                <a:gd name="connsiteX1" fmla="*/ 1791607 w 1791607"/>
                <a:gd name="connsiteY1" fmla="*/ 3599152 h 3599152"/>
                <a:gd name="connsiteX2" fmla="*/ 1615960 w 1791607"/>
                <a:gd name="connsiteY2" fmla="*/ 3590283 h 3599152"/>
                <a:gd name="connsiteX3" fmla="*/ 0 w 1791607"/>
                <a:gd name="connsiteY3" fmla="*/ 1799576 h 3599152"/>
                <a:gd name="connsiteX4" fmla="*/ 1615960 w 1791607"/>
                <a:gd name="connsiteY4" fmla="*/ 8869 h 3599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91607" h="3599152">
                  <a:moveTo>
                    <a:pt x="1791607" y="0"/>
                  </a:moveTo>
                  <a:lnTo>
                    <a:pt x="1791607" y="3599152"/>
                  </a:lnTo>
                  <a:lnTo>
                    <a:pt x="1615960" y="3590283"/>
                  </a:lnTo>
                  <a:cubicBezTo>
                    <a:pt x="708299" y="3498105"/>
                    <a:pt x="0" y="2731557"/>
                    <a:pt x="0" y="1799576"/>
                  </a:cubicBezTo>
                  <a:cubicBezTo>
                    <a:pt x="0" y="867595"/>
                    <a:pt x="708299" y="101047"/>
                    <a:pt x="1615960" y="8869"/>
                  </a:cubicBezTo>
                  <a:close/>
                </a:path>
              </a:pathLst>
            </a:custGeom>
            <a:solidFill>
              <a:srgbClr val="3C7E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defTabSz="304815"/>
              <a:endParaRPr lang="ru-RU" sz="1733">
                <a:solidFill>
                  <a:prstClr val="white"/>
                </a:solidFill>
                <a:latin typeface="Calibri" panose="020F0502020204030204"/>
                <a:cs typeface="Hepta Slab" pitchFamily="2" charset="0"/>
              </a:endParaRP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A20EE116-76D0-D987-0A50-9CC8EAC61194}"/>
                </a:ext>
              </a:extLst>
            </p:cNvPr>
            <p:cNvSpPr/>
            <p:nvPr/>
          </p:nvSpPr>
          <p:spPr>
            <a:xfrm>
              <a:off x="10338221" y="1640277"/>
              <a:ext cx="2959333" cy="2959333"/>
            </a:xfrm>
            <a:prstGeom prst="ellipse">
              <a:avLst/>
            </a:prstGeom>
            <a:solidFill>
              <a:srgbClr val="E1CAF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04815"/>
              <a:endParaRPr lang="ru-RU" sz="1733">
                <a:solidFill>
                  <a:prstClr val="white"/>
                </a:solidFill>
                <a:latin typeface="Calibri" panose="020F0502020204030204"/>
                <a:cs typeface="Hepta Slab" pitchFamily="2" charset="0"/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D11BE66-E4AD-8DCF-6172-1E1F00CC861D}"/>
                </a:ext>
              </a:extLst>
            </p:cNvPr>
            <p:cNvSpPr/>
            <p:nvPr/>
          </p:nvSpPr>
          <p:spPr>
            <a:xfrm>
              <a:off x="9536144" y="8340321"/>
              <a:ext cx="2271104" cy="4562413"/>
            </a:xfrm>
            <a:custGeom>
              <a:avLst/>
              <a:gdLst>
                <a:gd name="connsiteX0" fmla="*/ 1791607 w 1791607"/>
                <a:gd name="connsiteY0" fmla="*/ 0 h 3599152"/>
                <a:gd name="connsiteX1" fmla="*/ 1791607 w 1791607"/>
                <a:gd name="connsiteY1" fmla="*/ 3599152 h 3599152"/>
                <a:gd name="connsiteX2" fmla="*/ 1615960 w 1791607"/>
                <a:gd name="connsiteY2" fmla="*/ 3590283 h 3599152"/>
                <a:gd name="connsiteX3" fmla="*/ 0 w 1791607"/>
                <a:gd name="connsiteY3" fmla="*/ 1799576 h 3599152"/>
                <a:gd name="connsiteX4" fmla="*/ 1615960 w 1791607"/>
                <a:gd name="connsiteY4" fmla="*/ 8869 h 3599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91607" h="3599152">
                  <a:moveTo>
                    <a:pt x="1791607" y="0"/>
                  </a:moveTo>
                  <a:lnTo>
                    <a:pt x="1791607" y="3599152"/>
                  </a:lnTo>
                  <a:lnTo>
                    <a:pt x="1615960" y="3590283"/>
                  </a:lnTo>
                  <a:cubicBezTo>
                    <a:pt x="708299" y="3498105"/>
                    <a:pt x="0" y="2731557"/>
                    <a:pt x="0" y="1799576"/>
                  </a:cubicBezTo>
                  <a:cubicBezTo>
                    <a:pt x="0" y="867595"/>
                    <a:pt x="708299" y="101047"/>
                    <a:pt x="1615960" y="8869"/>
                  </a:cubicBezTo>
                  <a:close/>
                </a:path>
              </a:pathLst>
            </a:cu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defTabSz="304815"/>
              <a:endParaRPr lang="ru-RU" sz="1733" dirty="0">
                <a:solidFill>
                  <a:prstClr val="white"/>
                </a:solidFill>
                <a:latin typeface="Calibri" panose="020F0502020204030204"/>
                <a:cs typeface="Hepta Slab" pitchFamily="2" charset="0"/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690EEE64-7123-37BB-830B-1E8F88D1F0D9}"/>
                </a:ext>
              </a:extLst>
            </p:cNvPr>
            <p:cNvSpPr/>
            <p:nvPr/>
          </p:nvSpPr>
          <p:spPr>
            <a:xfrm>
              <a:off x="10338221" y="9142399"/>
              <a:ext cx="2959333" cy="2959333"/>
            </a:xfrm>
            <a:prstGeom prst="ellipse">
              <a:avLst/>
            </a:prstGeom>
            <a:solidFill>
              <a:srgbClr val="E1CAF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04815"/>
              <a:endParaRPr lang="ru-RU" sz="1733">
                <a:solidFill>
                  <a:prstClr val="white"/>
                </a:solidFill>
                <a:latin typeface="Calibri" panose="020F0502020204030204"/>
                <a:cs typeface="Hepta Slab" pitchFamily="2" charset="0"/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7F6E0B2-FFA3-00D2-4056-B7C3D3086BB6}"/>
                </a:ext>
              </a:extLst>
            </p:cNvPr>
            <p:cNvSpPr/>
            <p:nvPr/>
          </p:nvSpPr>
          <p:spPr>
            <a:xfrm flipH="1">
              <a:off x="10338221" y="5380988"/>
              <a:ext cx="2959333" cy="2959333"/>
            </a:xfrm>
            <a:prstGeom prst="ellipse">
              <a:avLst/>
            </a:prstGeom>
            <a:solidFill>
              <a:srgbClr val="E1CAF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04815"/>
              <a:endParaRPr lang="ru-RU" sz="1733">
                <a:solidFill>
                  <a:prstClr val="white"/>
                </a:solidFill>
                <a:latin typeface="Calibri" panose="020F0502020204030204"/>
                <a:cs typeface="Hepta Slab" pitchFamily="2" charset="0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8445061-807C-93A5-DD53-AA2A59A74014}"/>
                </a:ext>
              </a:extLst>
            </p:cNvPr>
            <p:cNvSpPr txBox="1"/>
            <p:nvPr/>
          </p:nvSpPr>
          <p:spPr>
            <a:xfrm>
              <a:off x="10953215" y="2863947"/>
              <a:ext cx="1860777" cy="733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1218203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733" b="1" spc="400" baseline="30000" dirty="0">
                  <a:solidFill>
                    <a:prstClr val="black"/>
                  </a:solidFill>
                  <a:latin typeface="Hepta Slab" pitchFamily="2" charset="0"/>
                  <a:ea typeface="Roboto Cn" pitchFamily="2" charset="0"/>
                  <a:cs typeface="Hepta Slab" pitchFamily="2" charset="0"/>
                </a:rPr>
                <a:t>1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8CC637C-1569-637D-6418-2BE0D8D036EE}"/>
                </a:ext>
              </a:extLst>
            </p:cNvPr>
            <p:cNvSpPr txBox="1"/>
            <p:nvPr/>
          </p:nvSpPr>
          <p:spPr>
            <a:xfrm>
              <a:off x="10907423" y="6529365"/>
              <a:ext cx="1860777" cy="733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1218203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733" b="1" spc="400" baseline="30000" dirty="0">
                  <a:solidFill>
                    <a:prstClr val="black"/>
                  </a:solidFill>
                  <a:latin typeface="Hepta Slab" pitchFamily="2" charset="0"/>
                  <a:ea typeface="Roboto Cn" pitchFamily="2" charset="0"/>
                  <a:cs typeface="Hepta Slab" pitchFamily="2" charset="0"/>
                </a:rPr>
                <a:t>2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00C31503-EA68-A9E4-D211-8FA7C67A7EB6}"/>
                </a:ext>
              </a:extLst>
            </p:cNvPr>
            <p:cNvSpPr txBox="1"/>
            <p:nvPr/>
          </p:nvSpPr>
          <p:spPr>
            <a:xfrm>
              <a:off x="10907423" y="10301265"/>
              <a:ext cx="1860777" cy="733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1218203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733" b="1" spc="400" baseline="30000" dirty="0">
                  <a:solidFill>
                    <a:prstClr val="black"/>
                  </a:solidFill>
                  <a:latin typeface="Hepta Slab" pitchFamily="2" charset="0"/>
                  <a:ea typeface="Roboto Cn" pitchFamily="2" charset="0"/>
                  <a:cs typeface="Hepta Slab" pitchFamily="2" charset="0"/>
                </a:rPr>
                <a:t>3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899E148A-5EBB-2782-0A69-932B340A96F9}"/>
                </a:ext>
              </a:extLst>
            </p:cNvPr>
            <p:cNvSpPr txBox="1"/>
            <p:nvPr/>
          </p:nvSpPr>
          <p:spPr>
            <a:xfrm>
              <a:off x="2891767" y="6915268"/>
              <a:ext cx="6664499" cy="42424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304815">
                <a:lnSpc>
                  <a:spcPct val="150000"/>
                </a:lnSpc>
                <a:spcBef>
                  <a:spcPts val="1600"/>
                </a:spcBef>
              </a:pPr>
              <a:r>
                <a:rPr lang="en-US" sz="1867" baseline="30000" dirty="0">
                  <a:solidFill>
                    <a:prstClr val="black"/>
                  </a:solidFill>
                  <a:latin typeface="Hepta Slab" pitchFamily="2" charset="0"/>
                  <a:ea typeface="Roboto Cn" pitchFamily="2" charset="0"/>
                  <a:cs typeface="Hepta Slab" pitchFamily="2" charset="0"/>
                </a:rPr>
                <a:t>Phenomenological in depth interactions for episodic recall.</a:t>
              </a:r>
            </a:p>
            <a:p>
              <a:pPr defTabSz="304815">
                <a:lnSpc>
                  <a:spcPct val="150000"/>
                </a:lnSpc>
                <a:spcBef>
                  <a:spcPts val="1600"/>
                </a:spcBef>
              </a:pPr>
              <a:r>
                <a:rPr lang="en-US" sz="1867" baseline="30000" dirty="0">
                  <a:solidFill>
                    <a:prstClr val="black"/>
                  </a:solidFill>
                  <a:latin typeface="Hepta Slab" pitchFamily="2" charset="0"/>
                  <a:ea typeface="Roboto Cn" pitchFamily="2" charset="0"/>
                  <a:cs typeface="Hepta Slab" pitchFamily="2" charset="0"/>
                </a:rPr>
                <a:t>One-on-One in-depth interactions, </a:t>
              </a:r>
            </a:p>
            <a:p>
              <a:pPr defTabSz="304815">
                <a:lnSpc>
                  <a:spcPct val="150000"/>
                </a:lnSpc>
                <a:spcBef>
                  <a:spcPts val="1600"/>
                </a:spcBef>
              </a:pPr>
              <a:r>
                <a:rPr lang="en-US" sz="1867" baseline="30000" dirty="0">
                  <a:solidFill>
                    <a:prstClr val="black"/>
                  </a:solidFill>
                  <a:latin typeface="Hepta Slab" pitchFamily="2" charset="0"/>
                  <a:ea typeface="Roboto Cn" pitchFamily="2" charset="0"/>
                  <a:cs typeface="Hepta Slab" pitchFamily="2" charset="0"/>
                </a:rPr>
                <a:t>50 hours of interview transcripts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F6E872C-84C9-BBC5-5863-AD745A6ED0C6}"/>
                </a:ext>
              </a:extLst>
            </p:cNvPr>
            <p:cNvSpPr txBox="1"/>
            <p:nvPr/>
          </p:nvSpPr>
          <p:spPr>
            <a:xfrm>
              <a:off x="2981562" y="5355742"/>
              <a:ext cx="5293665" cy="733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304815">
                <a:lnSpc>
                  <a:spcPct val="150000"/>
                </a:lnSpc>
              </a:pPr>
              <a:r>
                <a:rPr lang="en-US" sz="1733" b="1" baseline="30000" dirty="0">
                  <a:solidFill>
                    <a:srgbClr val="3C7EFF"/>
                  </a:solidFill>
                  <a:latin typeface="Hepta Slab" pitchFamily="2" charset="0"/>
                  <a:ea typeface="Roboto Cn" pitchFamily="2" charset="0"/>
                  <a:cs typeface="Hepta Slab" pitchFamily="2" charset="0"/>
                </a:rPr>
                <a:t>Qualitative Insights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0D17F3B5-3DF8-E2A0-D701-A7927DD1A407}"/>
                </a:ext>
              </a:extLst>
            </p:cNvPr>
            <p:cNvSpPr txBox="1"/>
            <p:nvPr/>
          </p:nvSpPr>
          <p:spPr>
            <a:xfrm>
              <a:off x="14941402" y="2925610"/>
              <a:ext cx="5934223" cy="1869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304815">
                <a:lnSpc>
                  <a:spcPct val="150000"/>
                </a:lnSpc>
                <a:spcBef>
                  <a:spcPts val="1600"/>
                </a:spcBef>
              </a:pPr>
              <a:r>
                <a:rPr lang="en-US" sz="1867" baseline="30000" dirty="0">
                  <a:solidFill>
                    <a:prstClr val="black"/>
                  </a:solidFill>
                  <a:latin typeface="Hepta Slab" pitchFamily="2" charset="0"/>
                  <a:ea typeface="Roboto Cn" pitchFamily="2" charset="0"/>
                  <a:cs typeface="Hepta Slab" pitchFamily="2" charset="0"/>
                </a:rPr>
                <a:t>2 lakh+ Records –</a:t>
              </a:r>
            </a:p>
            <a:p>
              <a:pPr defTabSz="304815">
                <a:lnSpc>
                  <a:spcPct val="150000"/>
                </a:lnSpc>
                <a:spcBef>
                  <a:spcPts val="1600"/>
                </a:spcBef>
              </a:pPr>
              <a:r>
                <a:rPr lang="en-US" sz="1867" baseline="30000" dirty="0">
                  <a:solidFill>
                    <a:prstClr val="black"/>
                  </a:solidFill>
                  <a:latin typeface="Hepta Slab" pitchFamily="2" charset="0"/>
                  <a:ea typeface="Roboto Cn" pitchFamily="2" charset="0"/>
                  <a:cs typeface="Hepta Slab" pitchFamily="2" charset="0"/>
                </a:rPr>
                <a:t>3 Years Time Span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A1356F9E-49CE-2C29-AADC-1470A776DC2D}"/>
                </a:ext>
              </a:extLst>
            </p:cNvPr>
            <p:cNvSpPr txBox="1"/>
            <p:nvPr/>
          </p:nvSpPr>
          <p:spPr>
            <a:xfrm>
              <a:off x="14941402" y="10440953"/>
              <a:ext cx="5934223" cy="37861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304815">
                <a:lnSpc>
                  <a:spcPct val="150000"/>
                </a:lnSpc>
                <a:spcBef>
                  <a:spcPts val="1600"/>
                </a:spcBef>
              </a:pPr>
              <a:r>
                <a:rPr lang="en-US" sz="1867" baseline="30000" dirty="0">
                  <a:solidFill>
                    <a:prstClr val="black"/>
                  </a:solidFill>
                  <a:latin typeface="Hepta Slab" pitchFamily="2" charset="0"/>
                  <a:ea typeface="Roboto Cn" pitchFamily="2" charset="0"/>
                  <a:cs typeface="Hepta Slab" pitchFamily="2" charset="0"/>
                </a:rPr>
                <a:t>Released to all the customer</a:t>
              </a:r>
            </a:p>
            <a:p>
              <a:pPr defTabSz="304815">
                <a:lnSpc>
                  <a:spcPct val="150000"/>
                </a:lnSpc>
                <a:spcBef>
                  <a:spcPts val="1600"/>
                </a:spcBef>
              </a:pPr>
              <a:r>
                <a:rPr lang="en-US" sz="1867" baseline="30000" dirty="0">
                  <a:solidFill>
                    <a:prstClr val="black"/>
                  </a:solidFill>
                  <a:latin typeface="Hepta Slab" pitchFamily="2" charset="0"/>
                  <a:ea typeface="Roboto Cn" pitchFamily="2" charset="0"/>
                  <a:cs typeface="Hepta Slab" pitchFamily="2" charset="0"/>
                </a:rPr>
                <a:t>online studies testing: Trustworthiness, Touch Points Interaction Friction, Redemption Insights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10D17DFE-BFC2-7D88-858C-A5776DBA61A6}"/>
                </a:ext>
              </a:extLst>
            </p:cNvPr>
            <p:cNvSpPr txBox="1"/>
            <p:nvPr/>
          </p:nvSpPr>
          <p:spPr>
            <a:xfrm>
              <a:off x="16149416" y="1475560"/>
              <a:ext cx="4726209" cy="733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defTabSz="304815">
                <a:lnSpc>
                  <a:spcPct val="150000"/>
                </a:lnSpc>
              </a:pPr>
              <a:r>
                <a:rPr lang="en-US" sz="1733" b="1" baseline="30000" dirty="0">
                  <a:solidFill>
                    <a:srgbClr val="FF36BB"/>
                  </a:solidFill>
                  <a:latin typeface="Hepta Slab" pitchFamily="2" charset="0"/>
                  <a:ea typeface="Roboto Cn" pitchFamily="2" charset="0"/>
                  <a:cs typeface="Hepta Slab" pitchFamily="2" charset="0"/>
                </a:rPr>
                <a:t>Quantitative Insights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0016DEAC-C186-7B73-480D-0F7BC12678DF}"/>
                </a:ext>
              </a:extLst>
            </p:cNvPr>
            <p:cNvSpPr txBox="1"/>
            <p:nvPr/>
          </p:nvSpPr>
          <p:spPr>
            <a:xfrm>
              <a:off x="15913397" y="8018337"/>
              <a:ext cx="4726209" cy="1919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defTabSz="304815">
                <a:lnSpc>
                  <a:spcPct val="150000"/>
                </a:lnSpc>
              </a:pPr>
              <a:r>
                <a:rPr lang="en-US" sz="1733" b="1" baseline="30000" dirty="0">
                  <a:solidFill>
                    <a:srgbClr val="7030A0"/>
                  </a:solidFill>
                  <a:latin typeface="Hepta Slab" pitchFamily="2" charset="0"/>
                  <a:ea typeface="Roboto Cn" pitchFamily="2" charset="0"/>
                  <a:cs typeface="Hepta Slab" pitchFamily="2" charset="0"/>
                </a:rPr>
                <a:t>Consumer Neuroscience Based Widespan Assessment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998045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E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E4482F-1768-0708-5E75-3F20FF7A321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83"/>
          <a:stretch/>
        </p:blipFill>
        <p:spPr>
          <a:xfrm>
            <a:off x="0" y="-51000"/>
            <a:ext cx="3259334" cy="6909000"/>
          </a:xfrm>
          <a:prstGeom prst="rect">
            <a:avLst/>
          </a:prstGeom>
        </p:spPr>
      </p:pic>
      <p:sp>
        <p:nvSpPr>
          <p:cNvPr id="27" name="Object6">
            <a:extLst>
              <a:ext uri="{FF2B5EF4-FFF2-40B4-BE49-F238E27FC236}">
                <a16:creationId xmlns:a16="http://schemas.microsoft.com/office/drawing/2014/main" id="{9586A94B-61E5-D4FE-AF7D-AFC9F553AEE9}"/>
              </a:ext>
            </a:extLst>
          </p:cNvPr>
          <p:cNvSpPr/>
          <p:nvPr/>
        </p:nvSpPr>
        <p:spPr>
          <a:xfrm>
            <a:off x="340315" y="1569000"/>
            <a:ext cx="1913171" cy="41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304815"/>
            <a:r>
              <a:rPr lang="en-US" sz="1333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  <a:ea typeface="Montserrat ExtraBold" pitchFamily="34" charset="-122"/>
                <a:cs typeface="Montserrat ExtraBold" pitchFamily="34" charset="-120"/>
              </a:rPr>
              <a:t>Client  Background</a:t>
            </a:r>
          </a:p>
          <a:p>
            <a:pPr defTabSz="304815"/>
            <a:endParaRPr lang="en-US" sz="1333" dirty="0">
              <a:solidFill>
                <a:srgbClr val="3C2472"/>
              </a:solidFill>
              <a:latin typeface="Montserrat SemiBold" pitchFamily="2" charset="0"/>
              <a:ea typeface="Montserrat ExtraBold" pitchFamily="34" charset="-122"/>
              <a:cs typeface="Montserrat ExtraBold" pitchFamily="34" charset="-120"/>
            </a:endParaRPr>
          </a:p>
          <a:p>
            <a:pPr defTabSz="304815"/>
            <a:r>
              <a:rPr lang="en-US" sz="1333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Challenge</a:t>
            </a:r>
          </a:p>
          <a:p>
            <a:pPr defTabSz="304815"/>
            <a:endParaRPr lang="en-US" sz="1333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304815"/>
            <a:r>
              <a:rPr lang="en-US" sz="1333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What We Did</a:t>
            </a:r>
          </a:p>
          <a:p>
            <a:pPr defTabSz="304815"/>
            <a:endParaRPr lang="en-US" sz="1333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304815"/>
            <a:r>
              <a:rPr lang="en-US" sz="1333" dirty="0">
                <a:solidFill>
                  <a:srgbClr val="FF36BB"/>
                </a:solidFill>
                <a:latin typeface="Montserrat SemiBold" pitchFamily="2" charset="0"/>
              </a:rPr>
              <a:t>Strengths</a:t>
            </a:r>
          </a:p>
          <a:p>
            <a:pPr defTabSz="304815"/>
            <a:endParaRPr lang="en-US" sz="1333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304815"/>
            <a:r>
              <a:rPr lang="en-US" sz="1333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Opportunities</a:t>
            </a:r>
          </a:p>
          <a:p>
            <a:pPr defTabSz="304815"/>
            <a:endParaRPr lang="en-US" sz="1333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304815"/>
            <a:r>
              <a:rPr lang="en-US" sz="1333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Solutions</a:t>
            </a:r>
          </a:p>
          <a:p>
            <a:pPr defTabSz="304815"/>
            <a:endParaRPr lang="en-US" sz="1333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304815"/>
            <a:r>
              <a:rPr lang="en-US" sz="1333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Samples</a:t>
            </a:r>
          </a:p>
          <a:p>
            <a:pPr defTabSz="304815"/>
            <a:endParaRPr lang="en-US" sz="1333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304815"/>
            <a:r>
              <a:rPr lang="en-US" sz="1333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Business Outcomes</a:t>
            </a:r>
            <a:endParaRPr lang="en-US" sz="1333" dirty="0">
              <a:solidFill>
                <a:srgbClr val="817617"/>
              </a:solidFill>
              <a:latin typeface="Montserrat SemiBold" pitchFamily="2" charset="0"/>
            </a:endParaRPr>
          </a:p>
          <a:p>
            <a:pPr defTabSz="304815"/>
            <a:endParaRPr lang="en-US" sz="1333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</p:txBody>
      </p:sp>
      <p:sp>
        <p:nvSpPr>
          <p:cNvPr id="11" name="Object5">
            <a:extLst>
              <a:ext uri="{FF2B5EF4-FFF2-40B4-BE49-F238E27FC236}">
                <a16:creationId xmlns:a16="http://schemas.microsoft.com/office/drawing/2014/main" id="{AF2AE1F4-E20B-A7B5-3FB6-517EA4463599}"/>
              </a:ext>
            </a:extLst>
          </p:cNvPr>
          <p:cNvSpPr/>
          <p:nvPr/>
        </p:nvSpPr>
        <p:spPr>
          <a:xfrm>
            <a:off x="3693304" y="2949000"/>
            <a:ext cx="6725392" cy="1920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304815">
              <a:lnSpc>
                <a:spcPct val="150000"/>
              </a:lnSpc>
            </a:pPr>
            <a:r>
              <a:rPr lang="en-US" sz="1600" dirty="0">
                <a:solidFill>
                  <a:srgbClr val="191919"/>
                </a:solidFill>
                <a:latin typeface="Hepta Slab Regular" pitchFamily="2" charset="0"/>
                <a:ea typeface="Hepta Slab Regular" pitchFamily="34" charset="-122"/>
                <a:cs typeface="Hepta Slab Regular" pitchFamily="2" charset="0"/>
              </a:rPr>
              <a:t>Claim Settlement Ratio- **.** %</a:t>
            </a:r>
          </a:p>
          <a:p>
            <a:pPr defTabSz="304815">
              <a:lnSpc>
                <a:spcPct val="150000"/>
              </a:lnSpc>
            </a:pPr>
            <a:endParaRPr lang="en-US" sz="1600" dirty="0">
              <a:solidFill>
                <a:srgbClr val="191919"/>
              </a:solidFill>
              <a:latin typeface="Hepta Slab Regular" pitchFamily="2" charset="0"/>
              <a:ea typeface="Hepta Slab Regular" pitchFamily="34" charset="-122"/>
              <a:cs typeface="Hepta Slab Regular" pitchFamily="2" charset="0"/>
            </a:endParaRPr>
          </a:p>
          <a:p>
            <a:pPr defTabSz="304815">
              <a:lnSpc>
                <a:spcPct val="150000"/>
              </a:lnSpc>
            </a:pPr>
            <a:r>
              <a:rPr lang="en-US" sz="1600" dirty="0">
                <a:solidFill>
                  <a:srgbClr val="191919"/>
                </a:solidFill>
                <a:latin typeface="Hepta Slab Regular" pitchFamily="2" charset="0"/>
                <a:ea typeface="Hepta Slab Regular" pitchFamily="34" charset="-122"/>
                <a:cs typeface="Hepta Slab Regular" pitchFamily="2" charset="0"/>
              </a:rPr>
              <a:t>Reach in terms of physical presence is high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9E045C1-1251-FE30-130C-9DC2AA1EF199}"/>
              </a:ext>
            </a:extLst>
          </p:cNvPr>
          <p:cNvGrpSpPr/>
          <p:nvPr/>
        </p:nvGrpSpPr>
        <p:grpSpPr>
          <a:xfrm>
            <a:off x="3749125" y="6380723"/>
            <a:ext cx="7266875" cy="319116"/>
            <a:chOff x="5647250" y="6623140"/>
            <a:chExt cx="10900313" cy="478674"/>
          </a:xfrm>
        </p:grpSpPr>
        <p:sp>
          <p:nvSpPr>
            <p:cNvPr id="13" name="Title 1">
              <a:extLst>
                <a:ext uri="{FF2B5EF4-FFF2-40B4-BE49-F238E27FC236}">
                  <a16:creationId xmlns:a16="http://schemas.microsoft.com/office/drawing/2014/main" id="{B7BA6A16-9D4F-FA25-FD17-0449B850D193}"/>
                </a:ext>
              </a:extLst>
            </p:cNvPr>
            <p:cNvSpPr txBox="1">
              <a:spLocks/>
            </p:cNvSpPr>
            <p:nvPr/>
          </p:nvSpPr>
          <p:spPr>
            <a:xfrm>
              <a:off x="8016631" y="6751854"/>
              <a:ext cx="6137989" cy="247401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 defTabSz="609630"/>
              <a:r>
                <a:rPr lang="en-IN" sz="800" dirty="0">
                  <a:solidFill>
                    <a:srgbClr val="E7E6E6">
                      <a:lumMod val="10000"/>
                    </a:srgbClr>
                  </a:solidFill>
                  <a:latin typeface="Montserrat Medium" pitchFamily="2" charset="0"/>
                  <a:cs typeface="Hepta Slab" pitchFamily="2" charset="0"/>
                </a:rPr>
                <a:t>TERRAGNI CONSULTING (P) LTD PRIVATE AND CONFIDENTIAL</a:t>
              </a:r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54B03109-3077-637C-316F-2F728FDB14E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988" t="30266" r="17722" b="31281"/>
            <a:stretch/>
          </p:blipFill>
          <p:spPr>
            <a:xfrm>
              <a:off x="5647250" y="6623140"/>
              <a:ext cx="1595580" cy="478674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E55A7324-E25B-D700-96D2-482A5C6DC6A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797" t="36048" r="14797" b="34013"/>
            <a:stretch/>
          </p:blipFill>
          <p:spPr>
            <a:xfrm>
              <a:off x="14847814" y="6683315"/>
              <a:ext cx="1699749" cy="361704"/>
            </a:xfrm>
            <a:prstGeom prst="rect">
              <a:avLst/>
            </a:prstGeom>
          </p:spPr>
        </p:pic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F5ABEE6D-C58F-6254-E38D-61686310BD2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9333" y="0"/>
            <a:ext cx="2749111" cy="2749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999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A6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E4482F-1768-0708-5E75-3F20FF7A321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83"/>
          <a:stretch/>
        </p:blipFill>
        <p:spPr>
          <a:xfrm>
            <a:off x="0" y="-51000"/>
            <a:ext cx="3259334" cy="6909000"/>
          </a:xfrm>
          <a:prstGeom prst="rect">
            <a:avLst/>
          </a:prstGeom>
        </p:spPr>
      </p:pic>
      <p:sp>
        <p:nvSpPr>
          <p:cNvPr id="27" name="Object6">
            <a:extLst>
              <a:ext uri="{FF2B5EF4-FFF2-40B4-BE49-F238E27FC236}">
                <a16:creationId xmlns:a16="http://schemas.microsoft.com/office/drawing/2014/main" id="{9586A94B-61E5-D4FE-AF7D-AFC9F553AEE9}"/>
              </a:ext>
            </a:extLst>
          </p:cNvPr>
          <p:cNvSpPr/>
          <p:nvPr/>
        </p:nvSpPr>
        <p:spPr>
          <a:xfrm>
            <a:off x="340315" y="1569000"/>
            <a:ext cx="1913171" cy="40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304815"/>
            <a:r>
              <a:rPr lang="en-US" sz="1333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  <a:ea typeface="Montserrat ExtraBold" pitchFamily="34" charset="-122"/>
                <a:cs typeface="Montserrat ExtraBold" pitchFamily="34" charset="-120"/>
              </a:rPr>
              <a:t>Client  Background</a:t>
            </a:r>
          </a:p>
          <a:p>
            <a:pPr defTabSz="304815"/>
            <a:endParaRPr lang="en-US" sz="1333" dirty="0">
              <a:solidFill>
                <a:srgbClr val="3C2472"/>
              </a:solidFill>
              <a:latin typeface="Montserrat SemiBold" pitchFamily="2" charset="0"/>
              <a:ea typeface="Montserrat ExtraBold" pitchFamily="34" charset="-122"/>
              <a:cs typeface="Montserrat ExtraBold" pitchFamily="34" charset="-120"/>
            </a:endParaRPr>
          </a:p>
          <a:p>
            <a:pPr defTabSz="304815"/>
            <a:r>
              <a:rPr lang="en-US" sz="1333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Challenge</a:t>
            </a:r>
          </a:p>
          <a:p>
            <a:pPr defTabSz="304815"/>
            <a:endParaRPr lang="en-US" sz="1333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304815"/>
            <a:r>
              <a:rPr lang="en-US" sz="1333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What We Did</a:t>
            </a:r>
          </a:p>
          <a:p>
            <a:pPr defTabSz="304815"/>
            <a:endParaRPr lang="en-US" sz="1333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304815"/>
            <a:r>
              <a:rPr lang="en-US" sz="1333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Strengths</a:t>
            </a:r>
          </a:p>
          <a:p>
            <a:pPr defTabSz="304815"/>
            <a:endParaRPr lang="en-US" sz="1333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304815"/>
            <a:r>
              <a:rPr lang="en-US" sz="1333" dirty="0">
                <a:solidFill>
                  <a:srgbClr val="7030A0"/>
                </a:solidFill>
                <a:latin typeface="Montserrat SemiBold" pitchFamily="2" charset="0"/>
              </a:rPr>
              <a:t>Opportunities</a:t>
            </a:r>
          </a:p>
          <a:p>
            <a:pPr defTabSz="304815"/>
            <a:endParaRPr lang="en-US" sz="1333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304815"/>
            <a:r>
              <a:rPr lang="en-US" sz="1333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Solutions</a:t>
            </a:r>
          </a:p>
          <a:p>
            <a:pPr defTabSz="304815"/>
            <a:endParaRPr lang="en-US" sz="1333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304815"/>
            <a:r>
              <a:rPr lang="en-US" sz="1333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Samples</a:t>
            </a:r>
          </a:p>
          <a:p>
            <a:pPr defTabSz="304815"/>
            <a:endParaRPr lang="en-US" sz="1333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304815"/>
            <a:r>
              <a:rPr lang="en-US" sz="1333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Business Outcomes</a:t>
            </a:r>
            <a:endParaRPr lang="en-US" sz="1333" dirty="0">
              <a:solidFill>
                <a:srgbClr val="817617"/>
              </a:solidFill>
              <a:latin typeface="Montserrat SemiBold" pitchFamily="2" charset="0"/>
            </a:endParaRPr>
          </a:p>
          <a:p>
            <a:pPr defTabSz="304815"/>
            <a:endParaRPr lang="en-US" sz="1333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</p:txBody>
      </p:sp>
      <p:sp>
        <p:nvSpPr>
          <p:cNvPr id="11" name="Object5">
            <a:extLst>
              <a:ext uri="{FF2B5EF4-FFF2-40B4-BE49-F238E27FC236}">
                <a16:creationId xmlns:a16="http://schemas.microsoft.com/office/drawing/2014/main" id="{AF2AE1F4-E20B-A7B5-3FB6-517EA4463599}"/>
              </a:ext>
            </a:extLst>
          </p:cNvPr>
          <p:cNvSpPr/>
          <p:nvPr/>
        </p:nvSpPr>
        <p:spPr>
          <a:xfrm>
            <a:off x="3690608" y="2949001"/>
            <a:ext cx="6005792" cy="952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304815"/>
            <a:r>
              <a:rPr lang="en-US" sz="1600" dirty="0">
                <a:solidFill>
                  <a:srgbClr val="191919"/>
                </a:solidFill>
                <a:latin typeface="Hepta Slab Regular" pitchFamily="2" charset="0"/>
                <a:ea typeface="Hepta Slab Regular" pitchFamily="34" charset="-122"/>
                <a:cs typeface="Hepta Slab Regular" pitchFamily="2" charset="0"/>
              </a:rPr>
              <a:t>Transparency – Totality &amp; Intuitiveness</a:t>
            </a:r>
          </a:p>
          <a:p>
            <a:pPr defTabSz="304815"/>
            <a:endParaRPr lang="en-US" sz="1600" dirty="0">
              <a:solidFill>
                <a:srgbClr val="191919"/>
              </a:solidFill>
              <a:latin typeface="Hepta Slab Regular" pitchFamily="2" charset="0"/>
              <a:ea typeface="Hepta Slab Regular" pitchFamily="34" charset="-122"/>
              <a:cs typeface="Hepta Slab Regular" pitchFamily="2" charset="0"/>
            </a:endParaRPr>
          </a:p>
          <a:p>
            <a:pPr defTabSz="304815"/>
            <a:r>
              <a:rPr lang="en-US" sz="1600" dirty="0">
                <a:solidFill>
                  <a:srgbClr val="191919"/>
                </a:solidFill>
                <a:latin typeface="Hepta Slab Regular" pitchFamily="2" charset="0"/>
                <a:ea typeface="Hepta Slab Regular" pitchFamily="34" charset="-122"/>
                <a:cs typeface="Hepta Slab Regular" pitchFamily="2" charset="0"/>
              </a:rPr>
              <a:t>Consistency-Across the entire lifecycle</a:t>
            </a:r>
          </a:p>
          <a:p>
            <a:pPr defTabSz="304815"/>
            <a:endParaRPr lang="en-US" sz="1600" dirty="0">
              <a:solidFill>
                <a:srgbClr val="191919"/>
              </a:solidFill>
              <a:latin typeface="Hepta Slab Regular" pitchFamily="2" charset="0"/>
              <a:ea typeface="Hepta Slab Regular" pitchFamily="34" charset="-122"/>
              <a:cs typeface="Hepta Slab Regular" pitchFamily="2" charset="0"/>
            </a:endParaRPr>
          </a:p>
          <a:p>
            <a:pPr defTabSz="304815"/>
            <a:r>
              <a:rPr lang="en-US" sz="1600" dirty="0">
                <a:solidFill>
                  <a:srgbClr val="191919"/>
                </a:solidFill>
                <a:latin typeface="Hepta Slab Regular" pitchFamily="2" charset="0"/>
                <a:ea typeface="Hepta Slab Regular" pitchFamily="34" charset="-122"/>
                <a:cs typeface="Hepta Slab Regular" pitchFamily="2" charset="0"/>
              </a:rPr>
              <a:t>Flexibility- Ability to control outcome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5B7EA54-163A-BB31-C796-143ECA0C0394}"/>
              </a:ext>
            </a:extLst>
          </p:cNvPr>
          <p:cNvGrpSpPr/>
          <p:nvPr/>
        </p:nvGrpSpPr>
        <p:grpSpPr>
          <a:xfrm>
            <a:off x="3749125" y="6380723"/>
            <a:ext cx="7266875" cy="319116"/>
            <a:chOff x="5647250" y="6623140"/>
            <a:chExt cx="10900313" cy="478674"/>
          </a:xfrm>
        </p:grpSpPr>
        <p:sp>
          <p:nvSpPr>
            <p:cNvPr id="19" name="Title 1">
              <a:extLst>
                <a:ext uri="{FF2B5EF4-FFF2-40B4-BE49-F238E27FC236}">
                  <a16:creationId xmlns:a16="http://schemas.microsoft.com/office/drawing/2014/main" id="{13D9AA4D-07B3-ACC1-DF75-F0E4B678BA52}"/>
                </a:ext>
              </a:extLst>
            </p:cNvPr>
            <p:cNvSpPr txBox="1">
              <a:spLocks/>
            </p:cNvSpPr>
            <p:nvPr/>
          </p:nvSpPr>
          <p:spPr>
            <a:xfrm>
              <a:off x="8016631" y="6751854"/>
              <a:ext cx="6137989" cy="247401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 defTabSz="609630"/>
              <a:r>
                <a:rPr lang="en-IN" sz="800" dirty="0">
                  <a:solidFill>
                    <a:srgbClr val="E7E6E6">
                      <a:lumMod val="10000"/>
                    </a:srgbClr>
                  </a:solidFill>
                  <a:latin typeface="Montserrat Medium" pitchFamily="2" charset="0"/>
                  <a:cs typeface="Hepta Slab" pitchFamily="2" charset="0"/>
                </a:rPr>
                <a:t>TERRAGNI CONSULTING (P) LTD PRIVATE AND CONFIDENTIAL</a:t>
              </a:r>
            </a:p>
          </p:txBody>
        </p: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CE564903-E8F1-840A-73EB-1EECB40D327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988" t="30266" r="17722" b="31281"/>
            <a:stretch/>
          </p:blipFill>
          <p:spPr>
            <a:xfrm>
              <a:off x="5647250" y="6623140"/>
              <a:ext cx="1595580" cy="478674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339FDEA7-D275-32BA-FFD4-4E1DE27D9D4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797" t="36048" r="14797" b="34013"/>
            <a:stretch/>
          </p:blipFill>
          <p:spPr>
            <a:xfrm>
              <a:off x="14847814" y="6683315"/>
              <a:ext cx="1699749" cy="361704"/>
            </a:xfrm>
            <a:prstGeom prst="rect">
              <a:avLst/>
            </a:prstGeom>
          </p:spPr>
        </p:pic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FA5D43F2-F6C9-0223-5434-97FF434368A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79" t="-21740" r="-4179" b="21740"/>
          <a:stretch/>
        </p:blipFill>
        <p:spPr>
          <a:xfrm>
            <a:off x="2806016" y="-495421"/>
            <a:ext cx="2807288" cy="2807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60227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17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E1DB550-F1ED-303D-9DC0-540691ED07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6001" y="-33749"/>
            <a:ext cx="2426243" cy="242624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3E4482F-1768-0708-5E75-3F20FF7A321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83"/>
          <a:stretch/>
        </p:blipFill>
        <p:spPr>
          <a:xfrm>
            <a:off x="0" y="-51000"/>
            <a:ext cx="3259334" cy="6909000"/>
          </a:xfrm>
          <a:prstGeom prst="rect">
            <a:avLst/>
          </a:prstGeom>
        </p:spPr>
      </p:pic>
      <p:sp>
        <p:nvSpPr>
          <p:cNvPr id="27" name="Object6">
            <a:extLst>
              <a:ext uri="{FF2B5EF4-FFF2-40B4-BE49-F238E27FC236}">
                <a16:creationId xmlns:a16="http://schemas.microsoft.com/office/drawing/2014/main" id="{9586A94B-61E5-D4FE-AF7D-AFC9F553AEE9}"/>
              </a:ext>
            </a:extLst>
          </p:cNvPr>
          <p:cNvSpPr/>
          <p:nvPr/>
        </p:nvSpPr>
        <p:spPr>
          <a:xfrm>
            <a:off x="340315" y="1569000"/>
            <a:ext cx="1913171" cy="40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304815"/>
            <a:r>
              <a:rPr lang="en-US" sz="1333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  <a:ea typeface="Montserrat ExtraBold" pitchFamily="34" charset="-122"/>
                <a:cs typeface="Montserrat ExtraBold" pitchFamily="34" charset="-120"/>
              </a:rPr>
              <a:t>Client  Background</a:t>
            </a:r>
          </a:p>
          <a:p>
            <a:pPr defTabSz="304815"/>
            <a:endParaRPr lang="en-US" sz="1333" dirty="0">
              <a:solidFill>
                <a:srgbClr val="3C2472"/>
              </a:solidFill>
              <a:latin typeface="Montserrat SemiBold" pitchFamily="2" charset="0"/>
              <a:ea typeface="Montserrat ExtraBold" pitchFamily="34" charset="-122"/>
              <a:cs typeface="Montserrat ExtraBold" pitchFamily="34" charset="-120"/>
            </a:endParaRPr>
          </a:p>
          <a:p>
            <a:pPr defTabSz="304815"/>
            <a:r>
              <a:rPr lang="en-US" sz="1333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Challenge</a:t>
            </a:r>
          </a:p>
          <a:p>
            <a:pPr defTabSz="304815"/>
            <a:endParaRPr lang="en-US" sz="1333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304815"/>
            <a:r>
              <a:rPr lang="en-US" sz="1333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What We Did</a:t>
            </a:r>
          </a:p>
          <a:p>
            <a:pPr defTabSz="304815"/>
            <a:endParaRPr lang="en-US" sz="1333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304815"/>
            <a:r>
              <a:rPr lang="en-US" sz="1333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Strengths</a:t>
            </a:r>
          </a:p>
          <a:p>
            <a:pPr defTabSz="304815"/>
            <a:endParaRPr lang="en-US" sz="1333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304815"/>
            <a:r>
              <a:rPr lang="en-US" sz="1333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Opportunities</a:t>
            </a:r>
          </a:p>
          <a:p>
            <a:pPr defTabSz="304815"/>
            <a:endParaRPr lang="en-US" sz="1333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304815"/>
            <a:r>
              <a:rPr lang="en-US" sz="1333" dirty="0">
                <a:solidFill>
                  <a:srgbClr val="817617"/>
                </a:solidFill>
                <a:latin typeface="Montserrat SemiBold" pitchFamily="2" charset="0"/>
              </a:rPr>
              <a:t>Solutions</a:t>
            </a:r>
          </a:p>
          <a:p>
            <a:pPr defTabSz="304815"/>
            <a:endParaRPr lang="en-US" sz="1333" dirty="0">
              <a:solidFill>
                <a:srgbClr val="817617"/>
              </a:solidFill>
              <a:latin typeface="Montserrat SemiBold" pitchFamily="2" charset="0"/>
            </a:endParaRPr>
          </a:p>
          <a:p>
            <a:pPr defTabSz="304815"/>
            <a:r>
              <a:rPr lang="en-US" sz="1333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Samples</a:t>
            </a:r>
            <a:endParaRPr lang="en-US" sz="1333" dirty="0">
              <a:solidFill>
                <a:srgbClr val="817617"/>
              </a:solidFill>
              <a:latin typeface="Montserrat SemiBold" pitchFamily="2" charset="0"/>
            </a:endParaRPr>
          </a:p>
          <a:p>
            <a:pPr defTabSz="304815"/>
            <a:endParaRPr lang="en-US" sz="1333" dirty="0">
              <a:solidFill>
                <a:srgbClr val="817617"/>
              </a:solidFill>
              <a:latin typeface="Montserrat SemiBold" pitchFamily="2" charset="0"/>
            </a:endParaRPr>
          </a:p>
          <a:p>
            <a:pPr defTabSz="304815"/>
            <a:r>
              <a:rPr lang="en-US" sz="1333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Business Outcomes</a:t>
            </a:r>
            <a:endParaRPr lang="en-US" sz="1333" dirty="0">
              <a:solidFill>
                <a:srgbClr val="817617"/>
              </a:solidFill>
              <a:latin typeface="Montserrat SemiBold" pitchFamily="2" charset="0"/>
            </a:endParaRPr>
          </a:p>
          <a:p>
            <a:pPr defTabSz="304815"/>
            <a:endParaRPr lang="en-US" sz="1333" dirty="0">
              <a:solidFill>
                <a:srgbClr val="817617"/>
              </a:solidFill>
              <a:latin typeface="Montserrat SemiBold" pitchFamily="2" charset="0"/>
            </a:endParaRPr>
          </a:p>
        </p:txBody>
      </p:sp>
      <p:sp>
        <p:nvSpPr>
          <p:cNvPr id="11" name="Object5">
            <a:extLst>
              <a:ext uri="{FF2B5EF4-FFF2-40B4-BE49-F238E27FC236}">
                <a16:creationId xmlns:a16="http://schemas.microsoft.com/office/drawing/2014/main" id="{AF2AE1F4-E20B-A7B5-3FB6-517EA4463599}"/>
              </a:ext>
            </a:extLst>
          </p:cNvPr>
          <p:cNvSpPr/>
          <p:nvPr/>
        </p:nvSpPr>
        <p:spPr>
          <a:xfrm>
            <a:off x="3691729" y="2528900"/>
            <a:ext cx="7696859" cy="782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304815"/>
            <a:r>
              <a:rPr lang="en-US" sz="1600" dirty="0">
                <a:solidFill>
                  <a:srgbClr val="F5F3E4"/>
                </a:solidFill>
                <a:latin typeface="Hepta Slab SemiBold" pitchFamily="2" charset="0"/>
                <a:ea typeface="Hepta Slab Regular" pitchFamily="34" charset="-122"/>
                <a:cs typeface="Hepta Slab SemiBold" pitchFamily="2" charset="0"/>
              </a:rPr>
              <a:t>Design</a:t>
            </a:r>
          </a:p>
          <a:p>
            <a:pPr defTabSz="304815"/>
            <a:endParaRPr lang="en-US" sz="1600" dirty="0">
              <a:solidFill>
                <a:srgbClr val="F5F3E4"/>
              </a:solidFill>
              <a:latin typeface="Hepta Slab Regular" pitchFamily="2" charset="0"/>
              <a:ea typeface="Hepta Slab Regular" pitchFamily="34" charset="-122"/>
              <a:cs typeface="Hepta Slab Regular" pitchFamily="2" charset="0"/>
            </a:endParaRPr>
          </a:p>
          <a:p>
            <a:pPr defTabSz="304815"/>
            <a:r>
              <a:rPr lang="en-US" sz="1600" dirty="0">
                <a:solidFill>
                  <a:srgbClr val="F5F3E4"/>
                </a:solidFill>
                <a:latin typeface="Hepta Slab Regular" pitchFamily="2" charset="0"/>
                <a:ea typeface="Hepta Slab Regular" pitchFamily="34" charset="-122"/>
                <a:cs typeface="Hepta Slab Regular" pitchFamily="2" charset="0"/>
              </a:rPr>
              <a:t>Relevant and timely nudges to drive customer </a:t>
            </a:r>
            <a:r>
              <a:rPr lang="en-US" sz="1600" dirty="0" err="1">
                <a:solidFill>
                  <a:srgbClr val="F5F3E4"/>
                </a:solidFill>
                <a:latin typeface="Hepta Slab Regular" pitchFamily="2" charset="0"/>
                <a:ea typeface="Hepta Slab Regular" pitchFamily="34" charset="-122"/>
                <a:cs typeface="Hepta Slab Regular" pitchFamily="2" charset="0"/>
              </a:rPr>
              <a:t>behaviour</a:t>
            </a:r>
            <a:r>
              <a:rPr lang="en-US" sz="1600" dirty="0">
                <a:solidFill>
                  <a:srgbClr val="F5F3E4"/>
                </a:solidFill>
                <a:latin typeface="Hepta Slab Regular" pitchFamily="2" charset="0"/>
                <a:ea typeface="Hepta Slab Regular" pitchFamily="34" charset="-122"/>
                <a:cs typeface="Hepta Slab Regular" pitchFamily="2" charset="0"/>
              </a:rPr>
              <a:t> shifts (EAST* framework for </a:t>
            </a:r>
            <a:r>
              <a:rPr lang="en-US" sz="1600" dirty="0" err="1">
                <a:solidFill>
                  <a:srgbClr val="F5F3E4"/>
                </a:solidFill>
                <a:latin typeface="Hepta Slab Regular" pitchFamily="2" charset="0"/>
                <a:ea typeface="Hepta Slab Regular" pitchFamily="34" charset="-122"/>
                <a:cs typeface="Hepta Slab Regular" pitchFamily="2" charset="0"/>
              </a:rPr>
              <a:t>behaviour</a:t>
            </a:r>
            <a:r>
              <a:rPr lang="en-US" sz="1600" dirty="0">
                <a:solidFill>
                  <a:srgbClr val="F5F3E4"/>
                </a:solidFill>
                <a:latin typeface="Hepta Slab Regular" pitchFamily="2" charset="0"/>
                <a:ea typeface="Hepta Slab Regular" pitchFamily="34" charset="-122"/>
                <a:cs typeface="Hepta Slab Regular" pitchFamily="2" charset="0"/>
              </a:rPr>
              <a:t> shifts)</a:t>
            </a:r>
          </a:p>
          <a:p>
            <a:pPr defTabSz="304815"/>
            <a:endParaRPr lang="en-US" sz="1600" dirty="0">
              <a:solidFill>
                <a:srgbClr val="F5F3E4"/>
              </a:solidFill>
              <a:latin typeface="Hepta Slab Regular" pitchFamily="2" charset="0"/>
              <a:ea typeface="Hepta Slab Regular" pitchFamily="34" charset="-122"/>
              <a:cs typeface="Hepta Slab Regular" pitchFamily="2" charset="0"/>
            </a:endParaRPr>
          </a:p>
          <a:p>
            <a:pPr defTabSz="304815"/>
            <a:r>
              <a:rPr lang="en-US" sz="1600" dirty="0">
                <a:solidFill>
                  <a:srgbClr val="F5F3E4"/>
                </a:solidFill>
                <a:latin typeface="Hepta Slab SemiBold" pitchFamily="2" charset="0"/>
                <a:ea typeface="Hepta Slab Regular" pitchFamily="34" charset="-122"/>
                <a:cs typeface="Hepta Slab SemiBold" pitchFamily="2" charset="0"/>
              </a:rPr>
              <a:t>Re-Design</a:t>
            </a:r>
          </a:p>
          <a:p>
            <a:pPr defTabSz="304815"/>
            <a:endParaRPr lang="en-US" sz="1600" dirty="0">
              <a:solidFill>
                <a:srgbClr val="F5F3E4"/>
              </a:solidFill>
              <a:latin typeface="Hepta Slab Regular" pitchFamily="2" charset="0"/>
              <a:ea typeface="Hepta Slab Regular" pitchFamily="34" charset="-122"/>
              <a:cs typeface="Hepta Slab Regular" pitchFamily="2" charset="0"/>
            </a:endParaRPr>
          </a:p>
          <a:p>
            <a:pPr defTabSz="304815"/>
            <a:r>
              <a:rPr lang="en-US" sz="1600" dirty="0">
                <a:solidFill>
                  <a:srgbClr val="F5F3E4"/>
                </a:solidFill>
                <a:latin typeface="Hepta Slab Regular" pitchFamily="2" charset="0"/>
                <a:ea typeface="Hepta Slab Regular" pitchFamily="34" charset="-122"/>
                <a:cs typeface="Hepta Slab Regular" pitchFamily="2" charset="0"/>
              </a:rPr>
              <a:t>Premium Renewal Processes</a:t>
            </a:r>
          </a:p>
          <a:p>
            <a:pPr defTabSz="304815"/>
            <a:r>
              <a:rPr lang="en-US" sz="1600" dirty="0">
                <a:solidFill>
                  <a:srgbClr val="F5F3E4"/>
                </a:solidFill>
                <a:latin typeface="Hepta Slab Regular" pitchFamily="2" charset="0"/>
                <a:ea typeface="Hepta Slab Regular" pitchFamily="34" charset="-122"/>
                <a:cs typeface="Hepta Slab Regular" pitchFamily="2" charset="0"/>
              </a:rPr>
              <a:t>Touchpoints</a:t>
            </a:r>
          </a:p>
          <a:p>
            <a:pPr defTabSz="304815"/>
            <a:r>
              <a:rPr lang="en-US" sz="1600" dirty="0">
                <a:solidFill>
                  <a:srgbClr val="F5F3E4"/>
                </a:solidFill>
                <a:latin typeface="Hepta Slab Regular" pitchFamily="2" charset="0"/>
                <a:ea typeface="Hepta Slab Regular" pitchFamily="34" charset="-122"/>
                <a:cs typeface="Hepta Slab Regular" pitchFamily="2" charset="0"/>
              </a:rPr>
              <a:t>Customer  Communication </a:t>
            </a:r>
          </a:p>
          <a:p>
            <a:pPr defTabSz="304815"/>
            <a:r>
              <a:rPr lang="en-US" sz="1600" dirty="0">
                <a:solidFill>
                  <a:srgbClr val="F5F3E4"/>
                </a:solidFill>
                <a:latin typeface="Hepta Slab Regular" pitchFamily="2" charset="0"/>
                <a:ea typeface="Hepta Slab Regular" pitchFamily="34" charset="-122"/>
                <a:cs typeface="Hepta Slab Regular" pitchFamily="2" charset="0"/>
              </a:rPr>
              <a:t>Customer Data Enrichment</a:t>
            </a:r>
          </a:p>
          <a:p>
            <a:pPr defTabSz="304815"/>
            <a:r>
              <a:rPr lang="en-US" sz="1600" dirty="0">
                <a:solidFill>
                  <a:srgbClr val="F5F3E4"/>
                </a:solidFill>
                <a:latin typeface="Hepta Slab Regular" pitchFamily="2" charset="0"/>
                <a:ea typeface="Hepta Slab Regular" pitchFamily="34" charset="-122"/>
                <a:cs typeface="Hepta Slab Regular" pitchFamily="2" charset="0"/>
              </a:rPr>
              <a:t>For </a:t>
            </a:r>
            <a:r>
              <a:rPr lang="en-US" sz="1600" dirty="0" err="1">
                <a:solidFill>
                  <a:srgbClr val="F5F3E4"/>
                </a:solidFill>
                <a:latin typeface="Hepta Slab Regular" pitchFamily="2" charset="0"/>
                <a:ea typeface="Hepta Slab Regular" pitchFamily="34" charset="-122"/>
                <a:cs typeface="Hepta Slab Regular" pitchFamily="2" charset="0"/>
              </a:rPr>
              <a:t>focussed</a:t>
            </a:r>
            <a:r>
              <a:rPr lang="en-US" sz="1600" dirty="0">
                <a:solidFill>
                  <a:srgbClr val="F5F3E4"/>
                </a:solidFill>
                <a:latin typeface="Hepta Slab Regular" pitchFamily="2" charset="0"/>
                <a:ea typeface="Hepta Slab Regular" pitchFamily="34" charset="-122"/>
                <a:cs typeface="Hepta Slab Regular" pitchFamily="2" charset="0"/>
              </a:rPr>
              <a:t> solution delivery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EA62BCD-F6D9-441A-B2D5-CD4E98969517}"/>
              </a:ext>
            </a:extLst>
          </p:cNvPr>
          <p:cNvGrpSpPr/>
          <p:nvPr/>
        </p:nvGrpSpPr>
        <p:grpSpPr>
          <a:xfrm>
            <a:off x="3690609" y="6309000"/>
            <a:ext cx="7275789" cy="480001"/>
            <a:chOff x="5535913" y="9283499"/>
            <a:chExt cx="10913683" cy="720001"/>
          </a:xfrm>
        </p:grpSpPr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E8A22581-630E-02A7-0EF8-6114431B65D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882773" y="9511053"/>
              <a:ext cx="1566823" cy="238735"/>
            </a:xfrm>
            <a:prstGeom prst="rect">
              <a:avLst/>
            </a:prstGeom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C55B5FDB-01C4-6269-F110-A270604FB1E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127" t="21918" r="12518" b="19802"/>
            <a:stretch/>
          </p:blipFill>
          <p:spPr>
            <a:xfrm>
              <a:off x="5535913" y="9283499"/>
              <a:ext cx="1810243" cy="720001"/>
            </a:xfrm>
            <a:prstGeom prst="rect">
              <a:avLst/>
            </a:prstGeom>
          </p:spPr>
        </p:pic>
        <p:sp>
          <p:nvSpPr>
            <p:cNvPr id="30" name="Title 1">
              <a:extLst>
                <a:ext uri="{FF2B5EF4-FFF2-40B4-BE49-F238E27FC236}">
                  <a16:creationId xmlns:a16="http://schemas.microsoft.com/office/drawing/2014/main" id="{AB4E9D9F-2682-FF3A-594B-F6CA471CA0D0}"/>
                </a:ext>
              </a:extLst>
            </p:cNvPr>
            <p:cNvSpPr txBox="1">
              <a:spLocks/>
            </p:cNvSpPr>
            <p:nvPr/>
          </p:nvSpPr>
          <p:spPr>
            <a:xfrm>
              <a:off x="7993069" y="9519798"/>
              <a:ext cx="6137989" cy="247401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 defTabSz="609630"/>
              <a:r>
                <a:rPr lang="en-IN" sz="800" dirty="0">
                  <a:solidFill>
                    <a:prstClr val="white"/>
                  </a:solidFill>
                  <a:latin typeface="Montserrat Medium" pitchFamily="2" charset="0"/>
                  <a:cs typeface="Hepta Slab" pitchFamily="2" charset="0"/>
                </a:rPr>
                <a:t>TERRAGNI CONSULTING (P) LTD PRIVATE AND CONFIDENTIAL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085931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AC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924300" y="673101"/>
            <a:ext cx="4341691" cy="5506535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2374900" y="2357862"/>
            <a:ext cx="1237553" cy="402447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39750" y="457200"/>
            <a:ext cx="276225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630">
              <a:lnSpc>
                <a:spcPts val="1700"/>
              </a:lnSpc>
            </a:pPr>
            <a:r>
              <a:rPr lang="en-US" sz="14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SAMPLE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1"/>
          <p:cNvSpPr/>
          <p:nvPr/>
        </p:nvSpPr>
        <p:spPr>
          <a:xfrm>
            <a:off x="4083050" y="840755"/>
            <a:ext cx="2741700" cy="31327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630">
              <a:lnSpc>
                <a:spcPts val="2353"/>
              </a:lnSpc>
            </a:pPr>
            <a:r>
              <a:rPr lang="en-US" sz="2353" dirty="0">
                <a:solidFill>
                  <a:srgbClr val="9C5B00"/>
                </a:solidFill>
                <a:latin typeface="Itim Regular" pitchFamily="34" charset="0"/>
                <a:ea typeface="Itim Regular" pitchFamily="34" charset="-122"/>
                <a:cs typeface="Itim Regular" pitchFamily="34" charset="-120"/>
              </a:rPr>
              <a:t>You forgot!
Your premium is due!
Every step towards your child’s dreams counts.
And you’re about</a:t>
            </a:r>
            <a:br>
              <a:rPr sz="1200" dirty="0">
                <a:solidFill>
                  <a:prstClr val="black"/>
                </a:solidFill>
                <a:latin typeface="Calibri" panose="020F0502020204030204"/>
              </a:rPr>
            </a:br>
            <a:r>
              <a:rPr lang="en-US" sz="2353" dirty="0">
                <a:solidFill>
                  <a:srgbClr val="9C5B00"/>
                </a:solidFill>
                <a:latin typeface="Itim Regular" pitchFamily="34" charset="0"/>
                <a:ea typeface="Itim Regular" pitchFamily="34" charset="-122"/>
                <a:cs typeface="Itim Regular" pitchFamily="34" charset="-120"/>
              </a:rPr>
              <a:t>to miss one!</a:t>
            </a:r>
            <a:endParaRPr lang="en-US" sz="235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2"/>
          <p:cNvSpPr/>
          <p:nvPr/>
        </p:nvSpPr>
        <p:spPr>
          <a:xfrm>
            <a:off x="4064000" y="4551489"/>
            <a:ext cx="129888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630">
              <a:lnSpc>
                <a:spcPts val="1971"/>
              </a:lnSpc>
            </a:pPr>
            <a:r>
              <a:rPr lang="en-US" sz="1699" dirty="0">
                <a:solidFill>
                  <a:srgbClr val="FFFFFF"/>
                </a:solidFill>
                <a:latin typeface="Inter Extra Bold" pitchFamily="34" charset="0"/>
                <a:ea typeface="Inter Extra Bold" pitchFamily="34" charset="-122"/>
                <a:cs typeface="Inter Extra Bold" pitchFamily="34" charset="-120"/>
              </a:rPr>
              <a:t>Take 
the step. 
</a:t>
            </a:r>
            <a:r>
              <a:rPr lang="en-US" sz="1699" dirty="0">
                <a:solidFill>
                  <a:srgbClr val="FFFFFF"/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Pay your policy premium now.</a:t>
            </a:r>
            <a:endParaRPr lang="en-US" sz="1699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3"/>
          <p:cNvSpPr/>
          <p:nvPr/>
        </p:nvSpPr>
        <p:spPr>
          <a:xfrm>
            <a:off x="6762750" y="5676621"/>
            <a:ext cx="13843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630">
              <a:lnSpc>
                <a:spcPts val="1453"/>
              </a:lnSpc>
            </a:pPr>
            <a:r>
              <a:rPr lang="en-US" sz="1699" dirty="0">
                <a:solidFill>
                  <a:srgbClr val="1E1E1E"/>
                </a:solidFill>
                <a:latin typeface="Michroma Regular" pitchFamily="34" charset="0"/>
                <a:ea typeface="Michroma Regular" pitchFamily="34" charset="-122"/>
                <a:cs typeface="Michroma Regular" pitchFamily="34" charset="-120"/>
              </a:rPr>
              <a:t>Evolve 
Insurance</a:t>
            </a:r>
            <a:endParaRPr lang="en-US" sz="1699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4"/>
          <p:cNvSpPr/>
          <p:nvPr/>
        </p:nvSpPr>
        <p:spPr>
          <a:xfrm>
            <a:off x="1466850" y="2114550"/>
            <a:ext cx="136525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630">
              <a:lnSpc>
                <a:spcPts val="1100"/>
              </a:lnSpc>
            </a:pPr>
            <a:r>
              <a:rPr lang="en-US" sz="1400" kern="0" spc="-50" dirty="0">
                <a:solidFill>
                  <a:srgbClr val="000000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Goal relevance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696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527800" y="895350"/>
            <a:ext cx="5632450" cy="596265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333500" y="895350"/>
            <a:ext cx="5632450" cy="596265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704850" y="3619500"/>
            <a:ext cx="859698" cy="754469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355600" y="317500"/>
            <a:ext cx="276225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630">
              <a:lnSpc>
                <a:spcPts val="1700"/>
              </a:lnSpc>
            </a:pPr>
            <a:r>
              <a:rPr lang="en-US" sz="14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SAMPLE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1"/>
          <p:cNvSpPr/>
          <p:nvPr/>
        </p:nvSpPr>
        <p:spPr>
          <a:xfrm>
            <a:off x="3536950" y="723900"/>
            <a:ext cx="8318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630">
              <a:lnSpc>
                <a:spcPts val="1700"/>
              </a:lnSpc>
            </a:pPr>
            <a:r>
              <a:rPr lang="en-US" sz="1400" dirty="0">
                <a:solidFill>
                  <a:srgbClr val="191919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Before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2"/>
          <p:cNvSpPr/>
          <p:nvPr/>
        </p:nvSpPr>
        <p:spPr>
          <a:xfrm>
            <a:off x="8934450" y="774700"/>
            <a:ext cx="8318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630">
              <a:lnSpc>
                <a:spcPts val="1700"/>
              </a:lnSpc>
            </a:pPr>
            <a:r>
              <a:rPr lang="en-US" sz="1400" dirty="0">
                <a:solidFill>
                  <a:srgbClr val="191919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After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3"/>
          <p:cNvSpPr/>
          <p:nvPr/>
        </p:nvSpPr>
        <p:spPr>
          <a:xfrm>
            <a:off x="196850" y="4489450"/>
            <a:ext cx="136525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630">
              <a:lnSpc>
                <a:spcPts val="1100"/>
              </a:lnSpc>
            </a:pPr>
            <a:r>
              <a:rPr lang="en-US" sz="1400" kern="0" spc="-50" dirty="0">
                <a:solidFill>
                  <a:srgbClr val="000000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Empathy Gap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E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E4482F-1768-0708-5E75-3F20FF7A321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83"/>
          <a:stretch/>
        </p:blipFill>
        <p:spPr>
          <a:xfrm>
            <a:off x="0" y="-51000"/>
            <a:ext cx="3259334" cy="6909000"/>
          </a:xfrm>
          <a:prstGeom prst="rect">
            <a:avLst/>
          </a:prstGeom>
        </p:spPr>
      </p:pic>
      <p:sp>
        <p:nvSpPr>
          <p:cNvPr id="27" name="Object6">
            <a:extLst>
              <a:ext uri="{FF2B5EF4-FFF2-40B4-BE49-F238E27FC236}">
                <a16:creationId xmlns:a16="http://schemas.microsoft.com/office/drawing/2014/main" id="{9586A94B-61E5-D4FE-AF7D-AFC9F553AEE9}"/>
              </a:ext>
            </a:extLst>
          </p:cNvPr>
          <p:cNvSpPr/>
          <p:nvPr/>
        </p:nvSpPr>
        <p:spPr>
          <a:xfrm>
            <a:off x="340315" y="1569000"/>
            <a:ext cx="1913171" cy="4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304815"/>
            <a:r>
              <a:rPr lang="en-US" sz="1333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  <a:ea typeface="Montserrat ExtraBold" pitchFamily="34" charset="-122"/>
                <a:cs typeface="Montserrat ExtraBold" pitchFamily="34" charset="-120"/>
              </a:rPr>
              <a:t>Client  Background</a:t>
            </a:r>
          </a:p>
          <a:p>
            <a:pPr defTabSz="304815"/>
            <a:endParaRPr lang="en-US" sz="1333" dirty="0">
              <a:solidFill>
                <a:srgbClr val="3C2472"/>
              </a:solidFill>
              <a:latin typeface="Montserrat SemiBold" pitchFamily="2" charset="0"/>
              <a:ea typeface="Montserrat ExtraBold" pitchFamily="34" charset="-122"/>
              <a:cs typeface="Montserrat ExtraBold" pitchFamily="34" charset="-120"/>
            </a:endParaRPr>
          </a:p>
          <a:p>
            <a:pPr defTabSz="304815"/>
            <a:r>
              <a:rPr lang="en-US" sz="1333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Challenge</a:t>
            </a:r>
          </a:p>
          <a:p>
            <a:pPr defTabSz="304815"/>
            <a:endParaRPr lang="en-US" sz="1333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304815"/>
            <a:r>
              <a:rPr lang="en-US" sz="1333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What We Did</a:t>
            </a:r>
          </a:p>
          <a:p>
            <a:pPr defTabSz="304815"/>
            <a:endParaRPr lang="en-US" sz="1333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304815"/>
            <a:r>
              <a:rPr lang="en-US" sz="1333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Strengths</a:t>
            </a:r>
          </a:p>
          <a:p>
            <a:pPr defTabSz="304815"/>
            <a:endParaRPr lang="en-US" sz="1333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304815"/>
            <a:r>
              <a:rPr lang="en-US" sz="1333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Opportunities</a:t>
            </a:r>
          </a:p>
          <a:p>
            <a:pPr defTabSz="304815"/>
            <a:endParaRPr lang="en-US" sz="1333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304815"/>
            <a:r>
              <a:rPr lang="en-US" sz="1333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Solutions</a:t>
            </a:r>
          </a:p>
          <a:p>
            <a:pPr defTabSz="304815"/>
            <a:endParaRPr lang="en-US" sz="1333" dirty="0">
              <a:solidFill>
                <a:prstClr val="white">
                  <a:lumMod val="75000"/>
                </a:prstClr>
              </a:solidFill>
              <a:latin typeface="Montserrat SemiBold" pitchFamily="2" charset="0"/>
            </a:endParaRPr>
          </a:p>
          <a:p>
            <a:pPr defTabSz="304815"/>
            <a:r>
              <a:rPr lang="en-US" sz="1333" dirty="0">
                <a:solidFill>
                  <a:prstClr val="white">
                    <a:lumMod val="75000"/>
                  </a:prstClr>
                </a:solidFill>
                <a:latin typeface="Montserrat SemiBold" pitchFamily="2" charset="0"/>
              </a:rPr>
              <a:t>Samples</a:t>
            </a:r>
          </a:p>
          <a:p>
            <a:pPr defTabSz="304815"/>
            <a:endParaRPr lang="en-US" sz="1333" dirty="0">
              <a:solidFill>
                <a:srgbClr val="817617"/>
              </a:solidFill>
              <a:latin typeface="Montserrat SemiBold" pitchFamily="2" charset="0"/>
            </a:endParaRPr>
          </a:p>
          <a:p>
            <a:pPr defTabSz="304815"/>
            <a:r>
              <a:rPr lang="en-US" sz="1333" dirty="0">
                <a:solidFill>
                  <a:srgbClr val="002060"/>
                </a:solidFill>
                <a:latin typeface="Montserrat SemiBold" pitchFamily="2" charset="0"/>
              </a:rPr>
              <a:t>Business Outcomes</a:t>
            </a:r>
          </a:p>
        </p:txBody>
      </p:sp>
      <p:sp>
        <p:nvSpPr>
          <p:cNvPr id="15" name="Object4">
            <a:extLst>
              <a:ext uri="{FF2B5EF4-FFF2-40B4-BE49-F238E27FC236}">
                <a16:creationId xmlns:a16="http://schemas.microsoft.com/office/drawing/2014/main" id="{905BF8BE-E126-A81E-05B2-03B371733F08}"/>
              </a:ext>
            </a:extLst>
          </p:cNvPr>
          <p:cNvSpPr/>
          <p:nvPr/>
        </p:nvSpPr>
        <p:spPr>
          <a:xfrm>
            <a:off x="3755740" y="2780928"/>
            <a:ext cx="8161077" cy="14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304815">
              <a:lnSpc>
                <a:spcPct val="200000"/>
              </a:lnSpc>
            </a:pPr>
            <a:r>
              <a:rPr lang="en-IN" sz="1600" dirty="0">
                <a:solidFill>
                  <a:srgbClr val="7030A0"/>
                </a:solidFill>
                <a:latin typeface="Noto Emoji" panose="05020103010202020202" pitchFamily="18" charset="0"/>
                <a:ea typeface="Noto Emoji" panose="05020103010202020202" pitchFamily="18" charset="0"/>
                <a:cs typeface="Hepta Slab Regular" pitchFamily="2" charset="0"/>
              </a:rPr>
              <a:t>⬆</a:t>
            </a:r>
            <a:r>
              <a:rPr lang="en-US" sz="1600" dirty="0">
                <a:solidFill>
                  <a:srgbClr val="191919"/>
                </a:solidFill>
                <a:latin typeface="Hepta Slab Regular" pitchFamily="2" charset="0"/>
                <a:cs typeface="Hepta Slab Regular" pitchFamily="2" charset="0"/>
              </a:rPr>
              <a:t>Improved Persistency </a:t>
            </a:r>
          </a:p>
          <a:p>
            <a:pPr defTabSz="304815">
              <a:lnSpc>
                <a:spcPct val="200000"/>
              </a:lnSpc>
            </a:pPr>
            <a:r>
              <a:rPr lang="en-IN" sz="1600" dirty="0">
                <a:solidFill>
                  <a:srgbClr val="7030A0"/>
                </a:solidFill>
                <a:latin typeface="Noto Emoji" panose="05020103010202020202" pitchFamily="18" charset="0"/>
                <a:ea typeface="Noto Emoji" panose="05020103010202020202" pitchFamily="18" charset="0"/>
                <a:cs typeface="Hepta Slab Regular" pitchFamily="2" charset="0"/>
              </a:rPr>
              <a:t>⬆</a:t>
            </a:r>
            <a:r>
              <a:rPr lang="en-US" sz="1600" dirty="0">
                <a:solidFill>
                  <a:srgbClr val="191919"/>
                </a:solidFill>
                <a:latin typeface="Hepta Slab Regular" pitchFamily="2" charset="0"/>
                <a:cs typeface="Hepta Slab Regular" pitchFamily="2" charset="0"/>
              </a:rPr>
              <a:t>Enhanced Digital (online) Adoption</a:t>
            </a:r>
          </a:p>
          <a:p>
            <a:pPr defTabSz="304815">
              <a:lnSpc>
                <a:spcPct val="200000"/>
              </a:lnSpc>
            </a:pPr>
            <a:r>
              <a:rPr lang="en-IN" sz="1600" dirty="0">
                <a:solidFill>
                  <a:srgbClr val="7030A0"/>
                </a:solidFill>
                <a:latin typeface="Noto Emoji" panose="05020103010202020202" pitchFamily="18" charset="0"/>
                <a:ea typeface="Noto Emoji" panose="05020103010202020202" pitchFamily="18" charset="0"/>
                <a:cs typeface="Hepta Slab Regular" pitchFamily="2" charset="0"/>
              </a:rPr>
              <a:t>⬇</a:t>
            </a:r>
            <a:r>
              <a:rPr lang="en-US" sz="1600" dirty="0">
                <a:solidFill>
                  <a:srgbClr val="191919"/>
                </a:solidFill>
                <a:latin typeface="Hepta Slab Regular" pitchFamily="2" charset="0"/>
                <a:cs typeface="Hepta Slab Regular" pitchFamily="2" charset="0"/>
              </a:rPr>
              <a:t>Reduced Cost of Service</a:t>
            </a:r>
          </a:p>
          <a:p>
            <a:pPr defTabSz="304815">
              <a:lnSpc>
                <a:spcPct val="200000"/>
              </a:lnSpc>
            </a:pPr>
            <a:r>
              <a:rPr lang="en-IN" sz="1600" dirty="0">
                <a:solidFill>
                  <a:srgbClr val="7030A0"/>
                </a:solidFill>
                <a:latin typeface="Noto Emoji" panose="05020103010202020202" pitchFamily="18" charset="0"/>
                <a:ea typeface="Noto Emoji" panose="05020103010202020202" pitchFamily="18" charset="0"/>
                <a:cs typeface="Hepta Slab Regular" pitchFamily="2" charset="0"/>
              </a:rPr>
              <a:t>⬆</a:t>
            </a:r>
            <a:r>
              <a:rPr lang="en-US" sz="1600" dirty="0">
                <a:solidFill>
                  <a:srgbClr val="191919"/>
                </a:solidFill>
                <a:latin typeface="Hepta Slab Regular" pitchFamily="2" charset="0"/>
                <a:cs typeface="Hepta Slab Regular" pitchFamily="2" charset="0"/>
              </a:rPr>
              <a:t>Enhanced Customer Connect and </a:t>
            </a:r>
            <a:r>
              <a:rPr lang="en-US" sz="1600" dirty="0" err="1">
                <a:solidFill>
                  <a:srgbClr val="191919"/>
                </a:solidFill>
                <a:latin typeface="Hepta Slab Regular" pitchFamily="2" charset="0"/>
                <a:cs typeface="Hepta Slab Regular" pitchFamily="2" charset="0"/>
              </a:rPr>
              <a:t>Contactability</a:t>
            </a:r>
            <a:endParaRPr lang="en-US" sz="1600" dirty="0">
              <a:solidFill>
                <a:srgbClr val="191919"/>
              </a:solidFill>
              <a:latin typeface="Hepta Slab Regular" pitchFamily="2" charset="0"/>
              <a:cs typeface="Hepta Slab Regular" pitchFamily="2" charset="0"/>
            </a:endParaRPr>
          </a:p>
          <a:p>
            <a:pPr defTabSz="304815">
              <a:lnSpc>
                <a:spcPct val="200000"/>
              </a:lnSpc>
            </a:pPr>
            <a:endParaRPr lang="en-US" sz="1600" dirty="0">
              <a:solidFill>
                <a:srgbClr val="191919"/>
              </a:solidFill>
              <a:latin typeface="Hepta Slab Regular" pitchFamily="2" charset="0"/>
              <a:cs typeface="Hepta Slab Regular" pitchFamily="2" charset="0"/>
            </a:endParaRPr>
          </a:p>
          <a:p>
            <a:pPr defTabSz="304815">
              <a:lnSpc>
                <a:spcPct val="200000"/>
              </a:lnSpc>
            </a:pPr>
            <a:endParaRPr lang="en-US" sz="1600" dirty="0">
              <a:solidFill>
                <a:srgbClr val="191919"/>
              </a:solidFill>
              <a:latin typeface="Hepta Slab Regular" pitchFamily="2" charset="0"/>
              <a:cs typeface="Hepta Slab Regular" pitchFamily="2" charset="0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A693E3A-0875-8DFA-B1D5-9E79C03643C1}"/>
              </a:ext>
            </a:extLst>
          </p:cNvPr>
          <p:cNvGrpSpPr/>
          <p:nvPr/>
        </p:nvGrpSpPr>
        <p:grpSpPr>
          <a:xfrm>
            <a:off x="3690609" y="6309000"/>
            <a:ext cx="7275789" cy="480001"/>
            <a:chOff x="5535913" y="9283499"/>
            <a:chExt cx="10913683" cy="720001"/>
          </a:xfrm>
        </p:grpSpPr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7B34A65A-FF03-3C15-5691-2B5F5EF5807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882773" y="9511053"/>
              <a:ext cx="1566823" cy="238735"/>
            </a:xfrm>
            <a:prstGeom prst="rect">
              <a:avLst/>
            </a:prstGeom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3382DA11-7442-5E5E-B45F-429A69B40B4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127" t="21918" r="12518" b="19802"/>
            <a:stretch/>
          </p:blipFill>
          <p:spPr>
            <a:xfrm>
              <a:off x="5535913" y="9283499"/>
              <a:ext cx="1810243" cy="720001"/>
            </a:xfrm>
            <a:prstGeom prst="rect">
              <a:avLst/>
            </a:prstGeom>
          </p:spPr>
        </p:pic>
        <p:sp>
          <p:nvSpPr>
            <p:cNvPr id="30" name="Title 1">
              <a:extLst>
                <a:ext uri="{FF2B5EF4-FFF2-40B4-BE49-F238E27FC236}">
                  <a16:creationId xmlns:a16="http://schemas.microsoft.com/office/drawing/2014/main" id="{2616B91C-32F4-0482-816C-B938FFE039BE}"/>
                </a:ext>
              </a:extLst>
            </p:cNvPr>
            <p:cNvSpPr txBox="1">
              <a:spLocks/>
            </p:cNvSpPr>
            <p:nvPr/>
          </p:nvSpPr>
          <p:spPr>
            <a:xfrm>
              <a:off x="7993069" y="9519798"/>
              <a:ext cx="6137989" cy="247401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 defTabSz="609630"/>
              <a:r>
                <a:rPr lang="en-IN" sz="800" dirty="0">
                  <a:solidFill>
                    <a:prstClr val="white"/>
                  </a:solidFill>
                  <a:latin typeface="Montserrat Medium" pitchFamily="2" charset="0"/>
                  <a:cs typeface="Hepta Slab" pitchFamily="2" charset="0"/>
                </a:rPr>
                <a:t>TERRAGNI CONSULTING (P) LTD PRIVATE AND CONFIDENTIAL</a:t>
              </a: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0EF26FDB-CE8B-1D2B-E3A3-91334D8D63DB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165" r="1717" b="24319"/>
          <a:stretch/>
        </p:blipFill>
        <p:spPr>
          <a:xfrm>
            <a:off x="3599649" y="226533"/>
            <a:ext cx="2856351" cy="1642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8275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6089650" y="1746250"/>
            <a:ext cx="6350" cy="3365500"/>
          </a:xfrm>
          <a:prstGeom prst="rect">
            <a:avLst/>
          </a:prstGeom>
        </p:spPr>
      </p:pic>
      <p:sp>
        <p:nvSpPr>
          <p:cNvPr id="3" name="Object2"/>
          <p:cNvSpPr/>
          <p:nvPr/>
        </p:nvSpPr>
        <p:spPr>
          <a:xfrm>
            <a:off x="1130300" y="3048000"/>
            <a:ext cx="401447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304815">
              <a:lnSpc>
                <a:spcPts val="6000"/>
              </a:lnSpc>
            </a:pPr>
            <a:r>
              <a:rPr lang="en-US" sz="4800" b="1" dirty="0">
                <a:solidFill>
                  <a:srgbClr val="F5F3E4"/>
                </a:solidFill>
                <a:latin typeface="Hepta Slab Bold" pitchFamily="34" charset="0"/>
                <a:ea typeface="Hepta Slab Bold" pitchFamily="34" charset="-122"/>
                <a:cs typeface="Hepta Slab Bold" pitchFamily="34" charset="-120"/>
              </a:rPr>
              <a:t>Thank You</a:t>
            </a:r>
            <a:endParaRPr lang="en-US" sz="4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Object3"/>
          <p:cNvSpPr/>
          <p:nvPr/>
        </p:nvSpPr>
        <p:spPr>
          <a:xfrm>
            <a:off x="6576000" y="2577525"/>
            <a:ext cx="4546600" cy="1702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304815">
              <a:lnSpc>
                <a:spcPts val="4000"/>
              </a:lnSpc>
            </a:pPr>
            <a:r>
              <a:rPr lang="en-US" sz="3200" dirty="0">
                <a:solidFill>
                  <a:srgbClr val="F5F3E4"/>
                </a:solidFill>
                <a:latin typeface="Hepta Slab Regular" pitchFamily="34" charset="0"/>
                <a:ea typeface="Hepta Slab Regular" pitchFamily="34" charset="-122"/>
                <a:cs typeface="Hepta Slab Regular" pitchFamily="34" charset="-120"/>
              </a:rPr>
              <a:t>dipti@terragni.in
+91 895 698 2522</a:t>
            </a:r>
            <a:endParaRPr lang="en-US" sz="3200" dirty="0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DB93B21-C61B-4782-BCB8-67162AB74915}"/>
              </a:ext>
            </a:extLst>
          </p:cNvPr>
          <p:cNvGrpSpPr/>
          <p:nvPr/>
        </p:nvGrpSpPr>
        <p:grpSpPr>
          <a:xfrm>
            <a:off x="-114988" y="6122716"/>
            <a:ext cx="11920615" cy="929149"/>
            <a:chOff x="-172482" y="9184073"/>
            <a:chExt cx="17880922" cy="1393723"/>
          </a:xfrm>
        </p:grpSpPr>
        <p:sp>
          <p:nvSpPr>
            <p:cNvPr id="6" name="Title 1">
              <a:extLst>
                <a:ext uri="{FF2B5EF4-FFF2-40B4-BE49-F238E27FC236}">
                  <a16:creationId xmlns:a16="http://schemas.microsoft.com/office/drawing/2014/main" id="{E1E61F5A-9D3A-456E-81A1-A884BEB95D41}"/>
                </a:ext>
              </a:extLst>
            </p:cNvPr>
            <p:cNvSpPr txBox="1">
              <a:spLocks/>
            </p:cNvSpPr>
            <p:nvPr/>
          </p:nvSpPr>
          <p:spPr>
            <a:xfrm>
              <a:off x="5681816" y="9781056"/>
              <a:ext cx="6924368" cy="295207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defTabSz="609630"/>
              <a:r>
                <a:rPr lang="en-IN" sz="1067" dirty="0">
                  <a:solidFill>
                    <a:prstClr val="white"/>
                  </a:solidFill>
                  <a:latin typeface="Montserrat Medium" pitchFamily="2" charset="0"/>
                  <a:cs typeface="Hepta Slab" pitchFamily="2" charset="0"/>
                </a:rPr>
                <a:t>TERRAGNI CONSULTING (P) LTD PRIVATE AND CONFIDENTIAL</a:t>
              </a: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FEABC857-D541-41C5-8AA8-881FC10C42C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940881" y="9806942"/>
              <a:ext cx="1767559" cy="269321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51A0D35D-74D3-47E0-9C4E-59C0BF32FE9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72482" y="9184073"/>
              <a:ext cx="2822459" cy="139372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4064000" cy="3257550"/>
          </a:xfrm>
          <a:prstGeom prst="rect">
            <a:avLst/>
          </a:prstGeom>
        </p:spPr>
      </p:pic>
      <p:pic>
        <p:nvPicPr>
          <p:cNvPr id="3" name="Object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064000" y="0"/>
            <a:ext cx="4064000" cy="3257550"/>
          </a:xfrm>
          <a:prstGeom prst="rect">
            <a:avLst/>
          </a:prstGeom>
        </p:spPr>
      </p:pic>
      <p:pic>
        <p:nvPicPr>
          <p:cNvPr id="4" name="Object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128000" y="0"/>
            <a:ext cx="4064000" cy="3257550"/>
          </a:xfrm>
          <a:prstGeom prst="rect">
            <a:avLst/>
          </a:prstGeom>
        </p:spPr>
      </p:pic>
      <p:sp>
        <p:nvSpPr>
          <p:cNvPr id="5" name="Object4"/>
          <p:cNvSpPr/>
          <p:nvPr/>
        </p:nvSpPr>
        <p:spPr>
          <a:xfrm>
            <a:off x="1708150" y="336550"/>
            <a:ext cx="609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304815">
              <a:lnSpc>
                <a:spcPts val="2000"/>
              </a:lnSpc>
            </a:pPr>
            <a:r>
              <a:rPr lang="en-US" sz="1600" b="1" dirty="0">
                <a:solidFill>
                  <a:srgbClr val="F5F3E4"/>
                </a:solidFill>
                <a:latin typeface="Hepta Slab Bold" pitchFamily="34" charset="0"/>
                <a:ea typeface="Hepta Slab Bold" pitchFamily="34" charset="-122"/>
                <a:cs typeface="Hepta Slab Bold" pitchFamily="34" charset="-120"/>
              </a:rPr>
              <a:t>India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Object5"/>
          <p:cNvSpPr/>
          <p:nvPr/>
        </p:nvSpPr>
        <p:spPr>
          <a:xfrm>
            <a:off x="5638800" y="336550"/>
            <a:ext cx="889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304815">
              <a:lnSpc>
                <a:spcPts val="2000"/>
              </a:lnSpc>
            </a:pPr>
            <a:r>
              <a:rPr lang="en-US" sz="1600" b="1" dirty="0">
                <a:solidFill>
                  <a:srgbClr val="F5F3E4"/>
                </a:solidFill>
                <a:latin typeface="Hepta Slab Bold" pitchFamily="34" charset="0"/>
                <a:ea typeface="Hepta Slab Bold" pitchFamily="34" charset="-122"/>
                <a:cs typeface="Hepta Slab Bold" pitchFamily="34" charset="-120"/>
              </a:rPr>
              <a:t>London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Object6"/>
          <p:cNvSpPr/>
          <p:nvPr/>
        </p:nvSpPr>
        <p:spPr>
          <a:xfrm>
            <a:off x="9505950" y="336550"/>
            <a:ext cx="11874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304815">
              <a:lnSpc>
                <a:spcPts val="2000"/>
              </a:lnSpc>
            </a:pPr>
            <a:r>
              <a:rPr lang="en-US" sz="1600" b="1" dirty="0">
                <a:solidFill>
                  <a:srgbClr val="F5F3E4"/>
                </a:solidFill>
                <a:latin typeface="Hepta Slab Bold" pitchFamily="34" charset="0"/>
                <a:ea typeface="Hepta Slab Bold" pitchFamily="34" charset="-122"/>
                <a:cs typeface="Hepta Slab Bold" pitchFamily="34" charset="-120"/>
              </a:rPr>
              <a:t>Bucharest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Object7"/>
          <p:cNvSpPr/>
          <p:nvPr/>
        </p:nvSpPr>
        <p:spPr>
          <a:xfrm>
            <a:off x="4716845" y="4613958"/>
            <a:ext cx="2732911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304815">
              <a:lnSpc>
                <a:spcPts val="2200"/>
              </a:lnSpc>
            </a:pPr>
            <a:r>
              <a:rPr lang="en-US" dirty="0">
                <a:solidFill>
                  <a:srgbClr val="F5F3E4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www.terragni.in
www.buyerbrain.com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ED8BA93-BFB9-43A1-A8E5-A2E535C4302E}"/>
              </a:ext>
            </a:extLst>
          </p:cNvPr>
          <p:cNvGrpSpPr/>
          <p:nvPr/>
        </p:nvGrpSpPr>
        <p:grpSpPr>
          <a:xfrm>
            <a:off x="-114988" y="6122716"/>
            <a:ext cx="11920615" cy="929149"/>
            <a:chOff x="-172482" y="9184073"/>
            <a:chExt cx="17880922" cy="1393723"/>
          </a:xfrm>
        </p:grpSpPr>
        <p:sp>
          <p:nvSpPr>
            <p:cNvPr id="10" name="Title 1">
              <a:extLst>
                <a:ext uri="{FF2B5EF4-FFF2-40B4-BE49-F238E27FC236}">
                  <a16:creationId xmlns:a16="http://schemas.microsoft.com/office/drawing/2014/main" id="{57EFBAB2-8D9B-4D59-BC35-807813541343}"/>
                </a:ext>
              </a:extLst>
            </p:cNvPr>
            <p:cNvSpPr txBox="1">
              <a:spLocks/>
            </p:cNvSpPr>
            <p:nvPr/>
          </p:nvSpPr>
          <p:spPr>
            <a:xfrm>
              <a:off x="5681816" y="9781056"/>
              <a:ext cx="6924368" cy="295207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defTabSz="609630"/>
              <a:r>
                <a:rPr lang="en-IN" sz="1067" dirty="0">
                  <a:solidFill>
                    <a:prstClr val="white"/>
                  </a:solidFill>
                  <a:latin typeface="Montserrat Medium" pitchFamily="2" charset="0"/>
                  <a:cs typeface="Hepta Slab" pitchFamily="2" charset="0"/>
                </a:rPr>
                <a:t>TERRAGNI CONSULTING (P) LTD PRIVATE AND CONFIDENTIAL</a:t>
              </a: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85BA4B19-4EC2-41DF-8F6F-83738A9800C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940881" y="9806942"/>
              <a:ext cx="1767559" cy="269321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AC9CDB73-5157-4EE7-AFFD-9BEBBDD50E7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72482" y="9184073"/>
              <a:ext cx="2822459" cy="139372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555</Words>
  <Application>Microsoft Office PowerPoint</Application>
  <PresentationFormat>Widescreen</PresentationFormat>
  <Paragraphs>213</Paragraphs>
  <Slides>13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31" baseType="lpstr">
      <vt:lpstr>Arial</vt:lpstr>
      <vt:lpstr>Calibri</vt:lpstr>
      <vt:lpstr>Calibri Light</vt:lpstr>
      <vt:lpstr>Hepta Slab</vt:lpstr>
      <vt:lpstr>Hepta Slab Bold</vt:lpstr>
      <vt:lpstr>Hepta Slab ExtraBold</vt:lpstr>
      <vt:lpstr>Hepta Slab Regular</vt:lpstr>
      <vt:lpstr>Hepta Slab SemiBold</vt:lpstr>
      <vt:lpstr>Inter Extra Bold</vt:lpstr>
      <vt:lpstr>Inter Regular</vt:lpstr>
      <vt:lpstr>Itim Regular</vt:lpstr>
      <vt:lpstr>Michroma Regular</vt:lpstr>
      <vt:lpstr>Montserrat ExtraBold</vt:lpstr>
      <vt:lpstr>Montserrat Medium</vt:lpstr>
      <vt:lpstr>Montserrat SemiBold</vt:lpstr>
      <vt:lpstr>Noto Emoji</vt:lpstr>
      <vt:lpstr>1_Office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Dipti Sapatnekar</dc:creator>
  <cp:lastModifiedBy>Terragni Five</cp:lastModifiedBy>
  <cp:revision>11</cp:revision>
  <dcterms:created xsi:type="dcterms:W3CDTF">2023-01-25T10:36:35Z</dcterms:created>
  <dcterms:modified xsi:type="dcterms:W3CDTF">2023-05-25T05:06:58Z</dcterms:modified>
</cp:coreProperties>
</file>