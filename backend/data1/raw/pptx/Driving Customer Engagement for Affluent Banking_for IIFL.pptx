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3" r:id="rId2"/>
  </p:sldMasterIdLst>
  <p:notesMasterIdLst>
    <p:notesMasterId r:id="rId30"/>
  </p:notesMasterIdLst>
  <p:sldIdLst>
    <p:sldId id="259" r:id="rId3"/>
    <p:sldId id="358" r:id="rId4"/>
    <p:sldId id="349" r:id="rId5"/>
    <p:sldId id="348" r:id="rId6"/>
    <p:sldId id="350" r:id="rId7"/>
    <p:sldId id="1575" r:id="rId8"/>
    <p:sldId id="277" r:id="rId9"/>
    <p:sldId id="364" r:id="rId10"/>
    <p:sldId id="1571" r:id="rId11"/>
    <p:sldId id="365" r:id="rId12"/>
    <p:sldId id="366" r:id="rId13"/>
    <p:sldId id="1577" r:id="rId14"/>
    <p:sldId id="1564" r:id="rId15"/>
    <p:sldId id="1576" r:id="rId16"/>
    <p:sldId id="1580" r:id="rId17"/>
    <p:sldId id="1581" r:id="rId18"/>
    <p:sldId id="1578" r:id="rId19"/>
    <p:sldId id="1579" r:id="rId20"/>
    <p:sldId id="1582" r:id="rId21"/>
    <p:sldId id="1570" r:id="rId22"/>
    <p:sldId id="357" r:id="rId23"/>
    <p:sldId id="1573" r:id="rId24"/>
    <p:sldId id="1574" r:id="rId25"/>
    <p:sldId id="1572" r:id="rId26"/>
    <p:sldId id="351" r:id="rId27"/>
    <p:sldId id="271" r:id="rId28"/>
    <p:sldId id="270" r:id="rId29"/>
  </p:sldIdLst>
  <p:sldSz cx="18288000" cy="10287000"/>
  <p:notesSz cx="6858000" cy="9144000"/>
  <p:embeddedFontLst>
    <p:embeddedFont>
      <p:font typeface="Bell MT" panose="02020503060305020303" pitchFamily="18" charset="0"/>
      <p:regular r:id="rId31"/>
      <p:bold r:id="rId32"/>
      <p: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libri Light" panose="020F0302020204030204" pitchFamily="34" charset="0"/>
      <p:regular r:id="rId38"/>
      <p:italic r:id="rId39"/>
    </p:embeddedFont>
    <p:embeddedFont>
      <p:font typeface="Hepta Slab" pitchFamily="2" charset="0"/>
      <p:regular r:id="rId40"/>
      <p:bold r:id="rId41"/>
    </p:embeddedFont>
    <p:embeddedFont>
      <p:font typeface="Hepta Slab Bold" pitchFamily="2" charset="0"/>
      <p:bold r:id="rId42"/>
    </p:embeddedFont>
    <p:embeddedFont>
      <p:font typeface="Hepta Slab ExtraBold" pitchFamily="2" charset="0"/>
      <p:bold r:id="rId43"/>
    </p:embeddedFont>
    <p:embeddedFont>
      <p:font typeface="Hepta Slab Medium" pitchFamily="2" charset="0"/>
      <p:regular r:id="rId44"/>
    </p:embeddedFont>
    <p:embeddedFont>
      <p:font typeface="Hepta Slab Regular" pitchFamily="2" charset="0"/>
      <p:regular r:id="rId45"/>
    </p:embeddedFont>
    <p:embeddedFont>
      <p:font typeface="Hepta Slab SemiBold" pitchFamily="2" charset="0"/>
      <p:bold r:id="rId46"/>
    </p:embeddedFont>
    <p:embeddedFont>
      <p:font typeface="Montserrat" pitchFamily="2" charset="0"/>
      <p:regular r:id="rId47"/>
      <p:bold r:id="rId48"/>
      <p:italic r:id="rId49"/>
      <p:boldItalic r:id="rId50"/>
    </p:embeddedFont>
    <p:embeddedFont>
      <p:font typeface="Montserrat Bold" pitchFamily="2" charset="0"/>
      <p:bold r:id="rId51"/>
    </p:embeddedFont>
    <p:embeddedFont>
      <p:font typeface="Montserrat ExtraBold" pitchFamily="2" charset="0"/>
      <p:bold r:id="rId52"/>
      <p:boldItalic r:id="rId53"/>
    </p:embeddedFont>
    <p:embeddedFont>
      <p:font typeface="Montserrat Medium" pitchFamily="2" charset="0"/>
      <p:regular r:id="rId54"/>
      <p:italic r:id="rId55"/>
    </p:embeddedFont>
    <p:embeddedFont>
      <p:font typeface="Montserrat SemiBold" pitchFamily="2" charset="0"/>
      <p:bold r:id="rId56"/>
      <p:boldItalic r:id="rId57"/>
    </p:embeddedFont>
    <p:embeddedFont>
      <p:font typeface="Noto Emoji" panose="05020103010202020202" pitchFamily="18" charset="0"/>
      <p:regular r:id="rId5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F5F3E4"/>
    <a:srgbClr val="A9D18E"/>
    <a:srgbClr val="E1CAF1"/>
    <a:srgbClr val="7030A0"/>
    <a:srgbClr val="811717"/>
    <a:srgbClr val="814A17"/>
    <a:srgbClr val="817617"/>
    <a:srgbClr val="3C7EFF"/>
    <a:srgbClr val="FF36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95033" autoAdjust="0"/>
  </p:normalViewPr>
  <p:slideViewPr>
    <p:cSldViewPr>
      <p:cViewPr varScale="1">
        <p:scale>
          <a:sx n="53" d="100"/>
          <a:sy n="53" d="100"/>
        </p:scale>
        <p:origin x="571" y="67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2" d="100"/>
        <a:sy n="142" d="100"/>
      </p:scale>
      <p:origin x="0" y="-9461"/>
    </p:cViewPr>
  </p:sorterViewPr>
  <p:notesViewPr>
    <p:cSldViewPr>
      <p:cViewPr varScale="1">
        <p:scale>
          <a:sx n="63" d="100"/>
          <a:sy n="63" d="100"/>
        </p:scale>
        <p:origin x="3206" y="53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font" Target="fonts/font20.fntdata"/><Relationship Id="rId55" Type="http://schemas.openxmlformats.org/officeDocument/2006/relationships/font" Target="fonts/font25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font" Target="fonts/font23.fntdata"/><Relationship Id="rId58" Type="http://schemas.openxmlformats.org/officeDocument/2006/relationships/font" Target="fonts/font28.fntdata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openxmlformats.org/officeDocument/2006/relationships/font" Target="fonts/font26.fntdata"/><Relationship Id="rId8" Type="http://schemas.openxmlformats.org/officeDocument/2006/relationships/slide" Target="slides/slide6.xml"/><Relationship Id="rId51" Type="http://schemas.openxmlformats.org/officeDocument/2006/relationships/font" Target="fonts/font21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11.fntdata"/><Relationship Id="rId54" Type="http://schemas.openxmlformats.org/officeDocument/2006/relationships/font" Target="fonts/font2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49" Type="http://schemas.openxmlformats.org/officeDocument/2006/relationships/font" Target="fonts/font19.fntdata"/><Relationship Id="rId57" Type="http://schemas.openxmlformats.org/officeDocument/2006/relationships/font" Target="fonts/font27.fntdata"/><Relationship Id="rId10" Type="http://schemas.openxmlformats.org/officeDocument/2006/relationships/slide" Target="slides/slide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font" Target="fonts/font22.fntdata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17790-6DFE-4940-8CA4-61EE1B647741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6AF7A-43AD-4463-BF1A-F91465FB32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42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6AF7A-43AD-4463-BF1A-F91465FB326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74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6AF7A-43AD-4463-BF1A-F91465FB326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639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6AF7A-43AD-4463-BF1A-F91465FB326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843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6AF7A-43AD-4463-BF1A-F91465FB326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352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6AF7A-43AD-4463-BF1A-F91465FB326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17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6AF7A-43AD-4463-BF1A-F91465FB326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9080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6AF7A-43AD-4463-BF1A-F91465FB326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439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6AF7A-43AD-4463-BF1A-F91465FB326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008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6AF7A-43AD-4463-BF1A-F91465FB326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242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6AF7A-43AD-4463-BF1A-F91465FB326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978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95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5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14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045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9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881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2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48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77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0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015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000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79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EA42-13E0-41FB-A68F-5FBD4A82D1C9}" type="datetimeFigureOut">
              <a:rPr lang="en-IN" smtClean="0"/>
              <a:t>16-05-2023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FEF3A-9EDB-45A3-8F8C-28BAE7165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4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99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2.png"/><Relationship Id="rId10" Type="http://schemas.openxmlformats.org/officeDocument/2006/relationships/image" Target="../media/image20.sv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.png"/><Relationship Id="rId7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6">
            <a:extLst>
              <a:ext uri="{FF2B5EF4-FFF2-40B4-BE49-F238E27FC236}">
                <a16:creationId xmlns:a16="http://schemas.microsoft.com/office/drawing/2014/main" id="{7FF1EF97-377A-4E2F-B4BC-0ECF24D2D3D4}"/>
              </a:ext>
            </a:extLst>
          </p:cNvPr>
          <p:cNvSpPr/>
          <p:nvPr/>
        </p:nvSpPr>
        <p:spPr>
          <a:xfrm>
            <a:off x="1224000" y="2216684"/>
            <a:ext cx="11700000" cy="297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r>
              <a:rPr lang="en-US" sz="9600" dirty="0">
                <a:solidFill>
                  <a:srgbClr val="F5F3E4"/>
                </a:solidFill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A Terragni</a:t>
            </a:r>
          </a:p>
          <a:p>
            <a:r>
              <a:rPr lang="en-US" sz="9600" dirty="0">
                <a:solidFill>
                  <a:srgbClr val="F5F3E4"/>
                </a:solidFill>
                <a:latin typeface="Hepta Slab ExtraBold" pitchFamily="2" charset="0"/>
                <a:cs typeface="Hepta Slab ExtraBold" pitchFamily="2" charset="0"/>
              </a:rPr>
              <a:t>Case Study</a:t>
            </a:r>
          </a:p>
        </p:txBody>
      </p:sp>
      <p:sp>
        <p:nvSpPr>
          <p:cNvPr id="5" name="Object6">
            <a:extLst>
              <a:ext uri="{FF2B5EF4-FFF2-40B4-BE49-F238E27FC236}">
                <a16:creationId xmlns:a16="http://schemas.microsoft.com/office/drawing/2014/main" id="{3E0BAEEE-A595-D314-E921-60B7FA4811A8}"/>
              </a:ext>
            </a:extLst>
          </p:cNvPr>
          <p:cNvSpPr/>
          <p:nvPr/>
        </p:nvSpPr>
        <p:spPr>
          <a:xfrm>
            <a:off x="1224000" y="5863500"/>
            <a:ext cx="8460000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3600" dirty="0">
                <a:solidFill>
                  <a:srgbClr val="F5F3E4"/>
                </a:solidFill>
                <a:latin typeface="Hepta Slab Regular" pitchFamily="2" charset="0"/>
                <a:ea typeface="Montserrat ExtraBold" pitchFamily="34" charset="-122"/>
                <a:cs typeface="Hepta Slab Regular" pitchFamily="2" charset="0"/>
              </a:rPr>
              <a:t>Driving Customer Engagement for Affluent Banking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905B95-5EA2-CFE1-E38B-4E69AFD2BC61}"/>
              </a:ext>
            </a:extLst>
          </p:cNvPr>
          <p:cNvGrpSpPr/>
          <p:nvPr/>
        </p:nvGrpSpPr>
        <p:grpSpPr>
          <a:xfrm>
            <a:off x="-172482" y="9184073"/>
            <a:ext cx="17880922" cy="1393723"/>
            <a:chOff x="-172482" y="9184073"/>
            <a:chExt cx="17880922" cy="1393723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714453AC-FF3B-46C9-7C95-D93605B4C661}"/>
                </a:ext>
              </a:extLst>
            </p:cNvPr>
            <p:cNvSpPr txBox="1">
              <a:spLocks/>
            </p:cNvSpPr>
            <p:nvPr/>
          </p:nvSpPr>
          <p:spPr>
            <a:xfrm>
              <a:off x="5681816" y="9781056"/>
              <a:ext cx="6924368" cy="295207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600" dirty="0">
                  <a:solidFill>
                    <a:schemeClr val="bg1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9FDB63-50D1-8247-6623-2E5C8568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0881" y="9806942"/>
              <a:ext cx="1767559" cy="2693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D4B987-A66D-E3E4-AF4A-EB86C9C3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2482" y="9184073"/>
              <a:ext cx="2822459" cy="13937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07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4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44493" y="118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814A17"/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29" name="Object6">
            <a:extLst>
              <a:ext uri="{FF2B5EF4-FFF2-40B4-BE49-F238E27FC236}">
                <a16:creationId xmlns:a16="http://schemas.microsoft.com/office/drawing/2014/main" id="{7FFB36EB-6BB8-0373-703D-3762D700F5DA}"/>
              </a:ext>
            </a:extLst>
          </p:cNvPr>
          <p:cNvSpPr/>
          <p:nvPr/>
        </p:nvSpPr>
        <p:spPr>
          <a:xfrm>
            <a:off x="5418845" y="7057524"/>
            <a:ext cx="3425175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600" b="0" i="0" u="none" strike="noStrike" kern="1200" cap="none" spc="0" normalizeH="0" baseline="0" noProof="0" dirty="0">
              <a:ln>
                <a:noFill/>
              </a:ln>
              <a:solidFill>
                <a:srgbClr val="FFA65F"/>
              </a:solidFill>
              <a:effectLst/>
              <a:uLnTx/>
              <a:uFillTx/>
              <a:latin typeface="Hepta Slab ExtraBold" pitchFamily="2" charset="0"/>
              <a:ea typeface="+mn-ea"/>
              <a:cs typeface="Hepta Slab ExtraBold" pitchFamily="2" charset="0"/>
            </a:endParaRPr>
          </a:p>
        </p:txBody>
      </p:sp>
      <p:sp>
        <p:nvSpPr>
          <p:cNvPr id="31" name="Object5">
            <a:extLst>
              <a:ext uri="{FF2B5EF4-FFF2-40B4-BE49-F238E27FC236}">
                <a16:creationId xmlns:a16="http://schemas.microsoft.com/office/drawing/2014/main" id="{161E54A7-4AD9-6473-8202-C09144517DBC}"/>
              </a:ext>
            </a:extLst>
          </p:cNvPr>
          <p:cNvSpPr/>
          <p:nvPr/>
        </p:nvSpPr>
        <p:spPr>
          <a:xfrm>
            <a:off x="12958550" y="5457290"/>
            <a:ext cx="3578143" cy="1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Customers Pan India</a:t>
            </a:r>
          </a:p>
        </p:txBody>
      </p:sp>
      <p:sp>
        <p:nvSpPr>
          <p:cNvPr id="2" name="Object6">
            <a:extLst>
              <a:ext uri="{FF2B5EF4-FFF2-40B4-BE49-F238E27FC236}">
                <a16:creationId xmlns:a16="http://schemas.microsoft.com/office/drawing/2014/main" id="{F8B71BB0-E824-C9CB-1B60-C8D0E0CD4C26}"/>
              </a:ext>
            </a:extLst>
          </p:cNvPr>
          <p:cNvSpPr/>
          <p:nvPr/>
        </p:nvSpPr>
        <p:spPr>
          <a:xfrm>
            <a:off x="8829617" y="4143871"/>
            <a:ext cx="3425174" cy="1120425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FA65F"/>
                </a:solidFill>
                <a:effectLst/>
                <a:uLnTx/>
                <a:uFillTx/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1600</a:t>
            </a:r>
          </a:p>
        </p:txBody>
      </p:sp>
      <p:sp>
        <p:nvSpPr>
          <p:cNvPr id="5" name="Object5">
            <a:extLst>
              <a:ext uri="{FF2B5EF4-FFF2-40B4-BE49-F238E27FC236}">
                <a16:creationId xmlns:a16="http://schemas.microsoft.com/office/drawing/2014/main" id="{ECF7ED1A-C727-3956-C044-F09EA2932C7A}"/>
              </a:ext>
            </a:extLst>
          </p:cNvPr>
          <p:cNvSpPr/>
          <p:nvPr/>
        </p:nvSpPr>
        <p:spPr>
          <a:xfrm>
            <a:off x="5265090" y="5462610"/>
            <a:ext cx="3367269" cy="1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Largest private bank in India</a:t>
            </a:r>
          </a:p>
        </p:txBody>
      </p:sp>
      <p:sp>
        <p:nvSpPr>
          <p:cNvPr id="9" name="Object6">
            <a:extLst>
              <a:ext uri="{FF2B5EF4-FFF2-40B4-BE49-F238E27FC236}">
                <a16:creationId xmlns:a16="http://schemas.microsoft.com/office/drawing/2014/main" id="{455ADE41-83FB-959A-A558-947C47BC69E9}"/>
              </a:ext>
            </a:extLst>
          </p:cNvPr>
          <p:cNvSpPr/>
          <p:nvPr/>
        </p:nvSpPr>
        <p:spPr>
          <a:xfrm>
            <a:off x="12825876" y="4114914"/>
            <a:ext cx="4675144" cy="1120425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FA65F"/>
                </a:solidFill>
                <a:effectLst/>
                <a:uLnTx/>
                <a:uFillTx/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15,00,000</a:t>
            </a:r>
          </a:p>
        </p:txBody>
      </p:sp>
      <p:sp>
        <p:nvSpPr>
          <p:cNvPr id="10" name="Object5">
            <a:extLst>
              <a:ext uri="{FF2B5EF4-FFF2-40B4-BE49-F238E27FC236}">
                <a16:creationId xmlns:a16="http://schemas.microsoft.com/office/drawing/2014/main" id="{ABC0C535-9A5B-7C7A-32DC-07B439B8DC7F}"/>
              </a:ext>
            </a:extLst>
          </p:cNvPr>
          <p:cNvSpPr/>
          <p:nvPr/>
        </p:nvSpPr>
        <p:spPr>
          <a:xfrm>
            <a:off x="8844020" y="5501016"/>
            <a:ext cx="3578143" cy="1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Branches</a:t>
            </a:r>
          </a:p>
        </p:txBody>
      </p:sp>
      <p:sp>
        <p:nvSpPr>
          <p:cNvPr id="4" name="Object6">
            <a:extLst>
              <a:ext uri="{FF2B5EF4-FFF2-40B4-BE49-F238E27FC236}">
                <a16:creationId xmlns:a16="http://schemas.microsoft.com/office/drawing/2014/main" id="{2E941489-AF29-3DC1-012F-9BEA00DEB3E0}"/>
              </a:ext>
            </a:extLst>
          </p:cNvPr>
          <p:cNvSpPr/>
          <p:nvPr/>
        </p:nvSpPr>
        <p:spPr>
          <a:xfrm>
            <a:off x="5284463" y="4114913"/>
            <a:ext cx="3425174" cy="1120425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FA65F"/>
                </a:solidFill>
                <a:effectLst/>
                <a:uLnTx/>
                <a:uFillTx/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2</a:t>
            </a:r>
            <a:r>
              <a:rPr kumimoji="0" lang="en-US" sz="6600" b="0" i="0" u="none" strike="noStrike" kern="1200" cap="none" spc="0" normalizeH="0" baseline="30000" noProof="0" dirty="0">
                <a:ln>
                  <a:noFill/>
                </a:ln>
                <a:solidFill>
                  <a:srgbClr val="FFA65F"/>
                </a:solidFill>
                <a:effectLst/>
                <a:uLnTx/>
                <a:uFillTx/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nd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FFA65F"/>
                </a:solidFill>
                <a:effectLst/>
                <a:uLnTx/>
                <a:uFillTx/>
                <a:latin typeface="Hepta Slab ExtraBold" pitchFamily="2" charset="0"/>
                <a:ea typeface="Montserrat ExtraBold" pitchFamily="34" charset="-122"/>
                <a:cs typeface="Hepta Slab ExtraBold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301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4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21072" y="1194464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8" name="Object4">
            <a:extLst>
              <a:ext uri="{FF2B5EF4-FFF2-40B4-BE49-F238E27FC236}">
                <a16:creationId xmlns:a16="http://schemas.microsoft.com/office/drawing/2014/main" id="{2F56AE42-39CB-B537-760E-303F926E7512}"/>
              </a:ext>
            </a:extLst>
          </p:cNvPr>
          <p:cNvSpPr/>
          <p:nvPr/>
        </p:nvSpPr>
        <p:spPr>
          <a:xfrm>
            <a:off x="5284542" y="3849464"/>
            <a:ext cx="2959458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Objective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A0C9E8-9A1E-8F3C-A32C-B3E5310FD489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EE4A22D-CB23-B54F-AE82-6A191F659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E96734-474E-B200-0E7D-6B0EE9B13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99306440-7C69-5132-8CF9-4E7619EADA7D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1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0965B38-BAFA-291D-EC22-87E5E795F20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3" b="12813"/>
          <a:stretch/>
        </p:blipFill>
        <p:spPr>
          <a:xfrm>
            <a:off x="4848056" y="467449"/>
            <a:ext cx="4320614" cy="2767966"/>
          </a:xfrm>
          <a:prstGeom prst="rect">
            <a:avLst/>
          </a:prstGeom>
        </p:spPr>
      </p:pic>
      <p:sp>
        <p:nvSpPr>
          <p:cNvPr id="2" name="Object5">
            <a:extLst>
              <a:ext uri="{FF2B5EF4-FFF2-40B4-BE49-F238E27FC236}">
                <a16:creationId xmlns:a16="http://schemas.microsoft.com/office/drawing/2014/main" id="{2D414A89-CFB5-15C3-89F8-94DCDFF6C0E4}"/>
              </a:ext>
            </a:extLst>
          </p:cNvPr>
          <p:cNvSpPr/>
          <p:nvPr/>
        </p:nvSpPr>
        <p:spPr>
          <a:xfrm>
            <a:off x="5308085" y="6188150"/>
            <a:ext cx="8090917" cy="10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8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Increasing monetization of the affluent </a:t>
            </a:r>
          </a:p>
          <a:p>
            <a:pPr algn="l"/>
            <a:r>
              <a:rPr lang="en-US" sz="2800" dirty="0">
                <a:solidFill>
                  <a:srgbClr val="F5F3E4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and HNI program.</a:t>
            </a:r>
          </a:p>
          <a:p>
            <a:pPr algn="l"/>
            <a:endParaRPr lang="en-US" sz="280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8B12124A-02C8-55EE-3FB4-02377BC516B9}"/>
              </a:ext>
            </a:extLst>
          </p:cNvPr>
          <p:cNvSpPr/>
          <p:nvPr/>
        </p:nvSpPr>
        <p:spPr>
          <a:xfrm>
            <a:off x="5308085" y="5237870"/>
            <a:ext cx="7623113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rgbClr val="3C7EFF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Strategic Outcomes</a:t>
            </a:r>
          </a:p>
        </p:txBody>
      </p:sp>
    </p:spTree>
    <p:extLst>
      <p:ext uri="{BB962C8B-B14F-4D97-AF65-F5344CB8AC3E}">
        <p14:creationId xmlns:p14="http://schemas.microsoft.com/office/powerpoint/2010/main" val="3831572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9E82159-FA6A-F771-ABDB-00FE67323392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F70E79A-7DBF-AFDD-1E9F-0A64361A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AB76AF9-8B9A-D3FA-E967-C8F37605F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D3AC0D77-3D49-E06C-0A77-99EE8A2AD98B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1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61506" y="1228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EDF7AD-76FC-8BB5-EF96-0B1481E6C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129" y="-65571"/>
            <a:ext cx="3780000" cy="3780000"/>
          </a:xfrm>
          <a:prstGeom prst="rect">
            <a:avLst/>
          </a:prstGeom>
        </p:spPr>
      </p:pic>
      <p:sp>
        <p:nvSpPr>
          <p:cNvPr id="6" name="Object4">
            <a:extLst>
              <a:ext uri="{FF2B5EF4-FFF2-40B4-BE49-F238E27FC236}">
                <a16:creationId xmlns:a16="http://schemas.microsoft.com/office/drawing/2014/main" id="{2DB3DDAD-AB01-7A6A-B992-070D9D6B5CE9}"/>
              </a:ext>
            </a:extLst>
          </p:cNvPr>
          <p:cNvSpPr/>
          <p:nvPr/>
        </p:nvSpPr>
        <p:spPr>
          <a:xfrm>
            <a:off x="5130834" y="3883500"/>
            <a:ext cx="8513165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rgbClr val="FF3131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Business outcomes require </a:t>
            </a:r>
            <a:r>
              <a:rPr lang="en-US" sz="4000" b="1" dirty="0" err="1">
                <a:solidFill>
                  <a:srgbClr val="FF3131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behaviour</a:t>
            </a:r>
            <a:r>
              <a:rPr lang="en-US" sz="4000" b="1" dirty="0">
                <a:solidFill>
                  <a:srgbClr val="FF3131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 shifts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DB6B2-0CFF-DFBE-7259-FFFF6F44F4A0}"/>
              </a:ext>
            </a:extLst>
          </p:cNvPr>
          <p:cNvSpPr txBox="1"/>
          <p:nvPr/>
        </p:nvSpPr>
        <p:spPr>
          <a:xfrm>
            <a:off x="4987058" y="6043653"/>
            <a:ext cx="1099694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  <a:buClr>
                <a:schemeClr val="accent4"/>
              </a:buClr>
            </a:pPr>
            <a:r>
              <a:rPr lang="en-US" sz="2600" dirty="0">
                <a:solidFill>
                  <a:srgbClr val="F5F3E4"/>
                </a:solidFill>
                <a:latin typeface="Hepta Slab Medium" pitchFamily="2" charset="0"/>
                <a:cs typeface="Hepta Slab Medium" pitchFamily="2" charset="0"/>
              </a:rPr>
              <a:t>Higher program utilization by existing customers</a:t>
            </a:r>
          </a:p>
          <a:p>
            <a:pPr>
              <a:spcBef>
                <a:spcPts val="1800"/>
              </a:spcBef>
              <a:spcAft>
                <a:spcPts val="1800"/>
              </a:spcAft>
              <a:buClr>
                <a:schemeClr val="accent4"/>
              </a:buClr>
            </a:pPr>
            <a:r>
              <a:rPr lang="en-US" sz="2600" dirty="0">
                <a:solidFill>
                  <a:srgbClr val="F5F3E4"/>
                </a:solidFill>
                <a:latin typeface="Hepta Slab Medium" pitchFamily="2" charset="0"/>
                <a:cs typeface="Hepta Slab Medium" pitchFamily="2" charset="0"/>
              </a:rPr>
              <a:t>Higher word-of-mouth (to influence potential customers)</a:t>
            </a:r>
          </a:p>
        </p:txBody>
      </p:sp>
    </p:spTree>
    <p:extLst>
      <p:ext uri="{BB962C8B-B14F-4D97-AF65-F5344CB8AC3E}">
        <p14:creationId xmlns:p14="http://schemas.microsoft.com/office/powerpoint/2010/main" val="2568654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04000" y="1053375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rgbClr val="7030A0"/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7" y="9571084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2">
                      <a:lumMod val="10000"/>
                    </a:scheme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BAB39F1-A8DD-9C63-5DF3-E65646477F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477" y="152987"/>
            <a:ext cx="3420000" cy="3420000"/>
          </a:xfrm>
          <a:prstGeom prst="rect">
            <a:avLst/>
          </a:prstGeom>
        </p:spPr>
      </p:pic>
      <p:sp>
        <p:nvSpPr>
          <p:cNvPr id="2" name="Object5">
            <a:extLst>
              <a:ext uri="{FF2B5EF4-FFF2-40B4-BE49-F238E27FC236}">
                <a16:creationId xmlns:a16="http://schemas.microsoft.com/office/drawing/2014/main" id="{83B0FEE6-AD75-2F25-E046-95883D96A194}"/>
              </a:ext>
            </a:extLst>
          </p:cNvPr>
          <p:cNvSpPr/>
          <p:nvPr/>
        </p:nvSpPr>
        <p:spPr>
          <a:xfrm>
            <a:off x="5130834" y="5539797"/>
            <a:ext cx="8153166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Friction: Barriers that will prevent program utilization and word of mouth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9902F5F5-8E76-C6C4-5C95-CF9C5D1B590C}"/>
              </a:ext>
            </a:extLst>
          </p:cNvPr>
          <p:cNvSpPr/>
          <p:nvPr/>
        </p:nvSpPr>
        <p:spPr>
          <a:xfrm>
            <a:off x="5130835" y="3883500"/>
            <a:ext cx="7793166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 err="1">
                <a:solidFill>
                  <a:srgbClr val="7030A0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Behaviour</a:t>
            </a:r>
            <a:r>
              <a:rPr lang="en-US" sz="4000" b="1" dirty="0">
                <a:solidFill>
                  <a:srgbClr val="7030A0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 shifts require an understanding of:</a:t>
            </a:r>
          </a:p>
        </p:txBody>
      </p:sp>
      <p:sp>
        <p:nvSpPr>
          <p:cNvPr id="6" name="Object5">
            <a:extLst>
              <a:ext uri="{FF2B5EF4-FFF2-40B4-BE49-F238E27FC236}">
                <a16:creationId xmlns:a16="http://schemas.microsoft.com/office/drawing/2014/main" id="{3748B811-5812-B7B8-CC51-7D715B5503EF}"/>
              </a:ext>
            </a:extLst>
          </p:cNvPr>
          <p:cNvSpPr/>
          <p:nvPr/>
        </p:nvSpPr>
        <p:spPr>
          <a:xfrm>
            <a:off x="5130834" y="6889412"/>
            <a:ext cx="7625580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Motivation: What will drive higher program utilization and word of mouth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sp>
        <p:nvSpPr>
          <p:cNvPr id="7" name="Object5">
            <a:extLst>
              <a:ext uri="{FF2B5EF4-FFF2-40B4-BE49-F238E27FC236}">
                <a16:creationId xmlns:a16="http://schemas.microsoft.com/office/drawing/2014/main" id="{567ED9E2-A12E-E3A0-B5D9-57132C6027BF}"/>
              </a:ext>
            </a:extLst>
          </p:cNvPr>
          <p:cNvSpPr/>
          <p:nvPr/>
        </p:nvSpPr>
        <p:spPr>
          <a:xfrm>
            <a:off x="5130834" y="8314855"/>
            <a:ext cx="8525580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Context: the who, what, how, when and why 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149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485392" y="1187111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rgbClr val="7030A0"/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7" y="9571084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2">
                      <a:lumMod val="10000"/>
                    </a:scheme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1D00FCF-528A-3FB8-B117-E64D0C93F81B}"/>
              </a:ext>
            </a:extLst>
          </p:cNvPr>
          <p:cNvGrpSpPr/>
          <p:nvPr/>
        </p:nvGrpSpPr>
        <p:grpSpPr>
          <a:xfrm>
            <a:off x="4644000" y="1183500"/>
            <a:ext cx="13644000" cy="7291734"/>
            <a:chOff x="1474699" y="1219200"/>
            <a:chExt cx="22372726" cy="11658611"/>
          </a:xfrm>
          <a:effectLst/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F65168-0650-CA8D-4CF4-736D4BAAA981}"/>
                </a:ext>
              </a:extLst>
            </p:cNvPr>
            <p:cNvCxnSpPr>
              <a:cxnSpLocks/>
            </p:cNvCxnSpPr>
            <p:nvPr/>
          </p:nvCxnSpPr>
          <p:spPr>
            <a:xfrm rot="2040000" flipV="1">
              <a:off x="2964519" y="8688036"/>
              <a:ext cx="7907953" cy="0"/>
            </a:xfrm>
            <a:prstGeom prst="line">
              <a:avLst/>
            </a:prstGeom>
            <a:ln w="571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5AD811E-7224-F465-111A-A98DE5B523A6}"/>
                </a:ext>
              </a:extLst>
            </p:cNvPr>
            <p:cNvCxnSpPr>
              <a:cxnSpLocks/>
            </p:cNvCxnSpPr>
            <p:nvPr/>
          </p:nvCxnSpPr>
          <p:spPr>
            <a:xfrm rot="-2040000">
              <a:off x="2964520" y="5259036"/>
              <a:ext cx="7907953" cy="0"/>
            </a:xfrm>
            <a:prstGeom prst="line">
              <a:avLst/>
            </a:prstGeom>
            <a:ln w="571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B894DC-3DC3-F65E-405E-E47A2A6D394C}"/>
                </a:ext>
              </a:extLst>
            </p:cNvPr>
            <p:cNvCxnSpPr>
              <a:cxnSpLocks/>
            </p:cNvCxnSpPr>
            <p:nvPr/>
          </p:nvCxnSpPr>
          <p:spPr>
            <a:xfrm>
              <a:off x="5117262" y="6858000"/>
              <a:ext cx="7907953" cy="0"/>
            </a:xfrm>
            <a:prstGeom prst="line">
              <a:avLst/>
            </a:prstGeom>
            <a:ln w="571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ABFCB1-9BA7-5E5B-7A00-91A23C6D986F}"/>
                </a:ext>
              </a:extLst>
            </p:cNvPr>
            <p:cNvGrpSpPr/>
            <p:nvPr/>
          </p:nvGrpSpPr>
          <p:grpSpPr>
            <a:xfrm>
              <a:off x="9445625" y="1295400"/>
              <a:ext cx="2840978" cy="2840978"/>
              <a:chOff x="9445625" y="1295400"/>
              <a:chExt cx="2840978" cy="2840978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0A332CE-EB9A-7F2D-91A3-897816663EF0}"/>
                  </a:ext>
                </a:extLst>
              </p:cNvPr>
              <p:cNvSpPr/>
              <p:nvPr/>
            </p:nvSpPr>
            <p:spPr>
              <a:xfrm>
                <a:off x="9445625" y="1295400"/>
                <a:ext cx="2840978" cy="28409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400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0CF3E65-6E93-59C1-63D3-527071D2BF66}"/>
                  </a:ext>
                </a:extLst>
              </p:cNvPr>
              <p:cNvGrpSpPr/>
              <p:nvPr/>
            </p:nvGrpSpPr>
            <p:grpSpPr>
              <a:xfrm>
                <a:off x="10240319" y="2193269"/>
                <a:ext cx="1251590" cy="933389"/>
                <a:chOff x="12702241" y="3271584"/>
                <a:chExt cx="849286" cy="633366"/>
              </a:xfrm>
            </p:grpSpPr>
            <p:sp>
              <p:nvSpPr>
                <p:cNvPr id="42" name="Freeform 89">
                  <a:extLst>
                    <a:ext uri="{FF2B5EF4-FFF2-40B4-BE49-F238E27FC236}">
                      <a16:creationId xmlns:a16="http://schemas.microsoft.com/office/drawing/2014/main" id="{9F1590D5-D1A2-D2C0-86D6-4A0C9D2FA79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925359" y="3549082"/>
                  <a:ext cx="35187" cy="31189"/>
                </a:xfrm>
                <a:custGeom>
                  <a:avLst/>
                  <a:gdLst>
                    <a:gd name="T0" fmla="*/ 9 w 9"/>
                    <a:gd name="T1" fmla="*/ 4 h 8"/>
                    <a:gd name="T2" fmla="*/ 4 w 9"/>
                    <a:gd name="T3" fmla="*/ 8 h 8"/>
                    <a:gd name="T4" fmla="*/ 0 w 9"/>
                    <a:gd name="T5" fmla="*/ 4 h 8"/>
                    <a:gd name="T6" fmla="*/ 4 w 9"/>
                    <a:gd name="T7" fmla="*/ 0 h 8"/>
                    <a:gd name="T8" fmla="*/ 9 w 9"/>
                    <a:gd name="T9" fmla="*/ 4 h 8"/>
                    <a:gd name="T10" fmla="*/ 9 w 9"/>
                    <a:gd name="T11" fmla="*/ 4 h 8"/>
                    <a:gd name="T12" fmla="*/ 9 w 9"/>
                    <a:gd name="T13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8">
                      <a:moveTo>
                        <a:pt x="9" y="4"/>
                      </a:moveTo>
                      <a:cubicBezTo>
                        <a:pt x="9" y="6"/>
                        <a:pt x="7" y="8"/>
                        <a:pt x="4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lose/>
                      <a:moveTo>
                        <a:pt x="9" y="4"/>
                      </a:moveTo>
                      <a:cubicBezTo>
                        <a:pt x="9" y="4"/>
                        <a:pt x="9" y="4"/>
                        <a:pt x="9" y="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400"/>
                </a:p>
              </p:txBody>
            </p:sp>
            <p:sp>
              <p:nvSpPr>
                <p:cNvPr id="43" name="Freeform 90">
                  <a:extLst>
                    <a:ext uri="{FF2B5EF4-FFF2-40B4-BE49-F238E27FC236}">
                      <a16:creationId xmlns:a16="http://schemas.microsoft.com/office/drawing/2014/main" id="{B8BC35AC-D10C-0E61-4A91-8167CD3E491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019724" y="3603462"/>
                  <a:ext cx="35187" cy="31189"/>
                </a:xfrm>
                <a:custGeom>
                  <a:avLst/>
                  <a:gdLst>
                    <a:gd name="T0" fmla="*/ 9 w 9"/>
                    <a:gd name="T1" fmla="*/ 4 h 8"/>
                    <a:gd name="T2" fmla="*/ 5 w 9"/>
                    <a:gd name="T3" fmla="*/ 8 h 8"/>
                    <a:gd name="T4" fmla="*/ 0 w 9"/>
                    <a:gd name="T5" fmla="*/ 4 h 8"/>
                    <a:gd name="T6" fmla="*/ 5 w 9"/>
                    <a:gd name="T7" fmla="*/ 0 h 8"/>
                    <a:gd name="T8" fmla="*/ 9 w 9"/>
                    <a:gd name="T9" fmla="*/ 4 h 8"/>
                    <a:gd name="T10" fmla="*/ 9 w 9"/>
                    <a:gd name="T11" fmla="*/ 4 h 8"/>
                    <a:gd name="T12" fmla="*/ 9 w 9"/>
                    <a:gd name="T13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8">
                      <a:moveTo>
                        <a:pt x="9" y="4"/>
                      </a:moveTo>
                      <a:cubicBezTo>
                        <a:pt x="9" y="6"/>
                        <a:pt x="7" y="8"/>
                        <a:pt x="5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lose/>
                      <a:moveTo>
                        <a:pt x="9" y="4"/>
                      </a:moveTo>
                      <a:cubicBezTo>
                        <a:pt x="9" y="4"/>
                        <a:pt x="9" y="4"/>
                        <a:pt x="9" y="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400"/>
                </a:p>
              </p:txBody>
            </p:sp>
            <p:sp>
              <p:nvSpPr>
                <p:cNvPr id="44" name="Freeform 91">
                  <a:extLst>
                    <a:ext uri="{FF2B5EF4-FFF2-40B4-BE49-F238E27FC236}">
                      <a16:creationId xmlns:a16="http://schemas.microsoft.com/office/drawing/2014/main" id="{0121CFC2-786D-83E5-439C-31E80DB6B8E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113289" y="3501899"/>
                  <a:ext cx="35187" cy="31189"/>
                </a:xfrm>
                <a:custGeom>
                  <a:avLst/>
                  <a:gdLst>
                    <a:gd name="T0" fmla="*/ 9 w 9"/>
                    <a:gd name="T1" fmla="*/ 4 h 8"/>
                    <a:gd name="T2" fmla="*/ 5 w 9"/>
                    <a:gd name="T3" fmla="*/ 8 h 8"/>
                    <a:gd name="T4" fmla="*/ 0 w 9"/>
                    <a:gd name="T5" fmla="*/ 4 h 8"/>
                    <a:gd name="T6" fmla="*/ 5 w 9"/>
                    <a:gd name="T7" fmla="*/ 0 h 8"/>
                    <a:gd name="T8" fmla="*/ 9 w 9"/>
                    <a:gd name="T9" fmla="*/ 4 h 8"/>
                    <a:gd name="T10" fmla="*/ 9 w 9"/>
                    <a:gd name="T11" fmla="*/ 4 h 8"/>
                    <a:gd name="T12" fmla="*/ 9 w 9"/>
                    <a:gd name="T13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8">
                      <a:moveTo>
                        <a:pt x="9" y="4"/>
                      </a:moveTo>
                      <a:cubicBezTo>
                        <a:pt x="9" y="6"/>
                        <a:pt x="7" y="8"/>
                        <a:pt x="5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lose/>
                      <a:moveTo>
                        <a:pt x="9" y="4"/>
                      </a:moveTo>
                      <a:cubicBezTo>
                        <a:pt x="9" y="4"/>
                        <a:pt x="9" y="4"/>
                        <a:pt x="9" y="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400"/>
                </a:p>
              </p:txBody>
            </p:sp>
            <p:sp>
              <p:nvSpPr>
                <p:cNvPr id="45" name="Freeform 92">
                  <a:extLst>
                    <a:ext uri="{FF2B5EF4-FFF2-40B4-BE49-F238E27FC236}">
                      <a16:creationId xmlns:a16="http://schemas.microsoft.com/office/drawing/2014/main" id="{910C5848-4A86-71EC-1B12-AC714A05A98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206855" y="3541085"/>
                  <a:ext cx="35187" cy="35187"/>
                </a:xfrm>
                <a:custGeom>
                  <a:avLst/>
                  <a:gdLst>
                    <a:gd name="T0" fmla="*/ 9 w 9"/>
                    <a:gd name="T1" fmla="*/ 4 h 9"/>
                    <a:gd name="T2" fmla="*/ 4 w 9"/>
                    <a:gd name="T3" fmla="*/ 9 h 9"/>
                    <a:gd name="T4" fmla="*/ 0 w 9"/>
                    <a:gd name="T5" fmla="*/ 4 h 9"/>
                    <a:gd name="T6" fmla="*/ 4 w 9"/>
                    <a:gd name="T7" fmla="*/ 0 h 9"/>
                    <a:gd name="T8" fmla="*/ 9 w 9"/>
                    <a:gd name="T9" fmla="*/ 4 h 9"/>
                    <a:gd name="T10" fmla="*/ 9 w 9"/>
                    <a:gd name="T11" fmla="*/ 4 h 9"/>
                    <a:gd name="T12" fmla="*/ 9 w 9"/>
                    <a:gd name="T13" fmla="*/ 4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9">
                      <a:moveTo>
                        <a:pt x="9" y="4"/>
                      </a:moveTo>
                      <a:cubicBezTo>
                        <a:pt x="9" y="7"/>
                        <a:pt x="7" y="9"/>
                        <a:pt x="4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lose/>
                      <a:moveTo>
                        <a:pt x="9" y="4"/>
                      </a:moveTo>
                      <a:cubicBezTo>
                        <a:pt x="9" y="4"/>
                        <a:pt x="9" y="4"/>
                        <a:pt x="9" y="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400"/>
                </a:p>
              </p:txBody>
            </p:sp>
            <p:sp>
              <p:nvSpPr>
                <p:cNvPr id="46" name="Freeform 93">
                  <a:extLst>
                    <a:ext uri="{FF2B5EF4-FFF2-40B4-BE49-F238E27FC236}">
                      <a16:creationId xmlns:a16="http://schemas.microsoft.com/office/drawing/2014/main" id="{0FA8AD1F-BD02-BFDD-7A50-8EF4B152054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297221" y="3423528"/>
                  <a:ext cx="35187" cy="35187"/>
                </a:xfrm>
                <a:custGeom>
                  <a:avLst/>
                  <a:gdLst>
                    <a:gd name="T0" fmla="*/ 9 w 9"/>
                    <a:gd name="T1" fmla="*/ 4 h 9"/>
                    <a:gd name="T2" fmla="*/ 5 w 9"/>
                    <a:gd name="T3" fmla="*/ 9 h 9"/>
                    <a:gd name="T4" fmla="*/ 0 w 9"/>
                    <a:gd name="T5" fmla="*/ 4 h 9"/>
                    <a:gd name="T6" fmla="*/ 5 w 9"/>
                    <a:gd name="T7" fmla="*/ 0 h 9"/>
                    <a:gd name="T8" fmla="*/ 9 w 9"/>
                    <a:gd name="T9" fmla="*/ 4 h 9"/>
                    <a:gd name="T10" fmla="*/ 9 w 9"/>
                    <a:gd name="T11" fmla="*/ 4 h 9"/>
                    <a:gd name="T12" fmla="*/ 9 w 9"/>
                    <a:gd name="T13" fmla="*/ 4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9">
                      <a:moveTo>
                        <a:pt x="9" y="4"/>
                      </a:moveTo>
                      <a:cubicBezTo>
                        <a:pt x="9" y="7"/>
                        <a:pt x="7" y="9"/>
                        <a:pt x="5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2"/>
                        <a:pt x="2" y="0"/>
                        <a:pt x="5" y="0"/>
                      </a:cubicBezTo>
                      <a:cubicBezTo>
                        <a:pt x="7" y="0"/>
                        <a:pt x="9" y="2"/>
                        <a:pt x="9" y="4"/>
                      </a:cubicBezTo>
                      <a:close/>
                      <a:moveTo>
                        <a:pt x="9" y="4"/>
                      </a:moveTo>
                      <a:cubicBezTo>
                        <a:pt x="9" y="4"/>
                        <a:pt x="9" y="4"/>
                        <a:pt x="9" y="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400"/>
                </a:p>
              </p:txBody>
            </p:sp>
            <p:sp>
              <p:nvSpPr>
                <p:cNvPr id="47" name="Freeform 94">
                  <a:extLst>
                    <a:ext uri="{FF2B5EF4-FFF2-40B4-BE49-F238E27FC236}">
                      <a16:creationId xmlns:a16="http://schemas.microsoft.com/office/drawing/2014/main" id="{5607471F-1259-68DA-ED40-39A85FAE38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702241" y="3271584"/>
                  <a:ext cx="849286" cy="633366"/>
                </a:xfrm>
                <a:custGeom>
                  <a:avLst/>
                  <a:gdLst>
                    <a:gd name="T0" fmla="*/ 212 w 217"/>
                    <a:gd name="T1" fmla="*/ 127 h 162"/>
                    <a:gd name="T2" fmla="*/ 127 w 217"/>
                    <a:gd name="T3" fmla="*/ 127 h 162"/>
                    <a:gd name="T4" fmla="*/ 122 w 217"/>
                    <a:gd name="T5" fmla="*/ 131 h 162"/>
                    <a:gd name="T6" fmla="*/ 115 w 217"/>
                    <a:gd name="T7" fmla="*/ 138 h 162"/>
                    <a:gd name="T8" fmla="*/ 101 w 217"/>
                    <a:gd name="T9" fmla="*/ 138 h 162"/>
                    <a:gd name="T10" fmla="*/ 94 w 217"/>
                    <a:gd name="T11" fmla="*/ 131 h 162"/>
                    <a:gd name="T12" fmla="*/ 90 w 217"/>
                    <a:gd name="T13" fmla="*/ 127 h 162"/>
                    <a:gd name="T14" fmla="*/ 23 w 217"/>
                    <a:gd name="T15" fmla="*/ 127 h 162"/>
                    <a:gd name="T16" fmla="*/ 23 w 217"/>
                    <a:gd name="T17" fmla="*/ 17 h 162"/>
                    <a:gd name="T18" fmla="*/ 32 w 217"/>
                    <a:gd name="T19" fmla="*/ 8 h 162"/>
                    <a:gd name="T20" fmla="*/ 184 w 217"/>
                    <a:gd name="T21" fmla="*/ 8 h 162"/>
                    <a:gd name="T22" fmla="*/ 193 w 217"/>
                    <a:gd name="T23" fmla="*/ 17 h 162"/>
                    <a:gd name="T24" fmla="*/ 193 w 217"/>
                    <a:gd name="T25" fmla="*/ 99 h 162"/>
                    <a:gd name="T26" fmla="*/ 198 w 217"/>
                    <a:gd name="T27" fmla="*/ 103 h 162"/>
                    <a:gd name="T28" fmla="*/ 202 w 217"/>
                    <a:gd name="T29" fmla="*/ 99 h 162"/>
                    <a:gd name="T30" fmla="*/ 202 w 217"/>
                    <a:gd name="T31" fmla="*/ 17 h 162"/>
                    <a:gd name="T32" fmla="*/ 184 w 217"/>
                    <a:gd name="T33" fmla="*/ 0 h 162"/>
                    <a:gd name="T34" fmla="*/ 32 w 217"/>
                    <a:gd name="T35" fmla="*/ 0 h 162"/>
                    <a:gd name="T36" fmla="*/ 14 w 217"/>
                    <a:gd name="T37" fmla="*/ 17 h 162"/>
                    <a:gd name="T38" fmla="*/ 14 w 217"/>
                    <a:gd name="T39" fmla="*/ 127 h 162"/>
                    <a:gd name="T40" fmla="*/ 4 w 217"/>
                    <a:gd name="T41" fmla="*/ 127 h 162"/>
                    <a:gd name="T42" fmla="*/ 0 w 217"/>
                    <a:gd name="T43" fmla="*/ 131 h 162"/>
                    <a:gd name="T44" fmla="*/ 0 w 217"/>
                    <a:gd name="T45" fmla="*/ 138 h 162"/>
                    <a:gd name="T46" fmla="*/ 24 w 217"/>
                    <a:gd name="T47" fmla="*/ 162 h 162"/>
                    <a:gd name="T48" fmla="*/ 193 w 217"/>
                    <a:gd name="T49" fmla="*/ 162 h 162"/>
                    <a:gd name="T50" fmla="*/ 217 w 217"/>
                    <a:gd name="T51" fmla="*/ 138 h 162"/>
                    <a:gd name="T52" fmla="*/ 217 w 217"/>
                    <a:gd name="T53" fmla="*/ 131 h 162"/>
                    <a:gd name="T54" fmla="*/ 212 w 217"/>
                    <a:gd name="T55" fmla="*/ 127 h 162"/>
                    <a:gd name="T56" fmla="*/ 208 w 217"/>
                    <a:gd name="T57" fmla="*/ 138 h 162"/>
                    <a:gd name="T58" fmla="*/ 193 w 217"/>
                    <a:gd name="T59" fmla="*/ 154 h 162"/>
                    <a:gd name="T60" fmla="*/ 24 w 217"/>
                    <a:gd name="T61" fmla="*/ 154 h 162"/>
                    <a:gd name="T62" fmla="*/ 8 w 217"/>
                    <a:gd name="T63" fmla="*/ 138 h 162"/>
                    <a:gd name="T64" fmla="*/ 8 w 217"/>
                    <a:gd name="T65" fmla="*/ 135 h 162"/>
                    <a:gd name="T66" fmla="*/ 86 w 217"/>
                    <a:gd name="T67" fmla="*/ 135 h 162"/>
                    <a:gd name="T68" fmla="*/ 101 w 217"/>
                    <a:gd name="T69" fmla="*/ 147 h 162"/>
                    <a:gd name="T70" fmla="*/ 115 w 217"/>
                    <a:gd name="T71" fmla="*/ 147 h 162"/>
                    <a:gd name="T72" fmla="*/ 130 w 217"/>
                    <a:gd name="T73" fmla="*/ 135 h 162"/>
                    <a:gd name="T74" fmla="*/ 208 w 217"/>
                    <a:gd name="T75" fmla="*/ 135 h 162"/>
                    <a:gd name="T76" fmla="*/ 208 w 217"/>
                    <a:gd name="T77" fmla="*/ 138 h 162"/>
                    <a:gd name="T78" fmla="*/ 208 w 217"/>
                    <a:gd name="T79" fmla="*/ 138 h 162"/>
                    <a:gd name="T80" fmla="*/ 208 w 217"/>
                    <a:gd name="T81" fmla="*/ 138 h 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17" h="162">
                      <a:moveTo>
                        <a:pt x="212" y="127"/>
                      </a:moveTo>
                      <a:cubicBezTo>
                        <a:pt x="127" y="127"/>
                        <a:pt x="127" y="127"/>
                        <a:pt x="127" y="127"/>
                      </a:cubicBezTo>
                      <a:cubicBezTo>
                        <a:pt x="124" y="127"/>
                        <a:pt x="122" y="129"/>
                        <a:pt x="122" y="131"/>
                      </a:cubicBezTo>
                      <a:cubicBezTo>
                        <a:pt x="122" y="135"/>
                        <a:pt x="119" y="138"/>
                        <a:pt x="115" y="138"/>
                      </a:cubicBezTo>
                      <a:cubicBezTo>
                        <a:pt x="101" y="138"/>
                        <a:pt x="101" y="138"/>
                        <a:pt x="101" y="138"/>
                      </a:cubicBezTo>
                      <a:cubicBezTo>
                        <a:pt x="97" y="138"/>
                        <a:pt x="94" y="135"/>
                        <a:pt x="94" y="131"/>
                      </a:cubicBezTo>
                      <a:cubicBezTo>
                        <a:pt x="94" y="129"/>
                        <a:pt x="92" y="127"/>
                        <a:pt x="90" y="127"/>
                      </a:cubicBezTo>
                      <a:cubicBezTo>
                        <a:pt x="23" y="127"/>
                        <a:pt x="23" y="127"/>
                        <a:pt x="23" y="127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3" y="12"/>
                        <a:pt x="27" y="8"/>
                        <a:pt x="32" y="8"/>
                      </a:cubicBezTo>
                      <a:cubicBezTo>
                        <a:pt x="184" y="8"/>
                        <a:pt x="184" y="8"/>
                        <a:pt x="184" y="8"/>
                      </a:cubicBezTo>
                      <a:cubicBezTo>
                        <a:pt x="189" y="8"/>
                        <a:pt x="193" y="12"/>
                        <a:pt x="193" y="17"/>
                      </a:cubicBezTo>
                      <a:cubicBezTo>
                        <a:pt x="193" y="99"/>
                        <a:pt x="193" y="99"/>
                        <a:pt x="193" y="99"/>
                      </a:cubicBezTo>
                      <a:cubicBezTo>
                        <a:pt x="193" y="101"/>
                        <a:pt x="195" y="103"/>
                        <a:pt x="198" y="103"/>
                      </a:cubicBezTo>
                      <a:cubicBezTo>
                        <a:pt x="200" y="103"/>
                        <a:pt x="202" y="101"/>
                        <a:pt x="202" y="99"/>
                      </a:cubicBezTo>
                      <a:cubicBezTo>
                        <a:pt x="202" y="17"/>
                        <a:pt x="202" y="17"/>
                        <a:pt x="202" y="17"/>
                      </a:cubicBezTo>
                      <a:cubicBezTo>
                        <a:pt x="202" y="8"/>
                        <a:pt x="194" y="0"/>
                        <a:pt x="184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22" y="0"/>
                        <a:pt x="14" y="8"/>
                        <a:pt x="14" y="17"/>
                      </a:cubicBezTo>
                      <a:cubicBezTo>
                        <a:pt x="14" y="127"/>
                        <a:pt x="14" y="127"/>
                        <a:pt x="14" y="127"/>
                      </a:cubicBezTo>
                      <a:cubicBezTo>
                        <a:pt x="4" y="127"/>
                        <a:pt x="4" y="127"/>
                        <a:pt x="4" y="127"/>
                      </a:cubicBezTo>
                      <a:cubicBezTo>
                        <a:pt x="2" y="127"/>
                        <a:pt x="0" y="129"/>
                        <a:pt x="0" y="131"/>
                      </a:cubicBezTo>
                      <a:cubicBezTo>
                        <a:pt x="0" y="138"/>
                        <a:pt x="0" y="138"/>
                        <a:pt x="0" y="138"/>
                      </a:cubicBezTo>
                      <a:cubicBezTo>
                        <a:pt x="0" y="151"/>
                        <a:pt x="11" y="162"/>
                        <a:pt x="24" y="162"/>
                      </a:cubicBezTo>
                      <a:cubicBezTo>
                        <a:pt x="193" y="162"/>
                        <a:pt x="193" y="162"/>
                        <a:pt x="193" y="162"/>
                      </a:cubicBezTo>
                      <a:cubicBezTo>
                        <a:pt x="206" y="162"/>
                        <a:pt x="217" y="151"/>
                        <a:pt x="217" y="138"/>
                      </a:cubicBezTo>
                      <a:cubicBezTo>
                        <a:pt x="217" y="131"/>
                        <a:pt x="217" y="131"/>
                        <a:pt x="217" y="131"/>
                      </a:cubicBezTo>
                      <a:cubicBezTo>
                        <a:pt x="217" y="129"/>
                        <a:pt x="215" y="127"/>
                        <a:pt x="212" y="127"/>
                      </a:cubicBezTo>
                      <a:close/>
                      <a:moveTo>
                        <a:pt x="208" y="138"/>
                      </a:moveTo>
                      <a:cubicBezTo>
                        <a:pt x="208" y="147"/>
                        <a:pt x="201" y="154"/>
                        <a:pt x="193" y="154"/>
                      </a:cubicBezTo>
                      <a:cubicBezTo>
                        <a:pt x="24" y="154"/>
                        <a:pt x="24" y="154"/>
                        <a:pt x="24" y="154"/>
                      </a:cubicBezTo>
                      <a:cubicBezTo>
                        <a:pt x="15" y="154"/>
                        <a:pt x="8" y="147"/>
                        <a:pt x="8" y="138"/>
                      </a:cubicBezTo>
                      <a:cubicBezTo>
                        <a:pt x="8" y="135"/>
                        <a:pt x="8" y="135"/>
                        <a:pt x="8" y="135"/>
                      </a:cubicBezTo>
                      <a:cubicBezTo>
                        <a:pt x="86" y="135"/>
                        <a:pt x="86" y="135"/>
                        <a:pt x="86" y="135"/>
                      </a:cubicBezTo>
                      <a:cubicBezTo>
                        <a:pt x="88" y="142"/>
                        <a:pt x="94" y="147"/>
                        <a:pt x="101" y="147"/>
                      </a:cubicBezTo>
                      <a:cubicBezTo>
                        <a:pt x="115" y="147"/>
                        <a:pt x="115" y="147"/>
                        <a:pt x="115" y="147"/>
                      </a:cubicBezTo>
                      <a:cubicBezTo>
                        <a:pt x="122" y="147"/>
                        <a:pt x="128" y="142"/>
                        <a:pt x="130" y="135"/>
                      </a:cubicBezTo>
                      <a:cubicBezTo>
                        <a:pt x="208" y="135"/>
                        <a:pt x="208" y="135"/>
                        <a:pt x="208" y="135"/>
                      </a:cubicBezTo>
                      <a:lnTo>
                        <a:pt x="208" y="138"/>
                      </a:lnTo>
                      <a:close/>
                      <a:moveTo>
                        <a:pt x="208" y="138"/>
                      </a:moveTo>
                      <a:cubicBezTo>
                        <a:pt x="208" y="138"/>
                        <a:pt x="208" y="138"/>
                        <a:pt x="208" y="13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400"/>
                </a:p>
              </p:txBody>
            </p:sp>
            <p:sp>
              <p:nvSpPr>
                <p:cNvPr id="49" name="Freeform 96">
                  <a:extLst>
                    <a:ext uri="{FF2B5EF4-FFF2-40B4-BE49-F238E27FC236}">
                      <a16:creationId xmlns:a16="http://schemas.microsoft.com/office/drawing/2014/main" id="{1ED2938B-7A19-8FEE-8152-2EF995819B3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457162" y="3705024"/>
                  <a:ext cx="31189" cy="35187"/>
                </a:xfrm>
                <a:custGeom>
                  <a:avLst/>
                  <a:gdLst>
                    <a:gd name="T0" fmla="*/ 8 w 8"/>
                    <a:gd name="T1" fmla="*/ 4 h 9"/>
                    <a:gd name="T2" fmla="*/ 4 w 8"/>
                    <a:gd name="T3" fmla="*/ 9 h 9"/>
                    <a:gd name="T4" fmla="*/ 0 w 8"/>
                    <a:gd name="T5" fmla="*/ 4 h 9"/>
                    <a:gd name="T6" fmla="*/ 4 w 8"/>
                    <a:gd name="T7" fmla="*/ 0 h 9"/>
                    <a:gd name="T8" fmla="*/ 8 w 8"/>
                    <a:gd name="T9" fmla="*/ 4 h 9"/>
                    <a:gd name="T10" fmla="*/ 8 w 8"/>
                    <a:gd name="T11" fmla="*/ 4 h 9"/>
                    <a:gd name="T12" fmla="*/ 8 w 8"/>
                    <a:gd name="T13" fmla="*/ 4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9">
                      <a:moveTo>
                        <a:pt x="8" y="4"/>
                      </a:moveTo>
                      <a:cubicBezTo>
                        <a:pt x="8" y="7"/>
                        <a:pt x="7" y="9"/>
                        <a:pt x="4" y="9"/>
                      </a:cubicBezTo>
                      <a:cubicBezTo>
                        <a:pt x="2" y="9"/>
                        <a:pt x="0" y="7"/>
                        <a:pt x="0" y="4"/>
                      </a:cubicBezTo>
                      <a:cubicBezTo>
                        <a:pt x="0" y="2"/>
                        <a:pt x="2" y="0"/>
                        <a:pt x="4" y="0"/>
                      </a:cubicBezTo>
                      <a:cubicBezTo>
                        <a:pt x="7" y="0"/>
                        <a:pt x="8" y="2"/>
                        <a:pt x="8" y="4"/>
                      </a:cubicBezTo>
                      <a:close/>
                      <a:moveTo>
                        <a:pt x="8" y="4"/>
                      </a:moveTo>
                      <a:cubicBezTo>
                        <a:pt x="8" y="4"/>
                        <a:pt x="8" y="4"/>
                        <a:pt x="8" y="4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400"/>
                </a:p>
              </p:txBody>
            </p:sp>
          </p:grp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3C40FE-9CA6-59B4-4E1C-C52BADD2E40E}"/>
                </a:ext>
              </a:extLst>
            </p:cNvPr>
            <p:cNvSpPr txBox="1"/>
            <p:nvPr/>
          </p:nvSpPr>
          <p:spPr>
            <a:xfrm>
              <a:off x="13025214" y="1219200"/>
              <a:ext cx="8348103" cy="3127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algn="l" rtl="0">
                <a:lnSpc>
                  <a:spcPct val="150000"/>
                </a:lnSpc>
              </a:pPr>
              <a:r>
                <a:rPr lang="en-US" sz="4800" i="0" u="none" strike="noStrike" baseline="30000" dirty="0">
                  <a:latin typeface="Montserrat Bold" pitchFamily="2" charset="0"/>
                  <a:ea typeface="Roboto Cn" pitchFamily="2" charset="0"/>
                </a:rPr>
                <a:t>Friction</a:t>
              </a:r>
              <a:endParaRPr lang="en-US" sz="4800" baseline="30000" dirty="0">
                <a:latin typeface="Montserrat Bold" pitchFamily="2" charset="0"/>
                <a:ea typeface="Roboto Cn" pitchFamily="2" charset="0"/>
              </a:endParaRPr>
            </a:p>
            <a:p>
              <a:pPr marR="0" algn="l" rtl="0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0" i="0" u="none" strike="noStrike" baseline="30000" dirty="0">
                  <a:latin typeface="Montserrat Bold" pitchFamily="2" charset="0"/>
                  <a:ea typeface="Roboto Cn" pitchFamily="2" charset="0"/>
                </a:rPr>
                <a:t>Barriers that will prevent program utilization and word of mouth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08EB2F0-7637-12D1-D3AC-CE77F1E143BC}"/>
                </a:ext>
              </a:extLst>
            </p:cNvPr>
            <p:cNvSpPr/>
            <p:nvPr/>
          </p:nvSpPr>
          <p:spPr>
            <a:xfrm>
              <a:off x="11919732" y="5388622"/>
              <a:ext cx="2840978" cy="28409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22AE72-626B-970A-5B5C-3E9268694E6D}"/>
                </a:ext>
              </a:extLst>
            </p:cNvPr>
            <p:cNvSpPr txBox="1"/>
            <p:nvPr/>
          </p:nvSpPr>
          <p:spPr>
            <a:xfrm>
              <a:off x="15499322" y="5312423"/>
              <a:ext cx="8348103" cy="3127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algn="l" rtl="0">
                <a:lnSpc>
                  <a:spcPct val="150000"/>
                </a:lnSpc>
              </a:pPr>
              <a:r>
                <a:rPr lang="en-US" sz="4800" i="0" u="none" strike="noStrike" baseline="30000" dirty="0">
                  <a:latin typeface="Montserrat Bold" pitchFamily="2" charset="0"/>
                  <a:ea typeface="Roboto Cn" pitchFamily="2" charset="0"/>
                </a:rPr>
                <a:t>Motivation</a:t>
              </a:r>
              <a:endParaRPr lang="en-US" sz="4800" baseline="30000" dirty="0">
                <a:latin typeface="Montserrat Bold" pitchFamily="2" charset="0"/>
                <a:ea typeface="Roboto Cn" pitchFamily="2" charset="0"/>
              </a:endParaRPr>
            </a:p>
            <a:p>
              <a:pPr marR="0" algn="l" rtl="0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0" i="0" u="none" strike="noStrike" baseline="30000" dirty="0">
                  <a:latin typeface="Montserrat Bold" pitchFamily="2" charset="0"/>
                  <a:ea typeface="Roboto Cn" pitchFamily="2" charset="0"/>
                </a:rPr>
                <a:t>What will drive higher program utilization and word of mouth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AEC820B-6FE1-4475-959D-30EEE3FFE308}"/>
                </a:ext>
              </a:extLst>
            </p:cNvPr>
            <p:cNvSpPr/>
            <p:nvPr/>
          </p:nvSpPr>
          <p:spPr>
            <a:xfrm>
              <a:off x="9445625" y="9732022"/>
              <a:ext cx="2840978" cy="28409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B6302FC-4BEF-A605-5796-20029E64183E}"/>
                </a:ext>
              </a:extLst>
            </p:cNvPr>
            <p:cNvSpPr txBox="1"/>
            <p:nvPr/>
          </p:nvSpPr>
          <p:spPr>
            <a:xfrm>
              <a:off x="13025214" y="9756884"/>
              <a:ext cx="8348103" cy="3120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algn="l" rtl="0">
                <a:lnSpc>
                  <a:spcPct val="150000"/>
                </a:lnSpc>
              </a:pPr>
              <a:r>
                <a:rPr lang="en-US" sz="4800" baseline="30000" dirty="0">
                  <a:latin typeface="Montserrat Bold" pitchFamily="2" charset="0"/>
                  <a:ea typeface="Roboto Cn" pitchFamily="2" charset="0"/>
                </a:rPr>
                <a:t>Context</a:t>
              </a:r>
            </a:p>
            <a:p>
              <a:pPr marR="0" algn="l" rtl="0">
                <a:lnSpc>
                  <a:spcPct val="150000"/>
                </a:lnSpc>
                <a:spcBef>
                  <a:spcPts val="2400"/>
                </a:spcBef>
              </a:pPr>
              <a:r>
                <a:rPr lang="en-US" sz="2800" baseline="30000" dirty="0">
                  <a:latin typeface="Montserrat Bold" pitchFamily="2" charset="0"/>
                  <a:ea typeface="Roboto Cn" pitchFamily="2" charset="0"/>
                </a:rPr>
                <a:t>T</a:t>
              </a:r>
              <a:r>
                <a:rPr lang="en-US" sz="2800" i="0" u="none" strike="noStrike" baseline="30000" dirty="0">
                  <a:latin typeface="Montserrat Bold" pitchFamily="2" charset="0"/>
                  <a:ea typeface="Roboto Cn" pitchFamily="2" charset="0"/>
                </a:rPr>
                <a:t>he who, what, how, when and why to identify friction and motivation</a:t>
              </a:r>
              <a:endParaRPr lang="en-US" sz="2800" b="0" i="0" u="none" strike="noStrike" baseline="30000" dirty="0">
                <a:latin typeface="Montserrat Bold" pitchFamily="2" charset="0"/>
                <a:ea typeface="Roboto Cn" pitchFamily="2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5A7C4E6-3636-1C03-24ED-14F2DA2FEEE1}"/>
                </a:ext>
              </a:extLst>
            </p:cNvPr>
            <p:cNvSpPr/>
            <p:nvPr/>
          </p:nvSpPr>
          <p:spPr>
            <a:xfrm>
              <a:off x="1474699" y="3215437"/>
              <a:ext cx="7285126" cy="728512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7885F47-B0B5-007F-AFA9-BBED44FDDAB0}"/>
                </a:ext>
              </a:extLst>
            </p:cNvPr>
            <p:cNvGrpSpPr/>
            <p:nvPr/>
          </p:nvGrpSpPr>
          <p:grpSpPr>
            <a:xfrm>
              <a:off x="12796051" y="6128906"/>
              <a:ext cx="1096930" cy="1353006"/>
              <a:chOff x="14462125" y="8877300"/>
              <a:chExt cx="1366838" cy="1685925"/>
            </a:xfrm>
            <a:solidFill>
              <a:schemeClr val="bg1"/>
            </a:solidFill>
          </p:grpSpPr>
          <p:sp>
            <p:nvSpPr>
              <p:cNvPr id="34" name="Freeform 114">
                <a:extLst>
                  <a:ext uri="{FF2B5EF4-FFF2-40B4-BE49-F238E27FC236}">
                    <a16:creationId xmlns:a16="http://schemas.microsoft.com/office/drawing/2014/main" id="{469CA70C-90A0-8EF3-4E90-29628863E5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462125" y="8877300"/>
                <a:ext cx="1366838" cy="1685925"/>
              </a:xfrm>
              <a:custGeom>
                <a:avLst/>
                <a:gdLst>
                  <a:gd name="T0" fmla="*/ 109 w 176"/>
                  <a:gd name="T1" fmla="*/ 17 h 217"/>
                  <a:gd name="T2" fmla="*/ 67 w 176"/>
                  <a:gd name="T3" fmla="*/ 17 h 217"/>
                  <a:gd name="T4" fmla="*/ 0 w 176"/>
                  <a:gd name="T5" fmla="*/ 28 h 217"/>
                  <a:gd name="T6" fmla="*/ 12 w 176"/>
                  <a:gd name="T7" fmla="*/ 160 h 217"/>
                  <a:gd name="T8" fmla="*/ 47 w 176"/>
                  <a:gd name="T9" fmla="*/ 211 h 217"/>
                  <a:gd name="T10" fmla="*/ 51 w 176"/>
                  <a:gd name="T11" fmla="*/ 217 h 217"/>
                  <a:gd name="T12" fmla="*/ 73 w 176"/>
                  <a:gd name="T13" fmla="*/ 160 h 217"/>
                  <a:gd name="T14" fmla="*/ 121 w 176"/>
                  <a:gd name="T15" fmla="*/ 214 h 217"/>
                  <a:gd name="T16" fmla="*/ 126 w 176"/>
                  <a:gd name="T17" fmla="*/ 217 h 217"/>
                  <a:gd name="T18" fmla="*/ 111 w 176"/>
                  <a:gd name="T19" fmla="*/ 160 h 217"/>
                  <a:gd name="T20" fmla="*/ 176 w 176"/>
                  <a:gd name="T21" fmla="*/ 149 h 217"/>
                  <a:gd name="T22" fmla="*/ 164 w 176"/>
                  <a:gd name="T23" fmla="*/ 17 h 217"/>
                  <a:gd name="T24" fmla="*/ 100 w 176"/>
                  <a:gd name="T25" fmla="*/ 17 h 217"/>
                  <a:gd name="T26" fmla="*/ 88 w 176"/>
                  <a:gd name="T27" fmla="*/ 8 h 217"/>
                  <a:gd name="T28" fmla="*/ 164 w 176"/>
                  <a:gd name="T29" fmla="*/ 152 h 217"/>
                  <a:gd name="T30" fmla="*/ 153 w 176"/>
                  <a:gd name="T31" fmla="*/ 91 h 217"/>
                  <a:gd name="T32" fmla="*/ 145 w 176"/>
                  <a:gd name="T33" fmla="*/ 91 h 217"/>
                  <a:gd name="T34" fmla="*/ 132 w 176"/>
                  <a:gd name="T35" fmla="*/ 152 h 217"/>
                  <a:gd name="T36" fmla="*/ 128 w 176"/>
                  <a:gd name="T37" fmla="*/ 100 h 217"/>
                  <a:gd name="T38" fmla="*/ 123 w 176"/>
                  <a:gd name="T39" fmla="*/ 152 h 217"/>
                  <a:gd name="T40" fmla="*/ 111 w 176"/>
                  <a:gd name="T41" fmla="*/ 118 h 217"/>
                  <a:gd name="T42" fmla="*/ 103 w 176"/>
                  <a:gd name="T43" fmla="*/ 118 h 217"/>
                  <a:gd name="T44" fmla="*/ 92 w 176"/>
                  <a:gd name="T45" fmla="*/ 152 h 217"/>
                  <a:gd name="T46" fmla="*/ 88 w 176"/>
                  <a:gd name="T47" fmla="*/ 103 h 217"/>
                  <a:gd name="T48" fmla="*/ 84 w 176"/>
                  <a:gd name="T49" fmla="*/ 152 h 217"/>
                  <a:gd name="T50" fmla="*/ 71 w 176"/>
                  <a:gd name="T51" fmla="*/ 128 h 217"/>
                  <a:gd name="T52" fmla="*/ 63 w 176"/>
                  <a:gd name="T53" fmla="*/ 128 h 217"/>
                  <a:gd name="T54" fmla="*/ 53 w 176"/>
                  <a:gd name="T55" fmla="*/ 152 h 217"/>
                  <a:gd name="T56" fmla="*/ 49 w 176"/>
                  <a:gd name="T57" fmla="*/ 126 h 217"/>
                  <a:gd name="T58" fmla="*/ 45 w 176"/>
                  <a:gd name="T59" fmla="*/ 152 h 217"/>
                  <a:gd name="T60" fmla="*/ 33 w 176"/>
                  <a:gd name="T61" fmla="*/ 135 h 217"/>
                  <a:gd name="T62" fmla="*/ 25 w 176"/>
                  <a:gd name="T63" fmla="*/ 135 h 217"/>
                  <a:gd name="T64" fmla="*/ 12 w 176"/>
                  <a:gd name="T65" fmla="*/ 152 h 217"/>
                  <a:gd name="T66" fmla="*/ 9 w 176"/>
                  <a:gd name="T67" fmla="*/ 28 h 217"/>
                  <a:gd name="T68" fmla="*/ 164 w 176"/>
                  <a:gd name="T69" fmla="*/ 25 h 217"/>
                  <a:gd name="T70" fmla="*/ 167 w 176"/>
                  <a:gd name="T71" fmla="*/ 149 h 217"/>
                  <a:gd name="T72" fmla="*/ 167 w 176"/>
                  <a:gd name="T73" fmla="*/ 149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6" h="217">
                    <a:moveTo>
                      <a:pt x="164" y="17"/>
                    </a:moveTo>
                    <a:cubicBezTo>
                      <a:pt x="109" y="17"/>
                      <a:pt x="109" y="17"/>
                      <a:pt x="109" y="17"/>
                    </a:cubicBezTo>
                    <a:cubicBezTo>
                      <a:pt x="107" y="7"/>
                      <a:pt x="98" y="0"/>
                      <a:pt x="88" y="0"/>
                    </a:cubicBezTo>
                    <a:cubicBezTo>
                      <a:pt x="78" y="0"/>
                      <a:pt x="69" y="7"/>
                      <a:pt x="67" y="17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5" y="17"/>
                      <a:pt x="0" y="22"/>
                      <a:pt x="0" y="28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0" y="155"/>
                      <a:pt x="5" y="160"/>
                      <a:pt x="12" y="160"/>
                    </a:cubicBezTo>
                    <a:cubicBezTo>
                      <a:pt x="65" y="160"/>
                      <a:pt x="65" y="160"/>
                      <a:pt x="65" y="160"/>
                    </a:cubicBezTo>
                    <a:cubicBezTo>
                      <a:pt x="47" y="211"/>
                      <a:pt x="47" y="211"/>
                      <a:pt x="47" y="211"/>
                    </a:cubicBezTo>
                    <a:cubicBezTo>
                      <a:pt x="47" y="214"/>
                      <a:pt x="48" y="216"/>
                      <a:pt x="50" y="217"/>
                    </a:cubicBezTo>
                    <a:cubicBezTo>
                      <a:pt x="50" y="217"/>
                      <a:pt x="51" y="217"/>
                      <a:pt x="51" y="217"/>
                    </a:cubicBezTo>
                    <a:cubicBezTo>
                      <a:pt x="53" y="217"/>
                      <a:pt x="55" y="216"/>
                      <a:pt x="55" y="214"/>
                    </a:cubicBezTo>
                    <a:cubicBezTo>
                      <a:pt x="73" y="160"/>
                      <a:pt x="73" y="160"/>
                      <a:pt x="73" y="160"/>
                    </a:cubicBezTo>
                    <a:cubicBezTo>
                      <a:pt x="102" y="160"/>
                      <a:pt x="102" y="160"/>
                      <a:pt x="102" y="160"/>
                    </a:cubicBezTo>
                    <a:cubicBezTo>
                      <a:pt x="121" y="214"/>
                      <a:pt x="121" y="214"/>
                      <a:pt x="121" y="214"/>
                    </a:cubicBezTo>
                    <a:cubicBezTo>
                      <a:pt x="121" y="216"/>
                      <a:pt x="123" y="217"/>
                      <a:pt x="125" y="217"/>
                    </a:cubicBezTo>
                    <a:cubicBezTo>
                      <a:pt x="125" y="217"/>
                      <a:pt x="126" y="217"/>
                      <a:pt x="126" y="217"/>
                    </a:cubicBezTo>
                    <a:cubicBezTo>
                      <a:pt x="128" y="216"/>
                      <a:pt x="129" y="214"/>
                      <a:pt x="129" y="211"/>
                    </a:cubicBezTo>
                    <a:cubicBezTo>
                      <a:pt x="111" y="160"/>
                      <a:pt x="111" y="160"/>
                      <a:pt x="111" y="160"/>
                    </a:cubicBezTo>
                    <a:cubicBezTo>
                      <a:pt x="164" y="160"/>
                      <a:pt x="164" y="160"/>
                      <a:pt x="164" y="160"/>
                    </a:cubicBezTo>
                    <a:cubicBezTo>
                      <a:pt x="171" y="160"/>
                      <a:pt x="176" y="155"/>
                      <a:pt x="176" y="149"/>
                    </a:cubicBezTo>
                    <a:cubicBezTo>
                      <a:pt x="176" y="28"/>
                      <a:pt x="176" y="28"/>
                      <a:pt x="176" y="28"/>
                    </a:cubicBezTo>
                    <a:cubicBezTo>
                      <a:pt x="176" y="22"/>
                      <a:pt x="171" y="17"/>
                      <a:pt x="164" y="17"/>
                    </a:cubicBezTo>
                    <a:close/>
                    <a:moveTo>
                      <a:pt x="88" y="8"/>
                    </a:moveTo>
                    <a:cubicBezTo>
                      <a:pt x="93" y="8"/>
                      <a:pt x="98" y="12"/>
                      <a:pt x="100" y="17"/>
                    </a:cubicBezTo>
                    <a:cubicBezTo>
                      <a:pt x="76" y="17"/>
                      <a:pt x="76" y="17"/>
                      <a:pt x="76" y="17"/>
                    </a:cubicBezTo>
                    <a:cubicBezTo>
                      <a:pt x="78" y="12"/>
                      <a:pt x="82" y="8"/>
                      <a:pt x="88" y="8"/>
                    </a:cubicBezTo>
                    <a:close/>
                    <a:moveTo>
                      <a:pt x="167" y="149"/>
                    </a:moveTo>
                    <a:cubicBezTo>
                      <a:pt x="167" y="150"/>
                      <a:pt x="166" y="152"/>
                      <a:pt x="164" y="152"/>
                    </a:cubicBezTo>
                    <a:cubicBezTo>
                      <a:pt x="153" y="152"/>
                      <a:pt x="153" y="152"/>
                      <a:pt x="153" y="152"/>
                    </a:cubicBezTo>
                    <a:cubicBezTo>
                      <a:pt x="153" y="91"/>
                      <a:pt x="153" y="91"/>
                      <a:pt x="153" y="91"/>
                    </a:cubicBezTo>
                    <a:cubicBezTo>
                      <a:pt x="153" y="89"/>
                      <a:pt x="151" y="87"/>
                      <a:pt x="149" y="87"/>
                    </a:cubicBezTo>
                    <a:cubicBezTo>
                      <a:pt x="147" y="87"/>
                      <a:pt x="145" y="89"/>
                      <a:pt x="145" y="91"/>
                    </a:cubicBezTo>
                    <a:cubicBezTo>
                      <a:pt x="145" y="152"/>
                      <a:pt x="145" y="152"/>
                      <a:pt x="145" y="152"/>
                    </a:cubicBezTo>
                    <a:cubicBezTo>
                      <a:pt x="132" y="152"/>
                      <a:pt x="132" y="152"/>
                      <a:pt x="132" y="152"/>
                    </a:cubicBezTo>
                    <a:cubicBezTo>
                      <a:pt x="132" y="104"/>
                      <a:pt x="132" y="104"/>
                      <a:pt x="132" y="104"/>
                    </a:cubicBezTo>
                    <a:cubicBezTo>
                      <a:pt x="132" y="102"/>
                      <a:pt x="130" y="100"/>
                      <a:pt x="128" y="100"/>
                    </a:cubicBezTo>
                    <a:cubicBezTo>
                      <a:pt x="125" y="100"/>
                      <a:pt x="123" y="102"/>
                      <a:pt x="123" y="104"/>
                    </a:cubicBezTo>
                    <a:cubicBezTo>
                      <a:pt x="123" y="152"/>
                      <a:pt x="123" y="152"/>
                      <a:pt x="123" y="152"/>
                    </a:cubicBezTo>
                    <a:cubicBezTo>
                      <a:pt x="111" y="152"/>
                      <a:pt x="111" y="152"/>
                      <a:pt x="111" y="152"/>
                    </a:cubicBezTo>
                    <a:cubicBezTo>
                      <a:pt x="111" y="118"/>
                      <a:pt x="111" y="118"/>
                      <a:pt x="111" y="118"/>
                    </a:cubicBezTo>
                    <a:cubicBezTo>
                      <a:pt x="111" y="116"/>
                      <a:pt x="110" y="114"/>
                      <a:pt x="107" y="114"/>
                    </a:cubicBezTo>
                    <a:cubicBezTo>
                      <a:pt x="105" y="114"/>
                      <a:pt x="103" y="116"/>
                      <a:pt x="103" y="118"/>
                    </a:cubicBezTo>
                    <a:cubicBezTo>
                      <a:pt x="103" y="152"/>
                      <a:pt x="103" y="152"/>
                      <a:pt x="103" y="152"/>
                    </a:cubicBezTo>
                    <a:cubicBezTo>
                      <a:pt x="92" y="152"/>
                      <a:pt x="92" y="152"/>
                      <a:pt x="92" y="152"/>
                    </a:cubicBezTo>
                    <a:cubicBezTo>
                      <a:pt x="92" y="107"/>
                      <a:pt x="92" y="107"/>
                      <a:pt x="92" y="107"/>
                    </a:cubicBezTo>
                    <a:cubicBezTo>
                      <a:pt x="92" y="105"/>
                      <a:pt x="90" y="103"/>
                      <a:pt x="88" y="103"/>
                    </a:cubicBezTo>
                    <a:cubicBezTo>
                      <a:pt x="86" y="103"/>
                      <a:pt x="84" y="105"/>
                      <a:pt x="84" y="107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71" y="152"/>
                      <a:pt x="71" y="152"/>
                      <a:pt x="71" y="152"/>
                    </a:cubicBezTo>
                    <a:cubicBezTo>
                      <a:pt x="71" y="128"/>
                      <a:pt x="71" y="128"/>
                      <a:pt x="71" y="128"/>
                    </a:cubicBezTo>
                    <a:cubicBezTo>
                      <a:pt x="71" y="126"/>
                      <a:pt x="70" y="124"/>
                      <a:pt x="67" y="124"/>
                    </a:cubicBezTo>
                    <a:cubicBezTo>
                      <a:pt x="65" y="124"/>
                      <a:pt x="63" y="126"/>
                      <a:pt x="63" y="128"/>
                    </a:cubicBezTo>
                    <a:cubicBezTo>
                      <a:pt x="63" y="152"/>
                      <a:pt x="63" y="152"/>
                      <a:pt x="63" y="152"/>
                    </a:cubicBezTo>
                    <a:cubicBezTo>
                      <a:pt x="53" y="152"/>
                      <a:pt x="53" y="152"/>
                      <a:pt x="53" y="152"/>
                    </a:cubicBezTo>
                    <a:cubicBezTo>
                      <a:pt x="53" y="130"/>
                      <a:pt x="53" y="130"/>
                      <a:pt x="53" y="130"/>
                    </a:cubicBezTo>
                    <a:cubicBezTo>
                      <a:pt x="53" y="128"/>
                      <a:pt x="51" y="126"/>
                      <a:pt x="49" y="126"/>
                    </a:cubicBezTo>
                    <a:cubicBezTo>
                      <a:pt x="47" y="126"/>
                      <a:pt x="45" y="128"/>
                      <a:pt x="45" y="130"/>
                    </a:cubicBezTo>
                    <a:cubicBezTo>
                      <a:pt x="45" y="152"/>
                      <a:pt x="45" y="152"/>
                      <a:pt x="45" y="152"/>
                    </a:cubicBezTo>
                    <a:cubicBezTo>
                      <a:pt x="33" y="152"/>
                      <a:pt x="33" y="152"/>
                      <a:pt x="33" y="152"/>
                    </a:cubicBezTo>
                    <a:cubicBezTo>
                      <a:pt x="33" y="135"/>
                      <a:pt x="33" y="135"/>
                      <a:pt x="33" y="135"/>
                    </a:cubicBezTo>
                    <a:cubicBezTo>
                      <a:pt x="33" y="133"/>
                      <a:pt x="31" y="131"/>
                      <a:pt x="29" y="131"/>
                    </a:cubicBezTo>
                    <a:cubicBezTo>
                      <a:pt x="27" y="131"/>
                      <a:pt x="25" y="133"/>
                      <a:pt x="25" y="135"/>
                    </a:cubicBezTo>
                    <a:cubicBezTo>
                      <a:pt x="25" y="152"/>
                      <a:pt x="25" y="152"/>
                      <a:pt x="25" y="152"/>
                    </a:cubicBezTo>
                    <a:cubicBezTo>
                      <a:pt x="12" y="152"/>
                      <a:pt x="12" y="152"/>
                      <a:pt x="12" y="152"/>
                    </a:cubicBezTo>
                    <a:cubicBezTo>
                      <a:pt x="10" y="152"/>
                      <a:pt x="9" y="150"/>
                      <a:pt x="9" y="149"/>
                    </a:cubicBezTo>
                    <a:cubicBezTo>
                      <a:pt x="9" y="28"/>
                      <a:pt x="9" y="28"/>
                      <a:pt x="9" y="28"/>
                    </a:cubicBezTo>
                    <a:cubicBezTo>
                      <a:pt x="9" y="27"/>
                      <a:pt x="10" y="25"/>
                      <a:pt x="12" y="25"/>
                    </a:cubicBezTo>
                    <a:cubicBezTo>
                      <a:pt x="164" y="25"/>
                      <a:pt x="164" y="25"/>
                      <a:pt x="164" y="25"/>
                    </a:cubicBezTo>
                    <a:cubicBezTo>
                      <a:pt x="166" y="25"/>
                      <a:pt x="167" y="27"/>
                      <a:pt x="167" y="28"/>
                    </a:cubicBezTo>
                    <a:lnTo>
                      <a:pt x="167" y="149"/>
                    </a:lnTo>
                    <a:close/>
                    <a:moveTo>
                      <a:pt x="167" y="149"/>
                    </a:moveTo>
                    <a:cubicBezTo>
                      <a:pt x="167" y="149"/>
                      <a:pt x="167" y="149"/>
                      <a:pt x="167" y="1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/>
              </a:p>
            </p:txBody>
          </p:sp>
          <p:sp>
            <p:nvSpPr>
              <p:cNvPr id="35" name="Freeform 115">
                <a:extLst>
                  <a:ext uri="{FF2B5EF4-FFF2-40B4-BE49-F238E27FC236}">
                    <a16:creationId xmlns:a16="http://schemas.microsoft.com/office/drawing/2014/main" id="{4D8CE7B1-8076-605E-7DA6-5F5E7E8B60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65325" y="9196388"/>
                <a:ext cx="985838" cy="612775"/>
              </a:xfrm>
              <a:custGeom>
                <a:avLst/>
                <a:gdLst>
                  <a:gd name="T0" fmla="*/ 127 w 127"/>
                  <a:gd name="T1" fmla="*/ 4 h 79"/>
                  <a:gd name="T2" fmla="*/ 127 w 127"/>
                  <a:gd name="T3" fmla="*/ 4 h 79"/>
                  <a:gd name="T4" fmla="*/ 127 w 127"/>
                  <a:gd name="T5" fmla="*/ 4 h 79"/>
                  <a:gd name="T6" fmla="*/ 127 w 127"/>
                  <a:gd name="T7" fmla="*/ 4 h 79"/>
                  <a:gd name="T8" fmla="*/ 127 w 127"/>
                  <a:gd name="T9" fmla="*/ 3 h 79"/>
                  <a:gd name="T10" fmla="*/ 127 w 127"/>
                  <a:gd name="T11" fmla="*/ 3 h 79"/>
                  <a:gd name="T12" fmla="*/ 127 w 127"/>
                  <a:gd name="T13" fmla="*/ 3 h 79"/>
                  <a:gd name="T14" fmla="*/ 127 w 127"/>
                  <a:gd name="T15" fmla="*/ 3 h 79"/>
                  <a:gd name="T16" fmla="*/ 127 w 127"/>
                  <a:gd name="T17" fmla="*/ 3 h 79"/>
                  <a:gd name="T18" fmla="*/ 127 w 127"/>
                  <a:gd name="T19" fmla="*/ 3 h 79"/>
                  <a:gd name="T20" fmla="*/ 127 w 127"/>
                  <a:gd name="T21" fmla="*/ 2 h 79"/>
                  <a:gd name="T22" fmla="*/ 126 w 127"/>
                  <a:gd name="T23" fmla="*/ 2 h 79"/>
                  <a:gd name="T24" fmla="*/ 126 w 127"/>
                  <a:gd name="T25" fmla="*/ 2 h 79"/>
                  <a:gd name="T26" fmla="*/ 126 w 127"/>
                  <a:gd name="T27" fmla="*/ 2 h 79"/>
                  <a:gd name="T28" fmla="*/ 126 w 127"/>
                  <a:gd name="T29" fmla="*/ 2 h 79"/>
                  <a:gd name="T30" fmla="*/ 126 w 127"/>
                  <a:gd name="T31" fmla="*/ 2 h 79"/>
                  <a:gd name="T32" fmla="*/ 126 w 127"/>
                  <a:gd name="T33" fmla="*/ 1 h 79"/>
                  <a:gd name="T34" fmla="*/ 126 w 127"/>
                  <a:gd name="T35" fmla="*/ 1 h 79"/>
                  <a:gd name="T36" fmla="*/ 125 w 127"/>
                  <a:gd name="T37" fmla="*/ 1 h 79"/>
                  <a:gd name="T38" fmla="*/ 125 w 127"/>
                  <a:gd name="T39" fmla="*/ 1 h 79"/>
                  <a:gd name="T40" fmla="*/ 125 w 127"/>
                  <a:gd name="T41" fmla="*/ 1 h 79"/>
                  <a:gd name="T42" fmla="*/ 125 w 127"/>
                  <a:gd name="T43" fmla="*/ 1 h 79"/>
                  <a:gd name="T44" fmla="*/ 125 w 127"/>
                  <a:gd name="T45" fmla="*/ 1 h 79"/>
                  <a:gd name="T46" fmla="*/ 124 w 127"/>
                  <a:gd name="T47" fmla="*/ 1 h 79"/>
                  <a:gd name="T48" fmla="*/ 124 w 127"/>
                  <a:gd name="T49" fmla="*/ 1 h 79"/>
                  <a:gd name="T50" fmla="*/ 124 w 127"/>
                  <a:gd name="T51" fmla="*/ 1 h 79"/>
                  <a:gd name="T52" fmla="*/ 124 w 127"/>
                  <a:gd name="T53" fmla="*/ 1 h 79"/>
                  <a:gd name="T54" fmla="*/ 124 w 127"/>
                  <a:gd name="T55" fmla="*/ 1 h 79"/>
                  <a:gd name="T56" fmla="*/ 123 w 127"/>
                  <a:gd name="T57" fmla="*/ 0 h 79"/>
                  <a:gd name="T58" fmla="*/ 123 w 127"/>
                  <a:gd name="T59" fmla="*/ 0 h 79"/>
                  <a:gd name="T60" fmla="*/ 123 w 127"/>
                  <a:gd name="T61" fmla="*/ 0 h 79"/>
                  <a:gd name="T62" fmla="*/ 105 w 127"/>
                  <a:gd name="T63" fmla="*/ 0 h 79"/>
                  <a:gd name="T64" fmla="*/ 101 w 127"/>
                  <a:gd name="T65" fmla="*/ 5 h 79"/>
                  <a:gd name="T66" fmla="*/ 105 w 127"/>
                  <a:gd name="T67" fmla="*/ 9 h 79"/>
                  <a:gd name="T68" fmla="*/ 113 w 127"/>
                  <a:gd name="T69" fmla="*/ 9 h 79"/>
                  <a:gd name="T70" fmla="*/ 78 w 127"/>
                  <a:gd name="T71" fmla="*/ 44 h 79"/>
                  <a:gd name="T72" fmla="*/ 68 w 127"/>
                  <a:gd name="T73" fmla="*/ 35 h 79"/>
                  <a:gd name="T74" fmla="*/ 65 w 127"/>
                  <a:gd name="T75" fmla="*/ 34 h 79"/>
                  <a:gd name="T76" fmla="*/ 62 w 127"/>
                  <a:gd name="T77" fmla="*/ 35 h 79"/>
                  <a:gd name="T78" fmla="*/ 32 w 127"/>
                  <a:gd name="T79" fmla="*/ 65 h 79"/>
                  <a:gd name="T80" fmla="*/ 23 w 127"/>
                  <a:gd name="T81" fmla="*/ 56 h 79"/>
                  <a:gd name="T82" fmla="*/ 17 w 127"/>
                  <a:gd name="T83" fmla="*/ 56 h 79"/>
                  <a:gd name="T84" fmla="*/ 1 w 127"/>
                  <a:gd name="T85" fmla="*/ 72 h 79"/>
                  <a:gd name="T86" fmla="*/ 1 w 127"/>
                  <a:gd name="T87" fmla="*/ 78 h 79"/>
                  <a:gd name="T88" fmla="*/ 4 w 127"/>
                  <a:gd name="T89" fmla="*/ 79 h 79"/>
                  <a:gd name="T90" fmla="*/ 7 w 127"/>
                  <a:gd name="T91" fmla="*/ 78 h 79"/>
                  <a:gd name="T92" fmla="*/ 20 w 127"/>
                  <a:gd name="T93" fmla="*/ 65 h 79"/>
                  <a:gd name="T94" fmla="*/ 29 w 127"/>
                  <a:gd name="T95" fmla="*/ 74 h 79"/>
                  <a:gd name="T96" fmla="*/ 35 w 127"/>
                  <a:gd name="T97" fmla="*/ 74 h 79"/>
                  <a:gd name="T98" fmla="*/ 65 w 127"/>
                  <a:gd name="T99" fmla="*/ 44 h 79"/>
                  <a:gd name="T100" fmla="*/ 75 w 127"/>
                  <a:gd name="T101" fmla="*/ 53 h 79"/>
                  <a:gd name="T102" fmla="*/ 78 w 127"/>
                  <a:gd name="T103" fmla="*/ 54 h 79"/>
                  <a:gd name="T104" fmla="*/ 81 w 127"/>
                  <a:gd name="T105" fmla="*/ 53 h 79"/>
                  <a:gd name="T106" fmla="*/ 119 w 127"/>
                  <a:gd name="T107" fmla="*/ 15 h 79"/>
                  <a:gd name="T108" fmla="*/ 119 w 127"/>
                  <a:gd name="T109" fmla="*/ 23 h 79"/>
                  <a:gd name="T110" fmla="*/ 123 w 127"/>
                  <a:gd name="T111" fmla="*/ 27 h 79"/>
                  <a:gd name="T112" fmla="*/ 127 w 127"/>
                  <a:gd name="T113" fmla="*/ 23 h 79"/>
                  <a:gd name="T114" fmla="*/ 127 w 127"/>
                  <a:gd name="T115" fmla="*/ 5 h 79"/>
                  <a:gd name="T116" fmla="*/ 127 w 127"/>
                  <a:gd name="T117" fmla="*/ 4 h 79"/>
                  <a:gd name="T118" fmla="*/ 127 w 127"/>
                  <a:gd name="T119" fmla="*/ 4 h 79"/>
                  <a:gd name="T120" fmla="*/ 127 w 127"/>
                  <a:gd name="T121" fmla="*/ 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7" h="79">
                    <a:moveTo>
                      <a:pt x="127" y="4"/>
                    </a:move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4"/>
                    </a:cubicBezTo>
                    <a:cubicBezTo>
                      <a:pt x="127" y="4"/>
                      <a:pt x="127" y="4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3"/>
                      <a:pt x="127" y="3"/>
                      <a:pt x="127" y="3"/>
                    </a:cubicBezTo>
                    <a:cubicBezTo>
                      <a:pt x="127" y="2"/>
                      <a:pt x="127" y="2"/>
                      <a:pt x="127" y="2"/>
                    </a:cubicBezTo>
                    <a:cubicBezTo>
                      <a:pt x="127" y="2"/>
                      <a:pt x="126" y="2"/>
                      <a:pt x="126" y="2"/>
                    </a:cubicBezTo>
                    <a:cubicBezTo>
                      <a:pt x="126" y="2"/>
                      <a:pt x="126" y="2"/>
                      <a:pt x="126" y="2"/>
                    </a:cubicBezTo>
                    <a:cubicBezTo>
                      <a:pt x="126" y="2"/>
                      <a:pt x="126" y="2"/>
                      <a:pt x="126" y="2"/>
                    </a:cubicBezTo>
                    <a:cubicBezTo>
                      <a:pt x="126" y="2"/>
                      <a:pt x="126" y="2"/>
                      <a:pt x="126" y="2"/>
                    </a:cubicBezTo>
                    <a:cubicBezTo>
                      <a:pt x="126" y="2"/>
                      <a:pt x="126" y="2"/>
                      <a:pt x="126" y="2"/>
                    </a:cubicBezTo>
                    <a:cubicBezTo>
                      <a:pt x="126" y="2"/>
                      <a:pt x="126" y="1"/>
                      <a:pt x="126" y="1"/>
                    </a:cubicBezTo>
                    <a:cubicBezTo>
                      <a:pt x="126" y="1"/>
                      <a:pt x="126" y="1"/>
                      <a:pt x="126" y="1"/>
                    </a:cubicBezTo>
                    <a:cubicBezTo>
                      <a:pt x="126" y="1"/>
                      <a:pt x="125" y="1"/>
                      <a:pt x="125" y="1"/>
                    </a:cubicBezTo>
                    <a:cubicBezTo>
                      <a:pt x="125" y="1"/>
                      <a:pt x="125" y="1"/>
                      <a:pt x="125" y="1"/>
                    </a:cubicBezTo>
                    <a:cubicBezTo>
                      <a:pt x="125" y="1"/>
                      <a:pt x="125" y="1"/>
                      <a:pt x="125" y="1"/>
                    </a:cubicBezTo>
                    <a:cubicBezTo>
                      <a:pt x="125" y="1"/>
                      <a:pt x="125" y="1"/>
                      <a:pt x="125" y="1"/>
                    </a:cubicBezTo>
                    <a:cubicBezTo>
                      <a:pt x="125" y="1"/>
                      <a:pt x="125" y="1"/>
                      <a:pt x="125" y="1"/>
                    </a:cubicBezTo>
                    <a:cubicBezTo>
                      <a:pt x="125" y="1"/>
                      <a:pt x="125" y="1"/>
                      <a:pt x="124" y="1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4" y="0"/>
                      <a:pt x="124" y="0"/>
                      <a:pt x="123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102" y="0"/>
                      <a:pt x="101" y="2"/>
                      <a:pt x="101" y="5"/>
                    </a:cubicBezTo>
                    <a:cubicBezTo>
                      <a:pt x="101" y="7"/>
                      <a:pt x="102" y="9"/>
                      <a:pt x="105" y="9"/>
                    </a:cubicBezTo>
                    <a:cubicBezTo>
                      <a:pt x="113" y="9"/>
                      <a:pt x="113" y="9"/>
                      <a:pt x="113" y="9"/>
                    </a:cubicBezTo>
                    <a:cubicBezTo>
                      <a:pt x="78" y="44"/>
                      <a:pt x="78" y="44"/>
                      <a:pt x="78" y="44"/>
                    </a:cubicBezTo>
                    <a:cubicBezTo>
                      <a:pt x="68" y="35"/>
                      <a:pt x="68" y="35"/>
                      <a:pt x="68" y="35"/>
                    </a:cubicBezTo>
                    <a:cubicBezTo>
                      <a:pt x="68" y="34"/>
                      <a:pt x="67" y="34"/>
                      <a:pt x="65" y="34"/>
                    </a:cubicBezTo>
                    <a:cubicBezTo>
                      <a:pt x="64" y="34"/>
                      <a:pt x="63" y="34"/>
                      <a:pt x="62" y="35"/>
                    </a:cubicBezTo>
                    <a:cubicBezTo>
                      <a:pt x="32" y="65"/>
                      <a:pt x="32" y="65"/>
                      <a:pt x="32" y="65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1" y="55"/>
                      <a:pt x="18" y="55"/>
                      <a:pt x="17" y="56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0" y="76"/>
                      <a:pt x="1" y="78"/>
                    </a:cubicBezTo>
                    <a:cubicBezTo>
                      <a:pt x="2" y="79"/>
                      <a:pt x="3" y="79"/>
                      <a:pt x="4" y="79"/>
                    </a:cubicBezTo>
                    <a:cubicBezTo>
                      <a:pt x="5" y="79"/>
                      <a:pt x="6" y="79"/>
                      <a:pt x="7" y="78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9" y="74"/>
                      <a:pt x="29" y="74"/>
                      <a:pt x="29" y="74"/>
                    </a:cubicBezTo>
                    <a:cubicBezTo>
                      <a:pt x="30" y="76"/>
                      <a:pt x="33" y="76"/>
                      <a:pt x="35" y="74"/>
                    </a:cubicBezTo>
                    <a:cubicBezTo>
                      <a:pt x="65" y="44"/>
                      <a:pt x="65" y="44"/>
                      <a:pt x="65" y="44"/>
                    </a:cubicBezTo>
                    <a:cubicBezTo>
                      <a:pt x="75" y="53"/>
                      <a:pt x="75" y="53"/>
                      <a:pt x="75" y="53"/>
                    </a:cubicBezTo>
                    <a:cubicBezTo>
                      <a:pt x="75" y="54"/>
                      <a:pt x="77" y="54"/>
                      <a:pt x="78" y="54"/>
                    </a:cubicBezTo>
                    <a:cubicBezTo>
                      <a:pt x="79" y="54"/>
                      <a:pt x="80" y="54"/>
                      <a:pt x="81" y="53"/>
                    </a:cubicBezTo>
                    <a:cubicBezTo>
                      <a:pt x="119" y="15"/>
                      <a:pt x="119" y="15"/>
                      <a:pt x="119" y="15"/>
                    </a:cubicBezTo>
                    <a:cubicBezTo>
                      <a:pt x="119" y="23"/>
                      <a:pt x="119" y="23"/>
                      <a:pt x="119" y="23"/>
                    </a:cubicBezTo>
                    <a:cubicBezTo>
                      <a:pt x="119" y="25"/>
                      <a:pt x="121" y="27"/>
                      <a:pt x="123" y="27"/>
                    </a:cubicBezTo>
                    <a:cubicBezTo>
                      <a:pt x="125" y="27"/>
                      <a:pt x="127" y="25"/>
                      <a:pt x="127" y="23"/>
                    </a:cubicBezTo>
                    <a:cubicBezTo>
                      <a:pt x="127" y="5"/>
                      <a:pt x="127" y="5"/>
                      <a:pt x="127" y="5"/>
                    </a:cubicBezTo>
                    <a:cubicBezTo>
                      <a:pt x="127" y="5"/>
                      <a:pt x="127" y="4"/>
                      <a:pt x="127" y="4"/>
                    </a:cubicBezTo>
                    <a:close/>
                    <a:moveTo>
                      <a:pt x="127" y="4"/>
                    </a:moveTo>
                    <a:cubicBezTo>
                      <a:pt x="127" y="4"/>
                      <a:pt x="127" y="4"/>
                      <a:pt x="127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/>
              </a:p>
            </p:txBody>
          </p:sp>
          <p:sp>
            <p:nvSpPr>
              <p:cNvPr id="36" name="Freeform 116">
                <a:extLst>
                  <a:ext uri="{FF2B5EF4-FFF2-40B4-BE49-F238E27FC236}">
                    <a16:creationId xmlns:a16="http://schemas.microsoft.com/office/drawing/2014/main" id="{DD5F9B0D-331A-58DD-B61D-E2B62F9EA0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65325" y="9196388"/>
                <a:ext cx="61913" cy="69850"/>
              </a:xfrm>
              <a:custGeom>
                <a:avLst/>
                <a:gdLst>
                  <a:gd name="T0" fmla="*/ 8 w 8"/>
                  <a:gd name="T1" fmla="*/ 5 h 9"/>
                  <a:gd name="T2" fmla="*/ 4 w 8"/>
                  <a:gd name="T3" fmla="*/ 9 h 9"/>
                  <a:gd name="T4" fmla="*/ 0 w 8"/>
                  <a:gd name="T5" fmla="*/ 5 h 9"/>
                  <a:gd name="T6" fmla="*/ 4 w 8"/>
                  <a:gd name="T7" fmla="*/ 0 h 9"/>
                  <a:gd name="T8" fmla="*/ 8 w 8"/>
                  <a:gd name="T9" fmla="*/ 5 h 9"/>
                  <a:gd name="T10" fmla="*/ 8 w 8"/>
                  <a:gd name="T11" fmla="*/ 5 h 9"/>
                  <a:gd name="T12" fmla="*/ 8 w 8"/>
                  <a:gd name="T13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9">
                    <a:moveTo>
                      <a:pt x="8" y="5"/>
                    </a:moveTo>
                    <a:cubicBezTo>
                      <a:pt x="8" y="7"/>
                      <a:pt x="7" y="9"/>
                      <a:pt x="4" y="9"/>
                    </a:cubicBezTo>
                    <a:cubicBezTo>
                      <a:pt x="2" y="9"/>
                      <a:pt x="0" y="7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5"/>
                    </a:cubicBezTo>
                    <a:close/>
                    <a:moveTo>
                      <a:pt x="8" y="5"/>
                    </a:moveTo>
                    <a:cubicBezTo>
                      <a:pt x="8" y="5"/>
                      <a:pt x="8" y="5"/>
                      <a:pt x="8" y="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/>
              </a:p>
            </p:txBody>
          </p:sp>
          <p:sp>
            <p:nvSpPr>
              <p:cNvPr id="37" name="Freeform 117">
                <a:extLst>
                  <a:ext uri="{FF2B5EF4-FFF2-40B4-BE49-F238E27FC236}">
                    <a16:creationId xmlns:a16="http://schemas.microsoft.com/office/drawing/2014/main" id="{8D11E0FF-C126-6E61-6DA0-4AB5CFCBC6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65325" y="9336088"/>
                <a:ext cx="61913" cy="61913"/>
              </a:xfrm>
              <a:custGeom>
                <a:avLst/>
                <a:gdLst>
                  <a:gd name="T0" fmla="*/ 8 w 8"/>
                  <a:gd name="T1" fmla="*/ 4 h 8"/>
                  <a:gd name="T2" fmla="*/ 4 w 8"/>
                  <a:gd name="T3" fmla="*/ 8 h 8"/>
                  <a:gd name="T4" fmla="*/ 0 w 8"/>
                  <a:gd name="T5" fmla="*/ 4 h 8"/>
                  <a:gd name="T6" fmla="*/ 4 w 8"/>
                  <a:gd name="T7" fmla="*/ 0 h 8"/>
                  <a:gd name="T8" fmla="*/ 8 w 8"/>
                  <a:gd name="T9" fmla="*/ 4 h 8"/>
                  <a:gd name="T10" fmla="*/ 8 w 8"/>
                  <a:gd name="T11" fmla="*/ 4 h 8"/>
                  <a:gd name="T12" fmla="*/ 8 w 8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8">
                    <a:moveTo>
                      <a:pt x="8" y="4"/>
                    </a:moveTo>
                    <a:cubicBezTo>
                      <a:pt x="8" y="6"/>
                      <a:pt x="7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8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/>
              </a:p>
            </p:txBody>
          </p:sp>
          <p:sp>
            <p:nvSpPr>
              <p:cNvPr id="38" name="Freeform 118">
                <a:extLst>
                  <a:ext uri="{FF2B5EF4-FFF2-40B4-BE49-F238E27FC236}">
                    <a16:creationId xmlns:a16="http://schemas.microsoft.com/office/drawing/2014/main" id="{CE35DB33-4787-7F54-558E-C7F2E2F19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665325" y="9467850"/>
                <a:ext cx="61913" cy="61913"/>
              </a:xfrm>
              <a:custGeom>
                <a:avLst/>
                <a:gdLst>
                  <a:gd name="T0" fmla="*/ 8 w 8"/>
                  <a:gd name="T1" fmla="*/ 4 h 8"/>
                  <a:gd name="T2" fmla="*/ 4 w 8"/>
                  <a:gd name="T3" fmla="*/ 8 h 8"/>
                  <a:gd name="T4" fmla="*/ 0 w 8"/>
                  <a:gd name="T5" fmla="*/ 4 h 8"/>
                  <a:gd name="T6" fmla="*/ 4 w 8"/>
                  <a:gd name="T7" fmla="*/ 0 h 8"/>
                  <a:gd name="T8" fmla="*/ 8 w 8"/>
                  <a:gd name="T9" fmla="*/ 4 h 8"/>
                  <a:gd name="T10" fmla="*/ 8 w 8"/>
                  <a:gd name="T11" fmla="*/ 4 h 8"/>
                  <a:gd name="T12" fmla="*/ 8 w 8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8">
                    <a:moveTo>
                      <a:pt x="8" y="4"/>
                    </a:moveTo>
                    <a:cubicBezTo>
                      <a:pt x="8" y="7"/>
                      <a:pt x="7" y="8"/>
                      <a:pt x="4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8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F311865-B41C-8C70-9FDF-FD433C163B67}"/>
                </a:ext>
              </a:extLst>
            </p:cNvPr>
            <p:cNvGrpSpPr/>
            <p:nvPr/>
          </p:nvGrpSpPr>
          <p:grpSpPr>
            <a:xfrm>
              <a:off x="10264924" y="10399056"/>
              <a:ext cx="1201648" cy="1303628"/>
              <a:chOff x="9417050" y="1455738"/>
              <a:chExt cx="1552575" cy="1684337"/>
            </a:xfrm>
            <a:solidFill>
              <a:schemeClr val="bg1"/>
            </a:solidFill>
          </p:grpSpPr>
          <p:sp>
            <p:nvSpPr>
              <p:cNvPr id="31" name="Freeform 45">
                <a:extLst>
                  <a:ext uri="{FF2B5EF4-FFF2-40B4-BE49-F238E27FC236}">
                    <a16:creationId xmlns:a16="http://schemas.microsoft.com/office/drawing/2014/main" id="{C786C4F6-523E-5C0D-2542-739925BEFB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17050" y="2581275"/>
                <a:ext cx="1552575" cy="558800"/>
              </a:xfrm>
              <a:custGeom>
                <a:avLst/>
                <a:gdLst>
                  <a:gd name="T0" fmla="*/ 185 w 200"/>
                  <a:gd name="T1" fmla="*/ 34 h 72"/>
                  <a:gd name="T2" fmla="*/ 185 w 200"/>
                  <a:gd name="T3" fmla="*/ 24 h 72"/>
                  <a:gd name="T4" fmla="*/ 169 w 200"/>
                  <a:gd name="T5" fmla="*/ 8 h 72"/>
                  <a:gd name="T6" fmla="*/ 104 w 200"/>
                  <a:gd name="T7" fmla="*/ 8 h 72"/>
                  <a:gd name="T8" fmla="*/ 104 w 200"/>
                  <a:gd name="T9" fmla="*/ 4 h 72"/>
                  <a:gd name="T10" fmla="*/ 100 w 200"/>
                  <a:gd name="T11" fmla="*/ 0 h 72"/>
                  <a:gd name="T12" fmla="*/ 96 w 200"/>
                  <a:gd name="T13" fmla="*/ 4 h 72"/>
                  <a:gd name="T14" fmla="*/ 96 w 200"/>
                  <a:gd name="T15" fmla="*/ 8 h 72"/>
                  <a:gd name="T16" fmla="*/ 31 w 200"/>
                  <a:gd name="T17" fmla="*/ 8 h 72"/>
                  <a:gd name="T18" fmla="*/ 15 w 200"/>
                  <a:gd name="T19" fmla="*/ 24 h 72"/>
                  <a:gd name="T20" fmla="*/ 15 w 200"/>
                  <a:gd name="T21" fmla="*/ 34 h 72"/>
                  <a:gd name="T22" fmla="*/ 0 w 200"/>
                  <a:gd name="T23" fmla="*/ 53 h 72"/>
                  <a:gd name="T24" fmla="*/ 20 w 200"/>
                  <a:gd name="T25" fmla="*/ 72 h 72"/>
                  <a:gd name="T26" fmla="*/ 39 w 200"/>
                  <a:gd name="T27" fmla="*/ 53 h 72"/>
                  <a:gd name="T28" fmla="*/ 24 w 200"/>
                  <a:gd name="T29" fmla="*/ 34 h 72"/>
                  <a:gd name="T30" fmla="*/ 24 w 200"/>
                  <a:gd name="T31" fmla="*/ 24 h 72"/>
                  <a:gd name="T32" fmla="*/ 31 w 200"/>
                  <a:gd name="T33" fmla="*/ 17 h 72"/>
                  <a:gd name="T34" fmla="*/ 96 w 200"/>
                  <a:gd name="T35" fmla="*/ 17 h 72"/>
                  <a:gd name="T36" fmla="*/ 96 w 200"/>
                  <a:gd name="T37" fmla="*/ 34 h 72"/>
                  <a:gd name="T38" fmla="*/ 81 w 200"/>
                  <a:gd name="T39" fmla="*/ 53 h 72"/>
                  <a:gd name="T40" fmla="*/ 100 w 200"/>
                  <a:gd name="T41" fmla="*/ 72 h 72"/>
                  <a:gd name="T42" fmla="*/ 119 w 200"/>
                  <a:gd name="T43" fmla="*/ 53 h 72"/>
                  <a:gd name="T44" fmla="*/ 104 w 200"/>
                  <a:gd name="T45" fmla="*/ 34 h 72"/>
                  <a:gd name="T46" fmla="*/ 104 w 200"/>
                  <a:gd name="T47" fmla="*/ 17 h 72"/>
                  <a:gd name="T48" fmla="*/ 169 w 200"/>
                  <a:gd name="T49" fmla="*/ 17 h 72"/>
                  <a:gd name="T50" fmla="*/ 177 w 200"/>
                  <a:gd name="T51" fmla="*/ 24 h 72"/>
                  <a:gd name="T52" fmla="*/ 177 w 200"/>
                  <a:gd name="T53" fmla="*/ 34 h 72"/>
                  <a:gd name="T54" fmla="*/ 162 w 200"/>
                  <a:gd name="T55" fmla="*/ 53 h 72"/>
                  <a:gd name="T56" fmla="*/ 181 w 200"/>
                  <a:gd name="T57" fmla="*/ 72 h 72"/>
                  <a:gd name="T58" fmla="*/ 200 w 200"/>
                  <a:gd name="T59" fmla="*/ 53 h 72"/>
                  <a:gd name="T60" fmla="*/ 185 w 200"/>
                  <a:gd name="T61" fmla="*/ 34 h 72"/>
                  <a:gd name="T62" fmla="*/ 30 w 200"/>
                  <a:gd name="T63" fmla="*/ 53 h 72"/>
                  <a:gd name="T64" fmla="*/ 20 w 200"/>
                  <a:gd name="T65" fmla="*/ 63 h 72"/>
                  <a:gd name="T66" fmla="*/ 9 w 200"/>
                  <a:gd name="T67" fmla="*/ 53 h 72"/>
                  <a:gd name="T68" fmla="*/ 20 w 200"/>
                  <a:gd name="T69" fmla="*/ 42 h 72"/>
                  <a:gd name="T70" fmla="*/ 30 w 200"/>
                  <a:gd name="T71" fmla="*/ 53 h 72"/>
                  <a:gd name="T72" fmla="*/ 111 w 200"/>
                  <a:gd name="T73" fmla="*/ 53 h 72"/>
                  <a:gd name="T74" fmla="*/ 100 w 200"/>
                  <a:gd name="T75" fmla="*/ 63 h 72"/>
                  <a:gd name="T76" fmla="*/ 89 w 200"/>
                  <a:gd name="T77" fmla="*/ 53 h 72"/>
                  <a:gd name="T78" fmla="*/ 100 w 200"/>
                  <a:gd name="T79" fmla="*/ 42 h 72"/>
                  <a:gd name="T80" fmla="*/ 111 w 200"/>
                  <a:gd name="T81" fmla="*/ 53 h 72"/>
                  <a:gd name="T82" fmla="*/ 181 w 200"/>
                  <a:gd name="T83" fmla="*/ 63 h 72"/>
                  <a:gd name="T84" fmla="*/ 170 w 200"/>
                  <a:gd name="T85" fmla="*/ 53 h 72"/>
                  <a:gd name="T86" fmla="*/ 181 w 200"/>
                  <a:gd name="T87" fmla="*/ 42 h 72"/>
                  <a:gd name="T88" fmla="*/ 192 w 200"/>
                  <a:gd name="T89" fmla="*/ 53 h 72"/>
                  <a:gd name="T90" fmla="*/ 181 w 200"/>
                  <a:gd name="T91" fmla="*/ 63 h 72"/>
                  <a:gd name="T92" fmla="*/ 181 w 200"/>
                  <a:gd name="T93" fmla="*/ 63 h 72"/>
                  <a:gd name="T94" fmla="*/ 181 w 200"/>
                  <a:gd name="T95" fmla="*/ 6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00" h="72">
                    <a:moveTo>
                      <a:pt x="185" y="34"/>
                    </a:moveTo>
                    <a:cubicBezTo>
                      <a:pt x="185" y="24"/>
                      <a:pt x="185" y="24"/>
                      <a:pt x="185" y="24"/>
                    </a:cubicBezTo>
                    <a:cubicBezTo>
                      <a:pt x="185" y="16"/>
                      <a:pt x="178" y="8"/>
                      <a:pt x="169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4" y="4"/>
                      <a:pt x="104" y="4"/>
                      <a:pt x="104" y="4"/>
                    </a:cubicBezTo>
                    <a:cubicBezTo>
                      <a:pt x="104" y="2"/>
                      <a:pt x="103" y="0"/>
                      <a:pt x="100" y="0"/>
                    </a:cubicBezTo>
                    <a:cubicBezTo>
                      <a:pt x="98" y="0"/>
                      <a:pt x="96" y="2"/>
                      <a:pt x="96" y="4"/>
                    </a:cubicBezTo>
                    <a:cubicBezTo>
                      <a:pt x="96" y="8"/>
                      <a:pt x="96" y="8"/>
                      <a:pt x="96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2" y="8"/>
                      <a:pt x="15" y="16"/>
                      <a:pt x="15" y="2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7" y="36"/>
                      <a:pt x="0" y="43"/>
                      <a:pt x="0" y="53"/>
                    </a:cubicBezTo>
                    <a:cubicBezTo>
                      <a:pt x="0" y="63"/>
                      <a:pt x="9" y="72"/>
                      <a:pt x="20" y="72"/>
                    </a:cubicBezTo>
                    <a:cubicBezTo>
                      <a:pt x="30" y="72"/>
                      <a:pt x="39" y="63"/>
                      <a:pt x="39" y="53"/>
                    </a:cubicBezTo>
                    <a:cubicBezTo>
                      <a:pt x="39" y="43"/>
                      <a:pt x="32" y="36"/>
                      <a:pt x="24" y="3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0"/>
                      <a:pt x="27" y="17"/>
                      <a:pt x="31" y="17"/>
                    </a:cubicBezTo>
                    <a:cubicBezTo>
                      <a:pt x="96" y="17"/>
                      <a:pt x="96" y="17"/>
                      <a:pt x="96" y="17"/>
                    </a:cubicBezTo>
                    <a:cubicBezTo>
                      <a:pt x="96" y="34"/>
                      <a:pt x="96" y="34"/>
                      <a:pt x="96" y="34"/>
                    </a:cubicBezTo>
                    <a:cubicBezTo>
                      <a:pt x="87" y="36"/>
                      <a:pt x="81" y="43"/>
                      <a:pt x="81" y="53"/>
                    </a:cubicBezTo>
                    <a:cubicBezTo>
                      <a:pt x="81" y="63"/>
                      <a:pt x="90" y="72"/>
                      <a:pt x="100" y="72"/>
                    </a:cubicBezTo>
                    <a:cubicBezTo>
                      <a:pt x="111" y="72"/>
                      <a:pt x="119" y="63"/>
                      <a:pt x="119" y="53"/>
                    </a:cubicBezTo>
                    <a:cubicBezTo>
                      <a:pt x="119" y="43"/>
                      <a:pt x="113" y="36"/>
                      <a:pt x="104" y="34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69" y="17"/>
                      <a:pt x="169" y="17"/>
                      <a:pt x="169" y="17"/>
                    </a:cubicBezTo>
                    <a:cubicBezTo>
                      <a:pt x="173" y="17"/>
                      <a:pt x="177" y="20"/>
                      <a:pt x="177" y="24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68" y="36"/>
                      <a:pt x="162" y="43"/>
                      <a:pt x="162" y="53"/>
                    </a:cubicBezTo>
                    <a:cubicBezTo>
                      <a:pt x="162" y="63"/>
                      <a:pt x="170" y="72"/>
                      <a:pt x="181" y="72"/>
                    </a:cubicBezTo>
                    <a:cubicBezTo>
                      <a:pt x="191" y="72"/>
                      <a:pt x="200" y="63"/>
                      <a:pt x="200" y="53"/>
                    </a:cubicBezTo>
                    <a:cubicBezTo>
                      <a:pt x="200" y="43"/>
                      <a:pt x="194" y="36"/>
                      <a:pt x="185" y="34"/>
                    </a:cubicBezTo>
                    <a:close/>
                    <a:moveTo>
                      <a:pt x="30" y="53"/>
                    </a:moveTo>
                    <a:cubicBezTo>
                      <a:pt x="30" y="58"/>
                      <a:pt x="25" y="63"/>
                      <a:pt x="20" y="63"/>
                    </a:cubicBezTo>
                    <a:cubicBezTo>
                      <a:pt x="14" y="63"/>
                      <a:pt x="9" y="58"/>
                      <a:pt x="9" y="53"/>
                    </a:cubicBezTo>
                    <a:cubicBezTo>
                      <a:pt x="9" y="47"/>
                      <a:pt x="14" y="42"/>
                      <a:pt x="20" y="42"/>
                    </a:cubicBezTo>
                    <a:cubicBezTo>
                      <a:pt x="25" y="42"/>
                      <a:pt x="30" y="47"/>
                      <a:pt x="30" y="53"/>
                    </a:cubicBezTo>
                    <a:close/>
                    <a:moveTo>
                      <a:pt x="111" y="53"/>
                    </a:moveTo>
                    <a:cubicBezTo>
                      <a:pt x="111" y="58"/>
                      <a:pt x="106" y="63"/>
                      <a:pt x="100" y="63"/>
                    </a:cubicBezTo>
                    <a:cubicBezTo>
                      <a:pt x="94" y="63"/>
                      <a:pt x="89" y="58"/>
                      <a:pt x="89" y="53"/>
                    </a:cubicBezTo>
                    <a:cubicBezTo>
                      <a:pt x="89" y="47"/>
                      <a:pt x="94" y="42"/>
                      <a:pt x="100" y="42"/>
                    </a:cubicBezTo>
                    <a:cubicBezTo>
                      <a:pt x="106" y="42"/>
                      <a:pt x="111" y="47"/>
                      <a:pt x="111" y="53"/>
                    </a:cubicBezTo>
                    <a:close/>
                    <a:moveTo>
                      <a:pt x="181" y="63"/>
                    </a:moveTo>
                    <a:cubicBezTo>
                      <a:pt x="175" y="63"/>
                      <a:pt x="170" y="58"/>
                      <a:pt x="170" y="53"/>
                    </a:cubicBezTo>
                    <a:cubicBezTo>
                      <a:pt x="170" y="47"/>
                      <a:pt x="175" y="42"/>
                      <a:pt x="181" y="42"/>
                    </a:cubicBezTo>
                    <a:cubicBezTo>
                      <a:pt x="187" y="42"/>
                      <a:pt x="192" y="47"/>
                      <a:pt x="192" y="53"/>
                    </a:cubicBezTo>
                    <a:cubicBezTo>
                      <a:pt x="192" y="58"/>
                      <a:pt x="187" y="63"/>
                      <a:pt x="181" y="63"/>
                    </a:cubicBezTo>
                    <a:close/>
                    <a:moveTo>
                      <a:pt x="181" y="63"/>
                    </a:moveTo>
                    <a:cubicBezTo>
                      <a:pt x="181" y="63"/>
                      <a:pt x="181" y="63"/>
                      <a:pt x="181" y="6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 dirty="0"/>
              </a:p>
            </p:txBody>
          </p:sp>
          <p:sp>
            <p:nvSpPr>
              <p:cNvPr id="32" name="Freeform 46">
                <a:extLst>
                  <a:ext uri="{FF2B5EF4-FFF2-40B4-BE49-F238E27FC236}">
                    <a16:creationId xmlns:a16="http://schemas.microsoft.com/office/drawing/2014/main" id="{E3E13281-9297-3320-99BF-188E5FFCB5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680575" y="1455738"/>
                <a:ext cx="1031875" cy="1031875"/>
              </a:xfrm>
              <a:custGeom>
                <a:avLst/>
                <a:gdLst>
                  <a:gd name="T0" fmla="*/ 66 w 133"/>
                  <a:gd name="T1" fmla="*/ 0 h 133"/>
                  <a:gd name="T2" fmla="*/ 0 w 133"/>
                  <a:gd name="T3" fmla="*/ 66 h 133"/>
                  <a:gd name="T4" fmla="*/ 24 w 133"/>
                  <a:gd name="T5" fmla="*/ 118 h 133"/>
                  <a:gd name="T6" fmla="*/ 25 w 133"/>
                  <a:gd name="T7" fmla="*/ 118 h 133"/>
                  <a:gd name="T8" fmla="*/ 35 w 133"/>
                  <a:gd name="T9" fmla="*/ 125 h 133"/>
                  <a:gd name="T10" fmla="*/ 35 w 133"/>
                  <a:gd name="T11" fmla="*/ 125 h 133"/>
                  <a:gd name="T12" fmla="*/ 66 w 133"/>
                  <a:gd name="T13" fmla="*/ 133 h 133"/>
                  <a:gd name="T14" fmla="*/ 103 w 133"/>
                  <a:gd name="T15" fmla="*/ 121 h 133"/>
                  <a:gd name="T16" fmla="*/ 103 w 133"/>
                  <a:gd name="T17" fmla="*/ 121 h 133"/>
                  <a:gd name="T18" fmla="*/ 108 w 133"/>
                  <a:gd name="T19" fmla="*/ 118 h 133"/>
                  <a:gd name="T20" fmla="*/ 108 w 133"/>
                  <a:gd name="T21" fmla="*/ 118 h 133"/>
                  <a:gd name="T22" fmla="*/ 133 w 133"/>
                  <a:gd name="T23" fmla="*/ 66 h 133"/>
                  <a:gd name="T24" fmla="*/ 66 w 133"/>
                  <a:gd name="T25" fmla="*/ 0 h 133"/>
                  <a:gd name="T26" fmla="*/ 66 w 133"/>
                  <a:gd name="T27" fmla="*/ 124 h 133"/>
                  <a:gd name="T28" fmla="*/ 32 w 133"/>
                  <a:gd name="T29" fmla="*/ 113 h 133"/>
                  <a:gd name="T30" fmla="*/ 66 w 133"/>
                  <a:gd name="T31" fmla="*/ 89 h 133"/>
                  <a:gd name="T32" fmla="*/ 100 w 133"/>
                  <a:gd name="T33" fmla="*/ 113 h 133"/>
                  <a:gd name="T34" fmla="*/ 66 w 133"/>
                  <a:gd name="T35" fmla="*/ 124 h 133"/>
                  <a:gd name="T36" fmla="*/ 51 w 133"/>
                  <a:gd name="T37" fmla="*/ 66 h 133"/>
                  <a:gd name="T38" fmla="*/ 65 w 133"/>
                  <a:gd name="T39" fmla="*/ 52 h 133"/>
                  <a:gd name="T40" fmla="*/ 79 w 133"/>
                  <a:gd name="T41" fmla="*/ 66 h 133"/>
                  <a:gd name="T42" fmla="*/ 65 w 133"/>
                  <a:gd name="T43" fmla="*/ 80 h 133"/>
                  <a:gd name="T44" fmla="*/ 51 w 133"/>
                  <a:gd name="T45" fmla="*/ 66 h 133"/>
                  <a:gd name="T46" fmla="*/ 107 w 133"/>
                  <a:gd name="T47" fmla="*/ 107 h 133"/>
                  <a:gd name="T48" fmla="*/ 94 w 133"/>
                  <a:gd name="T49" fmla="*/ 90 h 133"/>
                  <a:gd name="T50" fmla="*/ 80 w 133"/>
                  <a:gd name="T51" fmla="*/ 83 h 133"/>
                  <a:gd name="T52" fmla="*/ 88 w 133"/>
                  <a:gd name="T53" fmla="*/ 66 h 133"/>
                  <a:gd name="T54" fmla="*/ 65 w 133"/>
                  <a:gd name="T55" fmla="*/ 44 h 133"/>
                  <a:gd name="T56" fmla="*/ 42 w 133"/>
                  <a:gd name="T57" fmla="*/ 66 h 133"/>
                  <a:gd name="T58" fmla="*/ 50 w 133"/>
                  <a:gd name="T59" fmla="*/ 83 h 133"/>
                  <a:gd name="T60" fmla="*/ 38 w 133"/>
                  <a:gd name="T61" fmla="*/ 90 h 133"/>
                  <a:gd name="T62" fmla="*/ 25 w 133"/>
                  <a:gd name="T63" fmla="*/ 107 h 133"/>
                  <a:gd name="T64" fmla="*/ 8 w 133"/>
                  <a:gd name="T65" fmla="*/ 66 h 133"/>
                  <a:gd name="T66" fmla="*/ 66 w 133"/>
                  <a:gd name="T67" fmla="*/ 8 h 133"/>
                  <a:gd name="T68" fmla="*/ 124 w 133"/>
                  <a:gd name="T69" fmla="*/ 66 h 133"/>
                  <a:gd name="T70" fmla="*/ 107 w 133"/>
                  <a:gd name="T71" fmla="*/ 107 h 133"/>
                  <a:gd name="T72" fmla="*/ 107 w 133"/>
                  <a:gd name="T73" fmla="*/ 107 h 133"/>
                  <a:gd name="T74" fmla="*/ 107 w 133"/>
                  <a:gd name="T75" fmla="*/ 107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3" h="133">
                    <a:moveTo>
                      <a:pt x="66" y="0"/>
                    </a:moveTo>
                    <a:cubicBezTo>
                      <a:pt x="30" y="0"/>
                      <a:pt x="0" y="30"/>
                      <a:pt x="0" y="66"/>
                    </a:cubicBezTo>
                    <a:cubicBezTo>
                      <a:pt x="0" y="87"/>
                      <a:pt x="9" y="106"/>
                      <a:pt x="24" y="118"/>
                    </a:cubicBezTo>
                    <a:cubicBezTo>
                      <a:pt x="25" y="118"/>
                      <a:pt x="25" y="118"/>
                      <a:pt x="25" y="118"/>
                    </a:cubicBezTo>
                    <a:cubicBezTo>
                      <a:pt x="28" y="121"/>
                      <a:pt x="32" y="123"/>
                      <a:pt x="35" y="125"/>
                    </a:cubicBezTo>
                    <a:cubicBezTo>
                      <a:pt x="35" y="125"/>
                      <a:pt x="35" y="125"/>
                      <a:pt x="35" y="125"/>
                    </a:cubicBezTo>
                    <a:cubicBezTo>
                      <a:pt x="45" y="130"/>
                      <a:pt x="55" y="133"/>
                      <a:pt x="66" y="133"/>
                    </a:cubicBezTo>
                    <a:cubicBezTo>
                      <a:pt x="80" y="133"/>
                      <a:pt x="93" y="129"/>
                      <a:pt x="103" y="121"/>
                    </a:cubicBezTo>
                    <a:cubicBezTo>
                      <a:pt x="103" y="121"/>
                      <a:pt x="103" y="121"/>
                      <a:pt x="103" y="121"/>
                    </a:cubicBezTo>
                    <a:cubicBezTo>
                      <a:pt x="105" y="120"/>
                      <a:pt x="106" y="119"/>
                      <a:pt x="108" y="118"/>
                    </a:cubicBezTo>
                    <a:cubicBezTo>
                      <a:pt x="108" y="118"/>
                      <a:pt x="108" y="118"/>
                      <a:pt x="108" y="118"/>
                    </a:cubicBezTo>
                    <a:cubicBezTo>
                      <a:pt x="123" y="106"/>
                      <a:pt x="133" y="87"/>
                      <a:pt x="133" y="66"/>
                    </a:cubicBezTo>
                    <a:cubicBezTo>
                      <a:pt x="133" y="30"/>
                      <a:pt x="103" y="0"/>
                      <a:pt x="66" y="0"/>
                    </a:cubicBezTo>
                    <a:close/>
                    <a:moveTo>
                      <a:pt x="66" y="124"/>
                    </a:moveTo>
                    <a:cubicBezTo>
                      <a:pt x="54" y="124"/>
                      <a:pt x="42" y="120"/>
                      <a:pt x="32" y="113"/>
                    </a:cubicBezTo>
                    <a:cubicBezTo>
                      <a:pt x="37" y="99"/>
                      <a:pt x="51" y="89"/>
                      <a:pt x="66" y="89"/>
                    </a:cubicBezTo>
                    <a:cubicBezTo>
                      <a:pt x="82" y="89"/>
                      <a:pt x="96" y="99"/>
                      <a:pt x="100" y="113"/>
                    </a:cubicBezTo>
                    <a:cubicBezTo>
                      <a:pt x="91" y="120"/>
                      <a:pt x="79" y="124"/>
                      <a:pt x="66" y="124"/>
                    </a:cubicBezTo>
                    <a:close/>
                    <a:moveTo>
                      <a:pt x="51" y="66"/>
                    </a:moveTo>
                    <a:cubicBezTo>
                      <a:pt x="51" y="58"/>
                      <a:pt x="57" y="52"/>
                      <a:pt x="65" y="52"/>
                    </a:cubicBezTo>
                    <a:cubicBezTo>
                      <a:pt x="73" y="52"/>
                      <a:pt x="79" y="58"/>
                      <a:pt x="79" y="66"/>
                    </a:cubicBezTo>
                    <a:cubicBezTo>
                      <a:pt x="79" y="74"/>
                      <a:pt x="73" y="80"/>
                      <a:pt x="65" y="80"/>
                    </a:cubicBezTo>
                    <a:cubicBezTo>
                      <a:pt x="57" y="80"/>
                      <a:pt x="51" y="74"/>
                      <a:pt x="51" y="66"/>
                    </a:cubicBezTo>
                    <a:close/>
                    <a:moveTo>
                      <a:pt x="107" y="107"/>
                    </a:moveTo>
                    <a:cubicBezTo>
                      <a:pt x="104" y="101"/>
                      <a:pt x="100" y="95"/>
                      <a:pt x="94" y="90"/>
                    </a:cubicBezTo>
                    <a:cubicBezTo>
                      <a:pt x="90" y="87"/>
                      <a:pt x="85" y="84"/>
                      <a:pt x="80" y="83"/>
                    </a:cubicBezTo>
                    <a:cubicBezTo>
                      <a:pt x="85" y="79"/>
                      <a:pt x="88" y="73"/>
                      <a:pt x="88" y="66"/>
                    </a:cubicBezTo>
                    <a:cubicBezTo>
                      <a:pt x="88" y="54"/>
                      <a:pt x="77" y="44"/>
                      <a:pt x="65" y="44"/>
                    </a:cubicBezTo>
                    <a:cubicBezTo>
                      <a:pt x="52" y="44"/>
                      <a:pt x="42" y="54"/>
                      <a:pt x="42" y="66"/>
                    </a:cubicBezTo>
                    <a:cubicBezTo>
                      <a:pt x="42" y="73"/>
                      <a:pt x="45" y="79"/>
                      <a:pt x="50" y="83"/>
                    </a:cubicBezTo>
                    <a:cubicBezTo>
                      <a:pt x="46" y="85"/>
                      <a:pt x="42" y="87"/>
                      <a:pt x="38" y="90"/>
                    </a:cubicBezTo>
                    <a:cubicBezTo>
                      <a:pt x="33" y="95"/>
                      <a:pt x="28" y="101"/>
                      <a:pt x="25" y="107"/>
                    </a:cubicBezTo>
                    <a:cubicBezTo>
                      <a:pt x="15" y="97"/>
                      <a:pt x="8" y="82"/>
                      <a:pt x="8" y="66"/>
                    </a:cubicBezTo>
                    <a:cubicBezTo>
                      <a:pt x="8" y="34"/>
                      <a:pt x="34" y="8"/>
                      <a:pt x="66" y="8"/>
                    </a:cubicBezTo>
                    <a:cubicBezTo>
                      <a:pt x="98" y="8"/>
                      <a:pt x="124" y="34"/>
                      <a:pt x="124" y="66"/>
                    </a:cubicBezTo>
                    <a:cubicBezTo>
                      <a:pt x="124" y="82"/>
                      <a:pt x="118" y="97"/>
                      <a:pt x="107" y="107"/>
                    </a:cubicBezTo>
                    <a:close/>
                    <a:moveTo>
                      <a:pt x="107" y="107"/>
                    </a:moveTo>
                    <a:cubicBezTo>
                      <a:pt x="107" y="107"/>
                      <a:pt x="107" y="107"/>
                      <a:pt x="107" y="1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/>
              </a:p>
            </p:txBody>
          </p:sp>
          <p:sp>
            <p:nvSpPr>
              <p:cNvPr id="33" name="Freeform 47">
                <a:extLst>
                  <a:ext uri="{FF2B5EF4-FFF2-40B4-BE49-F238E27FC236}">
                    <a16:creationId xmlns:a16="http://schemas.microsoft.com/office/drawing/2014/main" id="{60766FD9-6FEA-0EBD-BAE5-69CC6715D2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61588" y="2503488"/>
                <a:ext cx="61913" cy="61913"/>
              </a:xfrm>
              <a:custGeom>
                <a:avLst/>
                <a:gdLst>
                  <a:gd name="T0" fmla="*/ 8 w 8"/>
                  <a:gd name="T1" fmla="*/ 4 h 8"/>
                  <a:gd name="T2" fmla="*/ 4 w 8"/>
                  <a:gd name="T3" fmla="*/ 8 h 8"/>
                  <a:gd name="T4" fmla="*/ 0 w 8"/>
                  <a:gd name="T5" fmla="*/ 4 h 8"/>
                  <a:gd name="T6" fmla="*/ 4 w 8"/>
                  <a:gd name="T7" fmla="*/ 0 h 8"/>
                  <a:gd name="T8" fmla="*/ 8 w 8"/>
                  <a:gd name="T9" fmla="*/ 4 h 8"/>
                  <a:gd name="T10" fmla="*/ 8 w 8"/>
                  <a:gd name="T11" fmla="*/ 4 h 8"/>
                  <a:gd name="T12" fmla="*/ 8 w 8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8">
                    <a:moveTo>
                      <a:pt x="8" y="4"/>
                    </a:moveTo>
                    <a:cubicBezTo>
                      <a:pt x="8" y="6"/>
                      <a:pt x="7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7" y="0"/>
                      <a:pt x="8" y="2"/>
                      <a:pt x="8" y="4"/>
                    </a:cubicBezTo>
                    <a:close/>
                    <a:moveTo>
                      <a:pt x="8" y="4"/>
                    </a:moveTo>
                    <a:cubicBezTo>
                      <a:pt x="8" y="4"/>
                      <a:pt x="8" y="4"/>
                      <a:pt x="8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140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8F7CC2-4E5C-1FFB-E589-831F60E261FC}"/>
                </a:ext>
              </a:extLst>
            </p:cNvPr>
            <p:cNvSpPr txBox="1"/>
            <p:nvPr/>
          </p:nvSpPr>
          <p:spPr>
            <a:xfrm>
              <a:off x="2478782" y="4707553"/>
              <a:ext cx="5276958" cy="4337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algn="ctr" rtl="0">
                <a:lnSpc>
                  <a:spcPct val="130000"/>
                </a:lnSpc>
                <a:spcBef>
                  <a:spcPts val="2400"/>
                </a:spcBef>
              </a:pPr>
              <a:r>
                <a:rPr lang="en-US" sz="4000" i="0" u="none" strike="noStrike" baseline="30000" dirty="0" err="1">
                  <a:solidFill>
                    <a:srgbClr val="F5F3E4"/>
                  </a:solidFill>
                  <a:latin typeface="Hepta Slab Bold" pitchFamily="2" charset="0"/>
                  <a:ea typeface="Roboto Cn" pitchFamily="2" charset="0"/>
                  <a:cs typeface="Hepta Slab Bold" pitchFamily="2" charset="0"/>
                </a:rPr>
                <a:t>Behaviour</a:t>
              </a:r>
              <a:r>
                <a:rPr lang="en-US" sz="4000" i="0" u="none" strike="noStrike" baseline="30000" dirty="0">
                  <a:solidFill>
                    <a:srgbClr val="F5F3E4"/>
                  </a:solidFill>
                  <a:latin typeface="Hepta Slab Bold" pitchFamily="2" charset="0"/>
                  <a:ea typeface="Roboto Cn" pitchFamily="2" charset="0"/>
                  <a:cs typeface="Hepta Slab Bold" pitchFamily="2" charset="0"/>
                </a:rPr>
                <a:t> Shifts for Program Utilization and Word-of-Mouth</a:t>
              </a:r>
              <a:endParaRPr lang="en-US" sz="4000" b="0" i="0" u="none" strike="noStrike" baseline="30000" dirty="0">
                <a:solidFill>
                  <a:srgbClr val="F5F3E4"/>
                </a:solidFill>
                <a:latin typeface="Hepta Slab Bold" pitchFamily="2" charset="0"/>
                <a:ea typeface="Roboto Cn" pitchFamily="2" charset="0"/>
                <a:cs typeface="Hepta Slab Bold" pitchFamily="2" charset="0"/>
              </a:endParaRPr>
            </a:p>
          </p:txBody>
        </p:sp>
      </p:grpSp>
      <p:pic>
        <p:nvPicPr>
          <p:cNvPr id="51" name="Graphic 50" descr="Warning with solid fill">
            <a:extLst>
              <a:ext uri="{FF2B5EF4-FFF2-40B4-BE49-F238E27FC236}">
                <a16:creationId xmlns:a16="http://schemas.microsoft.com/office/drawing/2014/main" id="{EA9DC411-5F44-A4B7-D943-EF900AF87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04215" y="1562175"/>
            <a:ext cx="914400" cy="914400"/>
          </a:xfrm>
          <a:prstGeom prst="rect">
            <a:avLst/>
          </a:prstGeom>
        </p:spPr>
      </p:pic>
      <p:pic>
        <p:nvPicPr>
          <p:cNvPr id="53" name="Graphic 52" descr="Trophy with solid fill">
            <a:extLst>
              <a:ext uri="{FF2B5EF4-FFF2-40B4-BE49-F238E27FC236}">
                <a16:creationId xmlns:a16="http://schemas.microsoft.com/office/drawing/2014/main" id="{F360DBA4-A1F7-7D0D-C152-846330FAEE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12030" y="4220125"/>
            <a:ext cx="914400" cy="914400"/>
          </a:xfrm>
          <a:prstGeom prst="rect">
            <a:avLst/>
          </a:prstGeom>
        </p:spPr>
      </p:pic>
      <p:pic>
        <p:nvPicPr>
          <p:cNvPr id="55" name="Graphic 54" descr="Puzzle pieces with solid fill">
            <a:extLst>
              <a:ext uri="{FF2B5EF4-FFF2-40B4-BE49-F238E27FC236}">
                <a16:creationId xmlns:a16="http://schemas.microsoft.com/office/drawing/2014/main" id="{003EDE1B-664B-FBC6-C5D3-4403F8A90D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89372" y="689584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6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F8C5E1-A9AE-CA24-948F-2993DC10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CC3E78F-2FDF-BD7A-7205-49CBD68AA1A5}"/>
              </a:ext>
            </a:extLst>
          </p:cNvPr>
          <p:cNvGrpSpPr/>
          <p:nvPr/>
        </p:nvGrpSpPr>
        <p:grpSpPr>
          <a:xfrm>
            <a:off x="646382" y="9721990"/>
            <a:ext cx="16995237" cy="726200"/>
            <a:chOff x="430921" y="6424176"/>
            <a:chExt cx="11330158" cy="48413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02C95C5-DBD3-DEB2-16BA-750ABC4E1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4809" y="6581200"/>
              <a:ext cx="1116270" cy="17008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AAFA05-CE88-79FB-DD0C-88E8508808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430921" y="6424176"/>
              <a:ext cx="1217220" cy="484133"/>
            </a:xfrm>
            <a:prstGeom prst="rect">
              <a:avLst/>
            </a:prstGeom>
          </p:spPr>
        </p:pic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F4256D18-DA8A-DD79-E6A7-462A025F9381}"/>
                </a:ext>
              </a:extLst>
            </p:cNvPr>
            <p:cNvSpPr txBox="1">
              <a:spLocks/>
            </p:cNvSpPr>
            <p:nvPr/>
          </p:nvSpPr>
          <p:spPr>
            <a:xfrm>
              <a:off x="2590800" y="6557666"/>
              <a:ext cx="7019925" cy="300334"/>
            </a:xfrm>
            <a:prstGeom prst="rect">
              <a:avLst/>
            </a:prstGeom>
          </p:spPr>
          <p:txBody>
            <a:bodyPr vert="horz" lIns="205740" tIns="102870" rIns="205740" bIns="10287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1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 | NOT TO BE CIRCULATED WITHOUT PRIOR AUTHORIZATION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09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1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04000" y="136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7" y="9571084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2">
                      <a:lumMod val="10000"/>
                    </a:scheme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83B0FEE6-AD75-2F25-E046-95883D96A194}"/>
              </a:ext>
            </a:extLst>
          </p:cNvPr>
          <p:cNvSpPr/>
          <p:nvPr/>
        </p:nvSpPr>
        <p:spPr>
          <a:xfrm>
            <a:off x="4723096" y="3163500"/>
            <a:ext cx="6940904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latin typeface="Hepta Slab Bold" pitchFamily="2" charset="0"/>
                <a:ea typeface="Hepta Slab Regular" pitchFamily="34" charset="-122"/>
                <a:cs typeface="Hepta Slab Bold" pitchFamily="2" charset="0"/>
              </a:rPr>
              <a:t>Friction for customers: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A breakdown on the basic expectation of friction free financial transactions disengages the customer from the entire program.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9902F5F5-8E76-C6C4-5C95-CF9C5D1B590C}"/>
              </a:ext>
            </a:extLst>
          </p:cNvPr>
          <p:cNvSpPr/>
          <p:nvPr/>
        </p:nvSpPr>
        <p:spPr>
          <a:xfrm>
            <a:off x="4644000" y="1633500"/>
            <a:ext cx="7793166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Friction</a:t>
            </a:r>
          </a:p>
        </p:txBody>
      </p:sp>
      <p:sp>
        <p:nvSpPr>
          <p:cNvPr id="8" name="Object5">
            <a:extLst>
              <a:ext uri="{FF2B5EF4-FFF2-40B4-BE49-F238E27FC236}">
                <a16:creationId xmlns:a16="http://schemas.microsoft.com/office/drawing/2014/main" id="{5C1503C3-1170-C97E-23F5-B10A519CD648}"/>
              </a:ext>
            </a:extLst>
          </p:cNvPr>
          <p:cNvSpPr/>
          <p:nvPr/>
        </p:nvSpPr>
        <p:spPr>
          <a:xfrm>
            <a:off x="4644000" y="6127955"/>
            <a:ext cx="7020000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latin typeface="Hepta Slab Bold" pitchFamily="2" charset="0"/>
                <a:ea typeface="Hepta Slab Regular" pitchFamily="34" charset="-122"/>
                <a:cs typeface="Hepta Slab Bold" pitchFamily="2" charset="0"/>
              </a:rPr>
              <a:t>Sludge in the organization: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“Relationship Manager” was not effective either in support or service recovery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074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04000" y="118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7" y="9571084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2">
                      <a:lumMod val="10000"/>
                    </a:scheme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83B0FEE6-AD75-2F25-E046-95883D96A194}"/>
              </a:ext>
            </a:extLst>
          </p:cNvPr>
          <p:cNvSpPr/>
          <p:nvPr/>
        </p:nvSpPr>
        <p:spPr>
          <a:xfrm>
            <a:off x="4723096" y="3163500"/>
            <a:ext cx="6940904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latin typeface="Hepta Slab Bold" pitchFamily="2" charset="0"/>
                <a:ea typeface="Hepta Slab Regular" pitchFamily="34" charset="-122"/>
                <a:cs typeface="Hepta Slab Bold" pitchFamily="2" charset="0"/>
              </a:rPr>
              <a:t>Align offerings based on context of the customers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Meeting the hierarchy of expectations: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Financial transactions - safe, secure and friction free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Help in wealth management - contextual. consistent. transparent 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  <a:p>
            <a:pPr algn="l"/>
            <a:r>
              <a:rPr lang="en-US" sz="2400" dirty="0"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Enhance their lifestyle - personalized prestige. personalized convenience</a:t>
            </a:r>
          </a:p>
          <a:p>
            <a:pPr algn="l"/>
            <a:endParaRPr lang="en-US" sz="2400" dirty="0"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9902F5F5-8E76-C6C4-5C95-CF9C5D1B590C}"/>
              </a:ext>
            </a:extLst>
          </p:cNvPr>
          <p:cNvSpPr/>
          <p:nvPr/>
        </p:nvSpPr>
        <p:spPr>
          <a:xfrm>
            <a:off x="4644000" y="1633500"/>
            <a:ext cx="7793166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rgbClr val="7030A0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527885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04000" y="118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191919"/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7" y="9571084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2">
                      <a:lumMod val="10000"/>
                    </a:scheme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83B0FEE6-AD75-2F25-E046-95883D96A194}"/>
              </a:ext>
            </a:extLst>
          </p:cNvPr>
          <p:cNvSpPr/>
          <p:nvPr/>
        </p:nvSpPr>
        <p:spPr>
          <a:xfrm>
            <a:off x="4838255" y="2682772"/>
            <a:ext cx="6940904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F5F3E4"/>
                </a:solidFill>
                <a:latin typeface="Hepta Slab Bold" pitchFamily="2" charset="0"/>
                <a:ea typeface="Hepta Slab Regular" pitchFamily="34" charset="-122"/>
                <a:cs typeface="Hepta Slab Bold" pitchFamily="2" charset="0"/>
              </a:rPr>
              <a:t>Lens through which customers view the engagement.</a:t>
            </a:r>
          </a:p>
          <a:p>
            <a:pPr algn="l"/>
            <a:endParaRPr lang="en-US" sz="2400" dirty="0">
              <a:solidFill>
                <a:srgbClr val="F5F3E4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9902F5F5-8E76-C6C4-5C95-CF9C5D1B590C}"/>
              </a:ext>
            </a:extLst>
          </p:cNvPr>
          <p:cNvSpPr/>
          <p:nvPr/>
        </p:nvSpPr>
        <p:spPr>
          <a:xfrm>
            <a:off x="4810504" y="1596923"/>
            <a:ext cx="7793166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Context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0836E5-B744-21C9-2057-267110BC360A}"/>
              </a:ext>
            </a:extLst>
          </p:cNvPr>
          <p:cNvSpPr txBox="1"/>
          <p:nvPr/>
        </p:nvSpPr>
        <p:spPr>
          <a:xfrm>
            <a:off x="4752845" y="4597848"/>
            <a:ext cx="64804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F5F3E4"/>
                </a:solidFill>
                <a:latin typeface="Montserrat Medium" pitchFamily="2" charset="0"/>
                <a:ea typeface="Hepta Slab Regular" pitchFamily="34" charset="-122"/>
                <a:cs typeface="Hepta Slab SemiBold" pitchFamily="2" charset="0"/>
              </a:rPr>
              <a:t>Multilayered expectations of affluent and HNI customers:</a:t>
            </a:r>
          </a:p>
          <a:p>
            <a:pPr algn="l"/>
            <a:endParaRPr lang="en-US" sz="2400" dirty="0">
              <a:solidFill>
                <a:srgbClr val="F5F3E4"/>
              </a:solidFill>
              <a:latin typeface="Montserrat Medium" pitchFamily="2" charset="0"/>
              <a:ea typeface="Hepta Slab Regular" pitchFamily="34" charset="-122"/>
              <a:cs typeface="Hepta Slab SemiBold" pitchFamily="2" charset="0"/>
            </a:endParaRPr>
          </a:p>
          <a:p>
            <a:pPr algn="l"/>
            <a:r>
              <a:rPr lang="en-US" sz="2400" dirty="0">
                <a:solidFill>
                  <a:srgbClr val="F5F3E4"/>
                </a:solidFill>
                <a:latin typeface="Montserrat ExtraBold" pitchFamily="2" charset="0"/>
                <a:ea typeface="Hepta Slab Regular" pitchFamily="34" charset="-122"/>
                <a:cs typeface="Hepta Slab SemiBold" pitchFamily="2" charset="0"/>
              </a:rPr>
              <a:t>Functional Needs</a:t>
            </a:r>
          </a:p>
          <a:p>
            <a:pPr algn="l"/>
            <a:r>
              <a:rPr lang="en-US" sz="2400" dirty="0">
                <a:solidFill>
                  <a:srgbClr val="F5F3E4"/>
                </a:solidFill>
                <a:latin typeface="Montserrat Medium" pitchFamily="2" charset="0"/>
                <a:ea typeface="Hepta Slab Regular" pitchFamily="34" charset="-122"/>
                <a:cs typeface="Hepta Slab SemiBold" pitchFamily="2" charset="0"/>
              </a:rPr>
              <a:t>Friction-free transactions and basic banking</a:t>
            </a:r>
          </a:p>
          <a:p>
            <a:pPr algn="l"/>
            <a:endParaRPr lang="en-US" sz="2400" dirty="0">
              <a:solidFill>
                <a:srgbClr val="F5F3E4"/>
              </a:solidFill>
              <a:latin typeface="Montserrat Medium" pitchFamily="2" charset="0"/>
              <a:ea typeface="Hepta Slab Regular" pitchFamily="34" charset="-122"/>
              <a:cs typeface="Hepta Slab SemiBold" pitchFamily="2" charset="0"/>
            </a:endParaRPr>
          </a:p>
          <a:p>
            <a:pPr algn="l"/>
            <a:r>
              <a:rPr lang="en-US" sz="2400" b="1" dirty="0">
                <a:solidFill>
                  <a:srgbClr val="F5F3E4"/>
                </a:solidFill>
                <a:latin typeface="Montserrat ExtraBold" pitchFamily="2" charset="0"/>
                <a:ea typeface="Hepta Slab Regular" pitchFamily="34" charset="-122"/>
                <a:cs typeface="Hepta Slab SemiBold" pitchFamily="2" charset="0"/>
              </a:rPr>
              <a:t>Prestige &amp; Emotional Salience</a:t>
            </a:r>
          </a:p>
          <a:p>
            <a:pPr algn="l"/>
            <a:r>
              <a:rPr lang="en-US" sz="2400" dirty="0">
                <a:solidFill>
                  <a:srgbClr val="F5F3E4"/>
                </a:solidFill>
                <a:latin typeface="Montserrat Medium" pitchFamily="2" charset="0"/>
                <a:ea typeface="Hepta Slab Regular" pitchFamily="34" charset="-122"/>
                <a:cs typeface="Hepta Slab SemiBold" pitchFamily="2" charset="0"/>
              </a:rPr>
              <a:t>Exclusivity, Preferential Banking, Personalized Convenience, Aspiration</a:t>
            </a:r>
          </a:p>
        </p:txBody>
      </p:sp>
    </p:spTree>
    <p:extLst>
      <p:ext uri="{BB962C8B-B14F-4D97-AF65-F5344CB8AC3E}">
        <p14:creationId xmlns:p14="http://schemas.microsoft.com/office/powerpoint/2010/main" val="2830729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1683" y="118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191919"/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488A26-90E9-4FBD-7EBC-6F895DD540B6}"/>
              </a:ext>
            </a:extLst>
          </p:cNvPr>
          <p:cNvGrpSpPr/>
          <p:nvPr/>
        </p:nvGrpSpPr>
        <p:grpSpPr>
          <a:xfrm>
            <a:off x="5623687" y="9571084"/>
            <a:ext cx="10900313" cy="478674"/>
            <a:chOff x="5647250" y="6623140"/>
            <a:chExt cx="10900313" cy="478674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8CACD9CD-B916-EE10-01C4-C5A3ACE3F9FF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2">
                      <a:lumMod val="10000"/>
                    </a:scheme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75ED141-618D-DDBC-9203-E1173198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619C5D-562C-E0F7-2859-FF2977164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83B0FEE6-AD75-2F25-E046-95883D96A194}"/>
              </a:ext>
            </a:extLst>
          </p:cNvPr>
          <p:cNvSpPr/>
          <p:nvPr/>
        </p:nvSpPr>
        <p:spPr>
          <a:xfrm>
            <a:off x="4924074" y="2671438"/>
            <a:ext cx="6940904" cy="478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400" dirty="0">
                <a:solidFill>
                  <a:srgbClr val="F5F3E4"/>
                </a:solidFill>
                <a:latin typeface="Hepta Slab Bold" pitchFamily="2" charset="0"/>
                <a:ea typeface="Hepta Slab Regular" pitchFamily="34" charset="-122"/>
                <a:cs typeface="Hepta Slab Bold" pitchFamily="2" charset="0"/>
              </a:rPr>
              <a:t>Lens through which customers view the engagement.</a:t>
            </a:r>
          </a:p>
          <a:p>
            <a:pPr algn="l"/>
            <a:endParaRPr lang="en-US" sz="2400" dirty="0">
              <a:solidFill>
                <a:srgbClr val="F5F3E4"/>
              </a:solidFill>
              <a:latin typeface="Hepta Slab Regular" pitchFamily="34" charset="0"/>
              <a:ea typeface="Hepta Slab Regular" pitchFamily="34" charset="-122"/>
              <a:cs typeface="Hepta Slab Regular" pitchFamily="34" charset="-120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9902F5F5-8E76-C6C4-5C95-CF9C5D1B590C}"/>
              </a:ext>
            </a:extLst>
          </p:cNvPr>
          <p:cNvSpPr/>
          <p:nvPr/>
        </p:nvSpPr>
        <p:spPr>
          <a:xfrm>
            <a:off x="4896323" y="1585589"/>
            <a:ext cx="7793166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b="1" dirty="0">
                <a:solidFill>
                  <a:srgbClr val="F5F3E4"/>
                </a:solidFill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Context</a:t>
            </a:r>
          </a:p>
        </p:txBody>
      </p:sp>
      <p:sp>
        <p:nvSpPr>
          <p:cNvPr id="4" name="Object5">
            <a:extLst>
              <a:ext uri="{FF2B5EF4-FFF2-40B4-BE49-F238E27FC236}">
                <a16:creationId xmlns:a16="http://schemas.microsoft.com/office/drawing/2014/main" id="{6BD2162D-1440-BAF5-2742-60A1CF6DE65F}"/>
              </a:ext>
            </a:extLst>
          </p:cNvPr>
          <p:cNvSpPr/>
          <p:nvPr/>
        </p:nvSpPr>
        <p:spPr>
          <a:xfrm>
            <a:off x="4924074" y="5683500"/>
            <a:ext cx="6137988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Hepta Slab Regular" pitchFamily="34" charset="-122"/>
                <a:cs typeface="Hepta Slab Regular" pitchFamily="2" charset="0"/>
              </a:rPr>
              <a:t>Differentiated needs, emotions and expectations led to creating segments based on desired experiences.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F5F3E4"/>
              </a:solidFill>
              <a:latin typeface="Montserrat Medium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5F3E4"/>
                </a:solidFill>
                <a:latin typeface="Montserrat Medium" pitchFamily="2" charset="0"/>
                <a:ea typeface="Hepta Slab Regular" pitchFamily="34" charset="-122"/>
                <a:cs typeface="Hepta Slab Regular" pitchFamily="2" charset="0"/>
              </a:rPr>
              <a:t>Resulting in o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Hepta Slab Regular" pitchFamily="34" charset="-122"/>
                <a:cs typeface="Hepta Slab Regular" pitchFamily="2" charset="0"/>
              </a:rPr>
              <a:t>fferings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Hepta Slab Regular" pitchFamily="34" charset="-122"/>
                <a:cs typeface="Hepta Slab Regular" pitchFamily="2" charset="0"/>
              </a:rPr>
              <a:t> &amp; experiences that closely match customer context, to stay continuously relevant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Montserrat Medium" pitchFamily="2" charset="0"/>
              <a:ea typeface="+mn-ea"/>
              <a:cs typeface="Hepta Slab Regular" pitchFamily="2" charset="0"/>
            </a:endParaRPr>
          </a:p>
        </p:txBody>
      </p:sp>
      <p:sp>
        <p:nvSpPr>
          <p:cNvPr id="6" name="Object5">
            <a:extLst>
              <a:ext uri="{FF2B5EF4-FFF2-40B4-BE49-F238E27FC236}">
                <a16:creationId xmlns:a16="http://schemas.microsoft.com/office/drawing/2014/main" id="{9C44133C-F16E-CE8F-8D3E-3EE64EAF308B}"/>
              </a:ext>
            </a:extLst>
          </p:cNvPr>
          <p:cNvSpPr/>
          <p:nvPr/>
        </p:nvSpPr>
        <p:spPr>
          <a:xfrm>
            <a:off x="4942895" y="4951083"/>
            <a:ext cx="5397511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Experiential Segments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Montserrat ExtraBold" pitchFamily="2" charset="0"/>
              <a:ea typeface="+mn-ea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Montserrat ExtraBold" pitchFamily="2" charset="0"/>
              <a:ea typeface="+mn-ea"/>
              <a:cs typeface="Hepta Slab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112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7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607223" y="118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7617"/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1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14" name="Object5">
            <a:extLst>
              <a:ext uri="{FF2B5EF4-FFF2-40B4-BE49-F238E27FC236}">
                <a16:creationId xmlns:a16="http://schemas.microsoft.com/office/drawing/2014/main" id="{ADCCA84A-9623-E16D-B2FE-957E6955D924}"/>
              </a:ext>
            </a:extLst>
          </p:cNvPr>
          <p:cNvSpPr/>
          <p:nvPr/>
        </p:nvSpPr>
        <p:spPr>
          <a:xfrm>
            <a:off x="5535912" y="7535427"/>
            <a:ext cx="12241616" cy="117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endParaRPr lang="en-US" sz="2400" b="0" i="0" dirty="0">
              <a:solidFill>
                <a:srgbClr val="F5F3E4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0D128-E34C-FC71-0517-CFBF45C40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000" y="-50624"/>
            <a:ext cx="3639365" cy="3639365"/>
          </a:xfrm>
          <a:prstGeom prst="rect">
            <a:avLst/>
          </a:prstGeom>
        </p:spPr>
      </p:pic>
      <p:sp>
        <p:nvSpPr>
          <p:cNvPr id="5" name="Object5">
            <a:extLst>
              <a:ext uri="{FF2B5EF4-FFF2-40B4-BE49-F238E27FC236}">
                <a16:creationId xmlns:a16="http://schemas.microsoft.com/office/drawing/2014/main" id="{0E57E115-3F38-F124-EFE5-C51522B627BC}"/>
              </a:ext>
            </a:extLst>
          </p:cNvPr>
          <p:cNvSpPr/>
          <p:nvPr/>
        </p:nvSpPr>
        <p:spPr>
          <a:xfrm>
            <a:off x="5004000" y="6290181"/>
            <a:ext cx="2575642" cy="151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Hepta Slab Regular" pitchFamily="34" charset="-122"/>
                <a:cs typeface="Hepta Slab Regular" pitchFamily="2" charset="0"/>
              </a:rPr>
              <a:t>Designing offerings &amp; experiences that closely match customer context, to stay continuously relevant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Montserrat Medium" pitchFamily="2" charset="0"/>
              <a:ea typeface="+mn-ea"/>
              <a:cs typeface="Hepta Slab Regular" pitchFamily="2" charset="0"/>
            </a:endParaRPr>
          </a:p>
        </p:txBody>
      </p:sp>
      <p:sp>
        <p:nvSpPr>
          <p:cNvPr id="6" name="Object5">
            <a:extLst>
              <a:ext uri="{FF2B5EF4-FFF2-40B4-BE49-F238E27FC236}">
                <a16:creationId xmlns:a16="http://schemas.microsoft.com/office/drawing/2014/main" id="{8A56518D-6036-FFD2-B199-BF6FDA820ACF}"/>
              </a:ext>
            </a:extLst>
          </p:cNvPr>
          <p:cNvSpPr/>
          <p:nvPr/>
        </p:nvSpPr>
        <p:spPr>
          <a:xfrm>
            <a:off x="8247826" y="6181389"/>
            <a:ext cx="2520000" cy="171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+mn-ea"/>
                <a:cs typeface="Hepta Slab Regular" pitchFamily="2" charset="0"/>
              </a:rPr>
              <a:t>Generating trust &amp; alignment with the customer aspirations &amp; challenges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+mn-ea"/>
                <a:cs typeface="Hepta Slab Regular" pitchFamily="2" charset="0"/>
              </a:rPr>
              <a:t>Making the customer feel “Prioritized” &amp; “Differentiated” </a:t>
            </a:r>
          </a:p>
        </p:txBody>
      </p:sp>
      <p:sp>
        <p:nvSpPr>
          <p:cNvPr id="7" name="Object5">
            <a:extLst>
              <a:ext uri="{FF2B5EF4-FFF2-40B4-BE49-F238E27FC236}">
                <a16:creationId xmlns:a16="http://schemas.microsoft.com/office/drawing/2014/main" id="{D85ED63D-B885-096D-6FF4-144F6A71A3D1}"/>
              </a:ext>
            </a:extLst>
          </p:cNvPr>
          <p:cNvSpPr/>
          <p:nvPr/>
        </p:nvSpPr>
        <p:spPr>
          <a:xfrm>
            <a:off x="11708470" y="6129068"/>
            <a:ext cx="2520000" cy="1814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Hepta Slab Regular" pitchFamily="34" charset="-122"/>
                <a:cs typeface="Hepta Slab Regular" pitchFamily="2" charset="0"/>
              </a:rPr>
              <a:t>Driving “Exclusivity”, “Affiliation” and “Prestige”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Montserrat Medium" pitchFamily="2" charset="0"/>
              <a:ea typeface="+mn-ea"/>
              <a:cs typeface="Hepta Slab Regular" pitchFamily="2" charset="0"/>
            </a:endParaRPr>
          </a:p>
        </p:txBody>
      </p:sp>
      <p:sp>
        <p:nvSpPr>
          <p:cNvPr id="8" name="Object5">
            <a:extLst>
              <a:ext uri="{FF2B5EF4-FFF2-40B4-BE49-F238E27FC236}">
                <a16:creationId xmlns:a16="http://schemas.microsoft.com/office/drawing/2014/main" id="{5C6A77CC-0486-91F9-2D16-AFEFDC8B3CD6}"/>
              </a:ext>
            </a:extLst>
          </p:cNvPr>
          <p:cNvSpPr/>
          <p:nvPr/>
        </p:nvSpPr>
        <p:spPr>
          <a:xfrm>
            <a:off x="14723352" y="6028261"/>
            <a:ext cx="2520000" cy="191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Montserrat Medium" pitchFamily="2" charset="0"/>
                <a:ea typeface="+mn-ea"/>
                <a:cs typeface="Hepta Slab Regular" pitchFamily="2" charset="0"/>
              </a:rPr>
              <a:t>Conveying assurance - when things go wrong, customer will face the least stress &amp; impact</a:t>
            </a:r>
          </a:p>
        </p:txBody>
      </p:sp>
      <p:sp>
        <p:nvSpPr>
          <p:cNvPr id="9" name="Object5">
            <a:extLst>
              <a:ext uri="{FF2B5EF4-FFF2-40B4-BE49-F238E27FC236}">
                <a16:creationId xmlns:a16="http://schemas.microsoft.com/office/drawing/2014/main" id="{A0DA9D74-4F8F-2160-D66F-B9935BEA813C}"/>
              </a:ext>
            </a:extLst>
          </p:cNvPr>
          <p:cNvSpPr/>
          <p:nvPr/>
        </p:nvSpPr>
        <p:spPr>
          <a:xfrm>
            <a:off x="5003999" y="4850181"/>
            <a:ext cx="3120929" cy="20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EXPERIENTIAL SEGMENTS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SemiBold" pitchFamily="2" charset="0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SemiBold" pitchFamily="2" charset="0"/>
              <a:cs typeface="Hepta Slab SemiBold" pitchFamily="2" charset="0"/>
            </a:endParaRPr>
          </a:p>
        </p:txBody>
      </p:sp>
      <p:sp>
        <p:nvSpPr>
          <p:cNvPr id="10" name="Object5">
            <a:extLst>
              <a:ext uri="{FF2B5EF4-FFF2-40B4-BE49-F238E27FC236}">
                <a16:creationId xmlns:a16="http://schemas.microsoft.com/office/drawing/2014/main" id="{1BD0B560-9B21-2D13-40DA-8B3E9DC92250}"/>
              </a:ext>
            </a:extLst>
          </p:cNvPr>
          <p:cNvSpPr/>
          <p:nvPr/>
        </p:nvSpPr>
        <p:spPr>
          <a:xfrm>
            <a:off x="8247825" y="4741389"/>
            <a:ext cx="2684260" cy="20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RELATIONSHIP CUSTODIAN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SemiBold" pitchFamily="2" charset="0"/>
              <a:cs typeface="Hepta Slab SemiBold" pitchFamily="2" charset="0"/>
            </a:endParaRPr>
          </a:p>
        </p:txBody>
      </p:sp>
      <p:sp>
        <p:nvSpPr>
          <p:cNvPr id="11" name="Object5">
            <a:extLst>
              <a:ext uri="{FF2B5EF4-FFF2-40B4-BE49-F238E27FC236}">
                <a16:creationId xmlns:a16="http://schemas.microsoft.com/office/drawing/2014/main" id="{A0A99BAA-80AD-7AD5-B71E-B33D6BF4CD4A}"/>
              </a:ext>
            </a:extLst>
          </p:cNvPr>
          <p:cNvSpPr/>
          <p:nvPr/>
        </p:nvSpPr>
        <p:spPr>
          <a:xfrm>
            <a:off x="11646984" y="4689068"/>
            <a:ext cx="2684260" cy="20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THE WHITE GLOVE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SemiBold" pitchFamily="2" charset="0"/>
              <a:cs typeface="Hepta Slab SemiBold" pitchFamily="2" charset="0"/>
            </a:endParaRPr>
          </a:p>
        </p:txBody>
      </p:sp>
      <p:sp>
        <p:nvSpPr>
          <p:cNvPr id="12" name="Object5">
            <a:extLst>
              <a:ext uri="{FF2B5EF4-FFF2-40B4-BE49-F238E27FC236}">
                <a16:creationId xmlns:a16="http://schemas.microsoft.com/office/drawing/2014/main" id="{AD2AD8CB-2C8F-7E0B-08D9-4F2D5AF6E489}"/>
              </a:ext>
            </a:extLst>
          </p:cNvPr>
          <p:cNvSpPr/>
          <p:nvPr/>
        </p:nvSpPr>
        <p:spPr>
          <a:xfrm>
            <a:off x="14723352" y="4588261"/>
            <a:ext cx="2519999" cy="20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SERVICE RECOVERY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SemiBold" pitchFamily="2" charset="0"/>
              <a:cs typeface="Hepta Slab SemiBold" pitchFamily="2" charset="0"/>
            </a:endParaRPr>
          </a:p>
        </p:txBody>
      </p:sp>
      <p:pic>
        <p:nvPicPr>
          <p:cNvPr id="13" name="Graphic 12" descr="Pie chart with solid fill">
            <a:extLst>
              <a:ext uri="{FF2B5EF4-FFF2-40B4-BE49-F238E27FC236}">
                <a16:creationId xmlns:a16="http://schemas.microsoft.com/office/drawing/2014/main" id="{6DD6806C-E714-F541-FA0A-73D9DF8D0A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2559" y="3588641"/>
            <a:ext cx="834438" cy="834438"/>
          </a:xfrm>
          <a:prstGeom prst="rect">
            <a:avLst/>
          </a:prstGeom>
        </p:spPr>
      </p:pic>
      <p:pic>
        <p:nvPicPr>
          <p:cNvPr id="15" name="Graphic 14" descr="Diamond with solid fill">
            <a:extLst>
              <a:ext uri="{FF2B5EF4-FFF2-40B4-BE49-F238E27FC236}">
                <a16:creationId xmlns:a16="http://schemas.microsoft.com/office/drawing/2014/main" id="{D77FEF8C-99AD-4DB8-42B0-D5AB69055B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46984" y="3427528"/>
            <a:ext cx="834438" cy="834438"/>
          </a:xfrm>
          <a:prstGeom prst="rect">
            <a:avLst/>
          </a:prstGeom>
        </p:spPr>
      </p:pic>
      <p:pic>
        <p:nvPicPr>
          <p:cNvPr id="16" name="Graphic 15" descr="Users with solid fill">
            <a:extLst>
              <a:ext uri="{FF2B5EF4-FFF2-40B4-BE49-F238E27FC236}">
                <a16:creationId xmlns:a16="http://schemas.microsoft.com/office/drawing/2014/main" id="{AF97D84C-883B-6D09-883E-71E443CA10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49644" y="3603075"/>
            <a:ext cx="834438" cy="834438"/>
          </a:xfrm>
          <a:prstGeom prst="rect">
            <a:avLst/>
          </a:prstGeom>
        </p:spPr>
      </p:pic>
      <p:pic>
        <p:nvPicPr>
          <p:cNvPr id="17" name="Graphic 16" descr="Gears with solid fill">
            <a:extLst>
              <a:ext uri="{FF2B5EF4-FFF2-40B4-BE49-F238E27FC236}">
                <a16:creationId xmlns:a16="http://schemas.microsoft.com/office/drawing/2014/main" id="{246E68D0-DADB-F85B-4717-FD2F458C8F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499191" y="3449947"/>
            <a:ext cx="834438" cy="83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1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E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51927" y="1151727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32CAFE1E-EFB3-E3A5-B63A-76FA056FAD5B}"/>
              </a:ext>
            </a:extLst>
          </p:cNvPr>
          <p:cNvSpPr/>
          <p:nvPr/>
        </p:nvSpPr>
        <p:spPr>
          <a:xfrm>
            <a:off x="4889000" y="4469725"/>
            <a:ext cx="10628088" cy="233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11717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CONTEXT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11717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From inside out to outside 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Experiential segmentation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Friction and motivation are different for different segments. Experiential segments are based on the context and desired outcomes of the customers.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F683357-8633-BDED-9029-A4470DA2DD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553" y="649113"/>
            <a:ext cx="3263447" cy="326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25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E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51927" y="1151727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Solutions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7524BC-484A-B406-1ED6-524D944556C8}"/>
              </a:ext>
            </a:extLst>
          </p:cNvPr>
          <p:cNvGrpSpPr/>
          <p:nvPr/>
        </p:nvGrpSpPr>
        <p:grpSpPr>
          <a:xfrm>
            <a:off x="4691769" y="7087232"/>
            <a:ext cx="11445596" cy="1773187"/>
            <a:chOff x="5004000" y="6539511"/>
            <a:chExt cx="11445596" cy="177318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3E6E702-D024-0B09-0907-0B72B5B9F8B1}"/>
                </a:ext>
              </a:extLst>
            </p:cNvPr>
            <p:cNvSpPr txBox="1"/>
            <p:nvPr/>
          </p:nvSpPr>
          <p:spPr>
            <a:xfrm>
              <a:off x="5004000" y="6587015"/>
              <a:ext cx="4889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⭐Self Made Tycoon</a:t>
              </a:r>
            </a:p>
          </p:txBody>
        </p:sp>
        <p:sp>
          <p:nvSpPr>
            <p:cNvPr id="5" name="TextBox 3">
              <a:extLst>
                <a:ext uri="{FF2B5EF4-FFF2-40B4-BE49-F238E27FC236}">
                  <a16:creationId xmlns:a16="http://schemas.microsoft.com/office/drawing/2014/main" id="{6C210149-29ED-2BE7-267B-2C2A1002B25F}"/>
                </a:ext>
              </a:extLst>
            </p:cNvPr>
            <p:cNvSpPr txBox="1"/>
            <p:nvPr/>
          </p:nvSpPr>
          <p:spPr>
            <a:xfrm>
              <a:off x="10414567" y="7050088"/>
              <a:ext cx="60350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⭐Steel Grey</a:t>
              </a:r>
            </a:p>
          </p:txBody>
        </p:sp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1A07B154-1F2C-0FE3-DA62-44DAB205AABB}"/>
                </a:ext>
              </a:extLst>
            </p:cNvPr>
            <p:cNvSpPr txBox="1"/>
            <p:nvPr/>
          </p:nvSpPr>
          <p:spPr>
            <a:xfrm>
              <a:off x="5004000" y="7249433"/>
              <a:ext cx="385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⭐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PSB Migrant</a:t>
              </a:r>
            </a:p>
          </p:txBody>
        </p:sp>
        <p:sp>
          <p:nvSpPr>
            <p:cNvPr id="7" name="TextBox 3">
              <a:extLst>
                <a:ext uri="{FF2B5EF4-FFF2-40B4-BE49-F238E27FC236}">
                  <a16:creationId xmlns:a16="http://schemas.microsoft.com/office/drawing/2014/main" id="{E3427BD3-77F3-7847-D488-687990762D80}"/>
                </a:ext>
              </a:extLst>
            </p:cNvPr>
            <p:cNvSpPr txBox="1"/>
            <p:nvPr/>
          </p:nvSpPr>
          <p:spPr>
            <a:xfrm>
              <a:off x="10414567" y="6539511"/>
              <a:ext cx="576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⭐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Mature Professionals</a:t>
              </a:r>
            </a:p>
          </p:txBody>
        </p:sp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F66F65DA-5A56-A834-9AEC-4DB178B809D0}"/>
                </a:ext>
              </a:extLst>
            </p:cNvPr>
            <p:cNvSpPr txBox="1"/>
            <p:nvPr/>
          </p:nvSpPr>
          <p:spPr>
            <a:xfrm>
              <a:off x="5004000" y="7851033"/>
              <a:ext cx="6300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⭐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pta Slab SemiBold" pitchFamily="2" charset="0"/>
                  <a:ea typeface="+mn-ea"/>
                  <a:cs typeface="Hepta Slab SemiBold" pitchFamily="2" charset="0"/>
                </a:rPr>
                <a:t>Emerging Professionals</a:t>
              </a:r>
            </a:p>
          </p:txBody>
        </p:sp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32CAFE1E-EFB3-E3A5-B63A-76FA056FAD5B}"/>
              </a:ext>
            </a:extLst>
          </p:cNvPr>
          <p:cNvSpPr/>
          <p:nvPr/>
        </p:nvSpPr>
        <p:spPr>
          <a:xfrm>
            <a:off x="4889000" y="4492424"/>
            <a:ext cx="10628088" cy="233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Experiential segmentation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5 different experiential segments. </a:t>
            </a:r>
            <a:r>
              <a:rPr lang="en-US" sz="2400" dirty="0">
                <a:solidFill>
                  <a:prstClr val="black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he offerings have the potential to be positioned according to the experiences they can lead to, rather than by their features, performance attributes or functional benefits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F683357-8633-BDED-9029-A4470DA2DD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553" y="649113"/>
            <a:ext cx="3263447" cy="326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91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51927" y="1151727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Solutions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32CAFE1E-EFB3-E3A5-B63A-76FA056FAD5B}"/>
              </a:ext>
            </a:extLst>
          </p:cNvPr>
          <p:cNvSpPr/>
          <p:nvPr/>
        </p:nvSpPr>
        <p:spPr>
          <a:xfrm>
            <a:off x="4889000" y="5004157"/>
            <a:ext cx="10628088" cy="233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CONTEXT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From inside out to outside 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srgbClr val="F5F3E4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F5F3E4"/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White-Glove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5F3E4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A concierge program that continually aligns to customers’ functional &amp; emotional context &amp; experiential expectations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E1A59-91DA-CF6D-2E24-C669719CDB6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5" t="7839"/>
          <a:stretch/>
        </p:blipFill>
        <p:spPr>
          <a:xfrm>
            <a:off x="4804641" y="339800"/>
            <a:ext cx="4699360" cy="377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1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51927" y="1151727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Solutions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A3BE28E-67DD-25E8-8BED-028CFCC7F6E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648"/>
          <a:stretch/>
        </p:blipFill>
        <p:spPr>
          <a:xfrm>
            <a:off x="4565827" y="1834407"/>
            <a:ext cx="13170246" cy="661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56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C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51927" y="1151727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Solutions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32CAFE1E-EFB3-E3A5-B63A-76FA056FAD5B}"/>
              </a:ext>
            </a:extLst>
          </p:cNvPr>
          <p:cNvSpPr/>
          <p:nvPr/>
        </p:nvSpPr>
        <p:spPr>
          <a:xfrm>
            <a:off x="5080324" y="3967896"/>
            <a:ext cx="11963477" cy="453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MOTIVATION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Meeting the Hierarchy of Expectations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Relationship Custodian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RM to have expertise in banking, industry insights, wealth and legacy planning to support in meeting functional needs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To build rapport, provide updates and have frequent connect on topics of interest to the customers to build engagement and meet emotional needs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Building a seamless </a:t>
            </a:r>
            <a:r>
              <a:rPr lang="en-US" sz="2400" dirty="0">
                <a:solidFill>
                  <a:prstClr val="black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digital-physical handshake to eliminate friction in digital channels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C43265-BCAE-F51F-2FFC-41999D95830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9" b="28471"/>
          <a:stretch/>
        </p:blipFill>
        <p:spPr>
          <a:xfrm>
            <a:off x="5100523" y="463500"/>
            <a:ext cx="2892546" cy="278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77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1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51927" y="1151727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Solutions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32CAFE1E-EFB3-E3A5-B63A-76FA056FAD5B}"/>
              </a:ext>
            </a:extLst>
          </p:cNvPr>
          <p:cNvSpPr/>
          <p:nvPr/>
        </p:nvSpPr>
        <p:spPr>
          <a:xfrm>
            <a:off x="5080324" y="3967896"/>
            <a:ext cx="11963477" cy="453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FRICTION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Cognitive and Temporal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Service Recovery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Immediate Response: Established escalation matrix with no questions asked redressal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Short-Term Response: Best resolution to address functional needs with proactive and timebound updates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Process Shifts: System changes, Process alignments, People Orientation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11" name="Graphic 10" descr="Gears with solid fill">
            <a:extLst>
              <a:ext uri="{FF2B5EF4-FFF2-40B4-BE49-F238E27FC236}">
                <a16:creationId xmlns:a16="http://schemas.microsoft.com/office/drawing/2014/main" id="{E7170CB4-9B1C-3DF8-36C6-87D17DEE99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9000" y="812364"/>
            <a:ext cx="2160000" cy="21600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11996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1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-1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51927" y="1151727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811717"/>
                </a:solidFill>
                <a:latin typeface="Montserrat SemiBold" pitchFamily="2" charset="0"/>
              </a:rPr>
              <a:t>Solutions</a:t>
            </a:r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2" name="Object5">
            <a:extLst>
              <a:ext uri="{FF2B5EF4-FFF2-40B4-BE49-F238E27FC236}">
                <a16:creationId xmlns:a16="http://schemas.microsoft.com/office/drawing/2014/main" id="{32CAFE1E-EFB3-E3A5-B63A-76FA056FAD5B}"/>
              </a:ext>
            </a:extLst>
          </p:cNvPr>
          <p:cNvSpPr/>
          <p:nvPr/>
        </p:nvSpPr>
        <p:spPr>
          <a:xfrm>
            <a:off x="5080324" y="3967896"/>
            <a:ext cx="11963477" cy="4535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FRICTION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Perceived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Hepta Slab SemiBold" pitchFamily="2" charset="0"/>
              <a:ea typeface="Hepta Slab Regular" pitchFamily="34" charset="-122"/>
              <a:cs typeface="Hepta Slab SemiBold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Eliminating perceived friction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behaviour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SemiBold" pitchFamily="2" charset="0"/>
                <a:ea typeface="Hepta Slab Regular" pitchFamily="34" charset="-122"/>
                <a:cs typeface="Hepta Slab SemiBold" pitchFamily="2" charset="0"/>
              </a:rPr>
              <a:t> science-led communication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Communication to provide clarity and evoke “the future state” for each segment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Using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behaviour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science principles to design artefacts that communicate exclusivity, personalized prestige, convenience</a:t>
            </a:r>
            <a:r>
              <a:rPr lang="en-US" sz="2400" dirty="0">
                <a:solidFill>
                  <a:prstClr val="black"/>
                </a:solidFill>
                <a:latin typeface="Hepta Slab Regular" pitchFamily="2" charset="0"/>
                <a:ea typeface="Hepta Slab Regular" pitchFamily="34" charset="-122"/>
                <a:cs typeface="Hepta Slab Regular" pitchFamily="2" charset="0"/>
              </a:rPr>
              <a:t> and aspiration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pta Slab Regular" pitchFamily="2" charset="0"/>
              <a:ea typeface="Hepta Slab Regular" pitchFamily="34" charset="-122"/>
              <a:cs typeface="Hepta Slab Regular" pitchFamily="2" charset="0"/>
            </a:endParaRPr>
          </a:p>
        </p:txBody>
      </p:sp>
      <p:pic>
        <p:nvPicPr>
          <p:cNvPr id="11" name="Graphic 10" descr="Gears with solid fill">
            <a:extLst>
              <a:ext uri="{FF2B5EF4-FFF2-40B4-BE49-F238E27FC236}">
                <a16:creationId xmlns:a16="http://schemas.microsoft.com/office/drawing/2014/main" id="{E7170CB4-9B1C-3DF8-36C6-87D17DEE99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9000" y="812364"/>
            <a:ext cx="2160000" cy="21600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34041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6B2B7A1-2B50-32B6-C4A5-0756D00BBF78}"/>
              </a:ext>
            </a:extLst>
          </p:cNvPr>
          <p:cNvSpPr/>
          <p:nvPr/>
        </p:nvSpPr>
        <p:spPr>
          <a:xfrm>
            <a:off x="5032002" y="6224317"/>
            <a:ext cx="4471997" cy="2879183"/>
          </a:xfrm>
          <a:prstGeom prst="roundRect">
            <a:avLst/>
          </a:prstGeom>
          <a:solidFill>
            <a:srgbClr val="8176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D419B5-421D-C9AF-8BA5-E90664C2156E}"/>
              </a:ext>
            </a:extLst>
          </p:cNvPr>
          <p:cNvSpPr/>
          <p:nvPr/>
        </p:nvSpPr>
        <p:spPr>
          <a:xfrm>
            <a:off x="10224000" y="6224317"/>
            <a:ext cx="4860000" cy="2879183"/>
          </a:xfrm>
          <a:prstGeom prst="roundRect">
            <a:avLst/>
          </a:prstGeom>
          <a:solidFill>
            <a:srgbClr val="FFA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AD06E7-7411-C0FF-422C-6140DCFF2CCF}"/>
              </a:ext>
            </a:extLst>
          </p:cNvPr>
          <p:cNvSpPr/>
          <p:nvPr/>
        </p:nvSpPr>
        <p:spPr>
          <a:xfrm>
            <a:off x="10224000" y="2195530"/>
            <a:ext cx="4860000" cy="3466738"/>
          </a:xfrm>
          <a:prstGeom prst="roundRect">
            <a:avLst/>
          </a:prstGeom>
          <a:solidFill>
            <a:srgbClr val="8117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A639D80-BA92-D066-B25B-F3FE20AF7808}"/>
              </a:ext>
            </a:extLst>
          </p:cNvPr>
          <p:cNvSpPr/>
          <p:nvPr/>
        </p:nvSpPr>
        <p:spPr>
          <a:xfrm>
            <a:off x="5032002" y="2195530"/>
            <a:ext cx="4471997" cy="3466738"/>
          </a:xfrm>
          <a:prstGeom prst="roundRect">
            <a:avLst/>
          </a:prstGeom>
          <a:solidFill>
            <a:srgbClr val="C7E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470782" y="877814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191919"/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A62BCD-F6D9-441A-B2D5-CD4E98969517}"/>
              </a:ext>
            </a:extLst>
          </p:cNvPr>
          <p:cNvGrpSpPr/>
          <p:nvPr/>
        </p:nvGrpSpPr>
        <p:grpSpPr>
          <a:xfrm>
            <a:off x="5535914" y="9463501"/>
            <a:ext cx="10913684" cy="720002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A22581-630E-02A7-0EF8-6114431B6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55B5FDB-01C4-6269-F110-A270604FB1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AB4E9D9F-2682-FF3A-594B-F6CA471CA0D0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4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ontserrat Medium" pitchFamily="2" charset="0"/>
                  <a:ea typeface="+mj-ea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sp>
        <p:nvSpPr>
          <p:cNvPr id="6" name="Object5">
            <a:extLst>
              <a:ext uri="{FF2B5EF4-FFF2-40B4-BE49-F238E27FC236}">
                <a16:creationId xmlns:a16="http://schemas.microsoft.com/office/drawing/2014/main" id="{BE87412C-C536-7373-455C-78CEC9DCF9D3}"/>
              </a:ext>
            </a:extLst>
          </p:cNvPr>
          <p:cNvSpPr/>
          <p:nvPr/>
        </p:nvSpPr>
        <p:spPr>
          <a:xfrm>
            <a:off x="5032002" y="1062917"/>
            <a:ext cx="10507566" cy="570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pta Slab SemiBold" pitchFamily="2" charset="0"/>
                <a:ea typeface="+mn-ea"/>
                <a:cs typeface="Hepta Slab SemiBold" pitchFamily="2" charset="0"/>
              </a:rPr>
              <a:t>Implementation Support |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pta Slab" pitchFamily="2" charset="0"/>
                <a:ea typeface="+mn-ea"/>
                <a:cs typeface="Hepta Slab" pitchFamily="2" charset="0"/>
              </a:rPr>
              <a:t>90-120 days</a:t>
            </a:r>
          </a:p>
        </p:txBody>
      </p:sp>
      <p:sp>
        <p:nvSpPr>
          <p:cNvPr id="5" name="Object6">
            <a:extLst>
              <a:ext uri="{FF2B5EF4-FFF2-40B4-BE49-F238E27FC236}">
                <a16:creationId xmlns:a16="http://schemas.microsoft.com/office/drawing/2014/main" id="{CE3CE8CE-AEA4-25F0-191D-4F5E79D213AA}"/>
              </a:ext>
            </a:extLst>
          </p:cNvPr>
          <p:cNvSpPr/>
          <p:nvPr/>
        </p:nvSpPr>
        <p:spPr>
          <a:xfrm>
            <a:off x="5335786" y="6999325"/>
            <a:ext cx="3988214" cy="135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Prioritizing “White Glove” areas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Identifying alliances and partnerships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Designing  differentiated communication &amp; messaging based on segments &amp; utilization insights</a:t>
            </a:r>
          </a:p>
        </p:txBody>
      </p:sp>
      <p:sp>
        <p:nvSpPr>
          <p:cNvPr id="7" name="Object6">
            <a:extLst>
              <a:ext uri="{FF2B5EF4-FFF2-40B4-BE49-F238E27FC236}">
                <a16:creationId xmlns:a16="http://schemas.microsoft.com/office/drawing/2014/main" id="{BABC017E-2661-90EC-1E56-2C6F6FB2E11D}"/>
              </a:ext>
            </a:extLst>
          </p:cNvPr>
          <p:cNvSpPr/>
          <p:nvPr/>
        </p:nvSpPr>
        <p:spPr>
          <a:xfrm>
            <a:off x="10531511" y="6883216"/>
            <a:ext cx="4351264" cy="153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Montserrat ExtraBold" pitchFamily="34" charset="-122"/>
                <a:cs typeface="Montserrat ExtraBold" pitchFamily="34" charset="-120"/>
              </a:rPr>
              <a:t>Closure of open issues – resolve or conclude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Montserrat ExtraBold" pitchFamily="34" charset="-122"/>
                <a:cs typeface="Montserrat ExtraBold" pitchFamily="34" charset="-120"/>
              </a:rPr>
              <a:t>Escalation matrix –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Montserrat ExtraBold" pitchFamily="34" charset="-122"/>
                <a:cs typeface="Montserrat ExtraBold" pitchFamily="34" charset="-120"/>
              </a:rPr>
              <a:t>Create, publish, popularize &amp; demonstrate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Identifying key service recovery journeys based on insights from past service &amp; support data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43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8" name="Object5">
            <a:extLst>
              <a:ext uri="{FF2B5EF4-FFF2-40B4-BE49-F238E27FC236}">
                <a16:creationId xmlns:a16="http://schemas.microsoft.com/office/drawing/2014/main" id="{2349A7AE-7689-3748-83D5-7301DC064E5E}"/>
              </a:ext>
            </a:extLst>
          </p:cNvPr>
          <p:cNvSpPr/>
          <p:nvPr/>
        </p:nvSpPr>
        <p:spPr>
          <a:xfrm>
            <a:off x="5335786" y="2466556"/>
            <a:ext cx="34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EXPERIENTIAL SEGMENTS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ExtraBold" pitchFamily="2" charset="0"/>
              <a:ea typeface="+mn-ea"/>
              <a:cs typeface="Hepta Slab Regular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ExtraBold" pitchFamily="2" charset="0"/>
              <a:ea typeface="+mn-ea"/>
              <a:cs typeface="Hepta Slab Regular" pitchFamily="2" charset="0"/>
            </a:endParaRPr>
          </a:p>
        </p:txBody>
      </p:sp>
      <p:sp>
        <p:nvSpPr>
          <p:cNvPr id="9" name="Object5">
            <a:extLst>
              <a:ext uri="{FF2B5EF4-FFF2-40B4-BE49-F238E27FC236}">
                <a16:creationId xmlns:a16="http://schemas.microsoft.com/office/drawing/2014/main" id="{5CDD40C4-D255-A947-3493-E8CF689A62E0}"/>
              </a:ext>
            </a:extLst>
          </p:cNvPr>
          <p:cNvSpPr/>
          <p:nvPr/>
        </p:nvSpPr>
        <p:spPr>
          <a:xfrm>
            <a:off x="10531511" y="2436355"/>
            <a:ext cx="3419999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RELATIONSHIP CUSTODIAN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ExtraBold" pitchFamily="2" charset="0"/>
              <a:ea typeface="+mn-ea"/>
              <a:cs typeface="Hepta Slab Regular" pitchFamily="2" charset="0"/>
            </a:endParaRPr>
          </a:p>
        </p:txBody>
      </p:sp>
      <p:sp>
        <p:nvSpPr>
          <p:cNvPr id="10" name="Object5">
            <a:extLst>
              <a:ext uri="{FF2B5EF4-FFF2-40B4-BE49-F238E27FC236}">
                <a16:creationId xmlns:a16="http://schemas.microsoft.com/office/drawing/2014/main" id="{4C1FC291-7079-4840-C794-DA38C56F4461}"/>
              </a:ext>
            </a:extLst>
          </p:cNvPr>
          <p:cNvSpPr/>
          <p:nvPr/>
        </p:nvSpPr>
        <p:spPr>
          <a:xfrm>
            <a:off x="5335786" y="6523216"/>
            <a:ext cx="2941486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THE WHITE GLOVE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 ExtraBold" pitchFamily="2" charset="0"/>
              <a:ea typeface="+mn-ea"/>
              <a:cs typeface="Hepta Slab Regular" pitchFamily="2" charset="0"/>
            </a:endParaRPr>
          </a:p>
        </p:txBody>
      </p:sp>
      <p:sp>
        <p:nvSpPr>
          <p:cNvPr id="12" name="Object5">
            <a:extLst>
              <a:ext uri="{FF2B5EF4-FFF2-40B4-BE49-F238E27FC236}">
                <a16:creationId xmlns:a16="http://schemas.microsoft.com/office/drawing/2014/main" id="{5BC08EF3-23B9-FEEF-1C2E-0546A37EBC07}"/>
              </a:ext>
            </a:extLst>
          </p:cNvPr>
          <p:cNvSpPr/>
          <p:nvPr/>
        </p:nvSpPr>
        <p:spPr>
          <a:xfrm>
            <a:off x="10531511" y="6523216"/>
            <a:ext cx="2761484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SERVICE RECOVERY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 ExtraBold" pitchFamily="2" charset="0"/>
              <a:ea typeface="+mn-ea"/>
              <a:cs typeface="Hepta Slab Regular" pitchFamily="2" charset="0"/>
            </a:endParaRPr>
          </a:p>
        </p:txBody>
      </p:sp>
      <p:sp>
        <p:nvSpPr>
          <p:cNvPr id="13" name="Object6">
            <a:extLst>
              <a:ext uri="{FF2B5EF4-FFF2-40B4-BE49-F238E27FC236}">
                <a16:creationId xmlns:a16="http://schemas.microsoft.com/office/drawing/2014/main" id="{45AC35A3-FF5F-4BCB-3DE3-48B8B030387E}"/>
              </a:ext>
            </a:extLst>
          </p:cNvPr>
          <p:cNvSpPr/>
          <p:nvPr/>
        </p:nvSpPr>
        <p:spPr>
          <a:xfrm>
            <a:off x="10531511" y="2892861"/>
            <a:ext cx="4192489" cy="225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Awareness building program of relevant benefits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Design &amp; implement “Senior” Person connect program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Systemic insights program for utilization levels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Designing the “EXPERTISE” centre – structure, people, processes</a:t>
            </a:r>
          </a:p>
        </p:txBody>
      </p:sp>
      <p:sp>
        <p:nvSpPr>
          <p:cNvPr id="14" name="Object6">
            <a:extLst>
              <a:ext uri="{FF2B5EF4-FFF2-40B4-BE49-F238E27FC236}">
                <a16:creationId xmlns:a16="http://schemas.microsoft.com/office/drawing/2014/main" id="{A8390A8F-7A18-7A8C-640B-C3C27B3CE85C}"/>
              </a:ext>
            </a:extLst>
          </p:cNvPr>
          <p:cNvSpPr/>
          <p:nvPr/>
        </p:nvSpPr>
        <p:spPr>
          <a:xfrm>
            <a:off x="5363893" y="2942665"/>
            <a:ext cx="3808214" cy="2275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Preliminary classification –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Persona based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Operational fixes guided by the Experience Grids for each segment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Friction as a KPI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Identifying segment-wise differential journeys for each segment, based on the experience grid</a:t>
            </a:r>
          </a:p>
        </p:txBody>
      </p:sp>
    </p:spTree>
    <p:extLst>
      <p:ext uri="{BB962C8B-B14F-4D97-AF65-F5344CB8AC3E}">
        <p14:creationId xmlns:p14="http://schemas.microsoft.com/office/powerpoint/2010/main" val="1032932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0472" y="823500"/>
            <a:ext cx="2869757" cy="6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7030A0"/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Samples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15" name="Object4">
            <a:extLst>
              <a:ext uri="{FF2B5EF4-FFF2-40B4-BE49-F238E27FC236}">
                <a16:creationId xmlns:a16="http://schemas.microsoft.com/office/drawing/2014/main" id="{905BF8BE-E126-A81E-05B2-03B371733F08}"/>
              </a:ext>
            </a:extLst>
          </p:cNvPr>
          <p:cNvSpPr/>
          <p:nvPr/>
        </p:nvSpPr>
        <p:spPr>
          <a:xfrm>
            <a:off x="5535912" y="3703500"/>
            <a:ext cx="12241616" cy="4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IN" sz="24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IN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 </a:t>
            </a:r>
            <a:r>
              <a:rPr lang="en-US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Increased Wallet Share</a:t>
            </a:r>
          </a:p>
          <a:p>
            <a:pPr algn="l">
              <a:lnSpc>
                <a:spcPct val="200000"/>
              </a:lnSpc>
            </a:pPr>
            <a:r>
              <a:rPr lang="en-IN" sz="24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Increased Customer Acquisition through recommendation</a:t>
            </a:r>
          </a:p>
          <a:p>
            <a:pPr algn="l">
              <a:lnSpc>
                <a:spcPct val="200000"/>
              </a:lnSpc>
            </a:pPr>
            <a:r>
              <a:rPr lang="en-IN" sz="2400" dirty="0">
                <a:solidFill>
                  <a:srgbClr val="7030A0"/>
                </a:solidFill>
                <a:latin typeface="Noto Emoji" panose="05020103010202020202" pitchFamily="18" charset="0"/>
                <a:ea typeface="Noto Emoji" panose="05020103010202020202" pitchFamily="18" charset="0"/>
                <a:cs typeface="Hepta Slab Regular" pitchFamily="2" charset="0"/>
              </a:rPr>
              <a:t>⬆</a:t>
            </a:r>
            <a:r>
              <a:rPr lang="en-US" sz="2400" dirty="0">
                <a:solidFill>
                  <a:srgbClr val="191919"/>
                </a:solidFill>
                <a:latin typeface="Hepta Slab Regular" pitchFamily="2" charset="0"/>
                <a:cs typeface="Hepta Slab Regular" pitchFamily="2" charset="0"/>
              </a:rPr>
              <a:t>Increased Customer Retention</a:t>
            </a:r>
          </a:p>
          <a:p>
            <a:pPr algn="l">
              <a:lnSpc>
                <a:spcPct val="200000"/>
              </a:lnSpc>
            </a:pPr>
            <a:endParaRPr lang="en-US" sz="24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algn="l">
              <a:lnSpc>
                <a:spcPct val="200000"/>
              </a:lnSpc>
            </a:pPr>
            <a:endParaRPr lang="en-US" sz="24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  <a:p>
            <a:pPr algn="l">
              <a:lnSpc>
                <a:spcPct val="200000"/>
              </a:lnSpc>
            </a:pPr>
            <a:endParaRPr lang="en-US" sz="2400" dirty="0">
              <a:solidFill>
                <a:srgbClr val="191919"/>
              </a:solidFill>
              <a:latin typeface="Hepta Slab Regular" pitchFamily="2" charset="0"/>
              <a:cs typeface="Hepta Slab Regular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693E3A-0875-8DFA-B1D5-9E79C03643C1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B34A65A-FF03-3C15-5691-2B5F5EF58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382DA11-7442-5E5E-B45F-429A69B40B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2616B91C-32F4-0482-816C-B938FFE039BE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1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EF26FDB-CE8B-1D2B-E3A3-91334D8D63D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65" r="1717" b="24319"/>
          <a:stretch/>
        </p:blipFill>
        <p:spPr>
          <a:xfrm>
            <a:off x="5399473" y="339799"/>
            <a:ext cx="4284527" cy="246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2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611671" y="1219708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Segmentation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rgbClr val="191919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191919"/>
                </a:solidFill>
                <a:latin typeface="Montserrat SemiBold" pitchFamily="2" charset="0"/>
              </a:rPr>
              <a:t>Samples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8DF8AF-02C3-D478-18B6-A478A013070E}"/>
              </a:ext>
            </a:extLst>
          </p:cNvPr>
          <p:cNvGrpSpPr/>
          <p:nvPr/>
        </p:nvGrpSpPr>
        <p:grpSpPr>
          <a:xfrm>
            <a:off x="5623688" y="9571085"/>
            <a:ext cx="10900313" cy="478674"/>
            <a:chOff x="5647250" y="6623140"/>
            <a:chExt cx="10900313" cy="478674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59CDBF46-C293-C857-882D-F90D7AA7F3F1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BBDB2C3-11C8-421C-6787-4BC344A20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6F93838-544F-01A0-17D8-2DE7927467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3D8546A-A181-C4F3-3DBE-50764F395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474" y="1903500"/>
            <a:ext cx="11171999" cy="63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81C003-5239-3C59-D65C-81F2E0D35526}"/>
              </a:ext>
            </a:extLst>
          </p:cNvPr>
          <p:cNvSpPr txBox="1"/>
          <p:nvPr/>
        </p:nvSpPr>
        <p:spPr>
          <a:xfrm>
            <a:off x="5184000" y="103504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Sample</a:t>
            </a:r>
            <a:endParaRPr lang="en-GB" dirty="0">
              <a:solidFill>
                <a:srgbClr val="1919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047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624814" y="1404374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Segmentation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rgbClr val="191919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191919"/>
                </a:solidFill>
                <a:latin typeface="Montserrat SemiBold" pitchFamily="2" charset="0"/>
              </a:rPr>
              <a:t>Samples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8DF8AF-02C3-D478-18B6-A478A013070E}"/>
              </a:ext>
            </a:extLst>
          </p:cNvPr>
          <p:cNvGrpSpPr/>
          <p:nvPr/>
        </p:nvGrpSpPr>
        <p:grpSpPr>
          <a:xfrm>
            <a:off x="5623688" y="9571085"/>
            <a:ext cx="10900313" cy="478674"/>
            <a:chOff x="5647250" y="6623140"/>
            <a:chExt cx="10900313" cy="478674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59CDBF46-C293-C857-882D-F90D7AA7F3F1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BBDB2C3-11C8-421C-6787-4BC344A20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6F93838-544F-01A0-17D8-2DE7927467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8740563-8B39-964F-B481-ADCDF4926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874" y="2083500"/>
            <a:ext cx="9972458" cy="5596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6AE5B7-9B92-58AF-B6CB-DF7DA6BC623A}"/>
              </a:ext>
            </a:extLst>
          </p:cNvPr>
          <p:cNvSpPr txBox="1"/>
          <p:nvPr/>
        </p:nvSpPr>
        <p:spPr>
          <a:xfrm>
            <a:off x="5184000" y="103504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Sample</a:t>
            </a:r>
            <a:endParaRPr lang="en-GB" dirty="0">
              <a:solidFill>
                <a:srgbClr val="1919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9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04000" y="1254637"/>
            <a:ext cx="2869757" cy="63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Segmentation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rgbClr val="191919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191919"/>
                </a:solidFill>
                <a:latin typeface="Montserrat SemiBold" pitchFamily="2" charset="0"/>
              </a:rPr>
              <a:t>Samples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693E3A-0875-8DFA-B1D5-9E79C03643C1}"/>
              </a:ext>
            </a:extLst>
          </p:cNvPr>
          <p:cNvGrpSpPr/>
          <p:nvPr/>
        </p:nvGrpSpPr>
        <p:grpSpPr>
          <a:xfrm>
            <a:off x="5535913" y="9463500"/>
            <a:ext cx="10913683" cy="720001"/>
            <a:chOff x="5535913" y="9283499"/>
            <a:chExt cx="10913683" cy="72000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B34A65A-FF03-3C15-5691-2B5F5EF58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82773" y="9511053"/>
              <a:ext cx="1566823" cy="23873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382DA11-7442-5E5E-B45F-429A69B40B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27" t="21918" r="12518" b="19802"/>
            <a:stretch/>
          </p:blipFill>
          <p:spPr>
            <a:xfrm>
              <a:off x="5535913" y="9283499"/>
              <a:ext cx="1810243" cy="720001"/>
            </a:xfrm>
            <a:prstGeom prst="rect">
              <a:avLst/>
            </a:prstGeom>
          </p:spPr>
        </p:pic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2616B91C-32F4-0482-816C-B938FFE039BE}"/>
                </a:ext>
              </a:extLst>
            </p:cNvPr>
            <p:cNvSpPr txBox="1">
              <a:spLocks/>
            </p:cNvSpPr>
            <p:nvPr/>
          </p:nvSpPr>
          <p:spPr>
            <a:xfrm>
              <a:off x="7993069" y="9519798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IN" sz="1200" dirty="0">
                  <a:solidFill>
                    <a:schemeClr val="bg1"/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DE649CA-D103-845D-8570-DBCD2C69D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000" y="1604324"/>
            <a:ext cx="12489018" cy="70018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19F46C-6107-0F5D-CFF6-338572C74315}"/>
              </a:ext>
            </a:extLst>
          </p:cNvPr>
          <p:cNvSpPr txBox="1"/>
          <p:nvPr/>
        </p:nvSpPr>
        <p:spPr>
          <a:xfrm>
            <a:off x="5184000" y="103504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Sample</a:t>
            </a:r>
            <a:endParaRPr lang="en-GB" dirty="0">
              <a:solidFill>
                <a:srgbClr val="1919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452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4482F-1768-0708-5E75-3F20FF7A32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/>
          <a:stretch/>
        </p:blipFill>
        <p:spPr>
          <a:xfrm>
            <a:off x="0" y="-76500"/>
            <a:ext cx="4889001" cy="10363500"/>
          </a:xfrm>
          <a:prstGeom prst="rect">
            <a:avLst/>
          </a:prstGeom>
        </p:spPr>
      </p:pic>
      <p:sp>
        <p:nvSpPr>
          <p:cNvPr id="27" name="Object6">
            <a:extLst>
              <a:ext uri="{FF2B5EF4-FFF2-40B4-BE49-F238E27FC236}">
                <a16:creationId xmlns:a16="http://schemas.microsoft.com/office/drawing/2014/main" id="{9586A94B-61E5-D4FE-AF7D-AFC9F553AEE9}"/>
              </a:ext>
            </a:extLst>
          </p:cNvPr>
          <p:cNvSpPr/>
          <p:nvPr/>
        </p:nvSpPr>
        <p:spPr>
          <a:xfrm>
            <a:off x="517496" y="1183500"/>
            <a:ext cx="2869757" cy="60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  <a:ea typeface="Montserrat ExtraBold" pitchFamily="34" charset="-122"/>
                <a:cs typeface="Montserrat ExtraBold" pitchFamily="34" charset="-120"/>
              </a:rPr>
              <a:t>Client Background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Objective</a:t>
            </a:r>
          </a:p>
          <a:p>
            <a:endParaRPr lang="en-US" sz="2000" dirty="0">
              <a:solidFill>
                <a:srgbClr val="002060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Challenge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 err="1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Behaviour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 Shifts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Friction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Motivation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Sensemaking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Context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Segmentation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Solutions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Implementation</a:t>
            </a:r>
          </a:p>
          <a:p>
            <a:endParaRPr lang="en-US" sz="2000" dirty="0">
              <a:solidFill>
                <a:schemeClr val="bg1">
                  <a:lumMod val="75000"/>
                </a:schemeClr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Montserrat SemiBold" pitchFamily="2" charset="0"/>
              </a:rPr>
              <a:t>Business Outcomes</a:t>
            </a:r>
          </a:p>
          <a:p>
            <a:endParaRPr lang="en-US" sz="2000" dirty="0">
              <a:solidFill>
                <a:srgbClr val="191919"/>
              </a:solidFill>
              <a:latin typeface="Montserrat SemiBold" pitchFamily="2" charset="0"/>
            </a:endParaRPr>
          </a:p>
          <a:p>
            <a:r>
              <a:rPr lang="en-US" sz="2000" dirty="0">
                <a:solidFill>
                  <a:srgbClr val="191919"/>
                </a:solidFill>
                <a:latin typeface="Montserrat SemiBold" pitchFamily="2" charset="0"/>
              </a:rPr>
              <a:t>Samples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8DF8AF-02C3-D478-18B6-A478A013070E}"/>
              </a:ext>
            </a:extLst>
          </p:cNvPr>
          <p:cNvGrpSpPr/>
          <p:nvPr/>
        </p:nvGrpSpPr>
        <p:grpSpPr>
          <a:xfrm>
            <a:off x="5623688" y="9571085"/>
            <a:ext cx="10900313" cy="478674"/>
            <a:chOff x="5647250" y="6623140"/>
            <a:chExt cx="10900313" cy="478674"/>
          </a:xfrm>
        </p:grpSpPr>
        <p:sp>
          <p:nvSpPr>
            <p:cNvPr id="17" name="Title 1">
              <a:extLst>
                <a:ext uri="{FF2B5EF4-FFF2-40B4-BE49-F238E27FC236}">
                  <a16:creationId xmlns:a16="http://schemas.microsoft.com/office/drawing/2014/main" id="{59CDBF46-C293-C857-882D-F90D7AA7F3F1}"/>
                </a:ext>
              </a:extLst>
            </p:cNvPr>
            <p:cNvSpPr txBox="1">
              <a:spLocks/>
            </p:cNvSpPr>
            <p:nvPr/>
          </p:nvSpPr>
          <p:spPr>
            <a:xfrm>
              <a:off x="8016631" y="6751854"/>
              <a:ext cx="6137989" cy="247401"/>
            </a:xfrm>
            <a:prstGeom prst="rect">
              <a:avLst/>
            </a:prstGeom>
          </p:spPr>
          <p:txBody>
            <a:bodyPr vert="horz" lIns="137160" tIns="68580" rIns="137160" bIns="6858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914445"/>
              <a:r>
                <a:rPr lang="en-IN" sz="1200" dirty="0">
                  <a:solidFill>
                    <a:srgbClr val="E7E6E6">
                      <a:lumMod val="10000"/>
                    </a:srgbClr>
                  </a:solidFill>
                  <a:latin typeface="Montserrat Medium" pitchFamily="2" charset="0"/>
                  <a:cs typeface="Hepta Slab" pitchFamily="2" charset="0"/>
                </a:rPr>
                <a:t>TERRAGNI CONSULTING (P) LTD PRIVATE AND CONFIDENTIAL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BBDB2C3-11C8-421C-6787-4BC344A20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88" t="30266" r="17722" b="31281"/>
            <a:stretch/>
          </p:blipFill>
          <p:spPr>
            <a:xfrm>
              <a:off x="5647250" y="6623140"/>
              <a:ext cx="1595580" cy="47867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6F93838-544F-01A0-17D8-2DE7927467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7" t="36048" r="14797" b="34013"/>
            <a:stretch/>
          </p:blipFill>
          <p:spPr>
            <a:xfrm>
              <a:off x="14847814" y="6683315"/>
              <a:ext cx="1699749" cy="361704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741A69D-C54F-78E8-4B10-241B98B7542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13" t="14300" r="6885" b="14300"/>
          <a:stretch/>
        </p:blipFill>
        <p:spPr>
          <a:xfrm>
            <a:off x="11399651" y="6053663"/>
            <a:ext cx="5891619" cy="2688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C0FEB0-0E87-9F6A-560C-DFD4D7AEEDC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522" t="14300" r="6295" b="15350"/>
          <a:stretch/>
        </p:blipFill>
        <p:spPr>
          <a:xfrm>
            <a:off x="4847092" y="6073110"/>
            <a:ext cx="6059816" cy="2688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518482-6C9A-2997-82B1-579A33116C3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791" r="12791"/>
          <a:stretch/>
        </p:blipFill>
        <p:spPr>
          <a:xfrm>
            <a:off x="4859267" y="888649"/>
            <a:ext cx="6137987" cy="4639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CFB028-CE99-A6D6-72A5-4588F9CE0DF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2791" r="12791"/>
          <a:stretch/>
        </p:blipFill>
        <p:spPr>
          <a:xfrm>
            <a:off x="11422094" y="888649"/>
            <a:ext cx="6137988" cy="4639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64D558-E3D5-EA2C-D3FB-E145B13D70F5}"/>
              </a:ext>
            </a:extLst>
          </p:cNvPr>
          <p:cNvSpPr txBox="1"/>
          <p:nvPr/>
        </p:nvSpPr>
        <p:spPr>
          <a:xfrm rot="19822747">
            <a:off x="7834490" y="4146272"/>
            <a:ext cx="73110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SAMPLE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ED8F9-C894-3A0F-FD58-CC876DC94142}"/>
              </a:ext>
            </a:extLst>
          </p:cNvPr>
          <p:cNvSpPr txBox="1"/>
          <p:nvPr/>
        </p:nvSpPr>
        <p:spPr>
          <a:xfrm>
            <a:off x="4847092" y="17848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Montserrat ExtraBold" pitchFamily="2" charset="0"/>
                <a:ea typeface="Hepta Slab Regular" pitchFamily="34" charset="-122"/>
                <a:cs typeface="Hepta Slab Regular" pitchFamily="2" charset="0"/>
              </a:rPr>
              <a:t>Sample</a:t>
            </a:r>
            <a:endParaRPr lang="en-GB" dirty="0">
              <a:solidFill>
                <a:srgbClr val="1919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36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96000" cy="4886325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0"/>
            <a:ext cx="6096000" cy="4886325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92000" y="0"/>
            <a:ext cx="6096000" cy="4886325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2562225" y="504825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45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India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5"/>
          <p:cNvSpPr/>
          <p:nvPr/>
        </p:nvSpPr>
        <p:spPr>
          <a:xfrm>
            <a:off x="8458200" y="504825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45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London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6"/>
          <p:cNvSpPr/>
          <p:nvPr/>
        </p:nvSpPr>
        <p:spPr>
          <a:xfrm>
            <a:off x="14258925" y="504825"/>
            <a:ext cx="1781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45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Bucharest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7">
            <a:extLst>
              <a:ext uri="{FF2B5EF4-FFF2-40B4-BE49-F238E27FC236}">
                <a16:creationId xmlns:a16="http://schemas.microsoft.com/office/drawing/2014/main" id="{249CC4A6-B0F3-F76D-3E62-0D6EDCBAECC0}"/>
              </a:ext>
            </a:extLst>
          </p:cNvPr>
          <p:cNvSpPr/>
          <p:nvPr/>
        </p:nvSpPr>
        <p:spPr>
          <a:xfrm>
            <a:off x="7847856" y="8563500"/>
            <a:ext cx="2592288" cy="54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 SemiBold" pitchFamily="2" charset="0"/>
              </a:rPr>
              <a:t>www.terragni.in
www.buyerbrain.com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34475" y="2619375"/>
            <a:ext cx="9525" cy="504825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1695449" y="4572000"/>
            <a:ext cx="60217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Bold" pitchFamily="34" charset="0"/>
                <a:ea typeface="Hepta Slab Bold" pitchFamily="34" charset="-122"/>
                <a:cs typeface="Hepta Slab Bold" pitchFamily="34" charset="-120"/>
              </a:rPr>
              <a:t>Thank You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Object3"/>
          <p:cNvSpPr/>
          <p:nvPr/>
        </p:nvSpPr>
        <p:spPr>
          <a:xfrm>
            <a:off x="9991725" y="3939075"/>
            <a:ext cx="6819900" cy="240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5F3E4"/>
                </a:solidFill>
                <a:effectLst/>
                <a:uLnTx/>
                <a:uFillTx/>
                <a:latin typeface="Hepta Slab Regular" pitchFamily="34" charset="0"/>
                <a:ea typeface="Hepta Slab Regular" pitchFamily="34" charset="-122"/>
                <a:cs typeface="Hepta Slab Regular" pitchFamily="34" charset="-120"/>
              </a:rPr>
              <a:t>dipti@terragni.in
+91 89569 82522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4676</TotalTime>
  <Words>1399</Words>
  <Application>Microsoft Office PowerPoint</Application>
  <PresentationFormat>Custom</PresentationFormat>
  <Paragraphs>729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5" baseType="lpstr">
      <vt:lpstr>Arial</vt:lpstr>
      <vt:lpstr>Montserrat SemiBold</vt:lpstr>
      <vt:lpstr>Montserrat</vt:lpstr>
      <vt:lpstr>Montserrat Medium</vt:lpstr>
      <vt:lpstr>Hepta Slab Regular</vt:lpstr>
      <vt:lpstr>Calibri</vt:lpstr>
      <vt:lpstr>Hepta Slab Medium</vt:lpstr>
      <vt:lpstr>Hepta Slab SemiBold</vt:lpstr>
      <vt:lpstr>Noto Emoji</vt:lpstr>
      <vt:lpstr>Montserrat Bold</vt:lpstr>
      <vt:lpstr>Bell MT</vt:lpstr>
      <vt:lpstr>Calibri Light</vt:lpstr>
      <vt:lpstr>Hepta Slab Bold</vt:lpstr>
      <vt:lpstr>Hepta Slab</vt:lpstr>
      <vt:lpstr>Hepta Slab ExtraBold</vt:lpstr>
      <vt:lpstr>Montserrat ExtraBold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Dipti Sapatnekar</dc:creator>
  <cp:lastModifiedBy>Terragni Five</cp:lastModifiedBy>
  <cp:revision>100</cp:revision>
  <dcterms:created xsi:type="dcterms:W3CDTF">2022-04-12T06:14:32Z</dcterms:created>
  <dcterms:modified xsi:type="dcterms:W3CDTF">2023-05-16T06:19:10Z</dcterms:modified>
</cp:coreProperties>
</file>