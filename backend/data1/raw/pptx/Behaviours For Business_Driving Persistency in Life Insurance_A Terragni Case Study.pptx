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9" r:id="rId2"/>
    <p:sldId id="358" r:id="rId3"/>
    <p:sldId id="348" r:id="rId4"/>
    <p:sldId id="350" r:id="rId5"/>
    <p:sldId id="360" r:id="rId6"/>
    <p:sldId id="352" r:id="rId7"/>
    <p:sldId id="353" r:id="rId8"/>
    <p:sldId id="356" r:id="rId9"/>
    <p:sldId id="357" r:id="rId10"/>
    <p:sldId id="290" r:id="rId11"/>
    <p:sldId id="28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78" d="100"/>
          <a:sy n="78" d="100"/>
        </p:scale>
        <p:origin x="37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12F71-05AA-45B8-85BB-0379C0267FDB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2011D-FA4E-45A7-B6D7-D74C88C8E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022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990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023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403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060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173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919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653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69" indent="0">
              <a:buNone/>
              <a:defRPr sz="1000"/>
            </a:lvl4pPr>
            <a:lvl5pPr marL="1828891" indent="0">
              <a:buNone/>
              <a:defRPr sz="1000"/>
            </a:lvl5pPr>
            <a:lvl6pPr marL="2286114" indent="0">
              <a:buNone/>
              <a:defRPr sz="1000"/>
            </a:lvl6pPr>
            <a:lvl7pPr marL="2743337" indent="0">
              <a:buNone/>
              <a:defRPr sz="1000"/>
            </a:lvl7pPr>
            <a:lvl8pPr marL="3200560" indent="0">
              <a:buNone/>
              <a:defRPr sz="1000"/>
            </a:lvl8pPr>
            <a:lvl9pPr marL="365778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082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69" indent="0">
              <a:buNone/>
              <a:defRPr sz="1000"/>
            </a:lvl4pPr>
            <a:lvl5pPr marL="1828891" indent="0">
              <a:buNone/>
              <a:defRPr sz="1000"/>
            </a:lvl5pPr>
            <a:lvl6pPr marL="2286114" indent="0">
              <a:buNone/>
              <a:defRPr sz="1000"/>
            </a:lvl6pPr>
            <a:lvl7pPr marL="2743337" indent="0">
              <a:buNone/>
              <a:defRPr sz="1000"/>
            </a:lvl7pPr>
            <a:lvl8pPr marL="3200560" indent="0">
              <a:buNone/>
              <a:defRPr sz="1000"/>
            </a:lvl8pPr>
            <a:lvl9pPr marL="365778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683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31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422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3587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BEA42-13E0-41FB-A68F-5FBD4A82D1C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397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6">
            <a:extLst>
              <a:ext uri="{FF2B5EF4-FFF2-40B4-BE49-F238E27FC236}">
                <a16:creationId xmlns:a16="http://schemas.microsoft.com/office/drawing/2014/main" id="{7FF1EF97-377A-4E2F-B4BC-0ECF24D2D3D4}"/>
              </a:ext>
            </a:extLst>
          </p:cNvPr>
          <p:cNvSpPr/>
          <p:nvPr/>
        </p:nvSpPr>
        <p:spPr>
          <a:xfrm>
            <a:off x="816000" y="1477789"/>
            <a:ext cx="7800000" cy="19800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defTabSz="304815"/>
            <a:r>
              <a:rPr lang="en-US" sz="6400" dirty="0">
                <a:solidFill>
                  <a:srgbClr val="F5F3E4"/>
                </a:solidFill>
                <a:latin typeface="Hepta Slab ExtraBold" pitchFamily="2" charset="0"/>
                <a:ea typeface="Montserrat ExtraBold" pitchFamily="34" charset="-122"/>
                <a:cs typeface="Hepta Slab ExtraBold" pitchFamily="2" charset="0"/>
              </a:rPr>
              <a:t>A Terragni</a:t>
            </a:r>
          </a:p>
          <a:p>
            <a:pPr defTabSz="304815"/>
            <a:r>
              <a:rPr lang="en-US" sz="6400" dirty="0">
                <a:solidFill>
                  <a:srgbClr val="F5F3E4"/>
                </a:solidFill>
                <a:latin typeface="Hepta Slab ExtraBold" pitchFamily="2" charset="0"/>
                <a:cs typeface="Hepta Slab ExtraBold" pitchFamily="2" charset="0"/>
              </a:rPr>
              <a:t>Case Study</a:t>
            </a:r>
          </a:p>
        </p:txBody>
      </p:sp>
      <p:sp>
        <p:nvSpPr>
          <p:cNvPr id="5" name="Object6">
            <a:extLst>
              <a:ext uri="{FF2B5EF4-FFF2-40B4-BE49-F238E27FC236}">
                <a16:creationId xmlns:a16="http://schemas.microsoft.com/office/drawing/2014/main" id="{3E0BAEEE-A595-D314-E921-60B7FA4811A8}"/>
              </a:ext>
            </a:extLst>
          </p:cNvPr>
          <p:cNvSpPr/>
          <p:nvPr/>
        </p:nvSpPr>
        <p:spPr>
          <a:xfrm>
            <a:off x="816000" y="3909000"/>
            <a:ext cx="4235884" cy="8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defTabSz="304815"/>
            <a:r>
              <a:rPr lang="en-US" sz="2400" dirty="0">
                <a:solidFill>
                  <a:srgbClr val="F5F3E4"/>
                </a:solidFill>
                <a:latin typeface="Hepta Slab Regular" pitchFamily="2" charset="0"/>
                <a:ea typeface="Montserrat ExtraBold" pitchFamily="34" charset="-122"/>
                <a:cs typeface="Hepta Slab Regular" pitchFamily="2" charset="0"/>
              </a:rPr>
              <a:t>Driving Persistency in Life Insurance</a:t>
            </a:r>
            <a:endParaRPr lang="en-US" sz="2400" dirty="0">
              <a:solidFill>
                <a:srgbClr val="F5F3E4"/>
              </a:solidFill>
              <a:latin typeface="Hepta Slab Regular" pitchFamily="2" charset="0"/>
              <a:cs typeface="Hepta Slab Regular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C905B95-5EA2-CFE1-E38B-4E69AFD2BC61}"/>
              </a:ext>
            </a:extLst>
          </p:cNvPr>
          <p:cNvGrpSpPr/>
          <p:nvPr/>
        </p:nvGrpSpPr>
        <p:grpSpPr>
          <a:xfrm>
            <a:off x="-114988" y="6122716"/>
            <a:ext cx="11920615" cy="929149"/>
            <a:chOff x="-172482" y="9184073"/>
            <a:chExt cx="17880922" cy="1393723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714453AC-FF3B-46C9-7C95-D93605B4C661}"/>
                </a:ext>
              </a:extLst>
            </p:cNvPr>
            <p:cNvSpPr txBox="1">
              <a:spLocks/>
            </p:cNvSpPr>
            <p:nvPr/>
          </p:nvSpPr>
          <p:spPr>
            <a:xfrm>
              <a:off x="5681816" y="9781056"/>
              <a:ext cx="6924368" cy="295207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defTabSz="609630"/>
              <a:r>
                <a:rPr lang="en-IN" sz="1067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79FDB63-50D1-8247-6623-2E5C85689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40881" y="9806942"/>
              <a:ext cx="1767559" cy="2693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6D4B987-A66D-E3E4-AF4A-EB86C9C39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2482" y="9184073"/>
              <a:ext cx="2822459" cy="13937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0076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4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D9E82159-FA6A-F771-ABDB-00FE67323392}"/>
              </a:ext>
            </a:extLst>
          </p:cNvPr>
          <p:cNvGrpSpPr/>
          <p:nvPr/>
        </p:nvGrpSpPr>
        <p:grpSpPr>
          <a:xfrm>
            <a:off x="3690609" y="6309000"/>
            <a:ext cx="7275789" cy="480001"/>
            <a:chOff x="5535913" y="9283499"/>
            <a:chExt cx="10913683" cy="72000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F70E79A-7DBF-AFDD-1E9F-0A64361AE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AB76AF9-8B9A-D3FA-E967-C8F37605F3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D3AC0D77-3D49-E06C-0A77-99EE8A2AD98B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0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srgbClr val="814A17"/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29" name="Object6">
            <a:extLst>
              <a:ext uri="{FF2B5EF4-FFF2-40B4-BE49-F238E27FC236}">
                <a16:creationId xmlns:a16="http://schemas.microsoft.com/office/drawing/2014/main" id="{7FFB36EB-6BB8-0373-703D-3762D700F5DA}"/>
              </a:ext>
            </a:extLst>
          </p:cNvPr>
          <p:cNvSpPr/>
          <p:nvPr/>
        </p:nvSpPr>
        <p:spPr>
          <a:xfrm>
            <a:off x="3690608" y="1580189"/>
            <a:ext cx="2283450" cy="8400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defTabSz="304815"/>
            <a:r>
              <a:rPr lang="en-US" sz="4400" dirty="0">
                <a:solidFill>
                  <a:srgbClr val="FFA65F"/>
                </a:solidFill>
                <a:latin typeface="Hepta Slab ExtraBold" pitchFamily="2" charset="0"/>
                <a:ea typeface="Montserrat ExtraBold" pitchFamily="34" charset="-122"/>
                <a:cs typeface="Hepta Slab ExtraBold" pitchFamily="2" charset="0"/>
              </a:rPr>
              <a:t>Top 4</a:t>
            </a:r>
            <a:endParaRPr lang="en-US" sz="4400" dirty="0">
              <a:solidFill>
                <a:srgbClr val="FFA65F"/>
              </a:solidFill>
              <a:latin typeface="Hepta Slab ExtraBold" pitchFamily="2" charset="0"/>
              <a:cs typeface="Hepta Slab ExtraBold" pitchFamily="2" charset="0"/>
            </a:endParaRPr>
          </a:p>
        </p:txBody>
      </p:sp>
      <p:sp>
        <p:nvSpPr>
          <p:cNvPr id="31" name="Object5">
            <a:extLst>
              <a:ext uri="{FF2B5EF4-FFF2-40B4-BE49-F238E27FC236}">
                <a16:creationId xmlns:a16="http://schemas.microsoft.com/office/drawing/2014/main" id="{161E54A7-4AD9-6473-8202-C09144517DBC}"/>
              </a:ext>
            </a:extLst>
          </p:cNvPr>
          <p:cNvSpPr/>
          <p:nvPr/>
        </p:nvSpPr>
        <p:spPr>
          <a:xfrm>
            <a:off x="3690609" y="2554947"/>
            <a:ext cx="2636121" cy="705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Players In Private Life Insurance Sector</a:t>
            </a:r>
          </a:p>
        </p:txBody>
      </p:sp>
      <p:sp>
        <p:nvSpPr>
          <p:cNvPr id="32" name="Object5">
            <a:extLst>
              <a:ext uri="{FF2B5EF4-FFF2-40B4-BE49-F238E27FC236}">
                <a16:creationId xmlns:a16="http://schemas.microsoft.com/office/drawing/2014/main" id="{D0F42D0B-599B-4129-6B9E-9A7A0F07050A}"/>
              </a:ext>
            </a:extLst>
          </p:cNvPr>
          <p:cNvSpPr/>
          <p:nvPr/>
        </p:nvSpPr>
        <p:spPr>
          <a:xfrm>
            <a:off x="7038454" y="2549821"/>
            <a:ext cx="2015753" cy="247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Offices pan India</a:t>
            </a:r>
          </a:p>
        </p:txBody>
      </p:sp>
      <p:sp>
        <p:nvSpPr>
          <p:cNvPr id="35" name="Object6">
            <a:extLst>
              <a:ext uri="{FF2B5EF4-FFF2-40B4-BE49-F238E27FC236}">
                <a16:creationId xmlns:a16="http://schemas.microsoft.com/office/drawing/2014/main" id="{73687B3F-84A9-5378-8894-588151DCD771}"/>
              </a:ext>
            </a:extLst>
          </p:cNvPr>
          <p:cNvSpPr/>
          <p:nvPr/>
        </p:nvSpPr>
        <p:spPr>
          <a:xfrm>
            <a:off x="7046730" y="1600609"/>
            <a:ext cx="1272248" cy="8400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defTabSz="304815"/>
            <a:r>
              <a:rPr lang="en-US" sz="4400" dirty="0">
                <a:solidFill>
                  <a:srgbClr val="FFA65F"/>
                </a:solidFill>
                <a:latin typeface="Hepta Slab ExtraBold" pitchFamily="2" charset="0"/>
                <a:ea typeface="Montserrat ExtraBold" pitchFamily="34" charset="-122"/>
                <a:cs typeface="Hepta Slab ExtraBold" pitchFamily="2" charset="0"/>
              </a:rPr>
              <a:t>638</a:t>
            </a:r>
          </a:p>
        </p:txBody>
      </p:sp>
      <p:sp>
        <p:nvSpPr>
          <p:cNvPr id="37" name="Object5">
            <a:extLst>
              <a:ext uri="{FF2B5EF4-FFF2-40B4-BE49-F238E27FC236}">
                <a16:creationId xmlns:a16="http://schemas.microsoft.com/office/drawing/2014/main" id="{D1A673E3-06E0-20E6-83C2-4D67DEFF27E3}"/>
              </a:ext>
            </a:extLst>
          </p:cNvPr>
          <p:cNvSpPr/>
          <p:nvPr/>
        </p:nvSpPr>
        <p:spPr>
          <a:xfrm>
            <a:off x="3707554" y="3710701"/>
            <a:ext cx="4841822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A Large Workforce Of Insurance Advisors And Other Channel Intermediaries</a:t>
            </a:r>
          </a:p>
        </p:txBody>
      </p:sp>
    </p:spTree>
    <p:extLst>
      <p:ext uri="{BB962C8B-B14F-4D97-AF65-F5344CB8AC3E}">
        <p14:creationId xmlns:p14="http://schemas.microsoft.com/office/powerpoint/2010/main" val="673016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D9E82159-FA6A-F771-ABDB-00FE67323392}"/>
              </a:ext>
            </a:extLst>
          </p:cNvPr>
          <p:cNvGrpSpPr/>
          <p:nvPr/>
        </p:nvGrpSpPr>
        <p:grpSpPr>
          <a:xfrm>
            <a:off x="3690609" y="6309000"/>
            <a:ext cx="7275789" cy="480001"/>
            <a:chOff x="5535913" y="9283499"/>
            <a:chExt cx="10913683" cy="72000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F70E79A-7DBF-AFDD-1E9F-0A64361AE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AB76AF9-8B9A-D3FA-E967-C8F37605F3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D3AC0D77-3D49-E06C-0A77-99EE8A2AD98B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0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srgbClr val="811717"/>
                </a:solidFill>
                <a:latin typeface="Montserrat SemiBold" pitchFamily="2" charset="0"/>
              </a:rPr>
              <a:t>Challenge</a:t>
            </a:r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18" name="Object4">
            <a:extLst>
              <a:ext uri="{FF2B5EF4-FFF2-40B4-BE49-F238E27FC236}">
                <a16:creationId xmlns:a16="http://schemas.microsoft.com/office/drawing/2014/main" id="{2F56AE42-39CB-B537-760E-303F926E7512}"/>
              </a:ext>
            </a:extLst>
          </p:cNvPr>
          <p:cNvSpPr/>
          <p:nvPr/>
        </p:nvSpPr>
        <p:spPr>
          <a:xfrm>
            <a:off x="3690608" y="2469000"/>
            <a:ext cx="7205392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2667" b="1" dirty="0">
                <a:solidFill>
                  <a:srgbClr val="FF3131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Inconsistency in Premium renewal</a:t>
            </a:r>
          </a:p>
        </p:txBody>
      </p:sp>
      <p:sp>
        <p:nvSpPr>
          <p:cNvPr id="19" name="Object5">
            <a:extLst>
              <a:ext uri="{FF2B5EF4-FFF2-40B4-BE49-F238E27FC236}">
                <a16:creationId xmlns:a16="http://schemas.microsoft.com/office/drawing/2014/main" id="{A0F99477-C5D6-0452-07F2-AC3B186E7605}"/>
              </a:ext>
            </a:extLst>
          </p:cNvPr>
          <p:cNvSpPr/>
          <p:nvPr/>
        </p:nvSpPr>
        <p:spPr>
          <a:xfrm>
            <a:off x="3690608" y="3338860"/>
            <a:ext cx="7589968" cy="100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Customer retention</a:t>
            </a: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Low Persistency rate of life insurance policies after 3/5 years of sales </a:t>
            </a: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More than 63 % of customers are not aware or not comfortable with digital payment gateways for renewals</a:t>
            </a: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Lack of information as a product category &amp; financial instrument </a:t>
            </a: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(Life Insurance)</a:t>
            </a: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EDF7AD-76FC-8BB5-EF96-0B1481E6C1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333" y="0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654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C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0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rgbClr val="7030A0"/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19" name="Object5">
            <a:extLst>
              <a:ext uri="{FF2B5EF4-FFF2-40B4-BE49-F238E27FC236}">
                <a16:creationId xmlns:a16="http://schemas.microsoft.com/office/drawing/2014/main" id="{A0F99477-C5D6-0452-07F2-AC3B186E7605}"/>
              </a:ext>
            </a:extLst>
          </p:cNvPr>
          <p:cNvSpPr/>
          <p:nvPr/>
        </p:nvSpPr>
        <p:spPr>
          <a:xfrm>
            <a:off x="3749125" y="2949000"/>
            <a:ext cx="7205392" cy="220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Barriers to premium renewal transaction</a:t>
            </a:r>
          </a:p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	Areas of high effort and friction in the renewal transaction</a:t>
            </a:r>
          </a:p>
          <a:p>
            <a:pPr defTabSz="304815"/>
            <a:endParaRPr lang="en-US" sz="1600" dirty="0">
              <a:solidFill>
                <a:srgbClr val="191919"/>
              </a:solidFill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Barriers to engagement with Insurance</a:t>
            </a:r>
          </a:p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	Emotions and attitudes associated with the product category 	&amp; their impact on customer behaviour</a:t>
            </a:r>
          </a:p>
          <a:p>
            <a:pPr defTabSz="304815"/>
            <a:endParaRPr lang="en-US" sz="1600" dirty="0">
              <a:solidFill>
                <a:srgbClr val="191919"/>
              </a:solidFill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Barriers to engagement with the Brand</a:t>
            </a:r>
          </a:p>
          <a:p>
            <a:pPr lvl="1" defTabSz="304815"/>
            <a:r>
              <a:rPr lang="en-US" sz="16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Emotions and attitudes associated with the brand , product &amp; touchpoints &amp; their impact on customer behaviour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488A26-90E9-4FBD-7EBC-6F895DD540B6}"/>
              </a:ext>
            </a:extLst>
          </p:cNvPr>
          <p:cNvGrpSpPr/>
          <p:nvPr/>
        </p:nvGrpSpPr>
        <p:grpSpPr>
          <a:xfrm>
            <a:off x="3749125" y="6380723"/>
            <a:ext cx="7266875" cy="319116"/>
            <a:chOff x="5647250" y="6623140"/>
            <a:chExt cx="10900313" cy="478674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8CACD9CD-B916-EE10-01C4-C5A3ACE3F9FF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srgbClr val="E7E6E6">
                      <a:lumMod val="10000"/>
                    </a:srgb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75ED141-618D-DDBC-9203-E117319816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2619C5D-562C-E0F7-2859-FF2977164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BAB39F1-A8DD-9C63-5DF3-E65646477F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000" y="155774"/>
            <a:ext cx="2280000" cy="22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494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C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0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Objective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rgbClr val="7030A0"/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srgbClr val="7030A0"/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488A26-90E9-4FBD-7EBC-6F895DD540B6}"/>
              </a:ext>
            </a:extLst>
          </p:cNvPr>
          <p:cNvGrpSpPr/>
          <p:nvPr/>
        </p:nvGrpSpPr>
        <p:grpSpPr>
          <a:xfrm>
            <a:off x="3749125" y="6380723"/>
            <a:ext cx="7266875" cy="319116"/>
            <a:chOff x="5647250" y="6623140"/>
            <a:chExt cx="10900313" cy="478674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8CACD9CD-B916-EE10-01C4-C5A3ACE3F9FF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srgbClr val="E7E6E6">
                      <a:lumMod val="10000"/>
                    </a:srgb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75ED141-618D-DDBC-9203-E117319816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2619C5D-562C-E0F7-2859-FF2977164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BAB39F1-A8DD-9C63-5DF3-E65646477F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000" y="78364"/>
            <a:ext cx="2280000" cy="2280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76901C9-BC0B-BF22-EA0F-51CFC7FB1766}"/>
              </a:ext>
            </a:extLst>
          </p:cNvPr>
          <p:cNvGrpSpPr/>
          <p:nvPr/>
        </p:nvGrpSpPr>
        <p:grpSpPr>
          <a:xfrm>
            <a:off x="3207438" y="520937"/>
            <a:ext cx="8334541" cy="6020824"/>
            <a:chOff x="2891767" y="838200"/>
            <a:chExt cx="17983858" cy="1338889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65848F4-4F4E-31A8-B823-C83D81921DA2}"/>
                </a:ext>
              </a:extLst>
            </p:cNvPr>
            <p:cNvSpPr/>
            <p:nvPr/>
          </p:nvSpPr>
          <p:spPr>
            <a:xfrm flipH="1">
              <a:off x="9516021" y="4578911"/>
              <a:ext cx="4563487" cy="4563489"/>
            </a:xfrm>
            <a:prstGeom prst="ellipse">
              <a:avLst/>
            </a:prstGeom>
            <a:solidFill>
              <a:srgbClr val="F5F3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0080B20-3A70-CADE-B6B5-8A8F94B12E0E}"/>
                </a:ext>
              </a:extLst>
            </p:cNvPr>
            <p:cNvCxnSpPr>
              <a:cxnSpLocks/>
            </p:cNvCxnSpPr>
            <p:nvPr/>
          </p:nvCxnSpPr>
          <p:spPr>
            <a:xfrm>
              <a:off x="3151388" y="6324600"/>
              <a:ext cx="7955022" cy="0"/>
            </a:xfrm>
            <a:prstGeom prst="line">
              <a:avLst/>
            </a:prstGeom>
            <a:ln w="63500">
              <a:solidFill>
                <a:srgbClr val="3C7E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632947D-4C85-3162-7BF2-2856CA950EBC}"/>
                </a:ext>
              </a:extLst>
            </p:cNvPr>
            <p:cNvSpPr/>
            <p:nvPr/>
          </p:nvSpPr>
          <p:spPr>
            <a:xfrm>
              <a:off x="9536144" y="8340321"/>
              <a:ext cx="4563487" cy="4563489"/>
            </a:xfrm>
            <a:prstGeom prst="ellipse">
              <a:avLst/>
            </a:prstGeom>
            <a:solidFill>
              <a:srgbClr val="F5F3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D09D019-7C8C-0E5B-545C-5549097F9757}"/>
                </a:ext>
              </a:extLst>
            </p:cNvPr>
            <p:cNvSpPr/>
            <p:nvPr/>
          </p:nvSpPr>
          <p:spPr>
            <a:xfrm>
              <a:off x="9536144" y="838200"/>
              <a:ext cx="4563487" cy="4563489"/>
            </a:xfrm>
            <a:prstGeom prst="ellipse">
              <a:avLst/>
            </a:prstGeom>
            <a:solidFill>
              <a:srgbClr val="F5F3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6F4B76B-750D-9F08-D1B1-DDD7C58C4B4C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203" y="9996622"/>
              <a:ext cx="7955022" cy="0"/>
            </a:xfrm>
            <a:prstGeom prst="line">
              <a:avLst/>
            </a:prstGeom>
            <a:ln w="635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CB6794E-D0B6-0318-281B-1900A6835191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203" y="2376622"/>
              <a:ext cx="7955022" cy="0"/>
            </a:xfrm>
            <a:prstGeom prst="line">
              <a:avLst/>
            </a:prstGeom>
            <a:ln w="63500">
              <a:solidFill>
                <a:srgbClr val="FF36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DF5DF05-39C7-F9AD-2409-B7C5D0833C05}"/>
                </a:ext>
              </a:extLst>
            </p:cNvPr>
            <p:cNvSpPr/>
            <p:nvPr/>
          </p:nvSpPr>
          <p:spPr>
            <a:xfrm>
              <a:off x="9536144" y="838200"/>
              <a:ext cx="2271103" cy="4562413"/>
            </a:xfrm>
            <a:custGeom>
              <a:avLst/>
              <a:gdLst>
                <a:gd name="connsiteX0" fmla="*/ 1791607 w 1791607"/>
                <a:gd name="connsiteY0" fmla="*/ 0 h 3599152"/>
                <a:gd name="connsiteX1" fmla="*/ 1791607 w 1791607"/>
                <a:gd name="connsiteY1" fmla="*/ 3599152 h 3599152"/>
                <a:gd name="connsiteX2" fmla="*/ 1615960 w 1791607"/>
                <a:gd name="connsiteY2" fmla="*/ 3590283 h 3599152"/>
                <a:gd name="connsiteX3" fmla="*/ 0 w 1791607"/>
                <a:gd name="connsiteY3" fmla="*/ 1799576 h 3599152"/>
                <a:gd name="connsiteX4" fmla="*/ 1615960 w 1791607"/>
                <a:gd name="connsiteY4" fmla="*/ 8869 h 3599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1607" h="3599152">
                  <a:moveTo>
                    <a:pt x="1791607" y="0"/>
                  </a:moveTo>
                  <a:lnTo>
                    <a:pt x="1791607" y="3599152"/>
                  </a:lnTo>
                  <a:lnTo>
                    <a:pt x="1615960" y="3590283"/>
                  </a:lnTo>
                  <a:cubicBezTo>
                    <a:pt x="708299" y="3498105"/>
                    <a:pt x="0" y="2731557"/>
                    <a:pt x="0" y="1799576"/>
                  </a:cubicBezTo>
                  <a:cubicBezTo>
                    <a:pt x="0" y="867595"/>
                    <a:pt x="708299" y="101047"/>
                    <a:pt x="1615960" y="8869"/>
                  </a:cubicBezTo>
                  <a:close/>
                </a:path>
              </a:pathLst>
            </a:custGeom>
            <a:solidFill>
              <a:srgbClr val="FF36B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658E3D6-58F4-5D47-D093-8C7B0477C4EC}"/>
                </a:ext>
              </a:extLst>
            </p:cNvPr>
            <p:cNvSpPr/>
            <p:nvPr/>
          </p:nvSpPr>
          <p:spPr>
            <a:xfrm flipH="1">
              <a:off x="11808403" y="4578911"/>
              <a:ext cx="2271104" cy="4562413"/>
            </a:xfrm>
            <a:custGeom>
              <a:avLst/>
              <a:gdLst>
                <a:gd name="connsiteX0" fmla="*/ 1791607 w 1791607"/>
                <a:gd name="connsiteY0" fmla="*/ 0 h 3599152"/>
                <a:gd name="connsiteX1" fmla="*/ 1791607 w 1791607"/>
                <a:gd name="connsiteY1" fmla="*/ 3599152 h 3599152"/>
                <a:gd name="connsiteX2" fmla="*/ 1615960 w 1791607"/>
                <a:gd name="connsiteY2" fmla="*/ 3590283 h 3599152"/>
                <a:gd name="connsiteX3" fmla="*/ 0 w 1791607"/>
                <a:gd name="connsiteY3" fmla="*/ 1799576 h 3599152"/>
                <a:gd name="connsiteX4" fmla="*/ 1615960 w 1791607"/>
                <a:gd name="connsiteY4" fmla="*/ 8869 h 3599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1607" h="3599152">
                  <a:moveTo>
                    <a:pt x="1791607" y="0"/>
                  </a:moveTo>
                  <a:lnTo>
                    <a:pt x="1791607" y="3599152"/>
                  </a:lnTo>
                  <a:lnTo>
                    <a:pt x="1615960" y="3590283"/>
                  </a:lnTo>
                  <a:cubicBezTo>
                    <a:pt x="708299" y="3498105"/>
                    <a:pt x="0" y="2731557"/>
                    <a:pt x="0" y="1799576"/>
                  </a:cubicBezTo>
                  <a:cubicBezTo>
                    <a:pt x="0" y="867595"/>
                    <a:pt x="708299" y="101047"/>
                    <a:pt x="1615960" y="8869"/>
                  </a:cubicBezTo>
                  <a:close/>
                </a:path>
              </a:pathLst>
            </a:custGeom>
            <a:solidFill>
              <a:srgbClr val="3C7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20EE116-76D0-D987-0A50-9CC8EAC61194}"/>
                </a:ext>
              </a:extLst>
            </p:cNvPr>
            <p:cNvSpPr/>
            <p:nvPr/>
          </p:nvSpPr>
          <p:spPr>
            <a:xfrm>
              <a:off x="10338221" y="1640277"/>
              <a:ext cx="2959333" cy="2959333"/>
            </a:xfrm>
            <a:prstGeom prst="ellipse">
              <a:avLst/>
            </a:prstGeom>
            <a:solidFill>
              <a:srgbClr val="E1CAF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D11BE66-E4AD-8DCF-6172-1E1F00CC861D}"/>
                </a:ext>
              </a:extLst>
            </p:cNvPr>
            <p:cNvSpPr/>
            <p:nvPr/>
          </p:nvSpPr>
          <p:spPr>
            <a:xfrm>
              <a:off x="9536144" y="8340321"/>
              <a:ext cx="2271104" cy="4562413"/>
            </a:xfrm>
            <a:custGeom>
              <a:avLst/>
              <a:gdLst>
                <a:gd name="connsiteX0" fmla="*/ 1791607 w 1791607"/>
                <a:gd name="connsiteY0" fmla="*/ 0 h 3599152"/>
                <a:gd name="connsiteX1" fmla="*/ 1791607 w 1791607"/>
                <a:gd name="connsiteY1" fmla="*/ 3599152 h 3599152"/>
                <a:gd name="connsiteX2" fmla="*/ 1615960 w 1791607"/>
                <a:gd name="connsiteY2" fmla="*/ 3590283 h 3599152"/>
                <a:gd name="connsiteX3" fmla="*/ 0 w 1791607"/>
                <a:gd name="connsiteY3" fmla="*/ 1799576 h 3599152"/>
                <a:gd name="connsiteX4" fmla="*/ 1615960 w 1791607"/>
                <a:gd name="connsiteY4" fmla="*/ 8869 h 3599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1607" h="3599152">
                  <a:moveTo>
                    <a:pt x="1791607" y="0"/>
                  </a:moveTo>
                  <a:lnTo>
                    <a:pt x="1791607" y="3599152"/>
                  </a:lnTo>
                  <a:lnTo>
                    <a:pt x="1615960" y="3590283"/>
                  </a:lnTo>
                  <a:cubicBezTo>
                    <a:pt x="708299" y="3498105"/>
                    <a:pt x="0" y="2731557"/>
                    <a:pt x="0" y="1799576"/>
                  </a:cubicBezTo>
                  <a:cubicBezTo>
                    <a:pt x="0" y="867595"/>
                    <a:pt x="708299" y="101047"/>
                    <a:pt x="1615960" y="8869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304815"/>
              <a:endParaRPr lang="ru-RU" sz="1733" dirty="0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90EEE64-7123-37BB-830B-1E8F88D1F0D9}"/>
                </a:ext>
              </a:extLst>
            </p:cNvPr>
            <p:cNvSpPr/>
            <p:nvPr/>
          </p:nvSpPr>
          <p:spPr>
            <a:xfrm>
              <a:off x="10338221" y="9142399"/>
              <a:ext cx="2959333" cy="2959333"/>
            </a:xfrm>
            <a:prstGeom prst="ellipse">
              <a:avLst/>
            </a:prstGeom>
            <a:solidFill>
              <a:srgbClr val="E1CAF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7F6E0B2-FFA3-00D2-4056-B7C3D3086BB6}"/>
                </a:ext>
              </a:extLst>
            </p:cNvPr>
            <p:cNvSpPr/>
            <p:nvPr/>
          </p:nvSpPr>
          <p:spPr>
            <a:xfrm flipH="1">
              <a:off x="10338221" y="5380988"/>
              <a:ext cx="2959333" cy="2959333"/>
            </a:xfrm>
            <a:prstGeom prst="ellipse">
              <a:avLst/>
            </a:prstGeom>
            <a:solidFill>
              <a:srgbClr val="E1CAF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8445061-807C-93A5-DD53-AA2A59A74014}"/>
                </a:ext>
              </a:extLst>
            </p:cNvPr>
            <p:cNvSpPr txBox="1"/>
            <p:nvPr/>
          </p:nvSpPr>
          <p:spPr>
            <a:xfrm>
              <a:off x="10953215" y="2863947"/>
              <a:ext cx="1860777" cy="733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820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733" b="1" spc="400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CC637C-1569-637D-6418-2BE0D8D036EE}"/>
                </a:ext>
              </a:extLst>
            </p:cNvPr>
            <p:cNvSpPr txBox="1"/>
            <p:nvPr/>
          </p:nvSpPr>
          <p:spPr>
            <a:xfrm>
              <a:off x="10907423" y="6529365"/>
              <a:ext cx="1860777" cy="733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820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733" b="1" spc="400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0C31503-EA68-A9E4-D211-8FA7C67A7EB6}"/>
                </a:ext>
              </a:extLst>
            </p:cNvPr>
            <p:cNvSpPr txBox="1"/>
            <p:nvPr/>
          </p:nvSpPr>
          <p:spPr>
            <a:xfrm>
              <a:off x="10907423" y="10301265"/>
              <a:ext cx="1860777" cy="733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820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733" b="1" spc="400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9E148A-5EBB-2782-0A69-932B340A96F9}"/>
                </a:ext>
              </a:extLst>
            </p:cNvPr>
            <p:cNvSpPr txBox="1"/>
            <p:nvPr/>
          </p:nvSpPr>
          <p:spPr>
            <a:xfrm>
              <a:off x="2891767" y="6915268"/>
              <a:ext cx="6664499" cy="4242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Phenomenological in depth interactions for episodic recall.</a:t>
              </a:r>
            </a:p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One-on-One in-depth interactions, </a:t>
              </a:r>
            </a:p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50 hours of interview transcripts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6E872C-84C9-BBC5-5863-AD745A6ED0C6}"/>
                </a:ext>
              </a:extLst>
            </p:cNvPr>
            <p:cNvSpPr txBox="1"/>
            <p:nvPr/>
          </p:nvSpPr>
          <p:spPr>
            <a:xfrm>
              <a:off x="2981562" y="5355742"/>
              <a:ext cx="5293665" cy="733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04815">
                <a:lnSpc>
                  <a:spcPct val="150000"/>
                </a:lnSpc>
              </a:pPr>
              <a:r>
                <a:rPr lang="en-US" sz="1733" b="1" baseline="30000" dirty="0">
                  <a:solidFill>
                    <a:srgbClr val="3C7EFF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Qualitative Insights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D17F3B5-3DF8-E2A0-D701-A7927DD1A407}"/>
                </a:ext>
              </a:extLst>
            </p:cNvPr>
            <p:cNvSpPr txBox="1"/>
            <p:nvPr/>
          </p:nvSpPr>
          <p:spPr>
            <a:xfrm>
              <a:off x="14941402" y="2925610"/>
              <a:ext cx="5934223" cy="1869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2 lakh+ Records –</a:t>
              </a:r>
            </a:p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3 Years Time Span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1356F9E-49CE-2C29-AADC-1470A776DC2D}"/>
                </a:ext>
              </a:extLst>
            </p:cNvPr>
            <p:cNvSpPr txBox="1"/>
            <p:nvPr/>
          </p:nvSpPr>
          <p:spPr>
            <a:xfrm>
              <a:off x="14941402" y="10440953"/>
              <a:ext cx="5934223" cy="37861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Released to all the customer</a:t>
              </a:r>
            </a:p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online studies testing: Trustworthiness, Touch Points Interaction Friction, Redemption Insights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0D17DFE-BFC2-7D88-858C-A5776DBA61A6}"/>
                </a:ext>
              </a:extLst>
            </p:cNvPr>
            <p:cNvSpPr txBox="1"/>
            <p:nvPr/>
          </p:nvSpPr>
          <p:spPr>
            <a:xfrm>
              <a:off x="16149416" y="1475560"/>
              <a:ext cx="4726209" cy="733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304815">
                <a:lnSpc>
                  <a:spcPct val="150000"/>
                </a:lnSpc>
              </a:pPr>
              <a:r>
                <a:rPr lang="en-US" sz="1733" b="1" baseline="30000" dirty="0">
                  <a:solidFill>
                    <a:srgbClr val="FF36BB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Quantitative Insights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016DEAC-C186-7B73-480D-0F7BC12678DF}"/>
                </a:ext>
              </a:extLst>
            </p:cNvPr>
            <p:cNvSpPr txBox="1"/>
            <p:nvPr/>
          </p:nvSpPr>
          <p:spPr>
            <a:xfrm>
              <a:off x="15913397" y="8018337"/>
              <a:ext cx="4726209" cy="1919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304815">
                <a:lnSpc>
                  <a:spcPct val="150000"/>
                </a:lnSpc>
              </a:pPr>
              <a:r>
                <a:rPr lang="en-US" sz="1733" b="1" baseline="30000" dirty="0">
                  <a:solidFill>
                    <a:srgbClr val="7030A0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Consumer Neuroscience Based Widespan Assessment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9804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rgbClr val="FF36BB"/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11" name="Object5">
            <a:extLst>
              <a:ext uri="{FF2B5EF4-FFF2-40B4-BE49-F238E27FC236}">
                <a16:creationId xmlns:a16="http://schemas.microsoft.com/office/drawing/2014/main" id="{AF2AE1F4-E20B-A7B5-3FB6-517EA4463599}"/>
              </a:ext>
            </a:extLst>
          </p:cNvPr>
          <p:cNvSpPr/>
          <p:nvPr/>
        </p:nvSpPr>
        <p:spPr>
          <a:xfrm>
            <a:off x="3693304" y="2949000"/>
            <a:ext cx="6725392" cy="1920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ct val="150000"/>
              </a:lnSpc>
            </a:pPr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Claim Settlement Ratio- **.** %</a:t>
            </a:r>
          </a:p>
          <a:p>
            <a:pPr defTabSz="304815">
              <a:lnSpc>
                <a:spcPct val="150000"/>
              </a:lnSpc>
            </a:pPr>
            <a:endParaRPr lang="en-US" sz="1600" dirty="0">
              <a:solidFill>
                <a:srgbClr val="191919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>
              <a:lnSpc>
                <a:spcPct val="150000"/>
              </a:lnSpc>
            </a:pPr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Reach in terms of physical presence is high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E045C1-1251-FE30-130C-9DC2AA1EF199}"/>
              </a:ext>
            </a:extLst>
          </p:cNvPr>
          <p:cNvGrpSpPr/>
          <p:nvPr/>
        </p:nvGrpSpPr>
        <p:grpSpPr>
          <a:xfrm>
            <a:off x="3749125" y="6380723"/>
            <a:ext cx="7266875" cy="319116"/>
            <a:chOff x="5647250" y="6623140"/>
            <a:chExt cx="10900313" cy="478674"/>
          </a:xfrm>
        </p:grpSpPr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B7BA6A16-9D4F-FA25-FD17-0449B850D193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srgbClr val="E7E6E6">
                      <a:lumMod val="10000"/>
                    </a:srgb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4B03109-3077-637C-316F-2F728FDB14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55A7324-E25B-D700-96D2-482A5C6DC6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5ABEE6D-C58F-6254-E38D-61686310BD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333" y="0"/>
            <a:ext cx="2749111" cy="274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99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0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rgbClr val="7030A0"/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11" name="Object5">
            <a:extLst>
              <a:ext uri="{FF2B5EF4-FFF2-40B4-BE49-F238E27FC236}">
                <a16:creationId xmlns:a16="http://schemas.microsoft.com/office/drawing/2014/main" id="{AF2AE1F4-E20B-A7B5-3FB6-517EA4463599}"/>
              </a:ext>
            </a:extLst>
          </p:cNvPr>
          <p:cNvSpPr/>
          <p:nvPr/>
        </p:nvSpPr>
        <p:spPr>
          <a:xfrm>
            <a:off x="3690608" y="2949001"/>
            <a:ext cx="6005792" cy="95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Transparency – Totality &amp; Intuitiveness</a:t>
            </a:r>
          </a:p>
          <a:p>
            <a:pPr defTabSz="304815"/>
            <a:endParaRPr lang="en-US" sz="1600" dirty="0">
              <a:solidFill>
                <a:srgbClr val="191919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Consistency-Across the entire lifecycle</a:t>
            </a:r>
          </a:p>
          <a:p>
            <a:pPr defTabSz="304815"/>
            <a:endParaRPr lang="en-US" sz="1600" dirty="0">
              <a:solidFill>
                <a:srgbClr val="191919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Flexibility- Ability to control outcome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5B7EA54-163A-BB31-C796-143ECA0C0394}"/>
              </a:ext>
            </a:extLst>
          </p:cNvPr>
          <p:cNvGrpSpPr/>
          <p:nvPr/>
        </p:nvGrpSpPr>
        <p:grpSpPr>
          <a:xfrm>
            <a:off x="3749125" y="6380723"/>
            <a:ext cx="7266875" cy="319116"/>
            <a:chOff x="5647250" y="6623140"/>
            <a:chExt cx="10900313" cy="478674"/>
          </a:xfrm>
        </p:grpSpPr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13D9AA4D-07B3-ACC1-DF75-F0E4B678BA52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srgbClr val="E7E6E6">
                      <a:lumMod val="10000"/>
                    </a:srgb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E564903-E8F1-840A-73EB-1EECB40D32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39FDEA7-D275-32BA-FFD4-4E1DE27D9D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A5D43F2-F6C9-0223-5434-97FF434368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9" t="-21740" r="-4179" b="21740"/>
          <a:stretch/>
        </p:blipFill>
        <p:spPr>
          <a:xfrm>
            <a:off x="2806016" y="-495421"/>
            <a:ext cx="2807288" cy="280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22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7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1DB550-F1ED-303D-9DC0-540691ED0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001" y="-33749"/>
            <a:ext cx="2426243" cy="24262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0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rgbClr val="817617"/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</p:txBody>
      </p:sp>
      <p:sp>
        <p:nvSpPr>
          <p:cNvPr id="11" name="Object5">
            <a:extLst>
              <a:ext uri="{FF2B5EF4-FFF2-40B4-BE49-F238E27FC236}">
                <a16:creationId xmlns:a16="http://schemas.microsoft.com/office/drawing/2014/main" id="{AF2AE1F4-E20B-A7B5-3FB6-517EA4463599}"/>
              </a:ext>
            </a:extLst>
          </p:cNvPr>
          <p:cNvSpPr/>
          <p:nvPr/>
        </p:nvSpPr>
        <p:spPr>
          <a:xfrm>
            <a:off x="3691729" y="2528900"/>
            <a:ext cx="7696859" cy="782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Design</a:t>
            </a: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Relevant and timely nudges to drive customer behaviour shifts (EAST* framework for behaviour shifts)</a:t>
            </a: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Re-Design</a:t>
            </a: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Premium Renewal Processes</a:t>
            </a: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Touchpoints</a:t>
            </a: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Customer  Communication </a:t>
            </a: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Customer Data Enrichment</a:t>
            </a: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For focussed solution delivery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EA62BCD-F6D9-441A-B2D5-CD4E98969517}"/>
              </a:ext>
            </a:extLst>
          </p:cNvPr>
          <p:cNvGrpSpPr/>
          <p:nvPr/>
        </p:nvGrpSpPr>
        <p:grpSpPr>
          <a:xfrm>
            <a:off x="3690609" y="6309000"/>
            <a:ext cx="7275789" cy="480001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8A22581-630E-02A7-0EF8-6114431B6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55B5FDB-01C4-6269-F110-A270604FB1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AB4E9D9F-2682-FF3A-594B-F6CA471CA0D0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8593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rgbClr val="002060"/>
                </a:solidFill>
                <a:latin typeface="Montserrat SemiBold" pitchFamily="2" charset="0"/>
              </a:rPr>
              <a:t>Business Outcomes</a:t>
            </a:r>
          </a:p>
        </p:txBody>
      </p:sp>
      <p:sp>
        <p:nvSpPr>
          <p:cNvPr id="15" name="Object4">
            <a:extLst>
              <a:ext uri="{FF2B5EF4-FFF2-40B4-BE49-F238E27FC236}">
                <a16:creationId xmlns:a16="http://schemas.microsoft.com/office/drawing/2014/main" id="{905BF8BE-E126-A81E-05B2-03B371733F08}"/>
              </a:ext>
            </a:extLst>
          </p:cNvPr>
          <p:cNvSpPr/>
          <p:nvPr/>
        </p:nvSpPr>
        <p:spPr>
          <a:xfrm>
            <a:off x="3755740" y="2780928"/>
            <a:ext cx="8161077" cy="1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ct val="200000"/>
              </a:lnSpc>
            </a:pPr>
            <a:r>
              <a:rPr lang="en-IN" sz="1600" dirty="0">
                <a:solidFill>
                  <a:srgbClr val="7030A0"/>
                </a:solidFill>
                <a:latin typeface="Noto Emoji" panose="05020103010202020202" pitchFamily="18" charset="0"/>
                <a:ea typeface="Noto Emoji" panose="05020103010202020202" pitchFamily="18" charset="0"/>
                <a:cs typeface="Hepta Slab Regular" pitchFamily="2" charset="0"/>
              </a:rPr>
              <a:t>⬆</a:t>
            </a:r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Improved Persistency </a:t>
            </a:r>
          </a:p>
          <a:p>
            <a:pPr defTabSz="304815">
              <a:lnSpc>
                <a:spcPct val="200000"/>
              </a:lnSpc>
            </a:pPr>
            <a:r>
              <a:rPr lang="en-IN" sz="1600" dirty="0">
                <a:solidFill>
                  <a:srgbClr val="7030A0"/>
                </a:solidFill>
                <a:latin typeface="Noto Emoji" panose="05020103010202020202" pitchFamily="18" charset="0"/>
                <a:ea typeface="Noto Emoji" panose="05020103010202020202" pitchFamily="18" charset="0"/>
                <a:cs typeface="Hepta Slab Regular" pitchFamily="2" charset="0"/>
              </a:rPr>
              <a:t>⬆</a:t>
            </a:r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Enhanced Digital (online) Adoption</a:t>
            </a:r>
          </a:p>
          <a:p>
            <a:pPr defTabSz="304815">
              <a:lnSpc>
                <a:spcPct val="200000"/>
              </a:lnSpc>
            </a:pPr>
            <a:r>
              <a:rPr lang="en-IN" sz="1600" dirty="0">
                <a:solidFill>
                  <a:srgbClr val="7030A0"/>
                </a:solidFill>
                <a:latin typeface="Noto Emoji" panose="05020103010202020202" pitchFamily="18" charset="0"/>
                <a:ea typeface="Noto Emoji" panose="05020103010202020202" pitchFamily="18" charset="0"/>
                <a:cs typeface="Hepta Slab Regular" pitchFamily="2" charset="0"/>
              </a:rPr>
              <a:t>⬇</a:t>
            </a:r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Reduced Cost of Service</a:t>
            </a:r>
          </a:p>
          <a:p>
            <a:pPr defTabSz="304815">
              <a:lnSpc>
                <a:spcPct val="200000"/>
              </a:lnSpc>
            </a:pPr>
            <a:r>
              <a:rPr lang="en-IN" sz="1600" dirty="0">
                <a:solidFill>
                  <a:srgbClr val="7030A0"/>
                </a:solidFill>
                <a:latin typeface="Noto Emoji" panose="05020103010202020202" pitchFamily="18" charset="0"/>
                <a:ea typeface="Noto Emoji" panose="05020103010202020202" pitchFamily="18" charset="0"/>
                <a:cs typeface="Hepta Slab Regular" pitchFamily="2" charset="0"/>
              </a:rPr>
              <a:t>⬆</a:t>
            </a:r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Enhanced Customer Connect and </a:t>
            </a:r>
            <a:r>
              <a:rPr lang="en-US" sz="1600" dirty="0" err="1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Contactability</a:t>
            </a:r>
            <a:endParaRPr lang="en-US" sz="1600" dirty="0">
              <a:solidFill>
                <a:srgbClr val="191919"/>
              </a:solidFill>
              <a:latin typeface="Hepta Slab Regular" pitchFamily="2" charset="0"/>
              <a:cs typeface="Hepta Slab Regular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F26FDB-CE8B-1D2B-E3A3-91334D8D63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65" r="1717" b="24319"/>
          <a:stretch/>
        </p:blipFill>
        <p:spPr>
          <a:xfrm>
            <a:off x="3599649" y="226533"/>
            <a:ext cx="2856351" cy="164246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AD73405-BCE9-6049-3E3C-F272ED52FC22}"/>
              </a:ext>
            </a:extLst>
          </p:cNvPr>
          <p:cNvGrpSpPr/>
          <p:nvPr/>
        </p:nvGrpSpPr>
        <p:grpSpPr>
          <a:xfrm>
            <a:off x="3749125" y="6380723"/>
            <a:ext cx="7266875" cy="319116"/>
            <a:chOff x="5647250" y="6623140"/>
            <a:chExt cx="10900313" cy="478674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2B24FBD8-2D00-8890-DA26-ABCF08C103CD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srgbClr val="E7E6E6">
                      <a:lumMod val="10000"/>
                    </a:srgb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865C6F4-2901-6048-2538-5A643B753E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854AF04-AECD-8B52-A9B8-48DE662831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2827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89650" y="1746250"/>
            <a:ext cx="6350" cy="3365500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1130300" y="3048000"/>
            <a:ext cx="401447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ts val="6000"/>
              </a:lnSpc>
            </a:pPr>
            <a:r>
              <a:rPr lang="en-US" sz="4800" b="1" dirty="0">
                <a:solidFill>
                  <a:srgbClr val="F5F3E4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Thank You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Object3"/>
          <p:cNvSpPr/>
          <p:nvPr/>
        </p:nvSpPr>
        <p:spPr>
          <a:xfrm>
            <a:off x="6576000" y="2577525"/>
            <a:ext cx="4546600" cy="170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ts val="4000"/>
              </a:lnSpc>
            </a:pPr>
            <a:r>
              <a:rPr lang="en-US" sz="3200" dirty="0">
                <a:solidFill>
                  <a:srgbClr val="F5F3E4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dipti@terragni.in
+91 895 698 2522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B93B21-C61B-4782-BCB8-67162AB74915}"/>
              </a:ext>
            </a:extLst>
          </p:cNvPr>
          <p:cNvGrpSpPr/>
          <p:nvPr/>
        </p:nvGrpSpPr>
        <p:grpSpPr>
          <a:xfrm>
            <a:off x="-114988" y="6122716"/>
            <a:ext cx="11920615" cy="929149"/>
            <a:chOff x="-172482" y="9184073"/>
            <a:chExt cx="17880922" cy="1393723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E1E61F5A-9D3A-456E-81A1-A884BEB95D41}"/>
                </a:ext>
              </a:extLst>
            </p:cNvPr>
            <p:cNvSpPr txBox="1">
              <a:spLocks/>
            </p:cNvSpPr>
            <p:nvPr/>
          </p:nvSpPr>
          <p:spPr>
            <a:xfrm>
              <a:off x="5681816" y="9781056"/>
              <a:ext cx="6924368" cy="295207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defTabSz="609630"/>
              <a:r>
                <a:rPr lang="en-IN" sz="1067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EABC857-D541-41C5-8AA8-881FC10C4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40881" y="9806942"/>
              <a:ext cx="1767559" cy="26932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1A0D35D-74D3-47E0-9C4E-59C0BF32F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2482" y="9184073"/>
              <a:ext cx="2822459" cy="13937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4064000" cy="325755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64000" y="0"/>
            <a:ext cx="4064000" cy="3257550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28000" y="0"/>
            <a:ext cx="4064000" cy="3257550"/>
          </a:xfrm>
          <a:prstGeom prst="rect">
            <a:avLst/>
          </a:prstGeom>
        </p:spPr>
      </p:pic>
      <p:sp>
        <p:nvSpPr>
          <p:cNvPr id="5" name="Object4"/>
          <p:cNvSpPr/>
          <p:nvPr/>
        </p:nvSpPr>
        <p:spPr>
          <a:xfrm>
            <a:off x="1708150" y="336550"/>
            <a:ext cx="60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ts val="2000"/>
              </a:lnSpc>
            </a:pPr>
            <a:r>
              <a:rPr lang="en-US" sz="1600" b="1" dirty="0">
                <a:solidFill>
                  <a:srgbClr val="F5F3E4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India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Object5"/>
          <p:cNvSpPr/>
          <p:nvPr/>
        </p:nvSpPr>
        <p:spPr>
          <a:xfrm>
            <a:off x="5638800" y="336550"/>
            <a:ext cx="88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ts val="2000"/>
              </a:lnSpc>
            </a:pPr>
            <a:r>
              <a:rPr lang="en-US" sz="1600" b="1" dirty="0">
                <a:solidFill>
                  <a:srgbClr val="F5F3E4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London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Object6"/>
          <p:cNvSpPr/>
          <p:nvPr/>
        </p:nvSpPr>
        <p:spPr>
          <a:xfrm>
            <a:off x="9505950" y="336550"/>
            <a:ext cx="11874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ts val="2000"/>
              </a:lnSpc>
            </a:pPr>
            <a:r>
              <a:rPr lang="en-US" sz="1600" b="1" dirty="0">
                <a:solidFill>
                  <a:srgbClr val="F5F3E4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Bucharest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7"/>
          <p:cNvSpPr/>
          <p:nvPr/>
        </p:nvSpPr>
        <p:spPr>
          <a:xfrm>
            <a:off x="4716845" y="4613958"/>
            <a:ext cx="273291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304815">
              <a:lnSpc>
                <a:spcPts val="2200"/>
              </a:lnSpc>
            </a:pPr>
            <a:r>
              <a:rPr lang="en-US" dirty="0">
                <a:solidFill>
                  <a:srgbClr val="F5F3E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www.terragni.in
www.buyerbrain.com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ED8BA93-BFB9-43A1-A8E5-A2E535C4302E}"/>
              </a:ext>
            </a:extLst>
          </p:cNvPr>
          <p:cNvGrpSpPr/>
          <p:nvPr/>
        </p:nvGrpSpPr>
        <p:grpSpPr>
          <a:xfrm>
            <a:off x="-114988" y="6122716"/>
            <a:ext cx="11920615" cy="929149"/>
            <a:chOff x="-172482" y="9184073"/>
            <a:chExt cx="17880922" cy="1393723"/>
          </a:xfrm>
        </p:grpSpPr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57EFBAB2-8D9B-4D59-BC35-807813541343}"/>
                </a:ext>
              </a:extLst>
            </p:cNvPr>
            <p:cNvSpPr txBox="1">
              <a:spLocks/>
            </p:cNvSpPr>
            <p:nvPr/>
          </p:nvSpPr>
          <p:spPr>
            <a:xfrm>
              <a:off x="5681816" y="9781056"/>
              <a:ext cx="6924368" cy="295207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defTabSz="609630"/>
              <a:r>
                <a:rPr lang="en-IN" sz="1067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5BA4B19-4EC2-41DF-8F6F-83738A980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40881" y="9806942"/>
              <a:ext cx="1767559" cy="26932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C9CDB73-5157-4EE7-AFFD-9BEBBDD50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2482" y="9184073"/>
              <a:ext cx="2822459" cy="13937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495</Words>
  <Application>Microsoft Office PowerPoint</Application>
  <PresentationFormat>Widescreen</PresentationFormat>
  <Paragraphs>187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Arial</vt:lpstr>
      <vt:lpstr>Calibri</vt:lpstr>
      <vt:lpstr>Calibri Light</vt:lpstr>
      <vt:lpstr>Hepta Slab</vt:lpstr>
      <vt:lpstr>Hepta Slab Bold</vt:lpstr>
      <vt:lpstr>Hepta Slab ExtraBold</vt:lpstr>
      <vt:lpstr>Hepta Slab Regular</vt:lpstr>
      <vt:lpstr>Hepta Slab SemiBold</vt:lpstr>
      <vt:lpstr>Montserrat ExtraBold</vt:lpstr>
      <vt:lpstr>Montserrat Medium</vt:lpstr>
      <vt:lpstr>Montserrat SemiBold</vt:lpstr>
      <vt:lpstr>Noto Emoji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Dipti Sapatnekar</dc:creator>
  <cp:lastModifiedBy>Terragni Four</cp:lastModifiedBy>
  <cp:revision>12</cp:revision>
  <dcterms:created xsi:type="dcterms:W3CDTF">2023-01-25T10:36:35Z</dcterms:created>
  <dcterms:modified xsi:type="dcterms:W3CDTF">2026-04-21T06:19:04Z</dcterms:modified>
</cp:coreProperties>
</file>