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4.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5.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5.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6.xml" ContentType="application/vnd.openxmlformats-officedocument.themeOverride+xml"/>
  <Override PartName="/ppt/notesSlides/notesSlide16.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7.xml" ContentType="application/vnd.openxmlformats-officedocument.themeOverride+xml"/>
  <Override PartName="/ppt/notesSlides/notesSlide17.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8.xml" ContentType="application/vnd.openxmlformats-officedocument.themeOverride+xml"/>
  <Override PartName="/ppt/notesSlides/notesSlide18.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9.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10.xml" ContentType="application/vnd.openxmlformats-officedocument.themeOverride+xml"/>
  <Override PartName="/ppt/notesSlides/notesSlide23.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11.xml" ContentType="application/vnd.openxmlformats-officedocument.themeOverr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Ex1.xml" ContentType="application/vnd.ms-office.chartex+xml"/>
  <Override PartName="/ppt/charts/style17.xml" ContentType="application/vnd.ms-office.chartstyle+xml"/>
  <Override PartName="/ppt/charts/colors17.xml" ContentType="application/vnd.ms-office.chartcolorstyle+xml"/>
  <Override PartName="/ppt/theme/themeOverride12.xml" ContentType="application/vnd.openxmlformats-officedocument.themeOverride+xml"/>
  <Override PartName="/ppt/charts/chart17.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13.xml" ContentType="application/vnd.openxmlformats-officedocument.themeOverride+xml"/>
  <Override PartName="/ppt/notesSlides/notesSlide28.xml" ContentType="application/vnd.openxmlformats-officedocument.presentationml.notesSlide+xml"/>
  <Override PartName="/ppt/charts/chart18.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19.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29.xml" ContentType="application/vnd.openxmlformats-officedocument.presentationml.notesSlide+xml"/>
  <Override PartName="/ppt/charts/chart20.xml" ContentType="application/vnd.openxmlformats-officedocument.drawingml.chart+xml"/>
  <Override PartName="/ppt/charts/style21.xml" ContentType="application/vnd.ms-office.chartstyle+xml"/>
  <Override PartName="/ppt/charts/colors21.xml" ContentType="application/vnd.ms-office.chartcolorstyle+xml"/>
  <Override PartName="/ppt/theme/themeOverride14.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21.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36.xml" ContentType="application/vnd.openxmlformats-officedocument.presentationml.notesSlide+xml"/>
  <Override PartName="/ppt/charts/chart22.xml" ContentType="application/vnd.openxmlformats-officedocument.drawingml.chart+xml"/>
  <Override PartName="/ppt/charts/style23.xml" ContentType="application/vnd.ms-office.chartstyle+xml"/>
  <Override PartName="/ppt/charts/colors23.xml" ContentType="application/vnd.ms-office.chartcolorstyle+xml"/>
  <Override PartName="/ppt/theme/themeOverride15.xml" ContentType="application/vnd.openxmlformats-officedocument.themeOverride+xml"/>
  <Override PartName="/ppt/notesSlides/notesSlide37.xml" ContentType="application/vnd.openxmlformats-officedocument.presentationml.notesSlide+xml"/>
  <Override PartName="/ppt/charts/chart23.xml" ContentType="application/vnd.openxmlformats-officedocument.drawingml.chart+xml"/>
  <Override PartName="/ppt/charts/style24.xml" ContentType="application/vnd.ms-office.chartstyle+xml"/>
  <Override PartName="/ppt/charts/colors24.xml" ContentType="application/vnd.ms-office.chartcolorstyle+xml"/>
  <Override PartName="/ppt/theme/themeOverride16.xml" ContentType="application/vnd.openxmlformats-officedocument.themeOverride+xml"/>
  <Override PartName="/ppt/notesSlides/notesSlide38.xml" ContentType="application/vnd.openxmlformats-officedocument.presentationml.notesSlide+xml"/>
  <Override PartName="/ppt/theme/themeOverride17.xml" ContentType="application/vnd.openxmlformats-officedocument.themeOverr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24.xml" ContentType="application/vnd.openxmlformats-officedocument.drawingml.chart+xml"/>
  <Override PartName="/ppt/charts/style25.xml" ContentType="application/vnd.ms-office.chartstyle+xml"/>
  <Override PartName="/ppt/charts/colors25.xml" ContentType="application/vnd.ms-office.chartcolorstyle+xml"/>
  <Override PartName="/ppt/theme/themeOverride18.xml" ContentType="application/vnd.openxmlformats-officedocument.themeOverr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25.xml" ContentType="application/vnd.openxmlformats-officedocument.drawingml.chart+xml"/>
  <Override PartName="/ppt/charts/style26.xml" ContentType="application/vnd.ms-office.chartstyle+xml"/>
  <Override PartName="/ppt/charts/colors26.xml" ContentType="application/vnd.ms-office.chartcolorstyle+xml"/>
  <Override PartName="/ppt/theme/themeOverride19.xml" ContentType="application/vnd.openxmlformats-officedocument.themeOverride+xml"/>
  <Override PartName="/ppt/charts/chart26.xml" ContentType="application/vnd.openxmlformats-officedocument.drawingml.chart+xml"/>
  <Override PartName="/ppt/charts/style27.xml" ContentType="application/vnd.ms-office.chartstyle+xml"/>
  <Override PartName="/ppt/charts/colors27.xml" ContentType="application/vnd.ms-office.chartcolorstyle+xml"/>
  <Override PartName="/ppt/theme/themeOverride20.xml" ContentType="application/vnd.openxmlformats-officedocument.themeOverride+xml"/>
  <Override PartName="/ppt/notesSlides/notesSlide45.xml" ContentType="application/vnd.openxmlformats-officedocument.presentationml.notesSlide+xml"/>
  <Override PartName="/ppt/charts/chart27.xml" ContentType="application/vnd.openxmlformats-officedocument.drawingml.chart+xml"/>
  <Override PartName="/ppt/charts/style28.xml" ContentType="application/vnd.ms-office.chartstyle+xml"/>
  <Override PartName="/ppt/charts/colors28.xml" ContentType="application/vnd.ms-office.chartcolorstyle+xml"/>
  <Override PartName="/ppt/theme/themeOverride21.xml" ContentType="application/vnd.openxmlformats-officedocument.themeOverr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rts/chart28.xml" ContentType="application/vnd.openxmlformats-officedocument.drawingml.chart+xml"/>
  <Override PartName="/ppt/charts/style29.xml" ContentType="application/vnd.ms-office.chartstyle+xml"/>
  <Override PartName="/ppt/charts/colors29.xml" ContentType="application/vnd.ms-office.chartcolorstyle+xml"/>
  <Override PartName="/ppt/theme/themeOverride22.xml" ContentType="application/vnd.openxmlformats-officedocument.themeOverride+xml"/>
  <Override PartName="/ppt/notesSlides/notesSlide51.xml" ContentType="application/vnd.openxmlformats-officedocument.presentationml.notesSlide+xml"/>
  <Override PartName="/ppt/charts/chart29.xml" ContentType="application/vnd.openxmlformats-officedocument.drawingml.chart+xml"/>
  <Override PartName="/ppt/charts/style30.xml" ContentType="application/vnd.ms-office.chartstyle+xml"/>
  <Override PartName="/ppt/charts/colors30.xml" ContentType="application/vnd.ms-office.chartcolorstyle+xml"/>
  <Override PartName="/ppt/theme/themeOverride23.xml" ContentType="application/vnd.openxmlformats-officedocument.themeOverr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30.xml" ContentType="application/vnd.openxmlformats-officedocument.drawingml.chart+xml"/>
  <Override PartName="/ppt/charts/style31.xml" ContentType="application/vnd.ms-office.chartstyle+xml"/>
  <Override PartName="/ppt/charts/colors31.xml" ContentType="application/vnd.ms-office.chartcolorstyle+xml"/>
  <Override PartName="/ppt/theme/themeOverride24.xml" ContentType="application/vnd.openxmlformats-officedocument.themeOverride+xml"/>
  <Override PartName="/ppt/notesSlides/notesSlide55.xml" ContentType="application/vnd.openxmlformats-officedocument.presentationml.notesSlide+xml"/>
  <Override PartName="/ppt/charts/chart31.xml" ContentType="application/vnd.openxmlformats-officedocument.drawingml.chart+xml"/>
  <Override PartName="/ppt/charts/style32.xml" ContentType="application/vnd.ms-office.chartstyle+xml"/>
  <Override PartName="/ppt/charts/colors32.xml" ContentType="application/vnd.ms-office.chartcolorstyle+xml"/>
  <Override PartName="/ppt/theme/themeOverride25.xml" ContentType="application/vnd.openxmlformats-officedocument.themeOverr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rts/chart32.xml" ContentType="application/vnd.openxmlformats-officedocument.drawingml.chart+xml"/>
  <Override PartName="/ppt/charts/style33.xml" ContentType="application/vnd.ms-office.chartstyle+xml"/>
  <Override PartName="/ppt/charts/colors33.xml" ContentType="application/vnd.ms-office.chartcolorstyle+xml"/>
  <Override PartName="/ppt/theme/themeOverride26.xml" ContentType="application/vnd.openxmlformats-officedocument.themeOverride+xml"/>
  <Override PartName="/ppt/charts/chart33.xml" ContentType="application/vnd.openxmlformats-officedocument.drawingml.chart+xml"/>
  <Override PartName="/ppt/charts/style34.xml" ContentType="application/vnd.ms-office.chartstyle+xml"/>
  <Override PartName="/ppt/charts/colors34.xml" ContentType="application/vnd.ms-office.chartcolorstyle+xml"/>
  <Override PartName="/ppt/theme/themeOverride27.xml" ContentType="application/vnd.openxmlformats-officedocument.themeOverride+xml"/>
  <Override PartName="/ppt/charts/chart34.xml" ContentType="application/vnd.openxmlformats-officedocument.drawingml.chart+xml"/>
  <Override PartName="/ppt/charts/style35.xml" ContentType="application/vnd.ms-office.chartstyle+xml"/>
  <Override PartName="/ppt/charts/colors35.xml" ContentType="application/vnd.ms-office.chartcolorstyle+xml"/>
  <Override PartName="/ppt/theme/themeOverride28.xml" ContentType="application/vnd.openxmlformats-officedocument.themeOverride+xml"/>
  <Override PartName="/ppt/charts/chart35.xml" ContentType="application/vnd.openxmlformats-officedocument.drawingml.chart+xml"/>
  <Override PartName="/ppt/charts/style36.xml" ContentType="application/vnd.ms-office.chartstyle+xml"/>
  <Override PartName="/ppt/charts/colors36.xml" ContentType="application/vnd.ms-office.chartcolorstyle+xml"/>
  <Override PartName="/ppt/theme/themeOverride29.xml" ContentType="application/vnd.openxmlformats-officedocument.themeOverride+xml"/>
  <Override PartName="/ppt/notesSlides/notesSlide82.xml" ContentType="application/vnd.openxmlformats-officedocument.presentationml.notesSlide+xml"/>
  <Override PartName="/ppt/charts/chart36.xml" ContentType="application/vnd.openxmlformats-officedocument.drawingml.chart+xml"/>
  <Override PartName="/ppt/charts/style37.xml" ContentType="application/vnd.ms-office.chartstyle+xml"/>
  <Override PartName="/ppt/charts/colors37.xml" ContentType="application/vnd.ms-office.chartcolorstyle+xml"/>
  <Override PartName="/ppt/theme/themeOverride30.xml" ContentType="application/vnd.openxmlformats-officedocument.themeOverride+xml"/>
  <Override PartName="/ppt/charts/chart37.xml" ContentType="application/vnd.openxmlformats-officedocument.drawingml.chart+xml"/>
  <Override PartName="/ppt/charts/style38.xml" ContentType="application/vnd.ms-office.chartstyle+xml"/>
  <Override PartName="/ppt/charts/colors38.xml" ContentType="application/vnd.ms-office.chartcolorstyle+xml"/>
  <Override PartName="/ppt/theme/themeOverride31.xml" ContentType="application/vnd.openxmlformats-officedocument.themeOverride+xml"/>
  <Override PartName="/ppt/charts/chart38.xml" ContentType="application/vnd.openxmlformats-officedocument.drawingml.chart+xml"/>
  <Override PartName="/ppt/charts/style39.xml" ContentType="application/vnd.ms-office.chartstyle+xml"/>
  <Override PartName="/ppt/charts/colors39.xml" ContentType="application/vnd.ms-office.chartcolorstyle+xml"/>
  <Override PartName="/ppt/theme/themeOverride32.xml" ContentType="application/vnd.openxmlformats-officedocument.themeOverride+xml"/>
  <Override PartName="/ppt/charts/chart39.xml" ContentType="application/vnd.openxmlformats-officedocument.drawingml.chart+xml"/>
  <Override PartName="/ppt/charts/style40.xml" ContentType="application/vnd.ms-office.chartstyle+xml"/>
  <Override PartName="/ppt/charts/colors40.xml" ContentType="application/vnd.ms-office.chartcolorstyle+xml"/>
  <Override PartName="/ppt/theme/themeOverride33.xml" ContentType="application/vnd.openxmlformats-officedocument.themeOverride+xml"/>
  <Override PartName="/ppt/charts/chart40.xml" ContentType="application/vnd.openxmlformats-officedocument.drawingml.chart+xml"/>
  <Override PartName="/ppt/charts/style41.xml" ContentType="application/vnd.ms-office.chartstyle+xml"/>
  <Override PartName="/ppt/charts/colors41.xml" ContentType="application/vnd.ms-office.chartcolorstyle+xml"/>
  <Override PartName="/ppt/theme/themeOverride34.xml" ContentType="application/vnd.openxmlformats-officedocument.themeOverr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charts/chart41.xml" ContentType="application/vnd.openxmlformats-officedocument.drawingml.chart+xml"/>
  <Override PartName="/ppt/charts/style42.xml" ContentType="application/vnd.ms-office.chartstyle+xml"/>
  <Override PartName="/ppt/charts/colors42.xml" ContentType="application/vnd.ms-office.chartcolorstyle+xml"/>
  <Override PartName="/ppt/theme/themeOverride35.xml" ContentType="application/vnd.openxmlformats-officedocument.themeOverride+xml"/>
  <Override PartName="/ppt/charts/chart42.xml" ContentType="application/vnd.openxmlformats-officedocument.drawingml.chart+xml"/>
  <Override PartName="/ppt/charts/style43.xml" ContentType="application/vnd.ms-office.chartstyle+xml"/>
  <Override PartName="/ppt/charts/colors43.xml" ContentType="application/vnd.ms-office.chartcolorstyle+xml"/>
  <Override PartName="/ppt/theme/themeOverride36.xml" ContentType="application/vnd.openxmlformats-officedocument.themeOverride+xml"/>
  <Override PartName="/ppt/charts/chart43.xml" ContentType="application/vnd.openxmlformats-officedocument.drawingml.chart+xml"/>
  <Override PartName="/ppt/charts/style44.xml" ContentType="application/vnd.ms-office.chartstyle+xml"/>
  <Override PartName="/ppt/charts/colors44.xml" ContentType="application/vnd.ms-office.chartcolorstyle+xml"/>
  <Override PartName="/ppt/theme/themeOverride37.xml" ContentType="application/vnd.openxmlformats-officedocument.themeOverride+xml"/>
  <Override PartName="/ppt/charts/chart44.xml" ContentType="application/vnd.openxmlformats-officedocument.drawingml.chart+xml"/>
  <Override PartName="/ppt/charts/style45.xml" ContentType="application/vnd.ms-office.chartstyle+xml"/>
  <Override PartName="/ppt/charts/colors45.xml" ContentType="application/vnd.ms-office.chartcolorstyle+xml"/>
  <Override PartName="/ppt/theme/themeOverride38.xml" ContentType="application/vnd.openxmlformats-officedocument.themeOverride+xml"/>
  <Override PartName="/ppt/notesSlides/notesSlide85.xml" ContentType="application/vnd.openxmlformats-officedocument.presentationml.notesSlide+xml"/>
  <Override PartName="/ppt/charts/chart45.xml" ContentType="application/vnd.openxmlformats-officedocument.drawingml.chart+xml"/>
  <Override PartName="/ppt/charts/style46.xml" ContentType="application/vnd.ms-office.chartstyle+xml"/>
  <Override PartName="/ppt/charts/colors46.xml" ContentType="application/vnd.ms-office.chartcolorstyle+xml"/>
  <Override PartName="/ppt/theme/themeOverride39.xml" ContentType="application/vnd.openxmlformats-officedocument.themeOverride+xml"/>
  <Override PartName="/ppt/charts/chart46.xml" ContentType="application/vnd.openxmlformats-officedocument.drawingml.chart+xml"/>
  <Override PartName="/ppt/charts/style47.xml" ContentType="application/vnd.ms-office.chartstyle+xml"/>
  <Override PartName="/ppt/charts/colors47.xml" ContentType="application/vnd.ms-office.chartcolorstyle+xml"/>
  <Override PartName="/ppt/theme/themeOverride40.xml" ContentType="application/vnd.openxmlformats-officedocument.themeOverride+xml"/>
  <Override PartName="/ppt/charts/chart47.xml" ContentType="application/vnd.openxmlformats-officedocument.drawingml.chart+xml"/>
  <Override PartName="/ppt/charts/style48.xml" ContentType="application/vnd.ms-office.chartstyle+xml"/>
  <Override PartName="/ppt/charts/colors48.xml" ContentType="application/vnd.ms-office.chartcolorstyle+xml"/>
  <Override PartName="/ppt/theme/themeOverride41.xml" ContentType="application/vnd.openxmlformats-officedocument.themeOverride+xml"/>
  <Override PartName="/ppt/charts/chart48.xml" ContentType="application/vnd.openxmlformats-officedocument.drawingml.chart+xml"/>
  <Override PartName="/ppt/charts/style49.xml" ContentType="application/vnd.ms-office.chartstyle+xml"/>
  <Override PartName="/ppt/charts/colors49.xml" ContentType="application/vnd.ms-office.chartcolorstyle+xml"/>
  <Override PartName="/ppt/theme/themeOverride42.xml" ContentType="application/vnd.openxmlformats-officedocument.themeOverr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charts/chart49.xml" ContentType="application/vnd.openxmlformats-officedocument.drawingml.chart+xml"/>
  <Override PartName="/ppt/charts/style50.xml" ContentType="application/vnd.ms-office.chartstyle+xml"/>
  <Override PartName="/ppt/charts/colors50.xml" ContentType="application/vnd.ms-office.chartcolorstyle+xml"/>
  <Override PartName="/ppt/theme/themeOverride43.xml" ContentType="application/vnd.openxmlformats-officedocument.themeOverride+xml"/>
  <Override PartName="/ppt/charts/chart50.xml" ContentType="application/vnd.openxmlformats-officedocument.drawingml.chart+xml"/>
  <Override PartName="/ppt/charts/style51.xml" ContentType="application/vnd.ms-office.chartstyle+xml"/>
  <Override PartName="/ppt/charts/colors51.xml" ContentType="application/vnd.ms-office.chartcolorstyle+xml"/>
  <Override PartName="/ppt/theme/themeOverride44.xml" ContentType="application/vnd.openxmlformats-officedocument.themeOverride+xml"/>
  <Override PartName="/ppt/charts/chart51.xml" ContentType="application/vnd.openxmlformats-officedocument.drawingml.chart+xml"/>
  <Override PartName="/ppt/charts/style52.xml" ContentType="application/vnd.ms-office.chartstyle+xml"/>
  <Override PartName="/ppt/charts/colors52.xml" ContentType="application/vnd.ms-office.chartcolorstyle+xml"/>
  <Override PartName="/ppt/theme/themeOverride45.xml" ContentType="application/vnd.openxmlformats-officedocument.themeOverride+xml"/>
  <Override PartName="/ppt/charts/chart52.xml" ContentType="application/vnd.openxmlformats-officedocument.drawingml.chart+xml"/>
  <Override PartName="/ppt/charts/style53.xml" ContentType="application/vnd.ms-office.chartstyle+xml"/>
  <Override PartName="/ppt/charts/colors53.xml" ContentType="application/vnd.ms-office.chartcolorstyle+xml"/>
  <Override PartName="/ppt/theme/themeOverride46.xml" ContentType="application/vnd.openxmlformats-officedocument.themeOverride+xml"/>
  <Override PartName="/ppt/notesSlides/notesSlide88.xml" ContentType="application/vnd.openxmlformats-officedocument.presentationml.notesSlide+xml"/>
  <Override PartName="/ppt/charts/chart53.xml" ContentType="application/vnd.openxmlformats-officedocument.drawingml.chart+xml"/>
  <Override PartName="/ppt/charts/style54.xml" ContentType="application/vnd.ms-office.chartstyle+xml"/>
  <Override PartName="/ppt/charts/colors54.xml" ContentType="application/vnd.ms-office.chartcolorstyle+xml"/>
  <Override PartName="/ppt/theme/themeOverride47.xml" ContentType="application/vnd.openxmlformats-officedocument.themeOverride+xml"/>
  <Override PartName="/ppt/charts/chart54.xml" ContentType="application/vnd.openxmlformats-officedocument.drawingml.chart+xml"/>
  <Override PartName="/ppt/charts/style55.xml" ContentType="application/vnd.ms-office.chartstyle+xml"/>
  <Override PartName="/ppt/charts/colors55.xml" ContentType="application/vnd.ms-office.chartcolorstyle+xml"/>
  <Override PartName="/ppt/theme/themeOverride48.xml" ContentType="application/vnd.openxmlformats-officedocument.themeOverride+xml"/>
  <Override PartName="/ppt/charts/chart55.xml" ContentType="application/vnd.openxmlformats-officedocument.drawingml.chart+xml"/>
  <Override PartName="/ppt/charts/style56.xml" ContentType="application/vnd.ms-office.chartstyle+xml"/>
  <Override PartName="/ppt/charts/colors56.xml" ContentType="application/vnd.ms-office.chartcolorstyle+xml"/>
  <Override PartName="/ppt/theme/themeOverride49.xml" ContentType="application/vnd.openxmlformats-officedocument.themeOverride+xml"/>
  <Override PartName="/ppt/charts/chart56.xml" ContentType="application/vnd.openxmlformats-officedocument.drawingml.chart+xml"/>
  <Override PartName="/ppt/charts/style57.xml" ContentType="application/vnd.ms-office.chartstyle+xml"/>
  <Override PartName="/ppt/charts/colors57.xml" ContentType="application/vnd.ms-office.chartcolorstyle+xml"/>
  <Override PartName="/ppt/theme/themeOverride50.xml" ContentType="application/vnd.openxmlformats-officedocument.themeOverr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charts/chart57.xml" ContentType="application/vnd.openxmlformats-officedocument.drawingml.chart+xml"/>
  <Override PartName="/ppt/charts/style58.xml" ContentType="application/vnd.ms-office.chartstyle+xml"/>
  <Override PartName="/ppt/charts/colors58.xml" ContentType="application/vnd.ms-office.chartcolorstyle+xml"/>
  <Override PartName="/ppt/theme/themeOverride51.xml" ContentType="application/vnd.openxmlformats-officedocument.themeOverride+xml"/>
  <Override PartName="/ppt/charts/chart58.xml" ContentType="application/vnd.openxmlformats-officedocument.drawingml.chart+xml"/>
  <Override PartName="/ppt/charts/style59.xml" ContentType="application/vnd.ms-office.chartstyle+xml"/>
  <Override PartName="/ppt/charts/colors59.xml" ContentType="application/vnd.ms-office.chartcolorstyle+xml"/>
  <Override PartName="/ppt/theme/themeOverride52.xml" ContentType="application/vnd.openxmlformats-officedocument.themeOverride+xml"/>
  <Override PartName="/ppt/charts/chart59.xml" ContentType="application/vnd.openxmlformats-officedocument.drawingml.chart+xml"/>
  <Override PartName="/ppt/charts/style60.xml" ContentType="application/vnd.ms-office.chartstyle+xml"/>
  <Override PartName="/ppt/charts/colors60.xml" ContentType="application/vnd.ms-office.chartcolorstyle+xml"/>
  <Override PartName="/ppt/theme/themeOverride53.xml" ContentType="application/vnd.openxmlformats-officedocument.themeOverride+xml"/>
  <Override PartName="/ppt/charts/chart60.xml" ContentType="application/vnd.openxmlformats-officedocument.drawingml.chart+xml"/>
  <Override PartName="/ppt/charts/style61.xml" ContentType="application/vnd.ms-office.chartstyle+xml"/>
  <Override PartName="/ppt/charts/colors61.xml" ContentType="application/vnd.ms-office.chartcolorstyle+xml"/>
  <Override PartName="/ppt/theme/themeOverride54.xml" ContentType="application/vnd.openxmlformats-officedocument.themeOverride+xml"/>
  <Override PartName="/ppt/theme/themeOverride55.xml" ContentType="application/vnd.openxmlformats-officedocument.themeOverride+xml"/>
  <Override PartName="/ppt/notesSlides/notesSlide91.xml" ContentType="application/vnd.openxmlformats-officedocument.presentationml.notesSlide+xml"/>
  <Override PartName="/ppt/charts/chart61.xml" ContentType="application/vnd.openxmlformats-officedocument.drawingml.chart+xml"/>
  <Override PartName="/ppt/charts/style62.xml" ContentType="application/vnd.ms-office.chartstyle+xml"/>
  <Override PartName="/ppt/charts/colors62.xml" ContentType="application/vnd.ms-office.chartcolorstyle+xml"/>
  <Override PartName="/ppt/theme/themeOverride56.xml" ContentType="application/vnd.openxmlformats-officedocument.themeOverride+xml"/>
  <Override PartName="/ppt/charts/chart62.xml" ContentType="application/vnd.openxmlformats-officedocument.drawingml.chart+xml"/>
  <Override PartName="/ppt/charts/style63.xml" ContentType="application/vnd.ms-office.chartstyle+xml"/>
  <Override PartName="/ppt/charts/colors63.xml" ContentType="application/vnd.ms-office.chartcolorstyle+xml"/>
  <Override PartName="/ppt/theme/themeOverride57.xml" ContentType="application/vnd.openxmlformats-officedocument.themeOverride+xml"/>
  <Override PartName="/ppt/charts/chart63.xml" ContentType="application/vnd.openxmlformats-officedocument.drawingml.chart+xml"/>
  <Override PartName="/ppt/charts/style64.xml" ContentType="application/vnd.ms-office.chartstyle+xml"/>
  <Override PartName="/ppt/charts/colors64.xml" ContentType="application/vnd.ms-office.chartcolorstyle+xml"/>
  <Override PartName="/ppt/theme/themeOverride58.xml" ContentType="application/vnd.openxmlformats-officedocument.themeOverride+xml"/>
  <Override PartName="/ppt/charts/chart64.xml" ContentType="application/vnd.openxmlformats-officedocument.drawingml.chart+xml"/>
  <Override PartName="/ppt/charts/style65.xml" ContentType="application/vnd.ms-office.chartstyle+xml"/>
  <Override PartName="/ppt/charts/colors65.xml" ContentType="application/vnd.ms-office.chartcolorstyle+xml"/>
  <Override PartName="/ppt/theme/themeOverride59.xml" ContentType="application/vnd.openxmlformats-officedocument.themeOverride+xml"/>
  <Override PartName="/ppt/notesSlides/notesSlide92.xml" ContentType="application/vnd.openxmlformats-officedocument.presentationml.notesSlide+xml"/>
  <Override PartName="/ppt/theme/themeOverride60.xml" ContentType="application/vnd.openxmlformats-officedocument.themeOverride+xml"/>
  <Override PartName="/ppt/notesSlides/notesSlide93.xml" ContentType="application/vnd.openxmlformats-officedocument.presentationml.notesSlide+xml"/>
  <Override PartName="/ppt/charts/chart65.xml" ContentType="application/vnd.openxmlformats-officedocument.drawingml.chart+xml"/>
  <Override PartName="/ppt/charts/style66.xml" ContentType="application/vnd.ms-office.chartstyle+xml"/>
  <Override PartName="/ppt/charts/colors66.xml" ContentType="application/vnd.ms-office.chartcolorstyle+xml"/>
  <Override PartName="/ppt/theme/themeOverride61.xml" ContentType="application/vnd.openxmlformats-officedocument.themeOverride+xml"/>
  <Override PartName="/ppt/charts/chart66.xml" ContentType="application/vnd.openxmlformats-officedocument.drawingml.chart+xml"/>
  <Override PartName="/ppt/charts/style67.xml" ContentType="application/vnd.ms-office.chartstyle+xml"/>
  <Override PartName="/ppt/charts/colors67.xml" ContentType="application/vnd.ms-office.chartcolorstyle+xml"/>
  <Override PartName="/ppt/theme/themeOverride62.xml" ContentType="application/vnd.openxmlformats-officedocument.themeOverride+xml"/>
  <Override PartName="/ppt/charts/chart67.xml" ContentType="application/vnd.openxmlformats-officedocument.drawingml.chart+xml"/>
  <Override PartName="/ppt/charts/style68.xml" ContentType="application/vnd.ms-office.chartstyle+xml"/>
  <Override PartName="/ppt/charts/colors68.xml" ContentType="application/vnd.ms-office.chartcolorstyle+xml"/>
  <Override PartName="/ppt/theme/themeOverride63.xml" ContentType="application/vnd.openxmlformats-officedocument.themeOverride+xml"/>
  <Override PartName="/ppt/charts/chart68.xml" ContentType="application/vnd.openxmlformats-officedocument.drawingml.chart+xml"/>
  <Override PartName="/ppt/charts/style69.xml" ContentType="application/vnd.ms-office.chartstyle+xml"/>
  <Override PartName="/ppt/charts/colors69.xml" ContentType="application/vnd.ms-office.chartcolorstyle+xml"/>
  <Override PartName="/ppt/theme/themeOverride64.xml" ContentType="application/vnd.openxmlformats-officedocument.themeOverride+xml"/>
  <Override PartName="/ppt/notesSlides/notesSlide94.xml" ContentType="application/vnd.openxmlformats-officedocument.presentationml.notesSlide+xml"/>
  <Override PartName="/ppt/charts/chart69.xml" ContentType="application/vnd.openxmlformats-officedocument.drawingml.chart+xml"/>
  <Override PartName="/ppt/charts/style70.xml" ContentType="application/vnd.ms-office.chartstyle+xml"/>
  <Override PartName="/ppt/charts/colors70.xml" ContentType="application/vnd.ms-office.chartcolorstyle+xml"/>
  <Override PartName="/ppt/charts/chart70.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71.xml" ContentType="application/vnd.openxmlformats-officedocument.drawingml.chart+xml"/>
  <Override PartName="/ppt/charts/style72.xml" ContentType="application/vnd.ms-office.chartstyle+xml"/>
  <Override PartName="/ppt/charts/colors72.xml" ContentType="application/vnd.ms-office.chartcolorstyle+xml"/>
  <Override PartName="/ppt/charts/chart72.xml" ContentType="application/vnd.openxmlformats-officedocument.drawingml.chart+xml"/>
  <Override PartName="/ppt/charts/style73.xml" ContentType="application/vnd.ms-office.chartstyle+xml"/>
  <Override PartName="/ppt/charts/colors73.xml" ContentType="application/vnd.ms-office.chartcolorstyle+xml"/>
  <Override PartName="/ppt/notesSlides/notesSlide9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notesMasterIdLst>
    <p:notesMasterId r:id="rId118"/>
  </p:notesMasterIdLst>
  <p:sldIdLst>
    <p:sldId id="1550" r:id="rId6"/>
    <p:sldId id="1604" r:id="rId7"/>
    <p:sldId id="1605" r:id="rId8"/>
    <p:sldId id="348" r:id="rId9"/>
    <p:sldId id="1653" r:id="rId10"/>
    <p:sldId id="1607" r:id="rId11"/>
    <p:sldId id="1644" r:id="rId12"/>
    <p:sldId id="1403" r:id="rId13"/>
    <p:sldId id="1646" r:id="rId14"/>
    <p:sldId id="1610" r:id="rId15"/>
    <p:sldId id="1647" r:id="rId16"/>
    <p:sldId id="1652" r:id="rId17"/>
    <p:sldId id="1436" r:id="rId18"/>
    <p:sldId id="1645" r:id="rId19"/>
    <p:sldId id="1445" r:id="rId20"/>
    <p:sldId id="1615" r:id="rId21"/>
    <p:sldId id="1693" r:id="rId22"/>
    <p:sldId id="1594" r:id="rId23"/>
    <p:sldId id="1654" r:id="rId24"/>
    <p:sldId id="1731" r:id="rId25"/>
    <p:sldId id="1661" r:id="rId26"/>
    <p:sldId id="1719" r:id="rId27"/>
    <p:sldId id="1735" r:id="rId28"/>
    <p:sldId id="1671" r:id="rId29"/>
    <p:sldId id="1732" r:id="rId30"/>
    <p:sldId id="1733" r:id="rId31"/>
    <p:sldId id="1734" r:id="rId32"/>
    <p:sldId id="1712" r:id="rId33"/>
    <p:sldId id="1613" r:id="rId34"/>
    <p:sldId id="1614" r:id="rId35"/>
    <p:sldId id="1491" r:id="rId36"/>
    <p:sldId id="1450" r:id="rId37"/>
    <p:sldId id="1663" r:id="rId38"/>
    <p:sldId id="1590" r:id="rId39"/>
    <p:sldId id="1451" r:id="rId40"/>
    <p:sldId id="1591" r:id="rId41"/>
    <p:sldId id="1454" r:id="rId42"/>
    <p:sldId id="1709" r:id="rId43"/>
    <p:sldId id="1720" r:id="rId44"/>
    <p:sldId id="1616" r:id="rId45"/>
    <p:sldId id="1548" r:id="rId46"/>
    <p:sldId id="1737" r:id="rId47"/>
    <p:sldId id="1710" r:id="rId48"/>
    <p:sldId id="1457" r:id="rId49"/>
    <p:sldId id="1711" r:id="rId50"/>
    <p:sldId id="1736" r:id="rId51"/>
    <p:sldId id="1461" r:id="rId52"/>
    <p:sldId id="1668" r:id="rId53"/>
    <p:sldId id="1741" r:id="rId54"/>
    <p:sldId id="1617" r:id="rId55"/>
    <p:sldId id="295" r:id="rId56"/>
    <p:sldId id="297" r:id="rId57"/>
    <p:sldId id="1691" r:id="rId58"/>
    <p:sldId id="1593" r:id="rId59"/>
    <p:sldId id="1412" r:id="rId60"/>
    <p:sldId id="1474" r:id="rId61"/>
    <p:sldId id="1622" r:id="rId62"/>
    <p:sldId id="1669" r:id="rId63"/>
    <p:sldId id="1714" r:id="rId64"/>
    <p:sldId id="1715" r:id="rId65"/>
    <p:sldId id="1455" r:id="rId66"/>
    <p:sldId id="1572" r:id="rId67"/>
    <p:sldId id="1649" r:id="rId68"/>
    <p:sldId id="1638" r:id="rId69"/>
    <p:sldId id="1657" r:id="rId70"/>
    <p:sldId id="1567" r:id="rId71"/>
    <p:sldId id="1510" r:id="rId72"/>
    <p:sldId id="1486" r:id="rId73"/>
    <p:sldId id="1423" r:id="rId74"/>
    <p:sldId id="1492" r:id="rId75"/>
    <p:sldId id="1466" r:id="rId76"/>
    <p:sldId id="1722" r:id="rId77"/>
    <p:sldId id="1425" r:id="rId78"/>
    <p:sldId id="1577" r:id="rId79"/>
    <p:sldId id="1716" r:id="rId80"/>
    <p:sldId id="1469" r:id="rId81"/>
    <p:sldId id="1725" r:id="rId82"/>
    <p:sldId id="1516" r:id="rId83"/>
    <p:sldId id="1728" r:id="rId84"/>
    <p:sldId id="1738" r:id="rId85"/>
    <p:sldId id="1544" r:id="rId86"/>
    <p:sldId id="1493" r:id="rId87"/>
    <p:sldId id="472" r:id="rId88"/>
    <p:sldId id="468" r:id="rId89"/>
    <p:sldId id="474" r:id="rId90"/>
    <p:sldId id="1557" r:id="rId91"/>
    <p:sldId id="1723" r:id="rId92"/>
    <p:sldId id="1724" r:id="rId93"/>
    <p:sldId id="1739" r:id="rId94"/>
    <p:sldId id="1740" r:id="rId95"/>
    <p:sldId id="1721" r:id="rId96"/>
    <p:sldId id="1662" r:id="rId97"/>
    <p:sldId id="1459" r:id="rId98"/>
    <p:sldId id="1664" r:id="rId99"/>
    <p:sldId id="1730" r:id="rId100"/>
    <p:sldId id="1573" r:id="rId101"/>
    <p:sldId id="1694" r:id="rId102"/>
    <p:sldId id="1695" r:id="rId103"/>
    <p:sldId id="1692" r:id="rId104"/>
    <p:sldId id="1696" r:id="rId105"/>
    <p:sldId id="1697" r:id="rId106"/>
    <p:sldId id="1698" r:id="rId107"/>
    <p:sldId id="1699" r:id="rId108"/>
    <p:sldId id="1700" r:id="rId109"/>
    <p:sldId id="1701" r:id="rId110"/>
    <p:sldId id="1702" r:id="rId111"/>
    <p:sldId id="1703" r:id="rId112"/>
    <p:sldId id="1704" r:id="rId113"/>
    <p:sldId id="1705" r:id="rId114"/>
    <p:sldId id="1706" r:id="rId115"/>
    <p:sldId id="1707" r:id="rId116"/>
    <p:sldId id="290" r:id="rId1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4772E5F-45E4-9932-60F6-C0F6F4F0EDB6}" name="Terragni Four" initials="TF" userId="S::terragnifour@terragni.onmicrosoft.com::49c4fffa-e5c2-4e6b-b633-2e646c94c3d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4161"/>
    <a:srgbClr val="A6A6A6"/>
    <a:srgbClr val="A9734C"/>
    <a:srgbClr val="203864"/>
    <a:srgbClr val="D67E34"/>
    <a:srgbClr val="F0E5DC"/>
    <a:srgbClr val="7030A0"/>
    <a:srgbClr val="6F0E6F"/>
    <a:srgbClr val="646464"/>
    <a:srgbClr val="2B57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6449" autoAdjust="0"/>
  </p:normalViewPr>
  <p:slideViewPr>
    <p:cSldViewPr snapToGrid="0">
      <p:cViewPr varScale="1">
        <p:scale>
          <a:sx n="82" d="100"/>
          <a:sy n="82" d="100"/>
        </p:scale>
        <p:origin x="734" y="48"/>
      </p:cViewPr>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microsoft.com/office/2018/10/relationships/authors" Target="authors.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notesMaster" Target="notesMasters/notesMaster1.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presProps" Target="presProps.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oleObject" Target="file:///D:\Harshada's%20all%20data\Harshada\Federal%20bank\Combine%20data%20Age,gender,brand%20wise%20visual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embeddings/oleObject1.bin"/></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3" Type="http://schemas.openxmlformats.org/officeDocument/2006/relationships/oleObject" Target="file:///D:\Federal%20Bank\Visualization\Age,%20Gender,%20Resident%20spread%20for%20Federa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Federal%20Bank\Visualization\Age,%20Gender,%20Resident%20spread%20for%20Federal.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3.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4.xlsx"/></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package" Target="../embeddings/Microsoft_Excel_Worksheet5.xlsx"/></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package" Target="../embeddings/Microsoft_Excel_Worksheet6.xlsx"/></Relationships>
</file>

<file path=ppt/charts/_rels/chart13.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oleObject" Target="Chart%20in%20Microsoft%20PowerPoint"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package" Target="../embeddings/Microsoft_Excel_Worksheet7.xlsx"/></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oleObject" Target="file:///C:\Users\Admin\Desktop\Customer%20grids%20federal.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package" Target="../embeddings/Microsoft_Excel_Worksheet8.xlsx"/></Relationships>
</file>

<file path=ppt/charts/_rels/chart18.xml.rels><?xml version="1.0" encoding="UTF-8" standalone="yes"?>
<Relationships xmlns="http://schemas.openxmlformats.org/package/2006/relationships"><Relationship Id="rId3" Type="http://schemas.openxmlformats.org/officeDocument/2006/relationships/oleObject" Target="file:///C:\Users\Admin\Desktop\Reports%20graphs%20file.xlsx" TargetMode="External"/><Relationship Id="rId2" Type="http://schemas.microsoft.com/office/2011/relationships/chartColorStyle" Target="colors19.xml"/><Relationship Id="rId1" Type="http://schemas.microsoft.com/office/2011/relationships/chartStyle" Target="style19.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Admin\Desktop\Reports%20graphs%20file.xlsx" TargetMode="External"/><Relationship Id="rId2" Type="http://schemas.microsoft.com/office/2011/relationships/chartColorStyle" Target="colors20.xml"/><Relationship Id="rId1" Type="http://schemas.microsoft.com/office/2011/relationships/chartStyle" Target="style20.xml"/></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package" Target="../embeddings/Microsoft_Excel_Worksheet9.xlsx"/></Relationships>
</file>

<file path=ppt/charts/_rels/chart21.xml.rels><?xml version="1.0" encoding="UTF-8" standalone="yes"?>
<Relationships xmlns="http://schemas.openxmlformats.org/package/2006/relationships"><Relationship Id="rId3" Type="http://schemas.openxmlformats.org/officeDocument/2006/relationships/oleObject" Target="file:///C:\Users\Admin\Desktop\Reports%20graphs%20file.xlsx" TargetMode="External"/><Relationship Id="rId2" Type="http://schemas.microsoft.com/office/2011/relationships/chartColorStyle" Target="colors22.xml"/><Relationship Id="rId1" Type="http://schemas.microsoft.com/office/2011/relationships/chartStyle" Target="style22.xml"/></Relationships>
</file>

<file path=ppt/charts/_rels/chart22.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23.xml"/><Relationship Id="rId1" Type="http://schemas.microsoft.com/office/2011/relationships/chartStyle" Target="style23.xml"/><Relationship Id="rId4" Type="http://schemas.openxmlformats.org/officeDocument/2006/relationships/package" Target="../embeddings/Microsoft_Excel_Worksheet10.xlsx"/></Relationships>
</file>

<file path=ppt/charts/_rels/chart23.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24.xml"/><Relationship Id="rId1" Type="http://schemas.microsoft.com/office/2011/relationships/chartStyle" Target="style24.xml"/><Relationship Id="rId4" Type="http://schemas.openxmlformats.org/officeDocument/2006/relationships/package" Target="../embeddings/Microsoft_Excel_Worksheet11.xlsx"/></Relationships>
</file>

<file path=ppt/charts/_rels/chart24.xml.rels><?xml version="1.0" encoding="UTF-8" standalone="yes"?>
<Relationships xmlns="http://schemas.openxmlformats.org/package/2006/relationships"><Relationship Id="rId3" Type="http://schemas.openxmlformats.org/officeDocument/2006/relationships/themeOverride" Target="../theme/themeOverride18.xml"/><Relationship Id="rId2" Type="http://schemas.microsoft.com/office/2011/relationships/chartColorStyle" Target="colors25.xml"/><Relationship Id="rId1" Type="http://schemas.microsoft.com/office/2011/relationships/chartStyle" Target="style25.xml"/><Relationship Id="rId4" Type="http://schemas.openxmlformats.org/officeDocument/2006/relationships/package" Target="../embeddings/Microsoft_Excel_Worksheet12.xlsx"/></Relationships>
</file>

<file path=ppt/charts/_rels/chart25.xml.rels><?xml version="1.0" encoding="UTF-8" standalone="yes"?>
<Relationships xmlns="http://schemas.openxmlformats.org/package/2006/relationships"><Relationship Id="rId3" Type="http://schemas.openxmlformats.org/officeDocument/2006/relationships/themeOverride" Target="../theme/themeOverride19.xml"/><Relationship Id="rId2" Type="http://schemas.microsoft.com/office/2011/relationships/chartColorStyle" Target="colors26.xml"/><Relationship Id="rId1" Type="http://schemas.microsoft.com/office/2011/relationships/chartStyle" Target="style26.xml"/><Relationship Id="rId4" Type="http://schemas.openxmlformats.org/officeDocument/2006/relationships/package" Target="../embeddings/Microsoft_Excel_Worksheet13.xlsx"/></Relationships>
</file>

<file path=ppt/charts/_rels/chart26.xml.rels><?xml version="1.0" encoding="UTF-8" standalone="yes"?>
<Relationships xmlns="http://schemas.openxmlformats.org/package/2006/relationships"><Relationship Id="rId3" Type="http://schemas.openxmlformats.org/officeDocument/2006/relationships/themeOverride" Target="../theme/themeOverride20.xml"/><Relationship Id="rId2" Type="http://schemas.microsoft.com/office/2011/relationships/chartColorStyle" Target="colors27.xml"/><Relationship Id="rId1" Type="http://schemas.microsoft.com/office/2011/relationships/chartStyle" Target="style27.xml"/><Relationship Id="rId4" Type="http://schemas.openxmlformats.org/officeDocument/2006/relationships/package" Target="../embeddings/Microsoft_Excel_Worksheet14.xlsx"/></Relationships>
</file>

<file path=ppt/charts/_rels/chart27.xml.rels><?xml version="1.0" encoding="UTF-8" standalone="yes"?>
<Relationships xmlns="http://schemas.openxmlformats.org/package/2006/relationships"><Relationship Id="rId3" Type="http://schemas.openxmlformats.org/officeDocument/2006/relationships/themeOverride" Target="../theme/themeOverride21.xml"/><Relationship Id="rId2" Type="http://schemas.microsoft.com/office/2011/relationships/chartColorStyle" Target="colors28.xml"/><Relationship Id="rId1" Type="http://schemas.microsoft.com/office/2011/relationships/chartStyle" Target="style28.xml"/><Relationship Id="rId4" Type="http://schemas.openxmlformats.org/officeDocument/2006/relationships/package" Target="../embeddings/Microsoft_Excel_Worksheet15.xlsx"/></Relationships>
</file>

<file path=ppt/charts/_rels/chart28.xml.rels><?xml version="1.0" encoding="UTF-8" standalone="yes"?>
<Relationships xmlns="http://schemas.openxmlformats.org/package/2006/relationships"><Relationship Id="rId3" Type="http://schemas.openxmlformats.org/officeDocument/2006/relationships/themeOverride" Target="../theme/themeOverride22.xml"/><Relationship Id="rId2" Type="http://schemas.microsoft.com/office/2011/relationships/chartColorStyle" Target="colors29.xml"/><Relationship Id="rId1" Type="http://schemas.microsoft.com/office/2011/relationships/chartStyle" Target="style29.xml"/><Relationship Id="rId4" Type="http://schemas.openxmlformats.org/officeDocument/2006/relationships/package" Target="../embeddings/Microsoft_Excel_Worksheet16.xlsx"/></Relationships>
</file>

<file path=ppt/charts/_rels/chart29.xml.rels><?xml version="1.0" encoding="UTF-8" standalone="yes"?>
<Relationships xmlns="http://schemas.openxmlformats.org/package/2006/relationships"><Relationship Id="rId3" Type="http://schemas.openxmlformats.org/officeDocument/2006/relationships/themeOverride" Target="../theme/themeOverride23.xml"/><Relationship Id="rId2" Type="http://schemas.microsoft.com/office/2011/relationships/chartColorStyle" Target="colors30.xml"/><Relationship Id="rId1" Type="http://schemas.microsoft.com/office/2011/relationships/chartStyle" Target="style30.xml"/><Relationship Id="rId4" Type="http://schemas.openxmlformats.org/officeDocument/2006/relationships/package" Target="../embeddings/Microsoft_Excel_Worksheet17.xlsx"/></Relationships>
</file>

<file path=ppt/charts/_rels/chart30.xml.rels><?xml version="1.0" encoding="UTF-8" standalone="yes"?>
<Relationships xmlns="http://schemas.openxmlformats.org/package/2006/relationships"><Relationship Id="rId3" Type="http://schemas.openxmlformats.org/officeDocument/2006/relationships/themeOverride" Target="../theme/themeOverride24.xml"/><Relationship Id="rId2" Type="http://schemas.microsoft.com/office/2011/relationships/chartColorStyle" Target="colors31.xml"/><Relationship Id="rId1" Type="http://schemas.microsoft.com/office/2011/relationships/chartStyle" Target="style31.xml"/><Relationship Id="rId4" Type="http://schemas.openxmlformats.org/officeDocument/2006/relationships/package" Target="../embeddings/Microsoft_Excel_Worksheet18.xlsx"/></Relationships>
</file>

<file path=ppt/charts/_rels/chart31.xml.rels><?xml version="1.0" encoding="UTF-8" standalone="yes"?>
<Relationships xmlns="http://schemas.openxmlformats.org/package/2006/relationships"><Relationship Id="rId3" Type="http://schemas.openxmlformats.org/officeDocument/2006/relationships/themeOverride" Target="../theme/themeOverride25.xml"/><Relationship Id="rId2" Type="http://schemas.microsoft.com/office/2011/relationships/chartColorStyle" Target="colors32.xml"/><Relationship Id="rId1" Type="http://schemas.microsoft.com/office/2011/relationships/chartStyle" Target="style32.xml"/><Relationship Id="rId4" Type="http://schemas.openxmlformats.org/officeDocument/2006/relationships/oleObject" Target="file:///E:\Hrishikesh\Federal%20Bank%20Celesta\All%20Data%20Analysis%20for%20Combined%20Insights.xlsx" TargetMode="External"/></Relationships>
</file>

<file path=ppt/charts/_rels/chart32.xml.rels><?xml version="1.0" encoding="UTF-8" standalone="yes"?>
<Relationships xmlns="http://schemas.openxmlformats.org/package/2006/relationships"><Relationship Id="rId3" Type="http://schemas.openxmlformats.org/officeDocument/2006/relationships/themeOverride" Target="../theme/themeOverride26.xml"/><Relationship Id="rId2" Type="http://schemas.microsoft.com/office/2011/relationships/chartColorStyle" Target="colors33.xml"/><Relationship Id="rId1" Type="http://schemas.microsoft.com/office/2011/relationships/chartStyle" Target="style33.xml"/><Relationship Id="rId4" Type="http://schemas.openxmlformats.org/officeDocument/2006/relationships/package" Target="../embeddings/Microsoft_Excel_Worksheet19.xlsx"/></Relationships>
</file>

<file path=ppt/charts/_rels/chart33.xml.rels><?xml version="1.0" encoding="UTF-8" standalone="yes"?>
<Relationships xmlns="http://schemas.openxmlformats.org/package/2006/relationships"><Relationship Id="rId3" Type="http://schemas.openxmlformats.org/officeDocument/2006/relationships/themeOverride" Target="../theme/themeOverride27.xml"/><Relationship Id="rId2" Type="http://schemas.microsoft.com/office/2011/relationships/chartColorStyle" Target="colors34.xml"/><Relationship Id="rId1" Type="http://schemas.microsoft.com/office/2011/relationships/chartStyle" Target="style34.xml"/><Relationship Id="rId4" Type="http://schemas.openxmlformats.org/officeDocument/2006/relationships/package" Target="../embeddings/Microsoft_Excel_Worksheet20.xlsx"/></Relationships>
</file>

<file path=ppt/charts/_rels/chart34.xml.rels><?xml version="1.0" encoding="UTF-8" standalone="yes"?>
<Relationships xmlns="http://schemas.openxmlformats.org/package/2006/relationships"><Relationship Id="rId3" Type="http://schemas.openxmlformats.org/officeDocument/2006/relationships/themeOverride" Target="../theme/themeOverride28.xml"/><Relationship Id="rId2" Type="http://schemas.microsoft.com/office/2011/relationships/chartColorStyle" Target="colors35.xml"/><Relationship Id="rId1" Type="http://schemas.microsoft.com/office/2011/relationships/chartStyle" Target="style35.xml"/><Relationship Id="rId4" Type="http://schemas.openxmlformats.org/officeDocument/2006/relationships/package" Target="../embeddings/Microsoft_Excel_Worksheet21.xlsx"/></Relationships>
</file>

<file path=ppt/charts/_rels/chart35.xml.rels><?xml version="1.0" encoding="UTF-8" standalone="yes"?>
<Relationships xmlns="http://schemas.openxmlformats.org/package/2006/relationships"><Relationship Id="rId3" Type="http://schemas.openxmlformats.org/officeDocument/2006/relationships/themeOverride" Target="../theme/themeOverride29.xml"/><Relationship Id="rId2" Type="http://schemas.microsoft.com/office/2011/relationships/chartColorStyle" Target="colors36.xml"/><Relationship Id="rId1" Type="http://schemas.microsoft.com/office/2011/relationships/chartStyle" Target="style36.xml"/><Relationship Id="rId4" Type="http://schemas.openxmlformats.org/officeDocument/2006/relationships/package" Target="../embeddings/Microsoft_Excel_Worksheet22.xlsx"/></Relationships>
</file>

<file path=ppt/charts/_rels/chart36.xml.rels><?xml version="1.0" encoding="UTF-8" standalone="yes"?>
<Relationships xmlns="http://schemas.openxmlformats.org/package/2006/relationships"><Relationship Id="rId3" Type="http://schemas.openxmlformats.org/officeDocument/2006/relationships/themeOverride" Target="../theme/themeOverride30.xml"/><Relationship Id="rId2" Type="http://schemas.microsoft.com/office/2011/relationships/chartColorStyle" Target="colors37.xml"/><Relationship Id="rId1" Type="http://schemas.microsoft.com/office/2011/relationships/chartStyle" Target="style37.xml"/><Relationship Id="rId4" Type="http://schemas.openxmlformats.org/officeDocument/2006/relationships/package" Target="../embeddings/Microsoft_Excel_Worksheet23.xlsx"/></Relationships>
</file>

<file path=ppt/charts/_rels/chart37.xml.rels><?xml version="1.0" encoding="UTF-8" standalone="yes"?>
<Relationships xmlns="http://schemas.openxmlformats.org/package/2006/relationships"><Relationship Id="rId3" Type="http://schemas.openxmlformats.org/officeDocument/2006/relationships/themeOverride" Target="../theme/themeOverride31.xml"/><Relationship Id="rId2" Type="http://schemas.microsoft.com/office/2011/relationships/chartColorStyle" Target="colors38.xml"/><Relationship Id="rId1" Type="http://schemas.microsoft.com/office/2011/relationships/chartStyle" Target="style38.xml"/><Relationship Id="rId4" Type="http://schemas.openxmlformats.org/officeDocument/2006/relationships/package" Target="../embeddings/Microsoft_Excel_Worksheet24.xlsx"/></Relationships>
</file>

<file path=ppt/charts/_rels/chart38.xml.rels><?xml version="1.0" encoding="UTF-8" standalone="yes"?>
<Relationships xmlns="http://schemas.openxmlformats.org/package/2006/relationships"><Relationship Id="rId3" Type="http://schemas.openxmlformats.org/officeDocument/2006/relationships/themeOverride" Target="../theme/themeOverride32.xml"/><Relationship Id="rId2" Type="http://schemas.microsoft.com/office/2011/relationships/chartColorStyle" Target="colors39.xml"/><Relationship Id="rId1" Type="http://schemas.microsoft.com/office/2011/relationships/chartStyle" Target="style39.xml"/><Relationship Id="rId4" Type="http://schemas.openxmlformats.org/officeDocument/2006/relationships/package" Target="../embeddings/Microsoft_Excel_Worksheet25.xlsx"/></Relationships>
</file>

<file path=ppt/charts/_rels/chart39.xml.rels><?xml version="1.0" encoding="UTF-8" standalone="yes"?>
<Relationships xmlns="http://schemas.openxmlformats.org/package/2006/relationships"><Relationship Id="rId3" Type="http://schemas.openxmlformats.org/officeDocument/2006/relationships/themeOverride" Target="../theme/themeOverride33.xml"/><Relationship Id="rId2" Type="http://schemas.microsoft.com/office/2011/relationships/chartColorStyle" Target="colors40.xml"/><Relationship Id="rId1" Type="http://schemas.microsoft.com/office/2011/relationships/chartStyle" Target="style40.xml"/><Relationship Id="rId4" Type="http://schemas.openxmlformats.org/officeDocument/2006/relationships/package" Target="../embeddings/Microsoft_Excel_Worksheet26.xlsx"/></Relationships>
</file>

<file path=ppt/charts/_rels/chart40.xml.rels><?xml version="1.0" encoding="UTF-8" standalone="yes"?>
<Relationships xmlns="http://schemas.openxmlformats.org/package/2006/relationships"><Relationship Id="rId3" Type="http://schemas.openxmlformats.org/officeDocument/2006/relationships/themeOverride" Target="../theme/themeOverride34.xml"/><Relationship Id="rId2" Type="http://schemas.microsoft.com/office/2011/relationships/chartColorStyle" Target="colors41.xml"/><Relationship Id="rId1" Type="http://schemas.microsoft.com/office/2011/relationships/chartStyle" Target="style41.xml"/><Relationship Id="rId4" Type="http://schemas.openxmlformats.org/officeDocument/2006/relationships/package" Target="../embeddings/Microsoft_Excel_Worksheet27.xlsx"/></Relationships>
</file>

<file path=ppt/charts/_rels/chart41.xml.rels><?xml version="1.0" encoding="UTF-8" standalone="yes"?>
<Relationships xmlns="http://schemas.openxmlformats.org/package/2006/relationships"><Relationship Id="rId3" Type="http://schemas.openxmlformats.org/officeDocument/2006/relationships/themeOverride" Target="../theme/themeOverride35.xml"/><Relationship Id="rId2" Type="http://schemas.microsoft.com/office/2011/relationships/chartColorStyle" Target="colors42.xml"/><Relationship Id="rId1" Type="http://schemas.microsoft.com/office/2011/relationships/chartStyle" Target="style42.xml"/><Relationship Id="rId4" Type="http://schemas.openxmlformats.org/officeDocument/2006/relationships/package" Target="../embeddings/Microsoft_Excel_Worksheet28.xlsx"/></Relationships>
</file>

<file path=ppt/charts/_rels/chart42.xml.rels><?xml version="1.0" encoding="UTF-8" standalone="yes"?>
<Relationships xmlns="http://schemas.openxmlformats.org/package/2006/relationships"><Relationship Id="rId3" Type="http://schemas.openxmlformats.org/officeDocument/2006/relationships/themeOverride" Target="../theme/themeOverride36.xml"/><Relationship Id="rId2" Type="http://schemas.microsoft.com/office/2011/relationships/chartColorStyle" Target="colors43.xml"/><Relationship Id="rId1" Type="http://schemas.microsoft.com/office/2011/relationships/chartStyle" Target="style43.xml"/><Relationship Id="rId4" Type="http://schemas.openxmlformats.org/officeDocument/2006/relationships/package" Target="../embeddings/Microsoft_Excel_Worksheet29.xlsx"/></Relationships>
</file>

<file path=ppt/charts/_rels/chart43.xml.rels><?xml version="1.0" encoding="UTF-8" standalone="yes"?>
<Relationships xmlns="http://schemas.openxmlformats.org/package/2006/relationships"><Relationship Id="rId3" Type="http://schemas.openxmlformats.org/officeDocument/2006/relationships/themeOverride" Target="../theme/themeOverride37.xml"/><Relationship Id="rId2" Type="http://schemas.microsoft.com/office/2011/relationships/chartColorStyle" Target="colors44.xml"/><Relationship Id="rId1" Type="http://schemas.microsoft.com/office/2011/relationships/chartStyle" Target="style44.xml"/><Relationship Id="rId4" Type="http://schemas.openxmlformats.org/officeDocument/2006/relationships/package" Target="../embeddings/Microsoft_Excel_Worksheet30.xlsx"/></Relationships>
</file>

<file path=ppt/charts/_rels/chart44.xml.rels><?xml version="1.0" encoding="UTF-8" standalone="yes"?>
<Relationships xmlns="http://schemas.openxmlformats.org/package/2006/relationships"><Relationship Id="rId3" Type="http://schemas.openxmlformats.org/officeDocument/2006/relationships/themeOverride" Target="../theme/themeOverride38.xml"/><Relationship Id="rId2" Type="http://schemas.microsoft.com/office/2011/relationships/chartColorStyle" Target="colors45.xml"/><Relationship Id="rId1" Type="http://schemas.microsoft.com/office/2011/relationships/chartStyle" Target="style45.xml"/><Relationship Id="rId4" Type="http://schemas.openxmlformats.org/officeDocument/2006/relationships/package" Target="../embeddings/Microsoft_Excel_Worksheet31.xlsx"/></Relationships>
</file>

<file path=ppt/charts/_rels/chart45.xml.rels><?xml version="1.0" encoding="UTF-8" standalone="yes"?>
<Relationships xmlns="http://schemas.openxmlformats.org/package/2006/relationships"><Relationship Id="rId3" Type="http://schemas.openxmlformats.org/officeDocument/2006/relationships/themeOverride" Target="../theme/themeOverride39.xml"/><Relationship Id="rId2" Type="http://schemas.microsoft.com/office/2011/relationships/chartColorStyle" Target="colors46.xml"/><Relationship Id="rId1" Type="http://schemas.microsoft.com/office/2011/relationships/chartStyle" Target="style46.xml"/><Relationship Id="rId4" Type="http://schemas.openxmlformats.org/officeDocument/2006/relationships/package" Target="../embeddings/Microsoft_Excel_Worksheet32.xlsx"/></Relationships>
</file>

<file path=ppt/charts/_rels/chart46.xml.rels><?xml version="1.0" encoding="UTF-8" standalone="yes"?>
<Relationships xmlns="http://schemas.openxmlformats.org/package/2006/relationships"><Relationship Id="rId3" Type="http://schemas.openxmlformats.org/officeDocument/2006/relationships/themeOverride" Target="../theme/themeOverride40.xml"/><Relationship Id="rId2" Type="http://schemas.microsoft.com/office/2011/relationships/chartColorStyle" Target="colors47.xml"/><Relationship Id="rId1" Type="http://schemas.microsoft.com/office/2011/relationships/chartStyle" Target="style47.xml"/><Relationship Id="rId4" Type="http://schemas.openxmlformats.org/officeDocument/2006/relationships/package" Target="../embeddings/Microsoft_Excel_Worksheet33.xlsx"/></Relationships>
</file>

<file path=ppt/charts/_rels/chart47.xml.rels><?xml version="1.0" encoding="UTF-8" standalone="yes"?>
<Relationships xmlns="http://schemas.openxmlformats.org/package/2006/relationships"><Relationship Id="rId3" Type="http://schemas.openxmlformats.org/officeDocument/2006/relationships/themeOverride" Target="../theme/themeOverride41.xml"/><Relationship Id="rId2" Type="http://schemas.microsoft.com/office/2011/relationships/chartColorStyle" Target="colors48.xml"/><Relationship Id="rId1" Type="http://schemas.microsoft.com/office/2011/relationships/chartStyle" Target="style48.xml"/><Relationship Id="rId4" Type="http://schemas.openxmlformats.org/officeDocument/2006/relationships/package" Target="../embeddings/Microsoft_Excel_Worksheet34.xlsx"/></Relationships>
</file>

<file path=ppt/charts/_rels/chart48.xml.rels><?xml version="1.0" encoding="UTF-8" standalone="yes"?>
<Relationships xmlns="http://schemas.openxmlformats.org/package/2006/relationships"><Relationship Id="rId3" Type="http://schemas.openxmlformats.org/officeDocument/2006/relationships/themeOverride" Target="../theme/themeOverride42.xml"/><Relationship Id="rId2" Type="http://schemas.microsoft.com/office/2011/relationships/chartColorStyle" Target="colors49.xml"/><Relationship Id="rId1" Type="http://schemas.microsoft.com/office/2011/relationships/chartStyle" Target="style49.xml"/><Relationship Id="rId4" Type="http://schemas.openxmlformats.org/officeDocument/2006/relationships/oleObject" Target="file:///D:\Harshada's%20all%20data\Harshada\Federal%20bank\Combine%20data%20Age,gender,brand%20wise%20visuals.xlsx" TargetMode="External"/></Relationships>
</file>

<file path=ppt/charts/_rels/chart49.xml.rels><?xml version="1.0" encoding="UTF-8" standalone="yes"?>
<Relationships xmlns="http://schemas.openxmlformats.org/package/2006/relationships"><Relationship Id="rId3" Type="http://schemas.openxmlformats.org/officeDocument/2006/relationships/themeOverride" Target="../theme/themeOverride43.xml"/><Relationship Id="rId2" Type="http://schemas.microsoft.com/office/2011/relationships/chartColorStyle" Target="colors50.xml"/><Relationship Id="rId1" Type="http://schemas.microsoft.com/office/2011/relationships/chartStyle" Target="style50.xml"/><Relationship Id="rId4" Type="http://schemas.openxmlformats.org/officeDocument/2006/relationships/package" Target="../embeddings/Microsoft_Excel_Worksheet35.xlsx"/></Relationships>
</file>

<file path=ppt/charts/_rels/chart50.xml.rels><?xml version="1.0" encoding="UTF-8" standalone="yes"?>
<Relationships xmlns="http://schemas.openxmlformats.org/package/2006/relationships"><Relationship Id="rId3" Type="http://schemas.openxmlformats.org/officeDocument/2006/relationships/themeOverride" Target="../theme/themeOverride44.xml"/><Relationship Id="rId2" Type="http://schemas.microsoft.com/office/2011/relationships/chartColorStyle" Target="colors51.xml"/><Relationship Id="rId1" Type="http://schemas.microsoft.com/office/2011/relationships/chartStyle" Target="style51.xml"/><Relationship Id="rId4" Type="http://schemas.openxmlformats.org/officeDocument/2006/relationships/package" Target="../embeddings/Microsoft_Excel_Worksheet36.xlsx"/></Relationships>
</file>

<file path=ppt/charts/_rels/chart51.xml.rels><?xml version="1.0" encoding="UTF-8" standalone="yes"?>
<Relationships xmlns="http://schemas.openxmlformats.org/package/2006/relationships"><Relationship Id="rId3" Type="http://schemas.openxmlformats.org/officeDocument/2006/relationships/themeOverride" Target="../theme/themeOverride45.xml"/><Relationship Id="rId2" Type="http://schemas.microsoft.com/office/2011/relationships/chartColorStyle" Target="colors52.xml"/><Relationship Id="rId1" Type="http://schemas.microsoft.com/office/2011/relationships/chartStyle" Target="style52.xml"/><Relationship Id="rId4" Type="http://schemas.openxmlformats.org/officeDocument/2006/relationships/package" Target="../embeddings/Microsoft_Excel_Worksheet37.xlsx"/></Relationships>
</file>

<file path=ppt/charts/_rels/chart52.xml.rels><?xml version="1.0" encoding="UTF-8" standalone="yes"?>
<Relationships xmlns="http://schemas.openxmlformats.org/package/2006/relationships"><Relationship Id="rId3" Type="http://schemas.openxmlformats.org/officeDocument/2006/relationships/themeOverride" Target="../theme/themeOverride46.xml"/><Relationship Id="rId2" Type="http://schemas.microsoft.com/office/2011/relationships/chartColorStyle" Target="colors53.xml"/><Relationship Id="rId1" Type="http://schemas.microsoft.com/office/2011/relationships/chartStyle" Target="style53.xml"/><Relationship Id="rId4" Type="http://schemas.openxmlformats.org/officeDocument/2006/relationships/package" Target="../embeddings/Microsoft_Excel_Worksheet38.xlsx"/></Relationships>
</file>

<file path=ppt/charts/_rels/chart53.xml.rels><?xml version="1.0" encoding="UTF-8" standalone="yes"?>
<Relationships xmlns="http://schemas.openxmlformats.org/package/2006/relationships"><Relationship Id="rId3" Type="http://schemas.openxmlformats.org/officeDocument/2006/relationships/themeOverride" Target="../theme/themeOverride47.xml"/><Relationship Id="rId2" Type="http://schemas.microsoft.com/office/2011/relationships/chartColorStyle" Target="colors54.xml"/><Relationship Id="rId1" Type="http://schemas.microsoft.com/office/2011/relationships/chartStyle" Target="style54.xml"/><Relationship Id="rId4" Type="http://schemas.openxmlformats.org/officeDocument/2006/relationships/package" Target="../embeddings/Microsoft_Excel_Worksheet39.xlsx"/></Relationships>
</file>

<file path=ppt/charts/_rels/chart54.xml.rels><?xml version="1.0" encoding="UTF-8" standalone="yes"?>
<Relationships xmlns="http://schemas.openxmlformats.org/package/2006/relationships"><Relationship Id="rId3" Type="http://schemas.openxmlformats.org/officeDocument/2006/relationships/themeOverride" Target="../theme/themeOverride48.xml"/><Relationship Id="rId2" Type="http://schemas.microsoft.com/office/2011/relationships/chartColorStyle" Target="colors55.xml"/><Relationship Id="rId1" Type="http://schemas.microsoft.com/office/2011/relationships/chartStyle" Target="style55.xml"/><Relationship Id="rId4" Type="http://schemas.openxmlformats.org/officeDocument/2006/relationships/package" Target="../embeddings/Microsoft_Excel_Worksheet40.xlsx"/></Relationships>
</file>

<file path=ppt/charts/_rels/chart55.xml.rels><?xml version="1.0" encoding="UTF-8" standalone="yes"?>
<Relationships xmlns="http://schemas.openxmlformats.org/package/2006/relationships"><Relationship Id="rId3" Type="http://schemas.openxmlformats.org/officeDocument/2006/relationships/themeOverride" Target="../theme/themeOverride49.xml"/><Relationship Id="rId2" Type="http://schemas.microsoft.com/office/2011/relationships/chartColorStyle" Target="colors56.xml"/><Relationship Id="rId1" Type="http://schemas.microsoft.com/office/2011/relationships/chartStyle" Target="style56.xml"/><Relationship Id="rId4" Type="http://schemas.openxmlformats.org/officeDocument/2006/relationships/package" Target="../embeddings/Microsoft_Excel_Worksheet41.xlsx"/></Relationships>
</file>

<file path=ppt/charts/_rels/chart56.xml.rels><?xml version="1.0" encoding="UTF-8" standalone="yes"?>
<Relationships xmlns="http://schemas.openxmlformats.org/package/2006/relationships"><Relationship Id="rId3" Type="http://schemas.openxmlformats.org/officeDocument/2006/relationships/themeOverride" Target="../theme/themeOverride50.xml"/><Relationship Id="rId2" Type="http://schemas.microsoft.com/office/2011/relationships/chartColorStyle" Target="colors57.xml"/><Relationship Id="rId1" Type="http://schemas.microsoft.com/office/2011/relationships/chartStyle" Target="style57.xml"/><Relationship Id="rId4" Type="http://schemas.openxmlformats.org/officeDocument/2006/relationships/package" Target="../embeddings/Microsoft_Excel_Worksheet42.xlsx"/></Relationships>
</file>

<file path=ppt/charts/_rels/chart57.xml.rels><?xml version="1.0" encoding="UTF-8" standalone="yes"?>
<Relationships xmlns="http://schemas.openxmlformats.org/package/2006/relationships"><Relationship Id="rId3" Type="http://schemas.openxmlformats.org/officeDocument/2006/relationships/themeOverride" Target="../theme/themeOverride51.xml"/><Relationship Id="rId2" Type="http://schemas.microsoft.com/office/2011/relationships/chartColorStyle" Target="colors58.xml"/><Relationship Id="rId1" Type="http://schemas.microsoft.com/office/2011/relationships/chartStyle" Target="style58.xml"/><Relationship Id="rId4" Type="http://schemas.openxmlformats.org/officeDocument/2006/relationships/package" Target="../embeddings/Microsoft_Excel_Worksheet43.xlsx"/></Relationships>
</file>

<file path=ppt/charts/_rels/chart58.xml.rels><?xml version="1.0" encoding="UTF-8" standalone="yes"?>
<Relationships xmlns="http://schemas.openxmlformats.org/package/2006/relationships"><Relationship Id="rId3" Type="http://schemas.openxmlformats.org/officeDocument/2006/relationships/themeOverride" Target="../theme/themeOverride52.xml"/><Relationship Id="rId2" Type="http://schemas.microsoft.com/office/2011/relationships/chartColorStyle" Target="colors59.xml"/><Relationship Id="rId1" Type="http://schemas.microsoft.com/office/2011/relationships/chartStyle" Target="style59.xml"/><Relationship Id="rId4" Type="http://schemas.openxmlformats.org/officeDocument/2006/relationships/package" Target="../embeddings/Microsoft_Excel_Worksheet44.xlsx"/></Relationships>
</file>

<file path=ppt/charts/_rels/chart59.xml.rels><?xml version="1.0" encoding="UTF-8" standalone="yes"?>
<Relationships xmlns="http://schemas.openxmlformats.org/package/2006/relationships"><Relationship Id="rId3" Type="http://schemas.openxmlformats.org/officeDocument/2006/relationships/themeOverride" Target="../theme/themeOverride53.xml"/><Relationship Id="rId2" Type="http://schemas.microsoft.com/office/2011/relationships/chartColorStyle" Target="colors60.xml"/><Relationship Id="rId1" Type="http://schemas.microsoft.com/office/2011/relationships/chartStyle" Target="style60.xml"/><Relationship Id="rId4" Type="http://schemas.openxmlformats.org/officeDocument/2006/relationships/package" Target="../embeddings/Microsoft_Excel_Worksheet45.xlsx"/></Relationships>
</file>

<file path=ppt/charts/_rels/chart60.xml.rels><?xml version="1.0" encoding="UTF-8" standalone="yes"?>
<Relationships xmlns="http://schemas.openxmlformats.org/package/2006/relationships"><Relationship Id="rId3" Type="http://schemas.openxmlformats.org/officeDocument/2006/relationships/themeOverride" Target="../theme/themeOverride54.xml"/><Relationship Id="rId2" Type="http://schemas.microsoft.com/office/2011/relationships/chartColorStyle" Target="colors61.xml"/><Relationship Id="rId1" Type="http://schemas.microsoft.com/office/2011/relationships/chartStyle" Target="style61.xml"/><Relationship Id="rId4" Type="http://schemas.openxmlformats.org/officeDocument/2006/relationships/package" Target="../embeddings/Microsoft_Excel_Worksheet46.xlsx"/></Relationships>
</file>

<file path=ppt/charts/_rels/chart61.xml.rels><?xml version="1.0" encoding="UTF-8" standalone="yes"?>
<Relationships xmlns="http://schemas.openxmlformats.org/package/2006/relationships"><Relationship Id="rId3" Type="http://schemas.openxmlformats.org/officeDocument/2006/relationships/themeOverride" Target="../theme/themeOverride56.xml"/><Relationship Id="rId2" Type="http://schemas.microsoft.com/office/2011/relationships/chartColorStyle" Target="colors62.xml"/><Relationship Id="rId1" Type="http://schemas.microsoft.com/office/2011/relationships/chartStyle" Target="style62.xml"/><Relationship Id="rId4" Type="http://schemas.openxmlformats.org/officeDocument/2006/relationships/package" Target="../embeddings/Microsoft_Excel_Worksheet47.xlsx"/></Relationships>
</file>

<file path=ppt/charts/_rels/chart62.xml.rels><?xml version="1.0" encoding="UTF-8" standalone="yes"?>
<Relationships xmlns="http://schemas.openxmlformats.org/package/2006/relationships"><Relationship Id="rId3" Type="http://schemas.openxmlformats.org/officeDocument/2006/relationships/themeOverride" Target="../theme/themeOverride57.xml"/><Relationship Id="rId2" Type="http://schemas.microsoft.com/office/2011/relationships/chartColorStyle" Target="colors63.xml"/><Relationship Id="rId1" Type="http://schemas.microsoft.com/office/2011/relationships/chartStyle" Target="style63.xml"/><Relationship Id="rId4" Type="http://schemas.openxmlformats.org/officeDocument/2006/relationships/package" Target="../embeddings/Microsoft_Excel_Worksheet48.xlsx"/></Relationships>
</file>

<file path=ppt/charts/_rels/chart63.xml.rels><?xml version="1.0" encoding="UTF-8" standalone="yes"?>
<Relationships xmlns="http://schemas.openxmlformats.org/package/2006/relationships"><Relationship Id="rId3" Type="http://schemas.openxmlformats.org/officeDocument/2006/relationships/themeOverride" Target="../theme/themeOverride58.xml"/><Relationship Id="rId2" Type="http://schemas.microsoft.com/office/2011/relationships/chartColorStyle" Target="colors64.xml"/><Relationship Id="rId1" Type="http://schemas.microsoft.com/office/2011/relationships/chartStyle" Target="style64.xml"/><Relationship Id="rId4" Type="http://schemas.openxmlformats.org/officeDocument/2006/relationships/package" Target="../embeddings/Microsoft_Excel_Worksheet49.xlsx"/></Relationships>
</file>

<file path=ppt/charts/_rels/chart64.xml.rels><?xml version="1.0" encoding="UTF-8" standalone="yes"?>
<Relationships xmlns="http://schemas.openxmlformats.org/package/2006/relationships"><Relationship Id="rId3" Type="http://schemas.openxmlformats.org/officeDocument/2006/relationships/themeOverride" Target="../theme/themeOverride59.xml"/><Relationship Id="rId2" Type="http://schemas.microsoft.com/office/2011/relationships/chartColorStyle" Target="colors65.xml"/><Relationship Id="rId1" Type="http://schemas.microsoft.com/office/2011/relationships/chartStyle" Target="style65.xml"/><Relationship Id="rId4" Type="http://schemas.openxmlformats.org/officeDocument/2006/relationships/package" Target="../embeddings/Microsoft_Excel_Worksheet50.xlsx"/></Relationships>
</file>

<file path=ppt/charts/_rels/chart65.xml.rels><?xml version="1.0" encoding="UTF-8" standalone="yes"?>
<Relationships xmlns="http://schemas.openxmlformats.org/package/2006/relationships"><Relationship Id="rId3" Type="http://schemas.openxmlformats.org/officeDocument/2006/relationships/themeOverride" Target="../theme/themeOverride61.xml"/><Relationship Id="rId2" Type="http://schemas.microsoft.com/office/2011/relationships/chartColorStyle" Target="colors66.xml"/><Relationship Id="rId1" Type="http://schemas.microsoft.com/office/2011/relationships/chartStyle" Target="style66.xml"/><Relationship Id="rId4" Type="http://schemas.openxmlformats.org/officeDocument/2006/relationships/package" Target="../embeddings/Microsoft_Excel_Worksheet51.xlsx"/></Relationships>
</file>

<file path=ppt/charts/_rels/chart66.xml.rels><?xml version="1.0" encoding="UTF-8" standalone="yes"?>
<Relationships xmlns="http://schemas.openxmlformats.org/package/2006/relationships"><Relationship Id="rId3" Type="http://schemas.openxmlformats.org/officeDocument/2006/relationships/themeOverride" Target="../theme/themeOverride62.xml"/><Relationship Id="rId2" Type="http://schemas.microsoft.com/office/2011/relationships/chartColorStyle" Target="colors67.xml"/><Relationship Id="rId1" Type="http://schemas.microsoft.com/office/2011/relationships/chartStyle" Target="style67.xml"/><Relationship Id="rId4" Type="http://schemas.openxmlformats.org/officeDocument/2006/relationships/package" Target="../embeddings/Microsoft_Excel_Worksheet52.xlsx"/></Relationships>
</file>

<file path=ppt/charts/_rels/chart67.xml.rels><?xml version="1.0" encoding="UTF-8" standalone="yes"?>
<Relationships xmlns="http://schemas.openxmlformats.org/package/2006/relationships"><Relationship Id="rId3" Type="http://schemas.openxmlformats.org/officeDocument/2006/relationships/themeOverride" Target="../theme/themeOverride63.xml"/><Relationship Id="rId2" Type="http://schemas.microsoft.com/office/2011/relationships/chartColorStyle" Target="colors68.xml"/><Relationship Id="rId1" Type="http://schemas.microsoft.com/office/2011/relationships/chartStyle" Target="style68.xml"/><Relationship Id="rId4" Type="http://schemas.openxmlformats.org/officeDocument/2006/relationships/package" Target="../embeddings/Microsoft_Excel_Worksheet53.xlsx"/></Relationships>
</file>

<file path=ppt/charts/_rels/chart68.xml.rels><?xml version="1.0" encoding="UTF-8" standalone="yes"?>
<Relationships xmlns="http://schemas.openxmlformats.org/package/2006/relationships"><Relationship Id="rId3" Type="http://schemas.openxmlformats.org/officeDocument/2006/relationships/themeOverride" Target="../theme/themeOverride64.xml"/><Relationship Id="rId2" Type="http://schemas.microsoft.com/office/2011/relationships/chartColorStyle" Target="colors69.xml"/><Relationship Id="rId1" Type="http://schemas.microsoft.com/office/2011/relationships/chartStyle" Target="style69.xml"/><Relationship Id="rId4" Type="http://schemas.openxmlformats.org/officeDocument/2006/relationships/package" Target="../embeddings/Microsoft_Excel_Worksheet54.xlsx"/></Relationships>
</file>

<file path=ppt/charts/_rels/chart69.xml.rels><?xml version="1.0" encoding="UTF-8" standalone="yes"?>
<Relationships xmlns="http://schemas.openxmlformats.org/package/2006/relationships"><Relationship Id="rId3" Type="http://schemas.openxmlformats.org/officeDocument/2006/relationships/oleObject" Target="file:///D:\Harshada's%20all%20data\Harshada\Federal%20bank\Combine%20data%20Age,gender,brand%20wise%20visuals.xlsx" TargetMode="External"/><Relationship Id="rId2" Type="http://schemas.microsoft.com/office/2011/relationships/chartColorStyle" Target="colors70.xml"/><Relationship Id="rId1" Type="http://schemas.microsoft.com/office/2011/relationships/chartStyle" Target="style70.xml"/></Relationships>
</file>

<file path=ppt/charts/_rels/chart70.xml.rels><?xml version="1.0" encoding="UTF-8" standalone="yes"?>
<Relationships xmlns="http://schemas.openxmlformats.org/package/2006/relationships"><Relationship Id="rId3" Type="http://schemas.openxmlformats.org/officeDocument/2006/relationships/oleObject" Target="file:///D:\Harshada's%20all%20data\Harshada\Federal%20bank\Combine%20data%20Age,gender,brand%20wise%20visuals.xlsx" TargetMode="External"/><Relationship Id="rId2" Type="http://schemas.microsoft.com/office/2011/relationships/chartColorStyle" Target="colors71.xml"/><Relationship Id="rId1" Type="http://schemas.microsoft.com/office/2011/relationships/chartStyle" Target="style71.xml"/></Relationships>
</file>

<file path=ppt/charts/_rels/chart71.xml.rels><?xml version="1.0" encoding="UTF-8" standalone="yes"?>
<Relationships xmlns="http://schemas.openxmlformats.org/package/2006/relationships"><Relationship Id="rId3" Type="http://schemas.openxmlformats.org/officeDocument/2006/relationships/oleObject" Target="file:///D:\Harshada's%20all%20data\Harshada\Federal%20bank\Combine%20data%20Age,gender,brand%20wise%20visuals.xlsx" TargetMode="External"/><Relationship Id="rId2" Type="http://schemas.microsoft.com/office/2011/relationships/chartColorStyle" Target="colors72.xml"/><Relationship Id="rId1" Type="http://schemas.microsoft.com/office/2011/relationships/chartStyle" Target="style72.xml"/></Relationships>
</file>

<file path=ppt/charts/_rels/chart72.xml.rels><?xml version="1.0" encoding="UTF-8" standalone="yes"?>
<Relationships xmlns="http://schemas.openxmlformats.org/package/2006/relationships"><Relationship Id="rId3" Type="http://schemas.openxmlformats.org/officeDocument/2006/relationships/oleObject" Target="file:///D:\Harshada's%20all%20data\Harshada\Federal%20bank\Combine%20data%20Age,gender,brand%20wise%20visuals.xlsx" TargetMode="External"/><Relationship Id="rId2" Type="http://schemas.microsoft.com/office/2011/relationships/chartColorStyle" Target="colors73.xml"/><Relationship Id="rId1" Type="http://schemas.microsoft.com/office/2011/relationships/chartStyle" Target="style73.xml"/></Relationships>
</file>

<file path=ppt/charts/_rels/chartEx1.xml.rels><?xml version="1.0" encoding="UTF-8" standalone="yes"?>
<Relationships xmlns="http://schemas.openxmlformats.org/package/2006/relationships"><Relationship Id="rId3" Type="http://schemas.microsoft.com/office/2011/relationships/chartColorStyle" Target="colors17.xml"/><Relationship Id="rId2" Type="http://schemas.microsoft.com/office/2011/relationships/chartStyle" Target="style17.xml"/><Relationship Id="rId1" Type="http://schemas.openxmlformats.org/officeDocument/2006/relationships/oleObject" Target="file:///D:\Harshada's%20all%20data\Harshada\Federal%20bank\Cross%20question%20visuals%20Federal.xlsx" TargetMode="External"/><Relationship Id="rId4" Type="http://schemas.openxmlformats.org/officeDocument/2006/relationships/themeOverride" Target="../theme/themeOverrid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42578119746307169"/>
          <c:y val="3.5725911858858296E-2"/>
          <c:w val="0.57496153172482478"/>
          <c:h val="0.91048692994685565"/>
        </c:manualLayout>
      </c:layout>
      <c:doughnutChart>
        <c:varyColors val="1"/>
        <c:ser>
          <c:idx val="0"/>
          <c:order val="0"/>
          <c:dPt>
            <c:idx val="0"/>
            <c:bubble3D val="0"/>
            <c:spPr>
              <a:solidFill>
                <a:srgbClr val="ED7D31">
                  <a:lumMod val="75000"/>
                </a:srgbClr>
              </a:solidFill>
              <a:ln w="19050">
                <a:solidFill>
                  <a:schemeClr val="lt1"/>
                </a:solidFill>
              </a:ln>
              <a:effectLst/>
            </c:spPr>
            <c:extLst>
              <c:ext xmlns:c16="http://schemas.microsoft.com/office/drawing/2014/chart" uri="{C3380CC4-5D6E-409C-BE32-E72D297353CC}">
                <c16:uniqueId val="{00000001-A3B7-4669-AC5B-6BB53201F318}"/>
              </c:ext>
            </c:extLst>
          </c:dPt>
          <c:dPt>
            <c:idx val="1"/>
            <c:bubble3D val="0"/>
            <c:spPr>
              <a:solidFill>
                <a:schemeClr val="accent2">
                  <a:tint val="65000"/>
                </a:schemeClr>
              </a:solidFill>
              <a:ln w="9525">
                <a:noFill/>
              </a:ln>
              <a:effectLst/>
            </c:spPr>
            <c:extLst>
              <c:ext xmlns:c16="http://schemas.microsoft.com/office/drawing/2014/chart" uri="{C3380CC4-5D6E-409C-BE32-E72D297353CC}">
                <c16:uniqueId val="{00000003-A3B7-4669-AC5B-6BB53201F318}"/>
              </c:ext>
            </c:extLst>
          </c:dPt>
          <c:dPt>
            <c:idx val="2"/>
            <c:bubble3D val="0"/>
            <c:spPr>
              <a:solidFill>
                <a:srgbClr val="FFC000">
                  <a:lumMod val="50000"/>
                </a:srgbClr>
              </a:solidFill>
              <a:ln w="19050">
                <a:solidFill>
                  <a:schemeClr val="lt1"/>
                </a:solidFill>
              </a:ln>
              <a:effectLst/>
            </c:spPr>
            <c:extLst>
              <c:ext xmlns:c16="http://schemas.microsoft.com/office/drawing/2014/chart" uri="{C3380CC4-5D6E-409C-BE32-E72D297353CC}">
                <c16:uniqueId val="{00000005-A3B7-4669-AC5B-6BB53201F318}"/>
              </c:ext>
            </c:extLst>
          </c:dPt>
          <c:dLbls>
            <c:dLbl>
              <c:idx val="0"/>
              <c:tx>
                <c:rich>
                  <a:bodyPr/>
                  <a:lstStyle/>
                  <a:p>
                    <a:fld id="{D4769860-AD48-4E46-8C16-D3C71F2B8373}" type="VALUE">
                      <a:rPr lang="en-US">
                        <a:solidFill>
                          <a:schemeClr val="bg1"/>
                        </a:solidFill>
                      </a:rPr>
                      <a:pPr/>
                      <a:t>[VALUE]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3B7-4669-AC5B-6BB53201F318}"/>
                </c:ext>
              </c:extLst>
            </c:dLbl>
            <c:dLbl>
              <c:idx val="1"/>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A3B7-4669-AC5B-6BB53201F318}"/>
                </c:ext>
              </c:extLst>
            </c:dLbl>
            <c:dLbl>
              <c:idx val="2"/>
              <c:layout>
                <c:manualLayout>
                  <c:x val="0"/>
                  <c:y val="1.0555361625027012E-2"/>
                </c:manualLayout>
              </c:layout>
              <c:tx>
                <c:rich>
                  <a:bodyPr/>
                  <a:lstStyle/>
                  <a:p>
                    <a:fld id="{0C5FE19E-F095-4B6C-90AB-35057A33A684}" type="VALUE">
                      <a:rPr lang="en-US">
                        <a:solidFill>
                          <a:schemeClr val="bg1"/>
                        </a:solidFill>
                      </a:rPr>
                      <a:pPr/>
                      <a:t>[VALUE]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A3B7-4669-AC5B-6BB53201F318}"/>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'PB experinece'!$Z$9:$Z$11</c:f>
              <c:strCache>
                <c:ptCount val="3"/>
                <c:pt idx="0">
                  <c:v>Financial well-being guidance and advice</c:v>
                </c:pt>
                <c:pt idx="1">
                  <c:v>Quick hassle-free banking</c:v>
                </c:pt>
                <c:pt idx="2">
                  <c:v>Financial planning for business</c:v>
                </c:pt>
              </c:strCache>
            </c:strRef>
          </c:cat>
          <c:val>
            <c:numRef>
              <c:f>'PB experinece'!$AA$9:$AA$11</c:f>
              <c:numCache>
                <c:formatCode>0%</c:formatCode>
                <c:ptCount val="3"/>
                <c:pt idx="0">
                  <c:v>0.46463022508038587</c:v>
                </c:pt>
                <c:pt idx="1">
                  <c:v>0.39228295819935688</c:v>
                </c:pt>
                <c:pt idx="2">
                  <c:v>0.14308681672025725</c:v>
                </c:pt>
              </c:numCache>
            </c:numRef>
          </c:val>
          <c:extLst>
            <c:ext xmlns:c16="http://schemas.microsoft.com/office/drawing/2014/chart" uri="{C3380CC4-5D6E-409C-BE32-E72D297353CC}">
              <c16:uniqueId val="{00000006-A3B7-4669-AC5B-6BB53201F318}"/>
            </c:ext>
          </c:extLst>
        </c:ser>
        <c:dLbls>
          <c:showLegendKey val="0"/>
          <c:showVal val="1"/>
          <c:showCatName val="0"/>
          <c:showSerName val="0"/>
          <c:showPercent val="0"/>
          <c:showBubbleSize val="0"/>
          <c:showLeaderLines val="0"/>
        </c:dLbls>
        <c:firstSliceAng val="0"/>
        <c:holeSize val="55"/>
      </c:doughnutChart>
      <c:spPr>
        <a:noFill/>
        <a:ln w="25400">
          <a:noFill/>
        </a:ln>
        <a:effectLst/>
      </c:spPr>
    </c:plotArea>
    <c:legend>
      <c:legendPos val="l"/>
      <c:layout>
        <c:manualLayout>
          <c:xMode val="edge"/>
          <c:yMode val="edge"/>
          <c:x val="1.4419733462013369E-2"/>
          <c:y val="0.21681836475541033"/>
          <c:w val="0.32612346660232672"/>
          <c:h val="0.5483341129406053"/>
        </c:manualLayout>
      </c:layout>
      <c:overlay val="0"/>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45420642755292301"/>
          <c:y val="1.0866681191527549E-2"/>
          <c:w val="0.54579357244707694"/>
          <c:h val="0.93564839482310946"/>
        </c:manualLayout>
      </c:layout>
      <c:doughnutChart>
        <c:varyColors val="1"/>
        <c:ser>
          <c:idx val="0"/>
          <c:order val="0"/>
          <c:dPt>
            <c:idx val="0"/>
            <c:bubble3D val="0"/>
            <c:spPr>
              <a:solidFill>
                <a:srgbClr val="002060"/>
              </a:solidFill>
              <a:ln w="19050">
                <a:solidFill>
                  <a:schemeClr val="lt1"/>
                </a:solidFill>
              </a:ln>
              <a:effectLst/>
            </c:spPr>
            <c:extLst>
              <c:ext xmlns:c16="http://schemas.microsoft.com/office/drawing/2014/chart" uri="{C3380CC4-5D6E-409C-BE32-E72D297353CC}">
                <c16:uniqueId val="{00000001-E5B4-42F6-A58A-49E11FB03108}"/>
              </c:ext>
            </c:extLst>
          </c:dPt>
          <c:dPt>
            <c:idx val="1"/>
            <c:bubble3D val="0"/>
            <c:spPr>
              <a:solidFill>
                <a:srgbClr val="FF0000"/>
              </a:solidFill>
              <a:ln w="19050">
                <a:solidFill>
                  <a:schemeClr val="lt1"/>
                </a:solidFill>
              </a:ln>
              <a:effectLst/>
            </c:spPr>
            <c:extLst>
              <c:ext xmlns:c16="http://schemas.microsoft.com/office/drawing/2014/chart" uri="{C3380CC4-5D6E-409C-BE32-E72D297353CC}">
                <c16:uniqueId val="{00000003-E5B4-42F6-A58A-49E11FB03108}"/>
              </c:ext>
            </c:extLst>
          </c:dPt>
          <c:dPt>
            <c:idx val="2"/>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5-E5B4-42F6-A58A-49E11FB03108}"/>
              </c:ext>
            </c:extLst>
          </c:dPt>
          <c:dLbls>
            <c:dLbl>
              <c:idx val="0"/>
              <c:tx>
                <c:rich>
                  <a:bodyPr/>
                  <a:lstStyle/>
                  <a:p>
                    <a:fld id="{5E027F57-890B-4DF3-9A88-3AA2608E3A60}" type="VALUE">
                      <a:rPr lang="en-US">
                        <a:solidFill>
                          <a:schemeClr val="bg1"/>
                        </a:solidFill>
                      </a:rPr>
                      <a:pPr/>
                      <a:t>[VALUE]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5B4-42F6-A58A-49E11FB03108}"/>
                </c:ext>
              </c:extLst>
            </c:dLbl>
            <c:dLbl>
              <c:idx val="1"/>
              <c:spPr>
                <a:noFill/>
                <a:ln>
                  <a:noFill/>
                </a:ln>
                <a:effectLst/>
              </c:spPr>
              <c:txPr>
                <a:bodyPr rot="0" spcFirstLastPara="1" vertOverflow="ellipsis" vert="horz" wrap="square" lIns="38100" tIns="19050" rIns="38100" bIns="19050" anchor="ctr" anchorCtr="0">
                  <a:spAutoFit/>
                </a:bodyPr>
                <a:lstStyle/>
                <a:p>
                  <a:pPr algn="ctr" rtl="0">
                    <a:defRPr lang="en-US" sz="1100" b="0" i="0" u="none" strike="noStrike" kern="1200" baseline="0">
                      <a:solidFill>
                        <a:schemeClr val="bg1"/>
                      </a:solidFill>
                      <a:latin typeface="Montserrat SemiBold" panose="00000700000000000000" pitchFamily="2"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E5B4-42F6-A58A-49E11FB03108}"/>
                </c:ext>
              </c:extLst>
            </c:dLbl>
            <c:dLbl>
              <c:idx val="2"/>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E5B4-42F6-A58A-49E11FB03108}"/>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'PB experinece'!$Z$18:$Z$20</c:f>
              <c:strCache>
                <c:ptCount val="3"/>
                <c:pt idx="0">
                  <c:v>Quick hassle-free banking</c:v>
                </c:pt>
                <c:pt idx="1">
                  <c:v>Financial guidance and advice</c:v>
                </c:pt>
                <c:pt idx="2">
                  <c:v>Financial planning for business</c:v>
                </c:pt>
              </c:strCache>
            </c:strRef>
          </c:cat>
          <c:val>
            <c:numRef>
              <c:f>'PB experinece'!$AA$18:$AA$20</c:f>
              <c:numCache>
                <c:formatCode>0%</c:formatCode>
                <c:ptCount val="3"/>
                <c:pt idx="0">
                  <c:v>0.73</c:v>
                </c:pt>
                <c:pt idx="1">
                  <c:v>0.23</c:v>
                </c:pt>
                <c:pt idx="2">
                  <c:v>0.04</c:v>
                </c:pt>
              </c:numCache>
            </c:numRef>
          </c:val>
          <c:extLst>
            <c:ext xmlns:c16="http://schemas.microsoft.com/office/drawing/2014/chart" uri="{C3380CC4-5D6E-409C-BE32-E72D297353CC}">
              <c16:uniqueId val="{00000006-E5B4-42F6-A58A-49E11FB03108}"/>
            </c:ext>
          </c:extLst>
        </c:ser>
        <c:dLbls>
          <c:showLegendKey val="0"/>
          <c:showVal val="1"/>
          <c:showCatName val="0"/>
          <c:showSerName val="0"/>
          <c:showPercent val="0"/>
          <c:showBubbleSize val="0"/>
          <c:showLeaderLines val="0"/>
        </c:dLbls>
        <c:firstSliceAng val="0"/>
        <c:holeSize val="59"/>
      </c:doughnutChart>
      <c:spPr>
        <a:noFill/>
        <a:ln>
          <a:noFill/>
        </a:ln>
        <a:effectLst/>
      </c:spPr>
    </c:plotArea>
    <c:legend>
      <c:legendPos val="l"/>
      <c:layout>
        <c:manualLayout>
          <c:xMode val="edge"/>
          <c:yMode val="edge"/>
          <c:x val="2.0927868065446553E-2"/>
          <c:y val="0.23112495723972906"/>
          <c:w val="0.30715024506478578"/>
          <c:h val="0.55514491237525909"/>
        </c:manualLayout>
      </c:layout>
      <c:overlay val="0"/>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0.52232932482835326"/>
          <c:y val="4.4561046610082436E-2"/>
          <c:w val="0.44264750805353997"/>
          <c:h val="0.87119846583168514"/>
        </c:manualLayout>
      </c:layout>
      <c:barChart>
        <c:barDir val="bar"/>
        <c:grouping val="stacked"/>
        <c:varyColors val="0"/>
        <c:ser>
          <c:idx val="0"/>
          <c:order val="0"/>
          <c:tx>
            <c:strRef>
              <c:f>'PB experinece'!$C$38</c:f>
              <c:strCache>
                <c:ptCount val="1"/>
                <c:pt idx="0">
                  <c:v>PERCENTAGE</c:v>
                </c:pt>
              </c:strCache>
            </c:strRef>
          </c:tx>
          <c:spPr>
            <a:solidFill>
              <a:schemeClr val="accent2">
                <a:lumMod val="75000"/>
              </a:schemeClr>
            </a:solidFill>
            <a:ln>
              <a:noFill/>
            </a:ln>
            <a:effectLst/>
          </c:spPr>
          <c:invertIfNegative val="0"/>
          <c:dLbls>
            <c:dLbl>
              <c:idx val="0"/>
              <c:layout>
                <c:manualLayout>
                  <c:x val="5.3911094224698211E-2"/>
                  <c:y val="-1.2742981331300433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C53-4F1F-9254-BAA5F83D3F40}"/>
                </c:ext>
              </c:extLst>
            </c:dLbl>
            <c:dLbl>
              <c:idx val="1"/>
              <c:layout>
                <c:manualLayout>
                  <c:x val="6.658729945446238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C53-4F1F-9254-BAA5F83D3F40}"/>
                </c:ext>
              </c:extLst>
            </c:dLbl>
            <c:dLbl>
              <c:idx val="2"/>
              <c:layout>
                <c:manualLayout>
                  <c:x val="7.6331659831228263E-2"/>
                  <c:y val="4.6552906970413039E-4"/>
                </c:manualLayout>
              </c:layout>
              <c:spPr>
                <a:noFill/>
                <a:ln>
                  <a:noFill/>
                </a:ln>
                <a:effectLst/>
              </c:spPr>
              <c:txPr>
                <a:bodyPr rot="0" spcFirstLastPara="1" vertOverflow="ellipsis" vert="horz" wrap="square" lIns="38100" tIns="19050" rIns="38100" bIns="19050" anchor="ctr" anchorCtr="0">
                  <a:no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6.4876998064273841E-2"/>
                      <c:h val="5.219083797525087E-2"/>
                    </c:manualLayout>
                  </c15:layout>
                </c:ext>
                <c:ext xmlns:c16="http://schemas.microsoft.com/office/drawing/2014/chart" uri="{C3380CC4-5D6E-409C-BE32-E72D297353CC}">
                  <c16:uniqueId val="{00000002-9C53-4F1F-9254-BAA5F83D3F40}"/>
                </c:ext>
              </c:extLst>
            </c:dLbl>
            <c:dLbl>
              <c:idx val="3"/>
              <c:layout>
                <c:manualLayout>
                  <c:x val="7.517980514413071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C53-4F1F-9254-BAA5F83D3F40}"/>
                </c:ext>
              </c:extLst>
            </c:dLbl>
            <c:dLbl>
              <c:idx val="4"/>
              <c:layout>
                <c:manualLayout>
                  <c:x val="0.10202098278724628"/>
                  <c:y val="-1.042619607761577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C53-4F1F-9254-BAA5F83D3F40}"/>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'PB experinece'!$A$39:$A$43</c:f>
              <c:strCache>
                <c:ptCount val="5"/>
                <c:pt idx="0">
                  <c:v>Symbols of distinguished exclusivity</c:v>
                </c:pt>
                <c:pt idx="1">
                  <c:v>Personalized unique luxury experiences</c:v>
                </c:pt>
                <c:pt idx="2">
                  <c:v>Curated exclusive digital experiences</c:v>
                </c:pt>
                <c:pt idx="3">
                  <c:v>Community and social engagement opportunities</c:v>
                </c:pt>
                <c:pt idx="4">
                  <c:v>Enhanced sense of recognition via personalised cards, offers, privileges</c:v>
                </c:pt>
              </c:strCache>
            </c:strRef>
          </c:cat>
          <c:val>
            <c:numRef>
              <c:f>'PB experinece'!$C$39:$C$43</c:f>
              <c:numCache>
                <c:formatCode>0%</c:formatCode>
                <c:ptCount val="5"/>
                <c:pt idx="0">
                  <c:v>0.14492753623188406</c:v>
                </c:pt>
                <c:pt idx="1">
                  <c:v>0.17713365539452497</c:v>
                </c:pt>
                <c:pt idx="2">
                  <c:v>0.19001610305958133</c:v>
                </c:pt>
                <c:pt idx="3">
                  <c:v>0.19806763285024154</c:v>
                </c:pt>
                <c:pt idx="4">
                  <c:v>0.28985507246376813</c:v>
                </c:pt>
              </c:numCache>
            </c:numRef>
          </c:val>
          <c:extLst>
            <c:ext xmlns:c16="http://schemas.microsoft.com/office/drawing/2014/chart" uri="{C3380CC4-5D6E-409C-BE32-E72D297353CC}">
              <c16:uniqueId val="{00000005-9C53-4F1F-9254-BAA5F83D3F40}"/>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0696656174802483"/>
          <c:y val="7.8496483378266882E-2"/>
          <c:w val="0.53875799232520361"/>
          <c:h val="0.84567374633698511"/>
        </c:manualLayout>
      </c:layout>
      <c:doughnutChart>
        <c:varyColors val="1"/>
        <c:ser>
          <c:idx val="0"/>
          <c:order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ontserrat SemiBold" pitchFamily="2" charset="0"/>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Sheet1!$A$3:$A$8</c:f>
              <c:strCache>
                <c:ptCount val="6"/>
                <c:pt idx="0">
                  <c:v>50-65</c:v>
                </c:pt>
                <c:pt idx="1">
                  <c:v>40-50</c:v>
                </c:pt>
                <c:pt idx="2">
                  <c:v>30-40</c:v>
                </c:pt>
                <c:pt idx="3">
                  <c:v>65-75</c:v>
                </c:pt>
                <c:pt idx="4">
                  <c:v>27-30</c:v>
                </c:pt>
                <c:pt idx="5">
                  <c:v>75+</c:v>
                </c:pt>
              </c:strCache>
            </c:strRef>
          </c:cat>
          <c:val>
            <c:numRef>
              <c:f>Sheet1!$B$3:$B$8</c:f>
            </c:numRef>
          </c:val>
          <c:extLst>
            <c:ext xmlns:c16="http://schemas.microsoft.com/office/drawing/2014/chart" uri="{C3380CC4-5D6E-409C-BE32-E72D297353CC}">
              <c16:uniqueId val="{00000000-CE8C-4103-B42A-06688E5E25E5}"/>
            </c:ext>
          </c:extLst>
        </c:ser>
        <c:ser>
          <c:idx val="1"/>
          <c:order val="1"/>
          <c:spPr>
            <a:solidFill>
              <a:srgbClr val="002060"/>
            </a:solidFill>
          </c:spPr>
          <c:dPt>
            <c:idx val="0"/>
            <c:bubble3D val="0"/>
            <c:spPr>
              <a:solidFill>
                <a:srgbClr val="002060"/>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2-CE8C-4103-B42A-06688E5E25E5}"/>
              </c:ext>
            </c:extLst>
          </c:dPt>
          <c:dPt>
            <c:idx val="1"/>
            <c:bubble3D val="0"/>
            <c:spPr>
              <a:solidFill>
                <a:schemeClr val="tx2">
                  <a:lumMod val="75000"/>
                  <a:lumOff val="25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4-CE8C-4103-B42A-06688E5E25E5}"/>
              </c:ext>
            </c:extLst>
          </c:dPt>
          <c:dPt>
            <c:idx val="2"/>
            <c:bubble3D val="0"/>
            <c:spPr>
              <a:solidFill>
                <a:srgbClr val="00B0F0"/>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6-CE8C-4103-B42A-06688E5E25E5}"/>
              </c:ext>
            </c:extLst>
          </c:dPt>
          <c:dPt>
            <c:idx val="3"/>
            <c:bubble3D val="0"/>
            <c:spPr>
              <a:solidFill>
                <a:schemeClr val="accent4">
                  <a:lumMod val="60000"/>
                  <a:lumOff val="4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8-CE8C-4103-B42A-06688E5E25E5}"/>
              </c:ext>
            </c:extLst>
          </c:dPt>
          <c:dPt>
            <c:idx val="4"/>
            <c:bubble3D val="0"/>
            <c:spPr>
              <a:solidFill>
                <a:schemeClr val="accent4">
                  <a:lumMod val="40000"/>
                  <a:lumOff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A-CE8C-4103-B42A-06688E5E25E5}"/>
              </c:ext>
            </c:extLst>
          </c:dPt>
          <c:dPt>
            <c:idx val="5"/>
            <c:bubble3D val="0"/>
            <c:spPr>
              <a:solidFill>
                <a:schemeClr val="accent4">
                  <a:lumMod val="20000"/>
                  <a:lumOff val="8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C-CE8C-4103-B42A-06688E5E25E5}"/>
              </c:ext>
            </c:extLst>
          </c:dPt>
          <c:dLbls>
            <c:dLbl>
              <c:idx val="2"/>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ontserrat SemiBold" pitchFamily="2" charset="0"/>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6-CE8C-4103-B42A-06688E5E25E5}"/>
                </c:ext>
              </c:extLst>
            </c:dLbl>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ontserrat SemiBold" pitchFamily="2" charset="0"/>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8-CE8C-4103-B42A-06688E5E25E5}"/>
                </c:ext>
              </c:extLst>
            </c:dLbl>
            <c:dLbl>
              <c:idx val="4"/>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ontserrat SemiBold" pitchFamily="2" charset="0"/>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A-CE8C-4103-B42A-06688E5E25E5}"/>
                </c:ext>
              </c:extLst>
            </c:dLbl>
            <c:dLbl>
              <c:idx val="5"/>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ontserrat SemiBold" pitchFamily="2" charset="0"/>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C-CE8C-4103-B42A-06688E5E25E5}"/>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ontserrat SemiBold" pitchFamily="2" charset="0"/>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Sheet1!$A$3:$A$8</c:f>
              <c:strCache>
                <c:ptCount val="6"/>
                <c:pt idx="0">
                  <c:v>50-65</c:v>
                </c:pt>
                <c:pt idx="1">
                  <c:v>40-50</c:v>
                </c:pt>
                <c:pt idx="2">
                  <c:v>30-40</c:v>
                </c:pt>
                <c:pt idx="3">
                  <c:v>65-75</c:v>
                </c:pt>
                <c:pt idx="4">
                  <c:v>27-30</c:v>
                </c:pt>
                <c:pt idx="5">
                  <c:v>75+</c:v>
                </c:pt>
              </c:strCache>
            </c:strRef>
          </c:cat>
          <c:val>
            <c:numRef>
              <c:f>Sheet1!$C$3:$C$8</c:f>
              <c:numCache>
                <c:formatCode>0%</c:formatCode>
                <c:ptCount val="6"/>
                <c:pt idx="0">
                  <c:v>0.31382978723404253</c:v>
                </c:pt>
                <c:pt idx="1">
                  <c:v>0.30851063829787234</c:v>
                </c:pt>
                <c:pt idx="2">
                  <c:v>0.20212765957446807</c:v>
                </c:pt>
                <c:pt idx="3">
                  <c:v>0.10638297872340426</c:v>
                </c:pt>
                <c:pt idx="4">
                  <c:v>4.2553191489361701E-2</c:v>
                </c:pt>
                <c:pt idx="5">
                  <c:v>2.6595744680851064E-2</c:v>
                </c:pt>
              </c:numCache>
            </c:numRef>
          </c:val>
          <c:extLst>
            <c:ext xmlns:c16="http://schemas.microsoft.com/office/drawing/2014/chart" uri="{C3380CC4-5D6E-409C-BE32-E72D297353CC}">
              <c16:uniqueId val="{0000000D-CE8C-4103-B42A-06688E5E25E5}"/>
            </c:ext>
          </c:extLst>
        </c:ser>
        <c:dLbls>
          <c:showLegendKey val="0"/>
          <c:showVal val="0"/>
          <c:showCatName val="0"/>
          <c:showSerName val="0"/>
          <c:showPercent val="1"/>
          <c:showBubbleSize val="0"/>
          <c:showLeaderLines val="1"/>
        </c:dLbls>
        <c:firstSliceAng val="0"/>
        <c:holeSize val="65"/>
      </c:doughnutChart>
      <c:spPr>
        <a:noFill/>
        <a:ln>
          <a:noFill/>
        </a:ln>
        <a:effectLst/>
      </c:spPr>
    </c:plotArea>
    <c:legend>
      <c:legendPos val="r"/>
      <c:layout>
        <c:manualLayout>
          <c:xMode val="edge"/>
          <c:yMode val="edge"/>
          <c:x val="0.80413551683139395"/>
          <c:y val="8.5678774025365195E-2"/>
          <c:w val="0.17525047240441335"/>
          <c:h val="0.79628477608315051"/>
        </c:manualLayout>
      </c:layout>
      <c:overlay val="0"/>
      <c:spPr>
        <a:noFill/>
        <a:ln>
          <a:noFill/>
        </a:ln>
        <a:effectLst/>
      </c:spPr>
      <c:txPr>
        <a:bodyPr rot="0" spcFirstLastPara="1" vertOverflow="ellipsis" vert="horz" wrap="square" anchor="ctr" anchorCtr="1"/>
        <a:lstStyle/>
        <a:p>
          <a:pPr algn="just">
            <a:defRPr sz="1100" b="0" i="0" u="none" strike="noStrike" kern="1200" baseline="0">
              <a:solidFill>
                <a:schemeClr val="tx1"/>
              </a:solidFill>
              <a:latin typeface="Montserrat SemiBold"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9510395880950257E-2"/>
          <c:y val="0.18713967490460268"/>
          <c:w val="0.52156739753768377"/>
          <c:h val="0.68077555510865562"/>
        </c:manualLayout>
      </c:layout>
      <c:doughnutChart>
        <c:varyColors val="1"/>
        <c:ser>
          <c:idx val="0"/>
          <c:order val="0"/>
          <c:tx>
            <c:strRef>
              <c:f>'Q5'!$B$96</c:f>
              <c:strCache>
                <c:ptCount val="1"/>
                <c:pt idx="0">
                  <c:v>FEDERAL</c:v>
                </c:pt>
              </c:strCache>
            </c:strRef>
          </c:tx>
          <c:spPr>
            <a:ln>
              <a:noFill/>
            </a:ln>
          </c:spPr>
          <c:dPt>
            <c:idx val="0"/>
            <c:bubble3D val="0"/>
            <c:explosion val="20"/>
            <c:spPr>
              <a:solidFill>
                <a:schemeClr val="accent2">
                  <a:lumMod val="50000"/>
                </a:schemeClr>
              </a:solidFill>
              <a:ln w="9525">
                <a:noFill/>
              </a:ln>
              <a:effectLst/>
            </c:spPr>
            <c:extLst>
              <c:ext xmlns:c16="http://schemas.microsoft.com/office/drawing/2014/chart" uri="{C3380CC4-5D6E-409C-BE32-E72D297353CC}">
                <c16:uniqueId val="{00000001-7478-4FB8-8B3B-0ED0ECCA381C}"/>
              </c:ext>
            </c:extLst>
          </c:dPt>
          <c:dPt>
            <c:idx val="1"/>
            <c:bubble3D val="0"/>
            <c:spPr>
              <a:solidFill>
                <a:schemeClr val="accent2">
                  <a:lumMod val="75000"/>
                </a:schemeClr>
              </a:solidFill>
              <a:ln w="19050">
                <a:noFill/>
              </a:ln>
              <a:effectLst/>
            </c:spPr>
            <c:extLst>
              <c:ext xmlns:c16="http://schemas.microsoft.com/office/drawing/2014/chart" uri="{C3380CC4-5D6E-409C-BE32-E72D297353CC}">
                <c16:uniqueId val="{00000003-7478-4FB8-8B3B-0ED0ECCA381C}"/>
              </c:ext>
            </c:extLst>
          </c:dPt>
          <c:dPt>
            <c:idx val="2"/>
            <c:bubble3D val="0"/>
            <c:spPr>
              <a:solidFill>
                <a:schemeClr val="accent2">
                  <a:lumMod val="40000"/>
                  <a:lumOff val="60000"/>
                </a:schemeClr>
              </a:solidFill>
              <a:ln w="19050">
                <a:noFill/>
              </a:ln>
              <a:effectLst/>
            </c:spPr>
            <c:extLst>
              <c:ext xmlns:c16="http://schemas.microsoft.com/office/drawing/2014/chart" uri="{C3380CC4-5D6E-409C-BE32-E72D297353CC}">
                <c16:uniqueId val="{00000005-7478-4FB8-8B3B-0ED0ECCA381C}"/>
              </c:ext>
            </c:extLst>
          </c:dPt>
          <c:dLbls>
            <c:dLbl>
              <c:idx val="0"/>
              <c:tx>
                <c:rich>
                  <a:bodyPr/>
                  <a:lstStyle/>
                  <a:p>
                    <a:fld id="{53E8C2AA-FC1C-40A2-98D6-7D59147381FF}" type="VALUE">
                      <a:rPr lang="en-US">
                        <a:solidFill>
                          <a:schemeClr val="bg1"/>
                        </a:solidFill>
                      </a:rPr>
                      <a:pPr/>
                      <a:t>[VALUE]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478-4FB8-8B3B-0ED0ECCA381C}"/>
                </c:ext>
              </c:extLst>
            </c:dLbl>
            <c:dLbl>
              <c:idx val="2"/>
              <c:layout>
                <c:manualLayout>
                  <c:x val="0"/>
                  <c:y val="1.0555361625027012E-2"/>
                </c:manualLayout>
              </c:layout>
              <c:tx>
                <c:rich>
                  <a:bodyPr/>
                  <a:lstStyle/>
                  <a:p>
                    <a:fld id="{F9ACB062-5BBE-4A27-9A81-E717BCA5FE8D}" type="VALUE">
                      <a:rPr lang="en-US">
                        <a:solidFill>
                          <a:schemeClr val="tx1"/>
                        </a:solidFill>
                      </a:rPr>
                      <a:pPr/>
                      <a:t>[VALUE]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478-4FB8-8B3B-0ED0ECCA381C}"/>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'Q5'!$A$97:$A$99</c:f>
              <c:strCache>
                <c:ptCount val="3"/>
                <c:pt idx="0">
                  <c:v>Conservatives</c:v>
                </c:pt>
                <c:pt idx="1">
                  <c:v>Balanced</c:v>
                </c:pt>
                <c:pt idx="2">
                  <c:v>Go-getter</c:v>
                </c:pt>
              </c:strCache>
            </c:strRef>
          </c:cat>
          <c:val>
            <c:numRef>
              <c:f>'Q5'!$B$97:$B$99</c:f>
              <c:numCache>
                <c:formatCode>0%</c:formatCode>
                <c:ptCount val="3"/>
                <c:pt idx="0">
                  <c:v>0.49</c:v>
                </c:pt>
                <c:pt idx="1">
                  <c:v>0.27</c:v>
                </c:pt>
                <c:pt idx="2">
                  <c:v>0.24</c:v>
                </c:pt>
              </c:numCache>
            </c:numRef>
          </c:val>
          <c:extLst>
            <c:ext xmlns:c16="http://schemas.microsoft.com/office/drawing/2014/chart" uri="{C3380CC4-5D6E-409C-BE32-E72D297353CC}">
              <c16:uniqueId val="{00000006-7478-4FB8-8B3B-0ED0ECCA381C}"/>
            </c:ext>
          </c:extLst>
        </c:ser>
        <c:dLbls>
          <c:showLegendKey val="0"/>
          <c:showVal val="1"/>
          <c:showCatName val="0"/>
          <c:showSerName val="0"/>
          <c:showPercent val="0"/>
          <c:showBubbleSize val="0"/>
          <c:showLeaderLines val="0"/>
        </c:dLbls>
        <c:firstSliceAng val="0"/>
        <c:holeSize val="55"/>
      </c:doughnutChart>
      <c:spPr>
        <a:noFill/>
        <a:ln>
          <a:noFill/>
        </a:ln>
        <a:effectLst/>
      </c:spPr>
    </c:plotArea>
    <c:legend>
      <c:legendPos val="t"/>
      <c:layout>
        <c:manualLayout>
          <c:xMode val="edge"/>
          <c:yMode val="edge"/>
          <c:x val="0.62736264020326193"/>
          <c:y val="0.19634399286456666"/>
          <c:w val="0.33720995196128217"/>
          <c:h val="0.62685849912235969"/>
        </c:manualLayout>
      </c:layout>
      <c:overlay val="0"/>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38875033859201"/>
          <c:y val="4.2804461942257219E-2"/>
          <c:w val="0.53330069221946597"/>
          <c:h val="0.85474063253728316"/>
        </c:manualLayout>
      </c:layout>
      <c:doughnutChart>
        <c:varyColors val="1"/>
        <c:ser>
          <c:idx val="0"/>
          <c:order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ontserrat SemiBold" pitchFamily="2" charset="0"/>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Sheet1!$A$15:$A$16</c:f>
              <c:strCache>
                <c:ptCount val="2"/>
                <c:pt idx="0">
                  <c:v>Male</c:v>
                </c:pt>
                <c:pt idx="1">
                  <c:v>Female</c:v>
                </c:pt>
              </c:strCache>
            </c:strRef>
          </c:cat>
          <c:val>
            <c:numRef>
              <c:f>Sheet1!$B$15:$B$16</c:f>
            </c:numRef>
          </c:val>
          <c:extLst>
            <c:ext xmlns:c16="http://schemas.microsoft.com/office/drawing/2014/chart" uri="{C3380CC4-5D6E-409C-BE32-E72D297353CC}">
              <c16:uniqueId val="{00000000-1968-4B6E-B404-18B1FB36006F}"/>
            </c:ext>
          </c:extLst>
        </c:ser>
        <c:ser>
          <c:idx val="1"/>
          <c:order val="1"/>
          <c:spPr>
            <a:solidFill>
              <a:srgbClr val="C32F01"/>
            </a:solidFill>
          </c:spPr>
          <c:dPt>
            <c:idx val="0"/>
            <c:bubble3D val="0"/>
            <c:spPr>
              <a:solidFill>
                <a:srgbClr val="B32B0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2-1968-4B6E-B404-18B1FB36006F}"/>
              </c:ext>
            </c:extLst>
          </c:dPt>
          <c:dPt>
            <c:idx val="1"/>
            <c:bubble3D val="0"/>
            <c:spPr>
              <a:solidFill>
                <a:srgbClr val="FFC000"/>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4-1968-4B6E-B404-18B1FB36006F}"/>
              </c:ext>
            </c:extLst>
          </c:dPt>
          <c:dLbls>
            <c:dLbl>
              <c:idx val="1"/>
              <c:tx>
                <c:rich>
                  <a:bodyPr/>
                  <a:lstStyle/>
                  <a:p>
                    <a:fld id="{613E5010-AE61-4DFB-AAF9-17066C4155A2}" type="PERCENTAGE">
                      <a:rPr lang="en-US">
                        <a:solidFill>
                          <a:schemeClr val="tx1"/>
                        </a:solidFill>
                      </a:rPr>
                      <a:pPr/>
                      <a:t>[PERCENTAGE]</a:t>
                    </a:fld>
                    <a:endParaRPr lang="en-IN"/>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1968-4B6E-B404-18B1FB36006F}"/>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lt1"/>
                    </a:solidFill>
                    <a:latin typeface="Montserrat SemiBold" pitchFamily="2" charset="0"/>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Sheet1!$A$15:$A$16</c:f>
              <c:strCache>
                <c:ptCount val="2"/>
                <c:pt idx="0">
                  <c:v>Male</c:v>
                </c:pt>
                <c:pt idx="1">
                  <c:v>Female</c:v>
                </c:pt>
              </c:strCache>
            </c:strRef>
          </c:cat>
          <c:val>
            <c:numRef>
              <c:f>Sheet1!$C$15:$C$16</c:f>
              <c:numCache>
                <c:formatCode>0%</c:formatCode>
                <c:ptCount val="2"/>
                <c:pt idx="0">
                  <c:v>0.84042553191489366</c:v>
                </c:pt>
                <c:pt idx="1">
                  <c:v>0.15957446808510639</c:v>
                </c:pt>
              </c:numCache>
            </c:numRef>
          </c:val>
          <c:extLst>
            <c:ext xmlns:c16="http://schemas.microsoft.com/office/drawing/2014/chart" uri="{C3380CC4-5D6E-409C-BE32-E72D297353CC}">
              <c16:uniqueId val="{00000005-1968-4B6E-B404-18B1FB36006F}"/>
            </c:ext>
          </c:extLst>
        </c:ser>
        <c:dLbls>
          <c:showLegendKey val="0"/>
          <c:showVal val="0"/>
          <c:showCatName val="0"/>
          <c:showSerName val="0"/>
          <c:showPercent val="1"/>
          <c:showBubbleSize val="0"/>
          <c:showLeaderLines val="1"/>
        </c:dLbls>
        <c:firstSliceAng val="0"/>
        <c:holeSize val="65"/>
      </c:doughnutChart>
      <c:spPr>
        <a:noFill/>
        <a:ln>
          <a:noFill/>
        </a:ln>
        <a:effectLst/>
      </c:spPr>
    </c:plotArea>
    <c:legend>
      <c:legendPos val="r"/>
      <c:layout>
        <c:manualLayout>
          <c:xMode val="edge"/>
          <c:yMode val="edge"/>
          <c:x val="0.71280624863478459"/>
          <c:y val="0.22832456955726194"/>
          <c:w val="0.22928485941025847"/>
          <c:h val="0.46751393490187193"/>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ontserrat SemiBold"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9187259625180745E-2"/>
          <c:y val="7.221180136672882E-2"/>
          <c:w val="0.54339516979989888"/>
          <c:h val="0.90163978528288879"/>
        </c:manualLayout>
      </c:layout>
      <c:doughnutChart>
        <c:varyColors val="1"/>
        <c:ser>
          <c:idx val="0"/>
          <c:order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ontserrat SemiBold" pitchFamily="2" charset="0"/>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Sheet1!$A$23:$A$24</c:f>
              <c:strCache>
                <c:ptCount val="2"/>
                <c:pt idx="0">
                  <c:v>CELESTA NRE</c:v>
                </c:pt>
                <c:pt idx="1">
                  <c:v>CELESTA RESIDENT</c:v>
                </c:pt>
              </c:strCache>
            </c:strRef>
          </c:cat>
          <c:val>
            <c:numRef>
              <c:f>Sheet1!$B$23:$B$24</c:f>
            </c:numRef>
          </c:val>
          <c:extLst>
            <c:ext xmlns:c16="http://schemas.microsoft.com/office/drawing/2014/chart" uri="{C3380CC4-5D6E-409C-BE32-E72D297353CC}">
              <c16:uniqueId val="{00000000-E232-472D-B327-D396E5820C33}"/>
            </c:ext>
          </c:extLst>
        </c:ser>
        <c:ser>
          <c:idx val="1"/>
          <c:order val="1"/>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2-E232-472D-B327-D396E5820C33}"/>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4-E232-472D-B327-D396E5820C33}"/>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lt1"/>
                    </a:solidFill>
                    <a:latin typeface="Montserrat SemiBold" pitchFamily="2" charset="0"/>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Sheet1!$A$23:$A$24</c:f>
              <c:strCache>
                <c:ptCount val="2"/>
                <c:pt idx="0">
                  <c:v>CELESTA NRE</c:v>
                </c:pt>
                <c:pt idx="1">
                  <c:v>CELESTA RESIDENT</c:v>
                </c:pt>
              </c:strCache>
            </c:strRef>
          </c:cat>
          <c:val>
            <c:numRef>
              <c:f>Sheet1!$C$23:$C$24</c:f>
              <c:numCache>
                <c:formatCode>0%</c:formatCode>
                <c:ptCount val="2"/>
                <c:pt idx="0">
                  <c:v>0.8515625</c:v>
                </c:pt>
                <c:pt idx="1">
                  <c:v>0.1484375</c:v>
                </c:pt>
              </c:numCache>
            </c:numRef>
          </c:val>
          <c:extLst>
            <c:ext xmlns:c16="http://schemas.microsoft.com/office/drawing/2014/chart" uri="{C3380CC4-5D6E-409C-BE32-E72D297353CC}">
              <c16:uniqueId val="{00000005-E232-472D-B327-D396E5820C33}"/>
            </c:ext>
          </c:extLst>
        </c:ser>
        <c:dLbls>
          <c:showLegendKey val="0"/>
          <c:showVal val="0"/>
          <c:showCatName val="0"/>
          <c:showSerName val="0"/>
          <c:showPercent val="1"/>
          <c:showBubbleSize val="0"/>
          <c:showLeaderLines val="1"/>
        </c:dLbls>
        <c:firstSliceAng val="0"/>
        <c:holeSize val="65"/>
      </c:doughnutChart>
      <c:spPr>
        <a:noFill/>
        <a:ln>
          <a:noFill/>
        </a:ln>
        <a:effectLst/>
      </c:spPr>
    </c:plotArea>
    <c:legend>
      <c:legendPos val="r"/>
      <c:layout>
        <c:manualLayout>
          <c:xMode val="edge"/>
          <c:yMode val="edge"/>
          <c:x val="0.65247525427600495"/>
          <c:y val="0.17691555703464473"/>
          <c:w val="0.2830005887349597"/>
          <c:h val="0.60917427115990419"/>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ontserrat SemiBold"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46005033170562931"/>
          <c:y val="9.7068246316870124E-2"/>
          <c:w val="0.49083735480411639"/>
          <c:h val="0.70491189693726442"/>
        </c:manualLayout>
      </c:layout>
      <c:barChart>
        <c:barDir val="bar"/>
        <c:grouping val="clustered"/>
        <c:varyColors val="0"/>
        <c:ser>
          <c:idx val="0"/>
          <c:order val="0"/>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ysClr val="windowText" lastClr="000000"/>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PowerPoint]Special strategies'!$I$37:$I$40</c:f>
              <c:strCache>
                <c:ptCount val="4"/>
                <c:pt idx="0">
                  <c:v>Complicated rules in different countries.</c:v>
                </c:pt>
                <c:pt idx="1">
                  <c:v>Federal Bank’s strength area &amp;  should be differentiated</c:v>
                </c:pt>
                <c:pt idx="2">
                  <c:v>Evolving needs of global Indian citizens</c:v>
                </c:pt>
                <c:pt idx="3">
                  <c:v>Increasing Competition</c:v>
                </c:pt>
              </c:strCache>
            </c:strRef>
          </c:cat>
          <c:val>
            <c:numRef>
              <c:f>'[Chart in Microsoft PowerPoint]Special strategies'!$J$37:$J$40</c:f>
              <c:numCache>
                <c:formatCode>0%</c:formatCode>
                <c:ptCount val="4"/>
                <c:pt idx="0">
                  <c:v>0.12418300653594772</c:v>
                </c:pt>
                <c:pt idx="1">
                  <c:v>0.19607843137254902</c:v>
                </c:pt>
                <c:pt idx="2">
                  <c:v>0.21568627450980393</c:v>
                </c:pt>
                <c:pt idx="3">
                  <c:v>0.46405228758169936</c:v>
                </c:pt>
              </c:numCache>
            </c:numRef>
          </c:val>
          <c:extLst>
            <c:ext xmlns:c16="http://schemas.microsoft.com/office/drawing/2014/chart" uri="{C3380CC4-5D6E-409C-BE32-E72D297353CC}">
              <c16:uniqueId val="{00000000-09B1-4287-B1CE-B20FBAF94312}"/>
            </c:ext>
          </c:extLst>
        </c:ser>
        <c:dLbls>
          <c:dLblPos val="ctr"/>
          <c:showLegendKey val="0"/>
          <c:showVal val="1"/>
          <c:showCatName val="0"/>
          <c:showSerName val="0"/>
          <c:showPercent val="0"/>
          <c:showBubbleSize val="0"/>
        </c:dLbls>
        <c:gapWidth val="150"/>
        <c:axId val="1409679120"/>
        <c:axId val="1131043120"/>
      </c:barChart>
      <c:catAx>
        <c:axId val="14096791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451881014873133E-2"/>
          <c:y val="0.10242726851854868"/>
          <c:w val="0.51325729441161061"/>
          <c:h val="0.71909407639768297"/>
        </c:manualLayout>
      </c:layout>
      <c:doughnutChart>
        <c:varyColors val="1"/>
        <c:ser>
          <c:idx val="0"/>
          <c:order val="0"/>
          <c:spPr>
            <a:ln>
              <a:noFill/>
            </a:ln>
          </c:spPr>
          <c:dPt>
            <c:idx val="0"/>
            <c:bubble3D val="0"/>
            <c:spPr>
              <a:solidFill>
                <a:srgbClr val="ED7D31">
                  <a:lumMod val="75000"/>
                </a:srgbClr>
              </a:solidFill>
              <a:ln w="19050">
                <a:noFill/>
              </a:ln>
              <a:effectLst/>
            </c:spPr>
            <c:extLst>
              <c:ext xmlns:c16="http://schemas.microsoft.com/office/drawing/2014/chart" uri="{C3380CC4-5D6E-409C-BE32-E72D297353CC}">
                <c16:uniqueId val="{00000001-EEE1-4723-8BAC-CB54B4CD5DE9}"/>
              </c:ext>
            </c:extLst>
          </c:dPt>
          <c:dPt>
            <c:idx val="1"/>
            <c:bubble3D val="0"/>
            <c:spPr>
              <a:solidFill>
                <a:schemeClr val="accent2">
                  <a:tint val="65000"/>
                </a:schemeClr>
              </a:solidFill>
              <a:ln w="9525">
                <a:noFill/>
              </a:ln>
              <a:effectLst/>
            </c:spPr>
            <c:extLst>
              <c:ext xmlns:c16="http://schemas.microsoft.com/office/drawing/2014/chart" uri="{C3380CC4-5D6E-409C-BE32-E72D297353CC}">
                <c16:uniqueId val="{00000003-EEE1-4723-8BAC-CB54B4CD5DE9}"/>
              </c:ext>
            </c:extLst>
          </c:dPt>
          <c:dPt>
            <c:idx val="2"/>
            <c:bubble3D val="0"/>
            <c:spPr>
              <a:solidFill>
                <a:srgbClr val="FFC000">
                  <a:lumMod val="60000"/>
                  <a:lumOff val="40000"/>
                </a:srgbClr>
              </a:solidFill>
              <a:ln w="19050">
                <a:noFill/>
              </a:ln>
              <a:effectLst/>
            </c:spPr>
            <c:extLst>
              <c:ext xmlns:c16="http://schemas.microsoft.com/office/drawing/2014/chart" uri="{C3380CC4-5D6E-409C-BE32-E72D297353CC}">
                <c16:uniqueId val="{00000005-EEE1-4723-8BAC-CB54B4CD5DE9}"/>
              </c:ext>
            </c:extLst>
          </c:dPt>
          <c:dLbls>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EEE1-4723-8BAC-CB54B4CD5DE9}"/>
                </c:ext>
              </c:extLst>
            </c:dLbl>
            <c:dLbl>
              <c:idx val="2"/>
              <c:layout>
                <c:manualLayout>
                  <c:x val="0"/>
                  <c:y val="1.05553616250270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EE1-4723-8BAC-CB54B4CD5DE9}"/>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'PB experinece'!$B$18:$B$20</c:f>
              <c:strCache>
                <c:ptCount val="3"/>
                <c:pt idx="0">
                  <c:v>Financial well-being guidance and advice</c:v>
                </c:pt>
                <c:pt idx="1">
                  <c:v>Quick hassle-free banking</c:v>
                </c:pt>
                <c:pt idx="2">
                  <c:v>Financial planning for business</c:v>
                </c:pt>
              </c:strCache>
            </c:strRef>
          </c:cat>
          <c:val>
            <c:numRef>
              <c:f>'PB experinece'!$C$18:$C$20</c:f>
              <c:numCache>
                <c:formatCode>0%</c:formatCode>
                <c:ptCount val="3"/>
                <c:pt idx="0">
                  <c:v>0.53333333333333333</c:v>
                </c:pt>
                <c:pt idx="1">
                  <c:v>0.44242424242424244</c:v>
                </c:pt>
                <c:pt idx="2">
                  <c:v>0.02</c:v>
                </c:pt>
              </c:numCache>
            </c:numRef>
          </c:val>
          <c:extLst>
            <c:ext xmlns:c16="http://schemas.microsoft.com/office/drawing/2014/chart" uri="{C3380CC4-5D6E-409C-BE32-E72D297353CC}">
              <c16:uniqueId val="{00000006-EEE1-4723-8BAC-CB54B4CD5DE9}"/>
            </c:ext>
          </c:extLst>
        </c:ser>
        <c:dLbls>
          <c:showLegendKey val="0"/>
          <c:showVal val="1"/>
          <c:showCatName val="0"/>
          <c:showSerName val="0"/>
          <c:showPercent val="0"/>
          <c:showBubbleSize val="0"/>
          <c:showLeaderLines val="0"/>
        </c:dLbls>
        <c:firstSliceAng val="0"/>
        <c:holeSize val="55"/>
      </c:doughnutChart>
      <c:spPr>
        <a:noFill/>
        <a:ln>
          <a:noFill/>
        </a:ln>
        <a:effectLst/>
      </c:spPr>
    </c:plotArea>
    <c:legend>
      <c:legendPos val="r"/>
      <c:layout>
        <c:manualLayout>
          <c:xMode val="edge"/>
          <c:yMode val="edge"/>
          <c:x val="0.64391243742586957"/>
          <c:y val="0.17086141718399012"/>
          <c:w val="0.32322034255964577"/>
          <c:h val="0.65827716563201966"/>
        </c:manualLayout>
      </c:layout>
      <c:overlay val="0"/>
      <c:spPr>
        <a:noFill/>
        <a:ln>
          <a:noFill/>
        </a:ln>
        <a:effectLst/>
      </c:spPr>
      <c:txPr>
        <a:bodyPr rot="0" spcFirstLastPara="1" vertOverflow="ellipsis" vert="horz" wrap="square" anchor="ctr" anchorCtr="1"/>
        <a:lstStyle/>
        <a:p>
          <a:pPr algn="just">
            <a:defRPr lang="en-US"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43894088720024577"/>
          <c:y val="4.4561046610082436E-2"/>
          <c:w val="0.52943074931781631"/>
          <c:h val="0.88211672813866704"/>
        </c:manualLayout>
      </c:layout>
      <c:barChart>
        <c:barDir val="bar"/>
        <c:grouping val="stacked"/>
        <c:varyColors val="0"/>
        <c:ser>
          <c:idx val="0"/>
          <c:order val="0"/>
          <c:spPr>
            <a:solidFill>
              <a:srgbClr val="F7A800"/>
            </a:solidFill>
            <a:ln>
              <a:noFill/>
            </a:ln>
            <a:effectLst/>
          </c:spPr>
          <c:invertIfNegative val="0"/>
          <c:dLbls>
            <c:dLbl>
              <c:idx val="0"/>
              <c:layout>
                <c:manualLayout>
                  <c:x val="4.070660109465838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652-4E7F-B553-7F438400EAE1}"/>
                </c:ext>
              </c:extLst>
            </c:dLbl>
            <c:dLbl>
              <c:idx val="1"/>
              <c:layout>
                <c:manualLayout>
                  <c:x val="6.658729945446238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652-4E7F-B553-7F438400EAE1}"/>
                </c:ext>
              </c:extLst>
            </c:dLbl>
            <c:dLbl>
              <c:idx val="2"/>
              <c:layout>
                <c:manualLayout>
                  <c:x val="8.2983347218116427E-2"/>
                  <c:y val="-4.993757802746566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652-4E7F-B553-7F438400EAE1}"/>
                </c:ext>
              </c:extLst>
            </c:dLbl>
            <c:dLbl>
              <c:idx val="3"/>
              <c:layout>
                <c:manualLayout>
                  <c:x val="0.10158877751202601"/>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652-4E7F-B553-7F438400EAE1}"/>
                </c:ext>
              </c:extLst>
            </c:dLbl>
            <c:dLbl>
              <c:idx val="4"/>
              <c:layout>
                <c:manualLayout>
                  <c:x val="0.13031633335075471"/>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652-4E7F-B553-7F438400EAE1}"/>
                </c:ext>
              </c:extLst>
            </c:dLbl>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'PB experinece'!$A$26:$A$30</c:f>
              <c:strCache>
                <c:ptCount val="5"/>
                <c:pt idx="0">
                  <c:v>Symbols of distinguished exclusivity</c:v>
                </c:pt>
                <c:pt idx="1">
                  <c:v>Curated exclusive digital experiences</c:v>
                </c:pt>
                <c:pt idx="2">
                  <c:v>Community &amp; social engagement</c:v>
                </c:pt>
                <c:pt idx="3">
                  <c:v>Personalized unique luxury experiences</c:v>
                </c:pt>
                <c:pt idx="4">
                  <c:v>Enhanced recoginition &amp; status</c:v>
                </c:pt>
              </c:strCache>
            </c:strRef>
          </c:cat>
          <c:val>
            <c:numRef>
              <c:f>'PB experinece'!$C$26:$C$30</c:f>
              <c:numCache>
                <c:formatCode>0%</c:formatCode>
                <c:ptCount val="5"/>
                <c:pt idx="0">
                  <c:v>4.878048780487805E-2</c:v>
                </c:pt>
                <c:pt idx="1">
                  <c:v>0.12195121951219512</c:v>
                </c:pt>
                <c:pt idx="2">
                  <c:v>0.18902439024390244</c:v>
                </c:pt>
                <c:pt idx="3">
                  <c:v>0.26219512195121952</c:v>
                </c:pt>
                <c:pt idx="4">
                  <c:v>0.37804878048780488</c:v>
                </c:pt>
              </c:numCache>
            </c:numRef>
          </c:val>
          <c:extLst>
            <c:ext xmlns:c16="http://schemas.microsoft.com/office/drawing/2014/chart" uri="{C3380CC4-5D6E-409C-BE32-E72D297353CC}">
              <c16:uniqueId val="{00000005-A652-4E7F-B553-7F438400EAE1}"/>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713520495468642E-2"/>
          <c:y val="3.3459625272372243E-2"/>
          <c:w val="0.92443579461597669"/>
          <c:h val="0.5770281096600316"/>
        </c:manualLayout>
      </c:layout>
      <c:barChart>
        <c:barDir val="col"/>
        <c:grouping val="stacked"/>
        <c:varyColors val="0"/>
        <c:ser>
          <c:idx val="0"/>
          <c:order val="0"/>
          <c:tx>
            <c:strRef>
              <c:f>'Q4'!$B$82</c:f>
              <c:strCache>
                <c:ptCount val="1"/>
                <c:pt idx="0">
                  <c:v>FEDERAL</c:v>
                </c:pt>
              </c:strCache>
            </c:strRef>
          </c:tx>
          <c:spPr>
            <a:solidFill>
              <a:schemeClr val="accent3"/>
            </a:solidFill>
            <a:ln>
              <a:noFill/>
            </a:ln>
            <a:effectLst/>
          </c:spPr>
          <c:invertIfNegative val="0"/>
          <c:dLbls>
            <c:dLbl>
              <c:idx val="0"/>
              <c:layout>
                <c:manualLayout>
                  <c:x val="2.8072862118921822E-3"/>
                  <c:y val="-0.1002794542838385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AD6-41F1-ACE0-D11E2C9AA91B}"/>
                </c:ext>
              </c:extLst>
            </c:dLbl>
            <c:dLbl>
              <c:idx val="1"/>
              <c:layout>
                <c:manualLayout>
                  <c:x val="0"/>
                  <c:y val="-7.922310460600183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AD6-41F1-ACE0-D11E2C9AA91B}"/>
                </c:ext>
              </c:extLst>
            </c:dLbl>
            <c:dLbl>
              <c:idx val="2"/>
              <c:layout>
                <c:manualLayout>
                  <c:x val="-5.1466319341377415E-17"/>
                  <c:y val="-6.455851737329619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AD6-41F1-ACE0-D11E2C9AA91B}"/>
                </c:ext>
              </c:extLst>
            </c:dLbl>
            <c:dLbl>
              <c:idx val="3"/>
              <c:layout>
                <c:manualLayout>
                  <c:x val="-1.4036431059462004E-3"/>
                  <c:y val="-5.893899968683641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AD6-41F1-ACE0-D11E2C9AA91B}"/>
                </c:ext>
              </c:extLst>
            </c:dLbl>
            <c:dLbl>
              <c:idx val="4"/>
              <c:layout>
                <c:manualLayout>
                  <c:x val="-1.0293263868275483E-16"/>
                  <c:y val="-4.223650821560220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AD6-41F1-ACE0-D11E2C9AA91B}"/>
                </c:ext>
              </c:extLst>
            </c:dLbl>
            <c:dLbl>
              <c:idx val="5"/>
              <c:layout>
                <c:manualLayout>
                  <c:x val="-1.0293263868275483E-16"/>
                  <c:y val="-2.689279297181839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AD6-41F1-ACE0-D11E2C9AA91B}"/>
                </c:ext>
              </c:extLst>
            </c:dLbl>
            <c:dLbl>
              <c:idx val="6"/>
              <c:layout>
                <c:manualLayout>
                  <c:x val="0"/>
                  <c:y val="-2.815845245167553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AD6-41F1-ACE0-D11E2C9AA91B}"/>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'Q4'!$A$83:$A$89</c:f>
              <c:strCache>
                <c:ptCount val="7"/>
                <c:pt idx="0">
                  <c:v>A provider of convenient banking services</c:v>
                </c:pt>
                <c:pt idx="1">
                  <c:v>A place to keep money safe</c:v>
                </c:pt>
                <c:pt idx="2">
                  <c:v>A reliable remittance service for transferring money</c:v>
                </c:pt>
                <c:pt idx="3">
                  <c:v>A reliable source of quick and affordable credit (loans/debt)</c:v>
                </c:pt>
                <c:pt idx="4">
                  <c:v>A trusted advisor for managing wealth</c:v>
                </c:pt>
                <c:pt idx="5">
                  <c:v>A trusted advisor for growing wealth</c:v>
                </c:pt>
                <c:pt idx="6">
                  <c:v>A place for personalized financial advice</c:v>
                </c:pt>
              </c:strCache>
            </c:strRef>
          </c:cat>
          <c:val>
            <c:numRef>
              <c:f>'Q4'!$B$83:$B$89</c:f>
              <c:numCache>
                <c:formatCode>0%</c:formatCode>
                <c:ptCount val="7"/>
                <c:pt idx="0">
                  <c:v>0.27932960893854747</c:v>
                </c:pt>
                <c:pt idx="1">
                  <c:v>0.19273743016759776</c:v>
                </c:pt>
                <c:pt idx="2">
                  <c:v>0.17318435754189945</c:v>
                </c:pt>
                <c:pt idx="3">
                  <c:v>0.12290502793296089</c:v>
                </c:pt>
                <c:pt idx="4">
                  <c:v>9.4972067039106142E-2</c:v>
                </c:pt>
                <c:pt idx="5">
                  <c:v>7.2625698324022353E-2</c:v>
                </c:pt>
                <c:pt idx="6">
                  <c:v>6.4245810055865923E-2</c:v>
                </c:pt>
              </c:numCache>
            </c:numRef>
          </c:val>
          <c:extLst>
            <c:ext xmlns:c16="http://schemas.microsoft.com/office/drawing/2014/chart" uri="{C3380CC4-5D6E-409C-BE32-E72D297353CC}">
              <c16:uniqueId val="{00000007-8AD6-41F1-ACE0-D11E2C9AA91B}"/>
            </c:ext>
          </c:extLst>
        </c:ser>
        <c:dLbls>
          <c:showLegendKey val="0"/>
          <c:showVal val="0"/>
          <c:showCatName val="0"/>
          <c:showSerName val="0"/>
          <c:showPercent val="0"/>
          <c:showBubbleSize val="0"/>
        </c:dLbls>
        <c:gapWidth val="18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5776851315243407E-2"/>
          <c:y val="0.11421269440553222"/>
          <c:w val="0.8810833600075092"/>
          <c:h val="0.71691875243241499"/>
        </c:manualLayout>
      </c:layout>
      <c:barChart>
        <c:barDir val="col"/>
        <c:grouping val="percentStacked"/>
        <c:varyColors val="0"/>
        <c:ser>
          <c:idx val="0"/>
          <c:order val="0"/>
          <c:tx>
            <c:strRef>
              <c:f>'ONLY FEDERAL (2)'!$BA$34</c:f>
              <c:strCache>
                <c:ptCount val="1"/>
                <c:pt idx="0">
                  <c:v>Celesta</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(2)'!$AZ$35:$AZ$39</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'ONLY FEDERAL (2)'!$BA$35:$BA$39</c:f>
              <c:numCache>
                <c:formatCode>0%</c:formatCode>
                <c:ptCount val="5"/>
                <c:pt idx="0">
                  <c:v>0.71794871794871795</c:v>
                </c:pt>
                <c:pt idx="1">
                  <c:v>0.55629139072847678</c:v>
                </c:pt>
                <c:pt idx="2">
                  <c:v>0.48684210526315791</c:v>
                </c:pt>
                <c:pt idx="3">
                  <c:v>0.45333333333333331</c:v>
                </c:pt>
                <c:pt idx="4">
                  <c:v>0.41558441558441561</c:v>
                </c:pt>
              </c:numCache>
            </c:numRef>
          </c:val>
          <c:extLst>
            <c:ext xmlns:c16="http://schemas.microsoft.com/office/drawing/2014/chart" uri="{C3380CC4-5D6E-409C-BE32-E72D297353CC}">
              <c16:uniqueId val="{00000000-CA8F-42C2-AC9D-0CCE633A3905}"/>
            </c:ext>
          </c:extLst>
        </c:ser>
        <c:ser>
          <c:idx val="1"/>
          <c:order val="1"/>
          <c:tx>
            <c:strRef>
              <c:f>'ONLY FEDERAL (2)'!$BB$34</c:f>
              <c:strCache>
                <c:ptCount val="1"/>
                <c:pt idx="0">
                  <c:v>Competition</c:v>
                </c:pt>
              </c:strCache>
            </c:strRef>
          </c:tx>
          <c:spPr>
            <a:solidFill>
              <a:srgbClr val="E9713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(2)'!$AZ$35:$AZ$39</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'ONLY FEDERAL (2)'!$BB$35:$BB$39</c:f>
              <c:numCache>
                <c:formatCode>0%</c:formatCode>
                <c:ptCount val="5"/>
                <c:pt idx="0">
                  <c:v>0.1858974358974359</c:v>
                </c:pt>
                <c:pt idx="1">
                  <c:v>0.16556291390728475</c:v>
                </c:pt>
                <c:pt idx="2">
                  <c:v>0.25657894736842102</c:v>
                </c:pt>
                <c:pt idx="3">
                  <c:v>0.24</c:v>
                </c:pt>
                <c:pt idx="4">
                  <c:v>0.16233766233766234</c:v>
                </c:pt>
              </c:numCache>
            </c:numRef>
          </c:val>
          <c:extLst>
            <c:ext xmlns:c16="http://schemas.microsoft.com/office/drawing/2014/chart" uri="{C3380CC4-5D6E-409C-BE32-E72D297353CC}">
              <c16:uniqueId val="{00000001-CA8F-42C2-AC9D-0CCE633A3905}"/>
            </c:ext>
          </c:extLst>
        </c:ser>
        <c:ser>
          <c:idx val="2"/>
          <c:order val="2"/>
          <c:tx>
            <c:strRef>
              <c:f>'ONLY FEDERAL (2)'!$BC$34</c:f>
              <c:strCache>
                <c:ptCount val="1"/>
                <c:pt idx="0">
                  <c:v>Not experienced</c:v>
                </c:pt>
              </c:strCache>
            </c:strRef>
          </c:tx>
          <c:spPr>
            <a:solidFill>
              <a:srgbClr val="A6A6A6"/>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(2)'!$AZ$35:$AZ$39</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'ONLY FEDERAL (2)'!$BC$35:$BC$39</c:f>
              <c:numCache>
                <c:formatCode>0%</c:formatCode>
                <c:ptCount val="5"/>
                <c:pt idx="0">
                  <c:v>9.6153846153846159E-2</c:v>
                </c:pt>
                <c:pt idx="1">
                  <c:v>0.27814569536423839</c:v>
                </c:pt>
                <c:pt idx="2">
                  <c:v>0.25657894736842107</c:v>
                </c:pt>
                <c:pt idx="3">
                  <c:v>0.30666666666666664</c:v>
                </c:pt>
                <c:pt idx="4">
                  <c:v>0.42207792207792205</c:v>
                </c:pt>
              </c:numCache>
            </c:numRef>
          </c:val>
          <c:extLst>
            <c:ext xmlns:c16="http://schemas.microsoft.com/office/drawing/2014/chart" uri="{C3380CC4-5D6E-409C-BE32-E72D297353CC}">
              <c16:uniqueId val="{00000002-CA8F-42C2-AC9D-0CCE633A3905}"/>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legend>
      <c:legendPos val="t"/>
      <c:layout>
        <c:manualLayout>
          <c:xMode val="edge"/>
          <c:yMode val="edge"/>
          <c:x val="4.0632712658632546E-2"/>
          <c:y val="4.7785731329038437E-3"/>
          <c:w val="0.89591780738995197"/>
          <c:h val="7.7548125769739781E-2"/>
        </c:manualLayout>
      </c:layout>
      <c:overlay val="0"/>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8.1546978691955554E-2"/>
          <c:y val="0.11421269809628228"/>
          <c:w val="0.8587503155571965"/>
          <c:h val="0.77349254128044109"/>
        </c:manualLayout>
      </c:layout>
      <c:barChart>
        <c:barDir val="col"/>
        <c:grouping val="percentStacked"/>
        <c:varyColors val="0"/>
        <c:ser>
          <c:idx val="0"/>
          <c:order val="0"/>
          <c:tx>
            <c:strRef>
              <c:f>'[Chart in Microsoft PowerPoint]ONLY FEDERAL (2)'!$BG$62</c:f>
              <c:strCache>
                <c:ptCount val="1"/>
                <c:pt idx="0">
                  <c:v>Celesta</c:v>
                </c:pt>
              </c:strCache>
            </c:strRef>
          </c:tx>
          <c:spPr>
            <a:solidFill>
              <a:srgbClr val="002060"/>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PowerPoint]ONLY FEDERAL (2)'!$BF$63:$BF$66</c:f>
              <c:strCache>
                <c:ptCount val="4"/>
                <c:pt idx="0">
                  <c:v>Lifestyle benefits</c:v>
                </c:pt>
                <c:pt idx="1">
                  <c:v>Vouchers &amp; offers</c:v>
                </c:pt>
                <c:pt idx="2">
                  <c:v>Travel benefits</c:v>
                </c:pt>
                <c:pt idx="3">
                  <c:v>Credit card</c:v>
                </c:pt>
              </c:strCache>
            </c:strRef>
          </c:cat>
          <c:val>
            <c:numRef>
              <c:f>'[Chart in Microsoft PowerPoint]ONLY FEDERAL (2)'!$BG$63:$BG$66</c:f>
              <c:numCache>
                <c:formatCode>0%</c:formatCode>
                <c:ptCount val="4"/>
                <c:pt idx="0">
                  <c:v>0.44666666666666666</c:v>
                </c:pt>
                <c:pt idx="1">
                  <c:v>0.4370860927152318</c:v>
                </c:pt>
                <c:pt idx="2">
                  <c:v>0.42763157894736842</c:v>
                </c:pt>
                <c:pt idx="3">
                  <c:v>0.40384615384615385</c:v>
                </c:pt>
              </c:numCache>
            </c:numRef>
          </c:val>
          <c:extLst>
            <c:ext xmlns:c16="http://schemas.microsoft.com/office/drawing/2014/chart" uri="{C3380CC4-5D6E-409C-BE32-E72D297353CC}">
              <c16:uniqueId val="{00000000-C189-46F7-BA0A-B842E2EFDA45}"/>
            </c:ext>
          </c:extLst>
        </c:ser>
        <c:ser>
          <c:idx val="1"/>
          <c:order val="1"/>
          <c:tx>
            <c:strRef>
              <c:f>'[Chart in Microsoft PowerPoint]ONLY FEDERAL (2)'!$BH$62</c:f>
              <c:strCache>
                <c:ptCount val="1"/>
                <c:pt idx="0">
                  <c:v>Competition</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PowerPoint]ONLY FEDERAL (2)'!$BF$63:$BF$66</c:f>
              <c:strCache>
                <c:ptCount val="4"/>
                <c:pt idx="0">
                  <c:v>Lifestyle benefits</c:v>
                </c:pt>
                <c:pt idx="1">
                  <c:v>Vouchers &amp; offers</c:v>
                </c:pt>
                <c:pt idx="2">
                  <c:v>Travel benefits</c:v>
                </c:pt>
                <c:pt idx="3">
                  <c:v>Credit card</c:v>
                </c:pt>
              </c:strCache>
            </c:strRef>
          </c:cat>
          <c:val>
            <c:numRef>
              <c:f>'[Chart in Microsoft PowerPoint]ONLY FEDERAL (2)'!$BH$63:$BH$66</c:f>
              <c:numCache>
                <c:formatCode>0%</c:formatCode>
                <c:ptCount val="4"/>
                <c:pt idx="0">
                  <c:v>0.26</c:v>
                </c:pt>
                <c:pt idx="1">
                  <c:v>0.24503311258278143</c:v>
                </c:pt>
                <c:pt idx="2">
                  <c:v>0.28947368421052633</c:v>
                </c:pt>
                <c:pt idx="3">
                  <c:v>0.27564102564102566</c:v>
                </c:pt>
              </c:numCache>
            </c:numRef>
          </c:val>
          <c:extLst>
            <c:ext xmlns:c16="http://schemas.microsoft.com/office/drawing/2014/chart" uri="{C3380CC4-5D6E-409C-BE32-E72D297353CC}">
              <c16:uniqueId val="{00000001-C189-46F7-BA0A-B842E2EFDA45}"/>
            </c:ext>
          </c:extLst>
        </c:ser>
        <c:ser>
          <c:idx val="2"/>
          <c:order val="2"/>
          <c:tx>
            <c:strRef>
              <c:f>'[Chart in Microsoft PowerPoint]ONLY FEDERAL (2)'!$BI$62</c:f>
              <c:strCache>
                <c:ptCount val="1"/>
                <c:pt idx="0">
                  <c:v>not experienced</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PowerPoint]ONLY FEDERAL (2)'!$BF$63:$BF$66</c:f>
              <c:strCache>
                <c:ptCount val="4"/>
                <c:pt idx="0">
                  <c:v>Lifestyle benefits</c:v>
                </c:pt>
                <c:pt idx="1">
                  <c:v>Vouchers &amp; offers</c:v>
                </c:pt>
                <c:pt idx="2">
                  <c:v>Travel benefits</c:v>
                </c:pt>
                <c:pt idx="3">
                  <c:v>Credit card</c:v>
                </c:pt>
              </c:strCache>
            </c:strRef>
          </c:cat>
          <c:val>
            <c:numRef>
              <c:f>'[Chart in Microsoft PowerPoint]ONLY FEDERAL (2)'!$BI$63:$BI$66</c:f>
              <c:numCache>
                <c:formatCode>0%</c:formatCode>
                <c:ptCount val="4"/>
                <c:pt idx="0">
                  <c:v>0.29333333333333333</c:v>
                </c:pt>
                <c:pt idx="1">
                  <c:v>0.31788079470198677</c:v>
                </c:pt>
                <c:pt idx="2">
                  <c:v>0.28289473684210525</c:v>
                </c:pt>
                <c:pt idx="3">
                  <c:v>0.32051282051282054</c:v>
                </c:pt>
              </c:numCache>
            </c:numRef>
          </c:val>
          <c:extLst>
            <c:ext xmlns:c16="http://schemas.microsoft.com/office/drawing/2014/chart" uri="{C3380CC4-5D6E-409C-BE32-E72D297353CC}">
              <c16:uniqueId val="{00000002-C189-46F7-BA0A-B842E2EFDA45}"/>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legend>
      <c:legendPos val="t"/>
      <c:layout>
        <c:manualLayout>
          <c:xMode val="edge"/>
          <c:yMode val="edge"/>
          <c:x val="4.0632712658632546E-2"/>
          <c:y val="4.7785731329038437E-3"/>
          <c:w val="0.89591780738995197"/>
          <c:h val="7.7548125769739781E-2"/>
        </c:manualLayout>
      </c:layout>
      <c:overlay val="0"/>
      <c:spPr>
        <a:noFill/>
        <a:ln>
          <a:noFill/>
        </a:ln>
        <a:effectLst/>
      </c:spPr>
      <c:txPr>
        <a:bodyPr rot="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100">
          <a:solidFill>
            <a:schemeClr val="tx1"/>
          </a:solidFill>
          <a:latin typeface="Montserrat SemiBold" panose="00000700000000000000" pitchFamily="2"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627499999999994E-2"/>
          <c:y val="0.22991596967617317"/>
          <c:w val="0.90686307349233197"/>
          <c:h val="0.55199714230839336"/>
        </c:manualLayout>
      </c:layout>
      <c:barChart>
        <c:barDir val="col"/>
        <c:grouping val="stacked"/>
        <c:varyColors val="0"/>
        <c:ser>
          <c:idx val="0"/>
          <c:order val="0"/>
          <c:tx>
            <c:strRef>
              <c:f>'[Chart in Microsoft PowerPoint]PB experinece'!$B$166</c:f>
              <c:strCache>
                <c:ptCount val="1"/>
                <c:pt idx="0">
                  <c:v>Federal Bank relationship manager</c:v>
                </c:pt>
              </c:strCache>
            </c:strRef>
          </c:tx>
          <c:spPr>
            <a:solidFill>
              <a:schemeClr val="accent3">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'[Chart in Microsoft PowerPoint]PB experinece'!$A$167:$A$169</c:f>
              <c:strCache>
                <c:ptCount val="3"/>
                <c:pt idx="0">
                  <c:v>Sales Effort </c:v>
                </c:pt>
                <c:pt idx="1">
                  <c:v>Marketing &amp; Advertising</c:v>
                </c:pt>
                <c:pt idx="2">
                  <c:v>Word of Mouth &amp; Referrals</c:v>
                </c:pt>
              </c:strCache>
            </c:strRef>
          </c:cat>
          <c:val>
            <c:numRef>
              <c:f>'[Chart in Microsoft PowerPoint]PB experinece'!$B$167:$B$169</c:f>
              <c:numCache>
                <c:formatCode>General</c:formatCode>
                <c:ptCount val="3"/>
                <c:pt idx="0" formatCode="0%">
                  <c:v>0.35582822085889571</c:v>
                </c:pt>
              </c:numCache>
            </c:numRef>
          </c:val>
          <c:extLst>
            <c:ext xmlns:c16="http://schemas.microsoft.com/office/drawing/2014/chart" uri="{C3380CC4-5D6E-409C-BE32-E72D297353CC}">
              <c16:uniqueId val="{00000000-0ED5-4B78-8F0A-355CEA26A704}"/>
            </c:ext>
          </c:extLst>
        </c:ser>
        <c:ser>
          <c:idx val="1"/>
          <c:order val="1"/>
          <c:tx>
            <c:strRef>
              <c:f>'[Chart in Microsoft PowerPoint]PB experinece'!$C$166</c:f>
              <c:strCache>
                <c:ptCount val="1"/>
                <c:pt idx="0">
                  <c:v>Information received during a visit to a bank branch.</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'[Chart in Microsoft PowerPoint]PB experinece'!$A$167:$A$169</c:f>
              <c:strCache>
                <c:ptCount val="3"/>
                <c:pt idx="0">
                  <c:v>Sales Effort </c:v>
                </c:pt>
                <c:pt idx="1">
                  <c:v>Marketing &amp; Advertising</c:v>
                </c:pt>
                <c:pt idx="2">
                  <c:v>Word of Mouth &amp; Referrals</c:v>
                </c:pt>
              </c:strCache>
            </c:strRef>
          </c:cat>
          <c:val>
            <c:numRef>
              <c:f>'[Chart in Microsoft PowerPoint]PB experinece'!$C$167:$C$169</c:f>
              <c:numCache>
                <c:formatCode>General</c:formatCode>
                <c:ptCount val="3"/>
                <c:pt idx="0" formatCode="0%">
                  <c:v>0.19018404907975461</c:v>
                </c:pt>
              </c:numCache>
            </c:numRef>
          </c:val>
          <c:extLst>
            <c:ext xmlns:c16="http://schemas.microsoft.com/office/drawing/2014/chart" uri="{C3380CC4-5D6E-409C-BE32-E72D297353CC}">
              <c16:uniqueId val="{00000001-0ED5-4B78-8F0A-355CEA26A704}"/>
            </c:ext>
          </c:extLst>
        </c:ser>
        <c:ser>
          <c:idx val="2"/>
          <c:order val="2"/>
          <c:tx>
            <c:strRef>
              <c:f>'[Chart in Microsoft PowerPoint]PB experinece'!$D$166</c:f>
              <c:strCache>
                <c:ptCount val="1"/>
                <c:pt idx="0">
                  <c:v>Information found on the Celesta Federal Bank website.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'[Chart in Microsoft PowerPoint]PB experinece'!$A$167:$A$169</c:f>
              <c:strCache>
                <c:ptCount val="3"/>
                <c:pt idx="0">
                  <c:v>Sales Effort </c:v>
                </c:pt>
                <c:pt idx="1">
                  <c:v>Marketing &amp; Advertising</c:v>
                </c:pt>
                <c:pt idx="2">
                  <c:v>Word of Mouth &amp; Referrals</c:v>
                </c:pt>
              </c:strCache>
            </c:strRef>
          </c:cat>
          <c:val>
            <c:numRef>
              <c:f>'[Chart in Microsoft PowerPoint]PB experinece'!$D$167:$D$169</c:f>
              <c:numCache>
                <c:formatCode>0%</c:formatCode>
                <c:ptCount val="3"/>
                <c:pt idx="1">
                  <c:v>0.21472392638036811</c:v>
                </c:pt>
              </c:numCache>
            </c:numRef>
          </c:val>
          <c:extLst>
            <c:ext xmlns:c16="http://schemas.microsoft.com/office/drawing/2014/chart" uri="{C3380CC4-5D6E-409C-BE32-E72D297353CC}">
              <c16:uniqueId val="{00000002-0ED5-4B78-8F0A-355CEA26A704}"/>
            </c:ext>
          </c:extLst>
        </c:ser>
        <c:ser>
          <c:idx val="3"/>
          <c:order val="3"/>
          <c:tx>
            <c:strRef>
              <c:f>'[Chart in Microsoft PowerPoint]PB experinece'!$E$166</c:f>
              <c:strCache>
                <c:ptCount val="1"/>
                <c:pt idx="0">
                  <c:v>Through online or offline advertisements (TV, print, etc.).</c:v>
                </c:pt>
              </c:strCache>
            </c:strRef>
          </c:tx>
          <c:spPr>
            <a:solidFill>
              <a:srgbClr val="44546A">
                <a:lumMod val="60000"/>
                <a:lumOff val="4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'[Chart in Microsoft PowerPoint]PB experinece'!$A$167:$A$169</c:f>
              <c:strCache>
                <c:ptCount val="3"/>
                <c:pt idx="0">
                  <c:v>Sales Effort </c:v>
                </c:pt>
                <c:pt idx="1">
                  <c:v>Marketing &amp; Advertising</c:v>
                </c:pt>
                <c:pt idx="2">
                  <c:v>Word of Mouth &amp; Referrals</c:v>
                </c:pt>
              </c:strCache>
            </c:strRef>
          </c:cat>
          <c:val>
            <c:numRef>
              <c:f>'[Chart in Microsoft PowerPoint]PB experinece'!$E$167:$E$169</c:f>
              <c:numCache>
                <c:formatCode>0%</c:formatCode>
                <c:ptCount val="3"/>
                <c:pt idx="1">
                  <c:v>0.10429447852760736</c:v>
                </c:pt>
              </c:numCache>
            </c:numRef>
          </c:val>
          <c:extLst>
            <c:ext xmlns:c16="http://schemas.microsoft.com/office/drawing/2014/chart" uri="{C3380CC4-5D6E-409C-BE32-E72D297353CC}">
              <c16:uniqueId val="{00000003-0ED5-4B78-8F0A-355CEA26A704}"/>
            </c:ext>
          </c:extLst>
        </c:ser>
        <c:ser>
          <c:idx val="4"/>
          <c:order val="4"/>
          <c:tx>
            <c:strRef>
              <c:f>'[Chart in Microsoft PowerPoint]PB experinece'!$F$166</c:f>
              <c:strCache>
                <c:ptCount val="1"/>
                <c:pt idx="0">
                  <c:v>Through friends or family recommendations.</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'[Chart in Microsoft PowerPoint]PB experinece'!$A$167:$A$169</c:f>
              <c:strCache>
                <c:ptCount val="3"/>
                <c:pt idx="0">
                  <c:v>Sales Effort </c:v>
                </c:pt>
                <c:pt idx="1">
                  <c:v>Marketing &amp; Advertising</c:v>
                </c:pt>
                <c:pt idx="2">
                  <c:v>Word of Mouth &amp; Referrals</c:v>
                </c:pt>
              </c:strCache>
            </c:strRef>
          </c:cat>
          <c:val>
            <c:numRef>
              <c:f>'[Chart in Microsoft PowerPoint]PB experinece'!$F$167:$F$169</c:f>
              <c:numCache>
                <c:formatCode>General</c:formatCode>
                <c:ptCount val="3"/>
                <c:pt idx="2" formatCode="0%">
                  <c:v>9.202453987730061E-2</c:v>
                </c:pt>
              </c:numCache>
            </c:numRef>
          </c:val>
          <c:extLst>
            <c:ext xmlns:c16="http://schemas.microsoft.com/office/drawing/2014/chart" uri="{C3380CC4-5D6E-409C-BE32-E72D297353CC}">
              <c16:uniqueId val="{00000004-0ED5-4B78-8F0A-355CEA26A704}"/>
            </c:ext>
          </c:extLst>
        </c:ser>
        <c:ser>
          <c:idx val="5"/>
          <c:order val="5"/>
          <c:tx>
            <c:strRef>
              <c:f>'[Chart in Microsoft PowerPoint]PB experinece'!$G$166</c:f>
              <c:strCache>
                <c:ptCount val="1"/>
                <c:pt idx="0">
                  <c:v>Recommendations from financial advisors or consultants.</c:v>
                </c:pt>
              </c:strCache>
            </c:strRef>
          </c:tx>
          <c:spPr>
            <a:solidFill>
              <a:schemeClr val="accent5"/>
            </a:solidFill>
            <a:ln>
              <a:noFill/>
            </a:ln>
            <a:effectLst/>
          </c:spPr>
          <c:invertIfNegative val="0"/>
          <c:dLbls>
            <c:dLbl>
              <c:idx val="2"/>
              <c:layout>
                <c:manualLayout>
                  <c:x val="0"/>
                  <c:y val="-2.043120021235578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2FA-4ADD-8FB0-44C069FAC37F}"/>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'[Chart in Microsoft PowerPoint]PB experinece'!$A$167:$A$169</c:f>
              <c:strCache>
                <c:ptCount val="3"/>
                <c:pt idx="0">
                  <c:v>Sales Effort </c:v>
                </c:pt>
                <c:pt idx="1">
                  <c:v>Marketing &amp; Advertising</c:v>
                </c:pt>
                <c:pt idx="2">
                  <c:v>Word of Mouth &amp; Referrals</c:v>
                </c:pt>
              </c:strCache>
            </c:strRef>
          </c:cat>
          <c:val>
            <c:numRef>
              <c:f>'[Chart in Microsoft PowerPoint]PB experinece'!$G$167:$G$169</c:f>
              <c:numCache>
                <c:formatCode>General</c:formatCode>
                <c:ptCount val="3"/>
                <c:pt idx="2" formatCode="0%">
                  <c:v>4.2944785276073622E-2</c:v>
                </c:pt>
              </c:numCache>
            </c:numRef>
          </c:val>
          <c:extLst>
            <c:ext xmlns:c16="http://schemas.microsoft.com/office/drawing/2014/chart" uri="{C3380CC4-5D6E-409C-BE32-E72D297353CC}">
              <c16:uniqueId val="{00000005-0ED5-4B78-8F0A-355CEA26A704}"/>
            </c:ext>
          </c:extLst>
        </c:ser>
        <c:dLbls>
          <c:dLblPos val="ctr"/>
          <c:showLegendKey val="0"/>
          <c:showVal val="1"/>
          <c:showCatName val="0"/>
          <c:showSerName val="0"/>
          <c:showPercent val="0"/>
          <c:showBubbleSize val="0"/>
        </c:dLbls>
        <c:gapWidth val="150"/>
        <c:overlap val="100"/>
        <c:axId val="1181647312"/>
        <c:axId val="1181653552"/>
      </c:barChart>
      <c:catAx>
        <c:axId val="118164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00" b="0" i="0" u="none" strike="noStrike" kern="1200" cap="none" spc="0" normalizeH="0" baseline="0">
                <a:solidFill>
                  <a:schemeClr val="tx1"/>
                </a:solidFill>
                <a:latin typeface="Montserrat SemiBold" panose="00000700000000000000" pitchFamily="2" charset="0"/>
                <a:ea typeface="+mn-ea"/>
                <a:cs typeface="+mn-cs"/>
              </a:defRPr>
            </a:pPr>
            <a:endParaRPr lang="en-US"/>
          </a:p>
        </c:txPr>
        <c:crossAx val="1181653552"/>
        <c:crosses val="autoZero"/>
        <c:auto val="1"/>
        <c:lblAlgn val="ctr"/>
        <c:lblOffset val="100"/>
        <c:noMultiLvlLbl val="0"/>
      </c:catAx>
      <c:valAx>
        <c:axId val="1181653552"/>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181647312"/>
        <c:crosses val="autoZero"/>
        <c:crossBetween val="between"/>
        <c:majorUnit val="0.2"/>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2432677665328553E-2"/>
          <c:y val="5.235660810192496E-2"/>
          <c:w val="0.89825385551256332"/>
          <c:h val="0.8649329668737642"/>
        </c:manualLayout>
      </c:layout>
      <c:scatterChart>
        <c:scatterStyle val="lineMarker"/>
        <c:varyColors val="0"/>
        <c:ser>
          <c:idx val="0"/>
          <c:order val="0"/>
          <c:tx>
            <c:strRef>
              <c:f>'Shifted Scale'!$F$2:$G$2</c:f>
              <c:strCache>
                <c:ptCount val="1"/>
                <c:pt idx="0">
                  <c:v>Performance Importance</c:v>
                </c:pt>
              </c:strCache>
            </c:strRef>
          </c:tx>
          <c:spPr>
            <a:ln w="19050" cap="rnd" cmpd="sng" algn="ctr">
              <a:noFill/>
              <a:prstDash val="solid"/>
              <a:round/>
            </a:ln>
            <a:effectLst/>
          </c:spPr>
          <c:marker>
            <c:symbol val="diamond"/>
            <c:size val="20"/>
            <c:spPr>
              <a:solidFill>
                <a:schemeClr val="accent2"/>
              </a:solidFill>
              <a:ln w="6350" cap="flat" cmpd="sng" algn="ctr">
                <a:noFill/>
                <a:prstDash val="solid"/>
                <a:round/>
              </a:ln>
              <a:effectLst/>
            </c:spPr>
          </c:marker>
          <c:dPt>
            <c:idx val="0"/>
            <c:marker>
              <c:spPr>
                <a:solidFill>
                  <a:srgbClr val="7030A0"/>
                </a:solidFill>
                <a:ln w="6350" cap="flat" cmpd="sng" algn="ctr">
                  <a:noFill/>
                  <a:prstDash val="solid"/>
                  <a:round/>
                </a:ln>
                <a:effectLst/>
              </c:spPr>
            </c:marker>
            <c:bubble3D val="0"/>
            <c:extLst>
              <c:ext xmlns:c16="http://schemas.microsoft.com/office/drawing/2014/chart" uri="{C3380CC4-5D6E-409C-BE32-E72D297353CC}">
                <c16:uniqueId val="{00000002-B4E4-42AF-BDA5-56012FD20100}"/>
              </c:ext>
            </c:extLst>
          </c:dPt>
          <c:dPt>
            <c:idx val="1"/>
            <c:marker>
              <c:spPr>
                <a:solidFill>
                  <a:srgbClr val="6F0F2D"/>
                </a:solidFill>
                <a:ln w="6350" cap="flat" cmpd="sng" algn="ctr">
                  <a:noFill/>
                  <a:prstDash val="solid"/>
                  <a:round/>
                </a:ln>
                <a:effectLst/>
              </c:spPr>
            </c:marker>
            <c:bubble3D val="0"/>
            <c:extLst>
              <c:ext xmlns:c16="http://schemas.microsoft.com/office/drawing/2014/chart" uri="{C3380CC4-5D6E-409C-BE32-E72D297353CC}">
                <c16:uniqueId val="{00000000-B4E4-42AF-BDA5-56012FD20100}"/>
              </c:ext>
            </c:extLst>
          </c:dPt>
          <c:dPt>
            <c:idx val="2"/>
            <c:marker>
              <c:spPr>
                <a:solidFill>
                  <a:srgbClr val="00B0F0"/>
                </a:solidFill>
                <a:ln w="6350" cap="flat" cmpd="sng" algn="ctr">
                  <a:noFill/>
                  <a:prstDash val="solid"/>
                  <a:round/>
                </a:ln>
                <a:effectLst/>
              </c:spPr>
            </c:marker>
            <c:bubble3D val="0"/>
            <c:extLst>
              <c:ext xmlns:c16="http://schemas.microsoft.com/office/drawing/2014/chart" uri="{C3380CC4-5D6E-409C-BE32-E72D297353CC}">
                <c16:uniqueId val="{00000003-B4E4-42AF-BDA5-56012FD20100}"/>
              </c:ext>
            </c:extLst>
          </c:dPt>
          <c:dPt>
            <c:idx val="3"/>
            <c:marker>
              <c:spPr>
                <a:solidFill>
                  <a:srgbClr val="FFC000"/>
                </a:solidFill>
                <a:ln w="6350" cap="flat" cmpd="sng" algn="ctr">
                  <a:noFill/>
                  <a:prstDash val="solid"/>
                  <a:round/>
                </a:ln>
                <a:effectLst/>
              </c:spPr>
            </c:marker>
            <c:bubble3D val="0"/>
            <c:extLst>
              <c:ext xmlns:c16="http://schemas.microsoft.com/office/drawing/2014/chart" uri="{C3380CC4-5D6E-409C-BE32-E72D297353CC}">
                <c16:uniqueId val="{00000004-B4E4-42AF-BDA5-56012FD20100}"/>
              </c:ext>
            </c:extLst>
          </c:dPt>
          <c:dPt>
            <c:idx val="4"/>
            <c:marker>
              <c:spPr>
                <a:solidFill>
                  <a:srgbClr val="E735B4"/>
                </a:solidFill>
                <a:ln w="6350" cap="flat" cmpd="sng" algn="ctr">
                  <a:noFill/>
                  <a:prstDash val="solid"/>
                  <a:round/>
                </a:ln>
                <a:effectLst/>
              </c:spPr>
            </c:marker>
            <c:bubble3D val="0"/>
            <c:extLst>
              <c:ext xmlns:c16="http://schemas.microsoft.com/office/drawing/2014/chart" uri="{C3380CC4-5D6E-409C-BE32-E72D297353CC}">
                <c16:uniqueId val="{00000005-B4E4-42AF-BDA5-56012FD20100}"/>
              </c:ext>
            </c:extLst>
          </c:dPt>
          <c:dPt>
            <c:idx val="5"/>
            <c:marker>
              <c:spPr>
                <a:solidFill>
                  <a:srgbClr val="83FF59"/>
                </a:solidFill>
                <a:ln w="6350" cap="flat" cmpd="sng" algn="ctr">
                  <a:noFill/>
                  <a:prstDash val="solid"/>
                  <a:round/>
                </a:ln>
                <a:effectLst/>
              </c:spPr>
            </c:marker>
            <c:bubble3D val="0"/>
            <c:extLst>
              <c:ext xmlns:c16="http://schemas.microsoft.com/office/drawing/2014/chart" uri="{C3380CC4-5D6E-409C-BE32-E72D297353CC}">
                <c16:uniqueId val="{00000006-B4E4-42AF-BDA5-56012FD20100}"/>
              </c:ext>
            </c:extLst>
          </c:dPt>
          <c:dPt>
            <c:idx val="7"/>
            <c:marker>
              <c:spPr>
                <a:solidFill>
                  <a:srgbClr val="008080"/>
                </a:solidFill>
                <a:ln w="6350" cap="flat" cmpd="sng" algn="ctr">
                  <a:noFill/>
                  <a:prstDash val="solid"/>
                  <a:round/>
                </a:ln>
                <a:effectLst/>
              </c:spPr>
            </c:marker>
            <c:bubble3D val="0"/>
            <c:extLst>
              <c:ext xmlns:c16="http://schemas.microsoft.com/office/drawing/2014/chart" uri="{C3380CC4-5D6E-409C-BE32-E72D297353CC}">
                <c16:uniqueId val="{00000007-B4E4-42AF-BDA5-56012FD20100}"/>
              </c:ext>
            </c:extLst>
          </c:dPt>
          <c:dPt>
            <c:idx val="10"/>
            <c:marker>
              <c:spPr>
                <a:solidFill>
                  <a:srgbClr val="3B7D23"/>
                </a:solidFill>
                <a:ln w="6350" cap="flat" cmpd="sng" algn="ctr">
                  <a:noFill/>
                  <a:prstDash val="solid"/>
                  <a:round/>
                </a:ln>
                <a:effectLst/>
              </c:spPr>
            </c:marker>
            <c:bubble3D val="0"/>
            <c:extLst>
              <c:ext xmlns:c16="http://schemas.microsoft.com/office/drawing/2014/chart" uri="{C3380CC4-5D6E-409C-BE32-E72D297353CC}">
                <c16:uniqueId val="{00000008-B4E4-42AF-BDA5-56012FD20100}"/>
              </c:ext>
            </c:extLst>
          </c:dPt>
          <c:dPt>
            <c:idx val="14"/>
            <c:marker>
              <c:spPr>
                <a:solidFill>
                  <a:srgbClr val="777777"/>
                </a:solidFill>
                <a:ln w="6350" cap="flat" cmpd="sng" algn="ctr">
                  <a:noFill/>
                  <a:prstDash val="solid"/>
                  <a:round/>
                </a:ln>
                <a:effectLst/>
              </c:spPr>
            </c:marker>
            <c:bubble3D val="0"/>
            <c:extLst>
              <c:ext xmlns:c16="http://schemas.microsoft.com/office/drawing/2014/chart" uri="{C3380CC4-5D6E-409C-BE32-E72D297353CC}">
                <c16:uniqueId val="{00000009-B4E4-42AF-BDA5-56012FD20100}"/>
              </c:ext>
            </c:extLst>
          </c:dPt>
          <c:dPt>
            <c:idx val="18"/>
            <c:marker>
              <c:spPr>
                <a:solidFill>
                  <a:srgbClr val="FF0000"/>
                </a:solidFill>
                <a:ln w="6350" cap="flat" cmpd="sng" algn="ctr">
                  <a:noFill/>
                  <a:prstDash val="solid"/>
                  <a:round/>
                </a:ln>
                <a:effectLst/>
              </c:spPr>
            </c:marker>
            <c:bubble3D val="0"/>
            <c:extLst>
              <c:ext xmlns:c16="http://schemas.microsoft.com/office/drawing/2014/chart" uri="{C3380CC4-5D6E-409C-BE32-E72D297353CC}">
                <c16:uniqueId val="{0000000A-B4E4-42AF-BDA5-56012FD20100}"/>
              </c:ext>
            </c:extLst>
          </c:dPt>
          <c:dLbls>
            <c:spPr>
              <a:no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ysClr val="windowText" lastClr="000000"/>
                    </a:solidFill>
                    <a:latin typeface="Montserrat Medium" pitchFamily="2" charset="0"/>
                    <a:ea typeface="+mn-ea"/>
                    <a:cs typeface="+mn-cs"/>
                  </a:defRPr>
                </a:pPr>
                <a:endParaRPr lang="en-US"/>
              </a:p>
            </c:txPr>
            <c:dLblPos val="t"/>
            <c:showLegendKey val="0"/>
            <c:showVal val="1"/>
            <c:showCatName val="1"/>
            <c:showSerName val="0"/>
            <c:showPercent val="0"/>
            <c:showBubbleSize val="0"/>
            <c:separator>, </c:separator>
            <c:showLeaderLines val="0"/>
            <c:extLst xmlns:c15="http://schemas.microsoft.com/office/drawing/2012/chart">
              <c:ext xmlns:c15="http://schemas.microsoft.com/office/drawing/2012/chart" uri="{CE6537A1-D6FC-4f65-9D91-7224C49458BB}">
                <c15:spPr xmlns:c15="http://schemas.microsoft.com/office/drawing/2012/chart">
                  <a:prstGeom prst="rect">
                    <a:avLst/>
                  </a:prstGeom>
                  <a:noFill/>
                  <a:ln>
                    <a:noFill/>
                  </a:ln>
                </c15:spPr>
                <c15:showLeaderLines val="0"/>
              </c:ext>
            </c:extLst>
          </c:dLbls>
          <c:xVal>
            <c:numRef>
              <c:f>'Shifted Scale'!$F$3:$F$22</c:f>
              <c:numCache>
                <c:formatCode>General</c:formatCode>
                <c:ptCount val="20"/>
                <c:pt idx="0">
                  <c:v>0</c:v>
                </c:pt>
                <c:pt idx="1">
                  <c:v>2</c:v>
                </c:pt>
                <c:pt idx="2">
                  <c:v>1.5</c:v>
                </c:pt>
                <c:pt idx="3">
                  <c:v>-2</c:v>
                </c:pt>
                <c:pt idx="4">
                  <c:v>2</c:v>
                </c:pt>
                <c:pt idx="5">
                  <c:v>1</c:v>
                </c:pt>
                <c:pt idx="6">
                  <c:v>2</c:v>
                </c:pt>
                <c:pt idx="7">
                  <c:v>1</c:v>
                </c:pt>
                <c:pt idx="10">
                  <c:v>1</c:v>
                </c:pt>
                <c:pt idx="14">
                  <c:v>2</c:v>
                </c:pt>
                <c:pt idx="18">
                  <c:v>0.5</c:v>
                </c:pt>
              </c:numCache>
            </c:numRef>
          </c:xVal>
          <c:yVal>
            <c:numRef>
              <c:f>'Shifted Scale'!$G$3:$G$22</c:f>
              <c:numCache>
                <c:formatCode>General</c:formatCode>
                <c:ptCount val="20"/>
                <c:pt idx="0">
                  <c:v>1.5</c:v>
                </c:pt>
                <c:pt idx="1">
                  <c:v>-0.5</c:v>
                </c:pt>
                <c:pt idx="2">
                  <c:v>0</c:v>
                </c:pt>
                <c:pt idx="3">
                  <c:v>-2</c:v>
                </c:pt>
                <c:pt idx="4">
                  <c:v>-2</c:v>
                </c:pt>
                <c:pt idx="5">
                  <c:v>0</c:v>
                </c:pt>
                <c:pt idx="6">
                  <c:v>2</c:v>
                </c:pt>
                <c:pt idx="7">
                  <c:v>1</c:v>
                </c:pt>
                <c:pt idx="10">
                  <c:v>2</c:v>
                </c:pt>
                <c:pt idx="14">
                  <c:v>1</c:v>
                </c:pt>
                <c:pt idx="18">
                  <c:v>0.5</c:v>
                </c:pt>
              </c:numCache>
            </c:numRef>
          </c:yVal>
          <c:smooth val="0"/>
          <c:extLst xmlns:c15="http://schemas.microsoft.com/office/drawing/2012/chart">
            <c:ext xmlns:c16="http://schemas.microsoft.com/office/drawing/2014/chart" uri="{C3380CC4-5D6E-409C-BE32-E72D297353CC}">
              <c16:uniqueId val="{00000001-B4E4-42AF-BDA5-56012FD20100}"/>
            </c:ext>
          </c:extLst>
        </c:ser>
        <c:dLbls>
          <c:dLblPos val="t"/>
          <c:showLegendKey val="0"/>
          <c:showVal val="1"/>
          <c:showCatName val="0"/>
          <c:showSerName val="0"/>
          <c:showPercent val="0"/>
          <c:showBubbleSize val="0"/>
        </c:dLbls>
        <c:axId val="286344640"/>
        <c:axId val="286344968"/>
        <c:extLst/>
      </c:scatterChart>
      <c:valAx>
        <c:axId val="286344640"/>
        <c:scaling>
          <c:orientation val="minMax"/>
          <c:max val="2"/>
          <c:min val="-2"/>
        </c:scaling>
        <c:delete val="0"/>
        <c:axPos val="b"/>
        <c:title>
          <c:tx>
            <c:rich>
              <a:bodyPr rot="0" spcFirstLastPara="1" vertOverflow="ellipsis" vert="horz" wrap="square" anchor="ctr" anchorCtr="1"/>
              <a:lstStyle/>
              <a:p>
                <a:pPr>
                  <a:defRPr lang="en-US" sz="1100" b="0" i="0" u="none" strike="noStrike" kern="1200" baseline="0">
                    <a:solidFill>
                      <a:schemeClr val="tx1"/>
                    </a:solidFill>
                    <a:latin typeface="Montserrat Medium" pitchFamily="2" charset="0"/>
                    <a:ea typeface="+mn-ea"/>
                    <a:cs typeface="+mn-cs"/>
                  </a:defRPr>
                </a:pPr>
                <a:r>
                  <a:rPr lang="en-US" dirty="0">
                    <a:solidFill>
                      <a:srgbClr val="C00000"/>
                    </a:solidFill>
                  </a:rPr>
                  <a:t>Performance</a:t>
                </a:r>
              </a:p>
            </c:rich>
          </c:tx>
          <c:layout>
            <c:manualLayout>
              <c:xMode val="edge"/>
              <c:yMode val="edge"/>
              <c:x val="0.74130801397485779"/>
              <c:y val="0.50790358236116284"/>
            </c:manualLayout>
          </c:layout>
          <c:overlay val="0"/>
          <c:spPr>
            <a:noFill/>
            <a:ln>
              <a:noFill/>
            </a:ln>
            <a:effectLst/>
          </c:spPr>
          <c:txPr>
            <a:bodyPr rot="0" spcFirstLastPara="1" vertOverflow="ellipsis" vert="horz" wrap="square" anchor="ctr" anchorCtr="1"/>
            <a:lstStyle/>
            <a:p>
              <a:pPr>
                <a:defRPr lang="en-US" sz="1100" b="0" i="0" u="none" strike="noStrike" kern="1200" baseline="0">
                  <a:solidFill>
                    <a:schemeClr val="tx1"/>
                  </a:solidFill>
                  <a:latin typeface="Montserrat Medium" pitchFamily="2" charset="0"/>
                  <a:ea typeface="+mn-ea"/>
                  <a:cs typeface="+mn-cs"/>
                </a:defRPr>
              </a:pPr>
              <a:endParaRPr lang="en-US"/>
            </a:p>
          </c:txPr>
        </c:title>
        <c:numFmt formatCode="General" sourceLinked="1"/>
        <c:majorTickMark val="out"/>
        <c:minorTickMark val="none"/>
        <c:tickLblPos val="nextTo"/>
        <c:spPr>
          <a:solidFill>
            <a:schemeClr val="bg1"/>
          </a:solidFill>
          <a:ln w="9525" cap="flat" cmpd="sng" algn="ctr">
            <a:solidFill>
              <a:schemeClr val="tx1"/>
            </a:solidFill>
            <a:prstDash val="solid"/>
            <a:round/>
          </a:ln>
          <a:effectLst/>
        </c:spPr>
        <c:txPr>
          <a:bodyPr rot="-6000000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endParaRPr lang="en-US"/>
          </a:p>
        </c:txPr>
        <c:crossAx val="286344968"/>
        <c:crosses val="autoZero"/>
        <c:crossBetween val="midCat"/>
        <c:majorUnit val="1"/>
      </c:valAx>
      <c:valAx>
        <c:axId val="286344968"/>
        <c:scaling>
          <c:orientation val="minMax"/>
          <c:max val="2"/>
          <c:min val="-2"/>
        </c:scaling>
        <c:delete val="0"/>
        <c:axPos val="l"/>
        <c:title>
          <c:tx>
            <c:rich>
              <a:bodyPr rot="-5400000" spcFirstLastPara="1" vertOverflow="ellipsis" vert="horz" wrap="square" anchor="ctr" anchorCtr="1"/>
              <a:lstStyle/>
              <a:p>
                <a:pPr>
                  <a:defRPr lang="en-US" sz="1100" b="0" i="0" u="none" strike="noStrike" kern="1200" baseline="0">
                    <a:solidFill>
                      <a:schemeClr val="accent2">
                        <a:lumMod val="75000"/>
                      </a:schemeClr>
                    </a:solidFill>
                    <a:latin typeface="Montserrat Medium" pitchFamily="2" charset="0"/>
                    <a:ea typeface="+mn-ea"/>
                    <a:cs typeface="+mn-cs"/>
                  </a:defRPr>
                </a:pPr>
                <a:r>
                  <a:rPr lang="en-US" dirty="0">
                    <a:solidFill>
                      <a:srgbClr val="C00000"/>
                    </a:solidFill>
                  </a:rPr>
                  <a:t>Importance</a:t>
                </a:r>
              </a:p>
            </c:rich>
          </c:tx>
          <c:layout>
            <c:manualLayout>
              <c:xMode val="edge"/>
              <c:yMode val="edge"/>
              <c:x val="0.52109230669104134"/>
              <c:y val="0.66377953573141091"/>
            </c:manualLayout>
          </c:layout>
          <c:overlay val="0"/>
          <c:spPr>
            <a:noFill/>
            <a:ln>
              <a:noFill/>
            </a:ln>
            <a:effectLst/>
          </c:spPr>
          <c:txPr>
            <a:bodyPr rot="-5400000" spcFirstLastPara="1" vertOverflow="ellipsis" vert="horz" wrap="square" anchor="ctr" anchorCtr="1"/>
            <a:lstStyle/>
            <a:p>
              <a:pPr>
                <a:defRPr lang="en-US" sz="1100" b="0" i="0" u="none" strike="noStrike" kern="1200" baseline="0">
                  <a:solidFill>
                    <a:schemeClr val="accent2">
                      <a:lumMod val="75000"/>
                    </a:schemeClr>
                  </a:solidFill>
                  <a:latin typeface="Montserrat Medium" pitchFamily="2" charset="0"/>
                  <a:ea typeface="+mn-ea"/>
                  <a:cs typeface="+mn-cs"/>
                </a:defRPr>
              </a:pPr>
              <a:endParaRPr lang="en-US"/>
            </a:p>
          </c:txPr>
        </c:title>
        <c:numFmt formatCode="General" sourceLinked="1"/>
        <c:majorTickMark val="out"/>
        <c:minorTickMark val="none"/>
        <c:tickLblPos val="nextTo"/>
        <c:spPr>
          <a:noFill/>
          <a:ln w="6350" cap="flat" cmpd="sng" algn="ctr">
            <a:solidFill>
              <a:schemeClr val="tx1"/>
            </a:solidFill>
            <a:prstDash val="solid"/>
            <a:round/>
          </a:ln>
          <a:effectLst/>
        </c:spPr>
        <c:txPr>
          <a:bodyPr rot="-6000000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endParaRPr lang="en-US"/>
          </a:p>
        </c:txPr>
        <c:crossAx val="286344640"/>
        <c:crosses val="autoZero"/>
        <c:crossBetween val="midCat"/>
        <c:min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dbl" algn="ctr">
      <a:noFill/>
      <a:prstDash val="solid"/>
      <a:round/>
    </a:ln>
    <a:effectLst/>
  </c:spPr>
  <c:txPr>
    <a:bodyPr/>
    <a:lstStyle/>
    <a:p>
      <a:pPr algn="ctr" rtl="0">
        <a:defRPr lang="en-US" sz="1100" b="0" i="0" u="none" strike="noStrike" kern="1200" baseline="0">
          <a:solidFill>
            <a:sysClr val="windowText" lastClr="000000"/>
          </a:solidFill>
          <a:latin typeface="Montserrat Medium" pitchFamily="2" charset="0"/>
          <a:ea typeface="+mn-ea"/>
          <a:cs typeface="+mn-cs"/>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207400816028078E-2"/>
          <c:y val="8.8734139118558777E-2"/>
          <c:w val="0.87267229249565592"/>
          <c:h val="0.84318212967827999"/>
        </c:manualLayout>
      </c:layout>
      <c:scatterChart>
        <c:scatterStyle val="lineMarker"/>
        <c:varyColors val="0"/>
        <c:ser>
          <c:idx val="0"/>
          <c:order val="0"/>
          <c:tx>
            <c:strRef>
              <c:f>Sheet8!$G$1:$H$1</c:f>
              <c:strCache>
                <c:ptCount val="1"/>
                <c:pt idx="0">
                  <c:v>Performance Importance</c:v>
                </c:pt>
              </c:strCache>
            </c:strRef>
          </c:tx>
          <c:spPr>
            <a:ln w="19050" cap="rnd" cmpd="sng" algn="ctr">
              <a:noFill/>
              <a:prstDash val="solid"/>
              <a:round/>
            </a:ln>
            <a:effectLst/>
          </c:spPr>
          <c:marker>
            <c:symbol val="diamond"/>
            <c:size val="17"/>
            <c:spPr>
              <a:solidFill>
                <a:schemeClr val="accent2"/>
              </a:solidFill>
              <a:ln w="6350" cap="flat" cmpd="sng" algn="ctr">
                <a:noFill/>
                <a:prstDash val="solid"/>
                <a:round/>
              </a:ln>
              <a:effectLst/>
            </c:spPr>
          </c:marker>
          <c:dPt>
            <c:idx val="0"/>
            <c:marker>
              <c:spPr>
                <a:solidFill>
                  <a:srgbClr val="7030A0"/>
                </a:solidFill>
                <a:ln w="6350" cap="flat" cmpd="sng" algn="ctr">
                  <a:noFill/>
                  <a:prstDash val="solid"/>
                  <a:round/>
                </a:ln>
                <a:effectLst/>
              </c:spPr>
            </c:marker>
            <c:bubble3D val="0"/>
            <c:extLst>
              <c:ext xmlns:c16="http://schemas.microsoft.com/office/drawing/2014/chart" uri="{C3380CC4-5D6E-409C-BE32-E72D297353CC}">
                <c16:uniqueId val="{00000002-DF81-4685-AB65-7A4F586E92F7}"/>
              </c:ext>
            </c:extLst>
          </c:dPt>
          <c:dPt>
            <c:idx val="1"/>
            <c:marker>
              <c:spPr>
                <a:solidFill>
                  <a:srgbClr val="6F0F2D"/>
                </a:solidFill>
                <a:ln w="6350" cap="flat" cmpd="sng" algn="ctr">
                  <a:noFill/>
                  <a:prstDash val="solid"/>
                  <a:round/>
                </a:ln>
                <a:effectLst/>
              </c:spPr>
            </c:marker>
            <c:bubble3D val="0"/>
            <c:extLst>
              <c:ext xmlns:c16="http://schemas.microsoft.com/office/drawing/2014/chart" uri="{C3380CC4-5D6E-409C-BE32-E72D297353CC}">
                <c16:uniqueId val="{00000003-DF81-4685-AB65-7A4F586E92F7}"/>
              </c:ext>
            </c:extLst>
          </c:dPt>
          <c:dPt>
            <c:idx val="2"/>
            <c:marker>
              <c:spPr>
                <a:solidFill>
                  <a:srgbClr val="00B0F0"/>
                </a:solidFill>
                <a:ln w="6350" cap="flat" cmpd="sng" algn="ctr">
                  <a:noFill/>
                  <a:prstDash val="solid"/>
                  <a:round/>
                </a:ln>
                <a:effectLst/>
              </c:spPr>
            </c:marker>
            <c:bubble3D val="0"/>
            <c:extLst>
              <c:ext xmlns:c16="http://schemas.microsoft.com/office/drawing/2014/chart" uri="{C3380CC4-5D6E-409C-BE32-E72D297353CC}">
                <c16:uniqueId val="{00000004-DF81-4685-AB65-7A4F586E92F7}"/>
              </c:ext>
            </c:extLst>
          </c:dPt>
          <c:dPt>
            <c:idx val="3"/>
            <c:marker>
              <c:spPr>
                <a:solidFill>
                  <a:srgbClr val="FFC000"/>
                </a:solidFill>
                <a:ln w="6350" cap="flat" cmpd="sng" algn="ctr">
                  <a:noFill/>
                  <a:prstDash val="solid"/>
                  <a:round/>
                </a:ln>
                <a:effectLst/>
              </c:spPr>
            </c:marker>
            <c:bubble3D val="0"/>
            <c:extLst>
              <c:ext xmlns:c16="http://schemas.microsoft.com/office/drawing/2014/chart" uri="{C3380CC4-5D6E-409C-BE32-E72D297353CC}">
                <c16:uniqueId val="{00000009-DF81-4685-AB65-7A4F586E92F7}"/>
              </c:ext>
            </c:extLst>
          </c:dPt>
          <c:dPt>
            <c:idx val="4"/>
            <c:marker>
              <c:spPr>
                <a:solidFill>
                  <a:srgbClr val="E735B4"/>
                </a:solidFill>
                <a:ln w="6350" cap="flat" cmpd="sng" algn="ctr">
                  <a:noFill/>
                  <a:prstDash val="solid"/>
                  <a:round/>
                </a:ln>
                <a:effectLst/>
              </c:spPr>
            </c:marker>
            <c:bubble3D val="0"/>
            <c:extLst>
              <c:ext xmlns:c16="http://schemas.microsoft.com/office/drawing/2014/chart" uri="{C3380CC4-5D6E-409C-BE32-E72D297353CC}">
                <c16:uniqueId val="{00000008-DF81-4685-AB65-7A4F586E92F7}"/>
              </c:ext>
            </c:extLst>
          </c:dPt>
          <c:dPt>
            <c:idx val="5"/>
            <c:marker>
              <c:spPr>
                <a:solidFill>
                  <a:srgbClr val="83FF59"/>
                </a:solidFill>
                <a:ln w="6350" cap="flat" cmpd="sng" algn="ctr">
                  <a:noFill/>
                  <a:prstDash val="solid"/>
                  <a:round/>
                </a:ln>
                <a:effectLst/>
              </c:spPr>
            </c:marker>
            <c:bubble3D val="0"/>
            <c:extLst>
              <c:ext xmlns:c16="http://schemas.microsoft.com/office/drawing/2014/chart" uri="{C3380CC4-5D6E-409C-BE32-E72D297353CC}">
                <c16:uniqueId val="{0000000A-DF81-4685-AB65-7A4F586E92F7}"/>
              </c:ext>
            </c:extLst>
          </c:dPt>
          <c:dPt>
            <c:idx val="6"/>
            <c:marker>
              <c:spPr>
                <a:solidFill>
                  <a:srgbClr val="008080"/>
                </a:solidFill>
                <a:ln w="6350" cap="flat" cmpd="sng" algn="ctr">
                  <a:noFill/>
                  <a:prstDash val="solid"/>
                  <a:round/>
                </a:ln>
                <a:effectLst/>
              </c:spPr>
            </c:marker>
            <c:bubble3D val="0"/>
            <c:extLst>
              <c:ext xmlns:c16="http://schemas.microsoft.com/office/drawing/2014/chart" uri="{C3380CC4-5D6E-409C-BE32-E72D297353CC}">
                <c16:uniqueId val="{00000005-DF81-4685-AB65-7A4F586E92F7}"/>
              </c:ext>
            </c:extLst>
          </c:dPt>
          <c:dPt>
            <c:idx val="8"/>
            <c:marker>
              <c:spPr>
                <a:solidFill>
                  <a:srgbClr val="3B7D23"/>
                </a:solidFill>
                <a:ln w="6350" cap="flat" cmpd="sng" algn="ctr">
                  <a:noFill/>
                  <a:prstDash val="solid"/>
                  <a:round/>
                </a:ln>
                <a:effectLst/>
              </c:spPr>
            </c:marker>
            <c:bubble3D val="0"/>
            <c:extLst>
              <c:ext xmlns:c16="http://schemas.microsoft.com/office/drawing/2014/chart" uri="{C3380CC4-5D6E-409C-BE32-E72D297353CC}">
                <c16:uniqueId val="{00000007-DF81-4685-AB65-7A4F586E92F7}"/>
              </c:ext>
            </c:extLst>
          </c:dPt>
          <c:dPt>
            <c:idx val="11"/>
            <c:marker>
              <c:spPr>
                <a:solidFill>
                  <a:srgbClr val="777777"/>
                </a:solidFill>
                <a:ln w="6350" cap="flat" cmpd="sng" algn="ctr">
                  <a:noFill/>
                  <a:prstDash val="solid"/>
                  <a:round/>
                </a:ln>
                <a:effectLst/>
              </c:spPr>
            </c:marker>
            <c:bubble3D val="0"/>
            <c:extLst>
              <c:ext xmlns:c16="http://schemas.microsoft.com/office/drawing/2014/chart" uri="{C3380CC4-5D6E-409C-BE32-E72D297353CC}">
                <c16:uniqueId val="{0000000C-DF81-4685-AB65-7A4F586E92F7}"/>
              </c:ext>
            </c:extLst>
          </c:dPt>
          <c:dPt>
            <c:idx val="18"/>
            <c:marker>
              <c:spPr>
                <a:solidFill>
                  <a:srgbClr val="FF0000"/>
                </a:solidFill>
                <a:ln w="6350" cap="flat" cmpd="sng" algn="ctr">
                  <a:noFill/>
                  <a:prstDash val="solid"/>
                  <a:round/>
                </a:ln>
                <a:effectLst/>
              </c:spPr>
            </c:marker>
            <c:bubble3D val="0"/>
            <c:extLst>
              <c:ext xmlns:c16="http://schemas.microsoft.com/office/drawing/2014/chart" uri="{C3380CC4-5D6E-409C-BE32-E72D297353CC}">
                <c16:uniqueId val="{0000000B-DF81-4685-AB65-7A4F586E92F7}"/>
              </c:ext>
            </c:extLst>
          </c:dPt>
          <c:dLbls>
            <c:spPr>
              <a:noFill/>
              <a:ln>
                <a:noFill/>
              </a:ln>
              <a:effectLst/>
            </c:spPr>
            <c:txPr>
              <a:bodyPr rot="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endParaRPr lang="en-US"/>
              </a:p>
            </c:txPr>
            <c:dLblPos val="t"/>
            <c:showLegendKey val="0"/>
            <c:showVal val="1"/>
            <c:showCatName val="1"/>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xVal>
            <c:numRef>
              <c:f>Sheet8!$G$2:$G$21</c:f>
              <c:numCache>
                <c:formatCode>General</c:formatCode>
                <c:ptCount val="20"/>
                <c:pt idx="0">
                  <c:v>-1</c:v>
                </c:pt>
                <c:pt idx="1">
                  <c:v>-1</c:v>
                </c:pt>
                <c:pt idx="2">
                  <c:v>0.5</c:v>
                </c:pt>
                <c:pt idx="3">
                  <c:v>1</c:v>
                </c:pt>
                <c:pt idx="4">
                  <c:v>0</c:v>
                </c:pt>
                <c:pt idx="5">
                  <c:v>2</c:v>
                </c:pt>
                <c:pt idx="6">
                  <c:v>0</c:v>
                </c:pt>
                <c:pt idx="8">
                  <c:v>-1</c:v>
                </c:pt>
                <c:pt idx="11">
                  <c:v>-1</c:v>
                </c:pt>
                <c:pt idx="18">
                  <c:v>-2</c:v>
                </c:pt>
              </c:numCache>
            </c:numRef>
          </c:xVal>
          <c:yVal>
            <c:numRef>
              <c:f>Sheet8!$H$2:$H$21</c:f>
              <c:numCache>
                <c:formatCode>General</c:formatCode>
                <c:ptCount val="20"/>
                <c:pt idx="0">
                  <c:v>0.5</c:v>
                </c:pt>
                <c:pt idx="1">
                  <c:v>-2</c:v>
                </c:pt>
                <c:pt idx="2">
                  <c:v>0</c:v>
                </c:pt>
                <c:pt idx="3">
                  <c:v>2</c:v>
                </c:pt>
                <c:pt idx="4">
                  <c:v>2</c:v>
                </c:pt>
                <c:pt idx="5">
                  <c:v>2</c:v>
                </c:pt>
                <c:pt idx="6">
                  <c:v>1</c:v>
                </c:pt>
                <c:pt idx="8">
                  <c:v>1</c:v>
                </c:pt>
                <c:pt idx="11">
                  <c:v>2</c:v>
                </c:pt>
                <c:pt idx="18">
                  <c:v>2</c:v>
                </c:pt>
              </c:numCache>
            </c:numRef>
          </c:yVal>
          <c:smooth val="0"/>
          <c:extLst xmlns:c15="http://schemas.microsoft.com/office/drawing/2012/chart">
            <c:ext xmlns:c16="http://schemas.microsoft.com/office/drawing/2014/chart" uri="{C3380CC4-5D6E-409C-BE32-E72D297353CC}">
              <c16:uniqueId val="{00000000-DF81-4685-AB65-7A4F586E92F7}"/>
            </c:ext>
          </c:extLst>
        </c:ser>
        <c:dLbls>
          <c:dLblPos val="t"/>
          <c:showLegendKey val="0"/>
          <c:showVal val="1"/>
          <c:showCatName val="0"/>
          <c:showSerName val="0"/>
          <c:showPercent val="0"/>
          <c:showBubbleSize val="0"/>
        </c:dLbls>
        <c:axId val="286344640"/>
        <c:axId val="286344968"/>
        <c:extLst/>
      </c:scatterChart>
      <c:valAx>
        <c:axId val="286344640"/>
        <c:scaling>
          <c:orientation val="minMax"/>
          <c:max val="2"/>
          <c:min val="-2"/>
        </c:scaling>
        <c:delete val="0"/>
        <c:axPos val="b"/>
        <c:title>
          <c:tx>
            <c:rich>
              <a:bodyPr rot="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r>
                  <a:rPr lang="en-US" dirty="0">
                    <a:solidFill>
                      <a:srgbClr val="C00000"/>
                    </a:solidFill>
                  </a:rPr>
                  <a:t>Performance</a:t>
                </a:r>
              </a:p>
            </c:rich>
          </c:tx>
          <c:layout>
            <c:manualLayout>
              <c:xMode val="edge"/>
              <c:yMode val="edge"/>
              <c:x val="0.75927371818410216"/>
              <c:y val="0.53398628772661583"/>
            </c:manualLayout>
          </c:layout>
          <c:overlay val="0"/>
          <c:spPr>
            <a:noFill/>
            <a:ln>
              <a:noFill/>
            </a:ln>
            <a:effectLst/>
          </c:spPr>
          <c:txPr>
            <a:bodyPr rot="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endParaRPr lang="en-US"/>
            </a:p>
          </c:txPr>
        </c:title>
        <c:numFmt formatCode="General" sourceLinked="1"/>
        <c:majorTickMark val="out"/>
        <c:minorTickMark val="none"/>
        <c:tickLblPos val="nextTo"/>
        <c:spPr>
          <a:solidFill>
            <a:schemeClr val="bg1"/>
          </a:solidFill>
          <a:ln w="9525" cap="flat" cmpd="sng" algn="ctr">
            <a:solidFill>
              <a:schemeClr val="tx1"/>
            </a:solidFill>
            <a:prstDash val="solid"/>
            <a:round/>
          </a:ln>
          <a:effectLst/>
        </c:spPr>
        <c:txPr>
          <a:bodyPr rot="-6000000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endParaRPr lang="en-US"/>
          </a:p>
        </c:txPr>
        <c:crossAx val="286344968"/>
        <c:crosses val="autoZero"/>
        <c:crossBetween val="midCat"/>
        <c:majorUnit val="1"/>
      </c:valAx>
      <c:valAx>
        <c:axId val="286344968"/>
        <c:scaling>
          <c:orientation val="minMax"/>
          <c:max val="2"/>
          <c:min val="-2"/>
        </c:scaling>
        <c:delete val="0"/>
        <c:axPos val="l"/>
        <c:title>
          <c:tx>
            <c:rich>
              <a:bodyPr rot="-540000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r>
                  <a:rPr lang="en-US" dirty="0">
                    <a:solidFill>
                      <a:srgbClr val="C00000"/>
                    </a:solidFill>
                  </a:rPr>
                  <a:t>Importance</a:t>
                </a:r>
              </a:p>
            </c:rich>
          </c:tx>
          <c:layout>
            <c:manualLayout>
              <c:xMode val="edge"/>
              <c:yMode val="edge"/>
              <c:x val="0.50764245139528397"/>
              <c:y val="0.70848452486343405"/>
            </c:manualLayout>
          </c:layout>
          <c:overlay val="0"/>
          <c:spPr>
            <a:noFill/>
            <a:ln>
              <a:noFill/>
            </a:ln>
            <a:effectLst/>
          </c:spPr>
          <c:txPr>
            <a:bodyPr rot="-540000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endParaRPr lang="en-US"/>
            </a:p>
          </c:txPr>
        </c:title>
        <c:numFmt formatCode="General" sourceLinked="1"/>
        <c:majorTickMark val="out"/>
        <c:minorTickMark val="none"/>
        <c:tickLblPos val="nextTo"/>
        <c:spPr>
          <a:noFill/>
          <a:ln w="6350" cap="flat" cmpd="sng" algn="ctr">
            <a:solidFill>
              <a:schemeClr val="tx1"/>
            </a:solidFill>
            <a:prstDash val="solid"/>
            <a:round/>
          </a:ln>
          <a:effectLst/>
        </c:spPr>
        <c:txPr>
          <a:bodyPr rot="-60000000" spcFirstLastPara="1" vertOverflow="ellipsis" vert="horz" wrap="square" anchor="ctr" anchorCtr="1"/>
          <a:lstStyle/>
          <a:p>
            <a:pPr>
              <a:defRPr lang="en-US" sz="1100" b="0" i="0" u="none" strike="noStrike" kern="1200" baseline="0">
                <a:solidFill>
                  <a:sysClr val="windowText" lastClr="000000"/>
                </a:solidFill>
                <a:latin typeface="Montserrat Medium" pitchFamily="2" charset="0"/>
                <a:ea typeface="+mn-ea"/>
                <a:cs typeface="+mn-cs"/>
              </a:defRPr>
            </a:pPr>
            <a:endParaRPr lang="en-US"/>
          </a:p>
        </c:txPr>
        <c:crossAx val="286344640"/>
        <c:crosses val="autoZero"/>
        <c:crossBetween val="midCat"/>
        <c:min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dbl" algn="ctr">
      <a:noFill/>
      <a:prstDash val="solid"/>
      <a:round/>
    </a:ln>
    <a:effectLst/>
  </c:spPr>
  <c:txPr>
    <a:bodyPr/>
    <a:lstStyle/>
    <a:p>
      <a:pPr algn="ctr" rtl="0">
        <a:defRPr lang="en-US" sz="1100" b="0" i="0" u="none" strike="noStrike" kern="1200" baseline="0">
          <a:solidFill>
            <a:sysClr val="windowText" lastClr="000000"/>
          </a:solidFill>
          <a:latin typeface="Montserrat Medium" pitchFamily="2" charset="0"/>
          <a:ea typeface="+mn-ea"/>
          <a:cs typeface="+mn-cs"/>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98906977707068"/>
          <c:y val="7.7252876098039228E-2"/>
          <c:w val="0.82042825116129736"/>
          <c:h val="0.77780982604044935"/>
        </c:manualLayout>
      </c:layout>
      <c:barChart>
        <c:barDir val="col"/>
        <c:grouping val="stacked"/>
        <c:varyColors val="0"/>
        <c:ser>
          <c:idx val="0"/>
          <c:order val="0"/>
          <c:tx>
            <c:strRef>
              <c:f>'ONLY FEDERAL (2)'!$AT$10</c:f>
              <c:strCache>
                <c:ptCount val="1"/>
              </c:strCache>
            </c:strRef>
          </c:tx>
          <c:spPr>
            <a:solidFill>
              <a:srgbClr val="F7A800"/>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(2)'!$AR$11:$AR$12</c:f>
              <c:strCache>
                <c:ptCount val="2"/>
                <c:pt idx="0">
                  <c:v>Mobile App</c:v>
                </c:pt>
                <c:pt idx="1">
                  <c:v>Internet Banking</c:v>
                </c:pt>
              </c:strCache>
            </c:strRef>
          </c:cat>
          <c:val>
            <c:numRef>
              <c:f>'ONLY FEDERAL (2)'!$AT$11:$AT$12</c:f>
              <c:numCache>
                <c:formatCode>0%</c:formatCode>
                <c:ptCount val="2"/>
                <c:pt idx="0">
                  <c:v>0.72049689440993792</c:v>
                </c:pt>
                <c:pt idx="1">
                  <c:v>0.67080745341614911</c:v>
                </c:pt>
              </c:numCache>
            </c:numRef>
          </c:val>
          <c:extLst>
            <c:ext xmlns:c16="http://schemas.microsoft.com/office/drawing/2014/chart" uri="{C3380CC4-5D6E-409C-BE32-E72D297353CC}">
              <c16:uniqueId val="{00000001-9886-4B6B-8394-63E5B980BBBB}"/>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100">
          <a:solidFill>
            <a:schemeClr val="tx1"/>
          </a:solidFill>
          <a:latin typeface="Montserrat SemiBold" panose="00000700000000000000" pitchFamily="2"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0.19761807761114794"/>
          <c:y val="0.11851376975108142"/>
          <c:w val="0.68645609698918597"/>
          <c:h val="0.67146920580476999"/>
        </c:manualLayout>
      </c:layout>
      <c:barChart>
        <c:barDir val="col"/>
        <c:grouping val="stacked"/>
        <c:varyColors val="0"/>
        <c:ser>
          <c:idx val="0"/>
          <c:order val="0"/>
          <c:spPr>
            <a:solidFill>
              <a:srgbClr val="F7A800"/>
            </a:solidFill>
            <a:ln>
              <a:noFill/>
            </a:ln>
            <a:effectLst/>
          </c:spPr>
          <c:invertIfNegative val="0"/>
          <c:dLbls>
            <c:spPr>
              <a:noFill/>
              <a:ln>
                <a:noFill/>
              </a:ln>
              <a:effectLst/>
            </c:spPr>
            <c:txPr>
              <a:bodyPr rot="0" spcFirstLastPara="1" vertOverflow="ellipsis" vert="horz" wrap="square" anchor="ctr" anchorCtr="0"/>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(2)'!$A$22:$A$23</c:f>
              <c:strCache>
                <c:ptCount val="2"/>
                <c:pt idx="0">
                  <c:v>Interaction &amp; transaction at the branch</c:v>
                </c:pt>
                <c:pt idx="1">
                  <c:v>Branch staff's ability</c:v>
                </c:pt>
              </c:strCache>
            </c:strRef>
          </c:cat>
          <c:val>
            <c:numRef>
              <c:f>'ONLY FEDERAL (2)'!$C$22:$C$23</c:f>
              <c:numCache>
                <c:formatCode>0%</c:formatCode>
                <c:ptCount val="2"/>
                <c:pt idx="0">
                  <c:v>0.77639751552795033</c:v>
                </c:pt>
                <c:pt idx="1">
                  <c:v>0.75155279503105588</c:v>
                </c:pt>
              </c:numCache>
            </c:numRef>
          </c:val>
          <c:extLst>
            <c:ext xmlns:c16="http://schemas.microsoft.com/office/drawing/2014/chart" uri="{C3380CC4-5D6E-409C-BE32-E72D297353CC}">
              <c16:uniqueId val="{00000001-F99C-496D-927E-E9A0C061BDBF}"/>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050"/>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6.7405529931942446E-2"/>
          <c:y val="0.11421265897176357"/>
          <c:w val="0.87833912891901567"/>
          <c:h val="0.72180551135955895"/>
        </c:manualLayout>
      </c:layout>
      <c:barChart>
        <c:barDir val="col"/>
        <c:grouping val="stacked"/>
        <c:varyColors val="0"/>
        <c:ser>
          <c:idx val="0"/>
          <c:order val="0"/>
          <c:spPr>
            <a:solidFill>
              <a:srgbClr val="F7A800"/>
            </a:solidFill>
            <a:ln>
              <a:noFill/>
            </a:ln>
            <a:effectLst/>
          </c:spPr>
          <c:invertIfNegative val="0"/>
          <c:dLbls>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(2)'!$O$22:$O$24</c:f>
              <c:strCache>
                <c:ptCount val="3"/>
                <c:pt idx="0">
                  <c:v>Communication with RM</c:v>
                </c:pt>
                <c:pt idx="1">
                  <c:v>Availabilty of RM</c:v>
                </c:pt>
                <c:pt idx="2">
                  <c:v>RM ability to resolve issues</c:v>
                </c:pt>
              </c:strCache>
            </c:strRef>
          </c:cat>
          <c:val>
            <c:numRef>
              <c:f>'ONLY FEDERAL (2)'!$Q$22:$Q$24</c:f>
              <c:numCache>
                <c:formatCode>0%</c:formatCode>
                <c:ptCount val="3"/>
                <c:pt idx="0">
                  <c:v>0.77639751552795033</c:v>
                </c:pt>
                <c:pt idx="1">
                  <c:v>0.68322981366459623</c:v>
                </c:pt>
                <c:pt idx="2">
                  <c:v>0.70186335403726707</c:v>
                </c:pt>
              </c:numCache>
            </c:numRef>
          </c:val>
          <c:extLst>
            <c:ext xmlns:c16="http://schemas.microsoft.com/office/drawing/2014/chart" uri="{C3380CC4-5D6E-409C-BE32-E72D297353CC}">
              <c16:uniqueId val="{00000001-F1C2-4247-9CDF-50D46559D7AF}"/>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05529931942446E-2"/>
          <c:y val="0.11421265897176357"/>
          <c:w val="0.82042825116129736"/>
          <c:h val="0.70799718504708864"/>
        </c:manualLayout>
      </c:layout>
      <c:barChart>
        <c:barDir val="col"/>
        <c:grouping val="stacked"/>
        <c:varyColors val="0"/>
        <c:ser>
          <c:idx val="0"/>
          <c:order val="0"/>
          <c:spPr>
            <a:solidFill>
              <a:srgbClr val="FFC000"/>
            </a:solidFill>
            <a:ln>
              <a:noFill/>
            </a:ln>
            <a:effectLst/>
          </c:spPr>
          <c:invertIfNegative val="0"/>
          <c:dLbls>
            <c:spPr>
              <a:noFill/>
              <a:ln>
                <a:noFill/>
              </a:ln>
              <a:effectLst/>
            </c:spPr>
            <c:txPr>
              <a:bodyPr rot="0" spcFirstLastPara="1" vertOverflow="ellipsis" vert="horz" wrap="square" anchor="ctr" anchorCtr="0"/>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(2)'!$W$21:$W$23</c:f>
              <c:strCache>
                <c:ptCount val="3"/>
                <c:pt idx="0">
                  <c:v>Speed of query resolution</c:v>
                </c:pt>
                <c:pt idx="1">
                  <c:v>Correcting errors &amp; delays</c:v>
                </c:pt>
                <c:pt idx="2">
                  <c:v>Call center support </c:v>
                </c:pt>
              </c:strCache>
            </c:strRef>
          </c:cat>
          <c:val>
            <c:numRef>
              <c:f>'ONLY FEDERAL (2)'!$Y$21:$Y$23</c:f>
              <c:numCache>
                <c:formatCode>0%</c:formatCode>
                <c:ptCount val="3"/>
                <c:pt idx="0">
                  <c:v>0.72670807453416153</c:v>
                </c:pt>
                <c:pt idx="1">
                  <c:v>0.59627329192546585</c:v>
                </c:pt>
                <c:pt idx="2">
                  <c:v>0.54037267080745344</c:v>
                </c:pt>
              </c:numCache>
            </c:numRef>
          </c:val>
          <c:extLst>
            <c:ext xmlns:c16="http://schemas.microsoft.com/office/drawing/2014/chart" uri="{C3380CC4-5D6E-409C-BE32-E72D297353CC}">
              <c16:uniqueId val="{00000001-5D06-4669-9BEB-847DC7F81346}"/>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8.1546978691955554E-2"/>
          <c:y val="0.11421269809628228"/>
          <c:w val="0.90892241420178188"/>
          <c:h val="0.75873844212844899"/>
        </c:manualLayout>
      </c:layout>
      <c:barChart>
        <c:barDir val="col"/>
        <c:grouping val="percentStacked"/>
        <c:varyColors val="0"/>
        <c:ser>
          <c:idx val="0"/>
          <c:order val="0"/>
          <c:tx>
            <c:strRef>
              <c:f>'ONLY FEDERAL (2)'!$Q$30</c:f>
              <c:strCache>
                <c:ptCount val="1"/>
                <c:pt idx="0">
                  <c:v>Celesta</c:v>
                </c:pt>
              </c:strCache>
            </c:strRef>
          </c:tx>
          <c:spPr>
            <a:solidFill>
              <a:srgbClr val="002060"/>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(2)'!$P$32:$P$35</c:f>
              <c:strCache>
                <c:ptCount val="4"/>
                <c:pt idx="0">
                  <c:v>Home banking services</c:v>
                </c:pt>
                <c:pt idx="1">
                  <c:v>Investment planning advice</c:v>
                </c:pt>
                <c:pt idx="2">
                  <c:v>Discount on retail banking services</c:v>
                </c:pt>
                <c:pt idx="3">
                  <c:v>Business banking services</c:v>
                </c:pt>
              </c:strCache>
            </c:strRef>
          </c:cat>
          <c:val>
            <c:numRef>
              <c:f>'ONLY FEDERAL (2)'!$Q$32:$Q$35</c:f>
              <c:numCache>
                <c:formatCode>0%</c:formatCode>
                <c:ptCount val="4"/>
                <c:pt idx="0">
                  <c:v>0.55629139072847678</c:v>
                </c:pt>
                <c:pt idx="1">
                  <c:v>0.48684210526315791</c:v>
                </c:pt>
                <c:pt idx="2">
                  <c:v>0.45333333333333331</c:v>
                </c:pt>
                <c:pt idx="3">
                  <c:v>0.41558441558441561</c:v>
                </c:pt>
              </c:numCache>
            </c:numRef>
          </c:val>
          <c:extLst>
            <c:ext xmlns:c16="http://schemas.microsoft.com/office/drawing/2014/chart" uri="{C3380CC4-5D6E-409C-BE32-E72D297353CC}">
              <c16:uniqueId val="{00000000-2927-4618-9B52-DE488B2ABCCB}"/>
            </c:ext>
          </c:extLst>
        </c:ser>
        <c:ser>
          <c:idx val="1"/>
          <c:order val="1"/>
          <c:tx>
            <c:strRef>
              <c:f>'ONLY FEDERAL (2)'!$R$30</c:f>
              <c:strCache>
                <c:ptCount val="1"/>
                <c:pt idx="0">
                  <c:v>Competition</c:v>
                </c:pt>
              </c:strCache>
            </c:strRef>
          </c:tx>
          <c:spPr>
            <a:solidFill>
              <a:srgbClr val="E97132"/>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(2)'!$P$32:$P$35</c:f>
              <c:strCache>
                <c:ptCount val="4"/>
                <c:pt idx="0">
                  <c:v>Home banking services</c:v>
                </c:pt>
                <c:pt idx="1">
                  <c:v>Investment planning advice</c:v>
                </c:pt>
                <c:pt idx="2">
                  <c:v>Discount on retail banking services</c:v>
                </c:pt>
                <c:pt idx="3">
                  <c:v>Business banking services</c:v>
                </c:pt>
              </c:strCache>
            </c:strRef>
          </c:cat>
          <c:val>
            <c:numRef>
              <c:f>'ONLY FEDERAL (2)'!$R$32:$R$35</c:f>
              <c:numCache>
                <c:formatCode>0%</c:formatCode>
                <c:ptCount val="4"/>
                <c:pt idx="0">
                  <c:v>0.16556291390728475</c:v>
                </c:pt>
                <c:pt idx="1">
                  <c:v>0.25657894736842102</c:v>
                </c:pt>
                <c:pt idx="2">
                  <c:v>0.24</c:v>
                </c:pt>
                <c:pt idx="3">
                  <c:v>0.16233766233766234</c:v>
                </c:pt>
              </c:numCache>
            </c:numRef>
          </c:val>
          <c:extLst>
            <c:ext xmlns:c16="http://schemas.microsoft.com/office/drawing/2014/chart" uri="{C3380CC4-5D6E-409C-BE32-E72D297353CC}">
              <c16:uniqueId val="{00000001-2927-4618-9B52-DE488B2ABCCB}"/>
            </c:ext>
          </c:extLst>
        </c:ser>
        <c:ser>
          <c:idx val="2"/>
          <c:order val="2"/>
          <c:tx>
            <c:strRef>
              <c:f>'ONLY FEDERAL (2)'!$S$30</c:f>
              <c:strCache>
                <c:ptCount val="1"/>
                <c:pt idx="0">
                  <c:v>Not experienced</c:v>
                </c:pt>
              </c:strCache>
            </c:strRef>
          </c:tx>
          <c:spPr>
            <a:solidFill>
              <a:srgbClr val="A6A6A6"/>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(2)'!$P$32:$P$35</c:f>
              <c:strCache>
                <c:ptCount val="4"/>
                <c:pt idx="0">
                  <c:v>Home banking services</c:v>
                </c:pt>
                <c:pt idx="1">
                  <c:v>Investment planning advice</c:v>
                </c:pt>
                <c:pt idx="2">
                  <c:v>Discount on retail banking services</c:v>
                </c:pt>
                <c:pt idx="3">
                  <c:v>Business banking services</c:v>
                </c:pt>
              </c:strCache>
            </c:strRef>
          </c:cat>
          <c:val>
            <c:numRef>
              <c:f>'ONLY FEDERAL (2)'!$S$32:$S$35</c:f>
              <c:numCache>
                <c:formatCode>0%</c:formatCode>
                <c:ptCount val="4"/>
                <c:pt idx="0">
                  <c:v>0.27814569536423839</c:v>
                </c:pt>
                <c:pt idx="1">
                  <c:v>0.25657894736842107</c:v>
                </c:pt>
                <c:pt idx="2">
                  <c:v>0.30666666666666664</c:v>
                </c:pt>
                <c:pt idx="3">
                  <c:v>0.42207792207792205</c:v>
                </c:pt>
              </c:numCache>
            </c:numRef>
          </c:val>
          <c:extLst>
            <c:ext xmlns:c16="http://schemas.microsoft.com/office/drawing/2014/chart" uri="{C3380CC4-5D6E-409C-BE32-E72D297353CC}">
              <c16:uniqueId val="{00000002-2927-4618-9B52-DE488B2ABCCB}"/>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just">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legend>
      <c:legendPos val="t"/>
      <c:layout>
        <c:manualLayout>
          <c:xMode val="edge"/>
          <c:yMode val="edge"/>
          <c:x val="4.0632712658632546E-2"/>
          <c:y val="4.7785731329038437E-3"/>
          <c:w val="0.89591780738995197"/>
          <c:h val="7.7548125769739781E-2"/>
        </c:manualLayout>
      </c:layout>
      <c:overlay val="0"/>
      <c:spPr>
        <a:noFill/>
        <a:ln>
          <a:noFill/>
        </a:ln>
        <a:effectLst/>
      </c:spPr>
      <c:txPr>
        <a:bodyPr rot="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100">
          <a:solidFill>
            <a:schemeClr val="tx1"/>
          </a:solidFill>
          <a:latin typeface="Montserrat SemiBold" panose="00000700000000000000" pitchFamily="2" charset="0"/>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4834858383771208E-2"/>
          <c:y val="4.0827387263517242E-2"/>
          <c:w val="0.90468189879097671"/>
          <c:h val="0.79408552916990038"/>
        </c:manualLayout>
      </c:layout>
      <c:barChart>
        <c:barDir val="col"/>
        <c:grouping val="stacked"/>
        <c:varyColors val="0"/>
        <c:ser>
          <c:idx val="0"/>
          <c:order val="0"/>
          <c:tx>
            <c:strRef>
              <c:f>'Federal problems M &amp; W'!$C$135</c:f>
              <c:strCache>
                <c:ptCount val="1"/>
                <c:pt idx="0">
                  <c:v>Getting financial advice that matches my goals is difficult</c:v>
                </c:pt>
              </c:strCache>
            </c:strRef>
          </c:tx>
          <c:spPr>
            <a:solidFill>
              <a:srgbClr val="ED7D31">
                <a:lumMod val="5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W'!$C$136:$C$140</c:f>
              <c:numCache>
                <c:formatCode>General</c:formatCode>
                <c:ptCount val="5"/>
                <c:pt idx="0" formatCode="0%">
                  <c:v>0.1192468619246862</c:v>
                </c:pt>
              </c:numCache>
            </c:numRef>
          </c:val>
          <c:extLst>
            <c:ext xmlns:c16="http://schemas.microsoft.com/office/drawing/2014/chart" uri="{C3380CC4-5D6E-409C-BE32-E72D297353CC}">
              <c16:uniqueId val="{00000000-FF45-455B-9A0B-C4C8A8E032F5}"/>
            </c:ext>
          </c:extLst>
        </c:ser>
        <c:ser>
          <c:idx val="1"/>
          <c:order val="1"/>
          <c:tx>
            <c:strRef>
              <c:f>'Federal problems M &amp; W'!$D$135</c:f>
              <c:strCache>
                <c:ptCount val="1"/>
                <c:pt idx="0">
                  <c:v>There aren't enough wealth management products and options</c:v>
                </c:pt>
              </c:strCache>
            </c:strRef>
          </c:tx>
          <c:spPr>
            <a:solidFill>
              <a:srgbClr val="FFC000">
                <a:lumMod val="60000"/>
                <a:lumOff val="4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W'!$D$136:$D$140</c:f>
              <c:numCache>
                <c:formatCode>General</c:formatCode>
                <c:ptCount val="5"/>
                <c:pt idx="0" formatCode="0%">
                  <c:v>0.11715481171548117</c:v>
                </c:pt>
              </c:numCache>
            </c:numRef>
          </c:val>
          <c:extLst>
            <c:ext xmlns:c16="http://schemas.microsoft.com/office/drawing/2014/chart" uri="{C3380CC4-5D6E-409C-BE32-E72D297353CC}">
              <c16:uniqueId val="{00000001-FF45-455B-9A0B-C4C8A8E032F5}"/>
            </c:ext>
          </c:extLst>
        </c:ser>
        <c:ser>
          <c:idx val="2"/>
          <c:order val="2"/>
          <c:tx>
            <c:strRef>
              <c:f>'Federal problems M &amp; W'!$E$135</c:f>
              <c:strCache>
                <c:ptCount val="1"/>
                <c:pt idx="0">
                  <c:v>Financial investment services are not aligned with my goals</c:v>
                </c:pt>
              </c:strCache>
            </c:strRef>
          </c:tx>
          <c:spPr>
            <a:solidFill>
              <a:srgbClr val="D2A0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W'!$E$136:$E$140</c:f>
              <c:numCache>
                <c:formatCode>General</c:formatCode>
                <c:ptCount val="5"/>
                <c:pt idx="0" formatCode="0%">
                  <c:v>0.10878661087866109</c:v>
                </c:pt>
              </c:numCache>
            </c:numRef>
          </c:val>
          <c:extLst>
            <c:ext xmlns:c16="http://schemas.microsoft.com/office/drawing/2014/chart" uri="{C3380CC4-5D6E-409C-BE32-E72D297353CC}">
              <c16:uniqueId val="{00000002-FF45-455B-9A0B-C4C8A8E032F5}"/>
            </c:ext>
          </c:extLst>
        </c:ser>
        <c:ser>
          <c:idx val="3"/>
          <c:order val="3"/>
          <c:tx>
            <c:strRef>
              <c:f>'Federal problems M &amp; W'!$F$135</c:f>
              <c:strCache>
                <c:ptCount val="1"/>
                <c:pt idx="0">
                  <c:v>Unsure if my Relationship Manager recommends products that benefit me or just what they want to sell</c:v>
                </c:pt>
              </c:strCache>
            </c:strRef>
          </c:tx>
          <c:spPr>
            <a:solidFill>
              <a:srgbClr val="ED7D31">
                <a:lumMod val="40000"/>
                <a:lumOff val="6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W'!$F$136:$F$140</c:f>
              <c:numCache>
                <c:formatCode>General</c:formatCode>
                <c:ptCount val="5"/>
                <c:pt idx="0" formatCode="0%">
                  <c:v>8.1589958158995821E-2</c:v>
                </c:pt>
              </c:numCache>
            </c:numRef>
          </c:val>
          <c:extLst>
            <c:ext xmlns:c16="http://schemas.microsoft.com/office/drawing/2014/chart" uri="{C3380CC4-5D6E-409C-BE32-E72D297353CC}">
              <c16:uniqueId val="{00000003-FF45-455B-9A0B-C4C8A8E032F5}"/>
            </c:ext>
          </c:extLst>
        </c:ser>
        <c:ser>
          <c:idx val="4"/>
          <c:order val="4"/>
          <c:tx>
            <c:strRef>
              <c:f>'Federal problems M &amp; W'!$G$135</c:f>
              <c:strCache>
                <c:ptCount val="1"/>
                <c:pt idx="0">
                  <c:v>Customer care (Celesta Desk) agents are often inconsiderate/Customer care agents are often inconsiderate</c:v>
                </c:pt>
              </c:strCache>
            </c:strRef>
          </c:tx>
          <c:spPr>
            <a:solidFill>
              <a:srgbClr val="70AD47">
                <a:lumMod val="5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W'!$G$136:$G$140</c:f>
              <c:numCache>
                <c:formatCode>0%</c:formatCode>
                <c:ptCount val="5"/>
                <c:pt idx="1">
                  <c:v>0.08</c:v>
                </c:pt>
              </c:numCache>
            </c:numRef>
          </c:val>
          <c:extLst>
            <c:ext xmlns:c16="http://schemas.microsoft.com/office/drawing/2014/chart" uri="{C3380CC4-5D6E-409C-BE32-E72D297353CC}">
              <c16:uniqueId val="{00000004-FF45-455B-9A0B-C4C8A8E032F5}"/>
            </c:ext>
          </c:extLst>
        </c:ser>
        <c:ser>
          <c:idx val="5"/>
          <c:order val="5"/>
          <c:tx>
            <c:strRef>
              <c:f>'Federal problems M &amp; W'!$H$135</c:f>
              <c:strCache>
                <c:ptCount val="1"/>
                <c:pt idx="0">
                  <c:v>Issue resolution takes too long</c:v>
                </c:pt>
              </c:strCache>
            </c:strRef>
          </c:tx>
          <c:spPr>
            <a:solidFill>
              <a:srgbClr val="70AD47"/>
            </a:solidFill>
            <a:ln>
              <a:noFill/>
            </a:ln>
            <a:effectLst/>
          </c:spPr>
          <c:invertIfNegative val="0"/>
          <c:dLbls>
            <c:dLbl>
              <c:idx val="1"/>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C-FF45-455B-9A0B-C4C8A8E032F5}"/>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W'!$H$136:$H$140</c:f>
              <c:numCache>
                <c:formatCode>0%</c:formatCode>
                <c:ptCount val="5"/>
                <c:pt idx="1">
                  <c:v>0.05</c:v>
                </c:pt>
              </c:numCache>
            </c:numRef>
          </c:val>
          <c:extLst>
            <c:ext xmlns:c16="http://schemas.microsoft.com/office/drawing/2014/chart" uri="{C3380CC4-5D6E-409C-BE32-E72D297353CC}">
              <c16:uniqueId val="{00000005-FF45-455B-9A0B-C4C8A8E032F5}"/>
            </c:ext>
          </c:extLst>
        </c:ser>
        <c:ser>
          <c:idx val="6"/>
          <c:order val="6"/>
          <c:tx>
            <c:strRef>
              <c:f>'Federal problems M &amp; W'!$I$135</c:f>
              <c:strCache>
                <c:ptCount val="1"/>
                <c:pt idx="0">
                  <c:v>Connecting with the RM / Relevant employee</c:v>
                </c:pt>
              </c:strCache>
            </c:strRef>
          </c:tx>
          <c:spPr>
            <a:solidFill>
              <a:srgbClr val="70AD47">
                <a:lumMod val="60000"/>
                <a:lumOff val="40000"/>
              </a:srgbClr>
            </a:solidFill>
            <a:ln>
              <a:noFill/>
            </a:ln>
            <a:effectLst/>
          </c:spPr>
          <c:invertIfNegative val="0"/>
          <c:dLbls>
            <c:dLbl>
              <c:idx val="1"/>
              <c:layout>
                <c:manualLayout>
                  <c:x val="0"/>
                  <c:y val="-2.170344982316204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FF45-455B-9A0B-C4C8A8E032F5}"/>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W'!$I$136:$I$140</c:f>
              <c:numCache>
                <c:formatCode>0%</c:formatCode>
                <c:ptCount val="5"/>
                <c:pt idx="1">
                  <c:v>0.03</c:v>
                </c:pt>
              </c:numCache>
            </c:numRef>
          </c:val>
          <c:extLst>
            <c:ext xmlns:c16="http://schemas.microsoft.com/office/drawing/2014/chart" uri="{C3380CC4-5D6E-409C-BE32-E72D297353CC}">
              <c16:uniqueId val="{00000006-FF45-455B-9A0B-C4C8A8E032F5}"/>
            </c:ext>
          </c:extLst>
        </c:ser>
        <c:ser>
          <c:idx val="7"/>
          <c:order val="7"/>
          <c:tx>
            <c:strRef>
              <c:f>'Federal problems M &amp; W'!$K$135</c:f>
              <c:strCache>
                <c:ptCount val="1"/>
                <c:pt idx="0">
                  <c:v>No preferential or priority treatment</c:v>
                </c:pt>
              </c:strCache>
            </c:strRef>
          </c:tx>
          <c:spPr>
            <a:solidFill>
              <a:srgbClr val="4472C4">
                <a:lumMod val="5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W'!$J$136:$J$140</c:f>
              <c:numCache>
                <c:formatCode>General</c:formatCode>
                <c:ptCount val="5"/>
                <c:pt idx="2" formatCode="0%">
                  <c:v>0.12</c:v>
                </c:pt>
              </c:numCache>
            </c:numRef>
          </c:val>
          <c:extLst>
            <c:ext xmlns:c16="http://schemas.microsoft.com/office/drawing/2014/chart" uri="{C3380CC4-5D6E-409C-BE32-E72D297353CC}">
              <c16:uniqueId val="{00000007-FF45-455B-9A0B-C4C8A8E032F5}"/>
            </c:ext>
          </c:extLst>
        </c:ser>
        <c:ser>
          <c:idx val="8"/>
          <c:order val="8"/>
          <c:tx>
            <c:strRef>
              <c:f>'Federal problems M &amp; W'!$J$135</c:f>
              <c:strCache>
                <c:ptCount val="1"/>
                <c:pt idx="0">
                  <c:v>Minimum balance requirements</c:v>
                </c:pt>
              </c:strCache>
            </c:strRef>
          </c:tx>
          <c:spPr>
            <a:solidFill>
              <a:srgbClr val="4472C4">
                <a:lumMod val="60000"/>
                <a:lumOff val="4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W'!$K$136:$K$140</c:f>
              <c:numCache>
                <c:formatCode>General</c:formatCode>
                <c:ptCount val="5"/>
                <c:pt idx="2" formatCode="0%">
                  <c:v>0.08</c:v>
                </c:pt>
              </c:numCache>
            </c:numRef>
          </c:val>
          <c:extLst>
            <c:ext xmlns:c16="http://schemas.microsoft.com/office/drawing/2014/chart" uri="{C3380CC4-5D6E-409C-BE32-E72D297353CC}">
              <c16:uniqueId val="{00000008-FF45-455B-9A0B-C4C8A8E032F5}"/>
            </c:ext>
          </c:extLst>
        </c:ser>
        <c:ser>
          <c:idx val="9"/>
          <c:order val="9"/>
          <c:tx>
            <c:strRef>
              <c:f>'Federal problems M &amp; W'!$L$135</c:f>
              <c:strCache>
                <c:ptCount val="1"/>
                <c:pt idx="0">
                  <c:v>Irrelevant offers are presented to me</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W'!$L$136:$L$140</c:f>
              <c:numCache>
                <c:formatCode>General</c:formatCode>
                <c:ptCount val="5"/>
                <c:pt idx="3" formatCode="0%">
                  <c:v>9.832635983263599E-2</c:v>
                </c:pt>
              </c:numCache>
            </c:numRef>
          </c:val>
          <c:extLst>
            <c:ext xmlns:c16="http://schemas.microsoft.com/office/drawing/2014/chart" uri="{C3380CC4-5D6E-409C-BE32-E72D297353CC}">
              <c16:uniqueId val="{00000009-FF45-455B-9A0B-C4C8A8E032F5}"/>
            </c:ext>
          </c:extLst>
        </c:ser>
        <c:ser>
          <c:idx val="10"/>
          <c:order val="10"/>
          <c:tx>
            <c:strRef>
              <c:f>'Federal problems M &amp; W'!$M$135</c:f>
              <c:strCache>
                <c:ptCount val="1"/>
                <c:pt idx="0">
                  <c:v>Concierge services are not up to the mark</c:v>
                </c:pt>
              </c:strCache>
            </c:strRef>
          </c:tx>
          <c:spPr>
            <a:solidFill>
              <a:srgbClr val="DF5F8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W'!$M$136:$M$140</c:f>
              <c:numCache>
                <c:formatCode>General</c:formatCode>
                <c:ptCount val="5"/>
                <c:pt idx="3" formatCode="0%">
                  <c:v>0.06</c:v>
                </c:pt>
              </c:numCache>
            </c:numRef>
          </c:val>
          <c:extLst>
            <c:ext xmlns:c16="http://schemas.microsoft.com/office/drawing/2014/chart" uri="{C3380CC4-5D6E-409C-BE32-E72D297353CC}">
              <c16:uniqueId val="{0000000A-FF45-455B-9A0B-C4C8A8E032F5}"/>
            </c:ext>
          </c:extLst>
        </c:ser>
        <c:ser>
          <c:idx val="11"/>
          <c:order val="11"/>
          <c:tx>
            <c:strRef>
              <c:f>'Federal problems M &amp; W'!$N$135</c:f>
              <c:strCache>
                <c:ptCount val="1"/>
                <c:pt idx="0">
                  <c:v>Digital banking isn't helpful</c:v>
                </c:pt>
              </c:strCache>
            </c:strRef>
          </c:tx>
          <c:spPr>
            <a:solidFill>
              <a:sysClr val="window" lastClr="FFFFFF">
                <a:lumMod val="50000"/>
              </a:sys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W'!$B$136:$B$140</c:f>
              <c:strCache>
                <c:ptCount val="5"/>
                <c:pt idx="0">
                  <c:v>Financial planing &amp; advisory</c:v>
                </c:pt>
                <c:pt idx="1">
                  <c:v>Connect &amp; Support</c:v>
                </c:pt>
                <c:pt idx="2">
                  <c:v>Basics</c:v>
                </c:pt>
                <c:pt idx="3">
                  <c:v>Lifestyle Banefits</c:v>
                </c:pt>
                <c:pt idx="4">
                  <c:v>Digital</c:v>
                </c:pt>
              </c:strCache>
            </c:strRef>
          </c:cat>
          <c:val>
            <c:numRef>
              <c:f>'Federal problems M &amp; W'!$N$136:$N$140</c:f>
              <c:numCache>
                <c:formatCode>General</c:formatCode>
                <c:ptCount val="5"/>
                <c:pt idx="4" formatCode="0%">
                  <c:v>0.06</c:v>
                </c:pt>
              </c:numCache>
            </c:numRef>
          </c:val>
          <c:extLst>
            <c:ext xmlns:c16="http://schemas.microsoft.com/office/drawing/2014/chart" uri="{C3380CC4-5D6E-409C-BE32-E72D297353CC}">
              <c16:uniqueId val="{0000000B-FF45-455B-9A0B-C4C8A8E032F5}"/>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just">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242369720816285"/>
          <c:y val="3.636739228970369E-2"/>
          <c:w val="0.74478857232305762"/>
          <c:h val="0.8835444648250752"/>
        </c:manualLayout>
      </c:layout>
      <c:barChart>
        <c:barDir val="col"/>
        <c:grouping val="stacked"/>
        <c:varyColors val="0"/>
        <c:ser>
          <c:idx val="0"/>
          <c:order val="0"/>
          <c:tx>
            <c:strRef>
              <c:f>'Federal problems M &amp; W'!$B$86</c:f>
              <c:strCache>
                <c:ptCount val="1"/>
                <c:pt idx="0">
                  <c:v>The financial advice isn't detailed enough</c:v>
                </c:pt>
              </c:strCache>
            </c:strRef>
          </c:tx>
          <c:spPr>
            <a:solidFill>
              <a:schemeClr val="accent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W'!$A$87:$A$89</c:f>
              <c:strCache>
                <c:ptCount val="3"/>
                <c:pt idx="0">
                  <c:v>Advisory</c:v>
                </c:pt>
                <c:pt idx="1">
                  <c:v>Service</c:v>
                </c:pt>
                <c:pt idx="2">
                  <c:v>Benefits</c:v>
                </c:pt>
              </c:strCache>
            </c:strRef>
          </c:cat>
          <c:val>
            <c:numRef>
              <c:f>'Federal problems M &amp; W'!$B$87:$B$89</c:f>
              <c:numCache>
                <c:formatCode>General</c:formatCode>
                <c:ptCount val="3"/>
                <c:pt idx="0" formatCode="0%">
                  <c:v>0.16666666666666666</c:v>
                </c:pt>
              </c:numCache>
            </c:numRef>
          </c:val>
          <c:extLst>
            <c:ext xmlns:c16="http://schemas.microsoft.com/office/drawing/2014/chart" uri="{C3380CC4-5D6E-409C-BE32-E72D297353CC}">
              <c16:uniqueId val="{00000000-C911-4EF1-B9BB-4863C32CA63B}"/>
            </c:ext>
          </c:extLst>
        </c:ser>
        <c:ser>
          <c:idx val="1"/>
          <c:order val="1"/>
          <c:tx>
            <c:strRef>
              <c:f>'Federal problems M &amp; W'!$C$86</c:f>
              <c:strCache>
                <c:ptCount val="1"/>
                <c:pt idx="0">
                  <c:v>The financial products don't fit my needs</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W'!$A$87:$A$89</c:f>
              <c:strCache>
                <c:ptCount val="3"/>
                <c:pt idx="0">
                  <c:v>Advisory</c:v>
                </c:pt>
                <c:pt idx="1">
                  <c:v>Service</c:v>
                </c:pt>
                <c:pt idx="2">
                  <c:v>Benefits</c:v>
                </c:pt>
              </c:strCache>
            </c:strRef>
          </c:cat>
          <c:val>
            <c:numRef>
              <c:f>'Federal problems M &amp; W'!$C$87:$C$89</c:f>
              <c:numCache>
                <c:formatCode>General</c:formatCode>
                <c:ptCount val="3"/>
                <c:pt idx="0" formatCode="0%">
                  <c:v>0.11904761904761904</c:v>
                </c:pt>
              </c:numCache>
            </c:numRef>
          </c:val>
          <c:extLst>
            <c:ext xmlns:c16="http://schemas.microsoft.com/office/drawing/2014/chart" uri="{C3380CC4-5D6E-409C-BE32-E72D297353CC}">
              <c16:uniqueId val="{00000001-C911-4EF1-B9BB-4863C32CA63B}"/>
            </c:ext>
          </c:extLst>
        </c:ser>
        <c:ser>
          <c:idx val="2"/>
          <c:order val="2"/>
          <c:tx>
            <c:strRef>
              <c:f>'Federal problems M &amp; W'!$D$86</c:f>
              <c:strCache>
                <c:ptCount val="1"/>
                <c:pt idx="0">
                  <c:v>My Relationship Manager (RM) doesn't understand my challenges</c:v>
                </c:pt>
              </c:strCache>
            </c:strRef>
          </c:tx>
          <c:spPr>
            <a:solidFill>
              <a:schemeClr val="accent6">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W'!$A$87:$A$89</c:f>
              <c:strCache>
                <c:ptCount val="3"/>
                <c:pt idx="0">
                  <c:v>Advisory</c:v>
                </c:pt>
                <c:pt idx="1">
                  <c:v>Service</c:v>
                </c:pt>
                <c:pt idx="2">
                  <c:v>Benefits</c:v>
                </c:pt>
              </c:strCache>
            </c:strRef>
          </c:cat>
          <c:val>
            <c:numRef>
              <c:f>'Federal problems M &amp; W'!$D$87:$D$89</c:f>
              <c:numCache>
                <c:formatCode>0%</c:formatCode>
                <c:ptCount val="3"/>
                <c:pt idx="1">
                  <c:v>0.35714285714285715</c:v>
                </c:pt>
              </c:numCache>
            </c:numRef>
          </c:val>
          <c:extLst>
            <c:ext xmlns:c16="http://schemas.microsoft.com/office/drawing/2014/chart" uri="{C3380CC4-5D6E-409C-BE32-E72D297353CC}">
              <c16:uniqueId val="{00000002-C911-4EF1-B9BB-4863C32CA63B}"/>
            </c:ext>
          </c:extLst>
        </c:ser>
        <c:ser>
          <c:idx val="3"/>
          <c:order val="3"/>
          <c:tx>
            <c:strRef>
              <c:f>'Federal problems M &amp; W'!$E$86</c:f>
              <c:strCache>
                <c:ptCount val="1"/>
                <c:pt idx="0">
                  <c:v>Lifestyle benefits are not tailored to my needs as a woman</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'Federal problems M &amp; W'!$A$87:$A$89</c:f>
              <c:strCache>
                <c:ptCount val="3"/>
                <c:pt idx="0">
                  <c:v>Advisory</c:v>
                </c:pt>
                <c:pt idx="1">
                  <c:v>Service</c:v>
                </c:pt>
                <c:pt idx="2">
                  <c:v>Benefits</c:v>
                </c:pt>
              </c:strCache>
            </c:strRef>
          </c:cat>
          <c:val>
            <c:numRef>
              <c:f>'Federal problems M &amp; W'!$E$87:$E$89</c:f>
              <c:numCache>
                <c:formatCode>General</c:formatCode>
                <c:ptCount val="3"/>
                <c:pt idx="2" formatCode="0%">
                  <c:v>0.35714285714285715</c:v>
                </c:pt>
              </c:numCache>
            </c:numRef>
          </c:val>
          <c:extLst>
            <c:ext xmlns:c16="http://schemas.microsoft.com/office/drawing/2014/chart" uri="{C3380CC4-5D6E-409C-BE32-E72D297353CC}">
              <c16:uniqueId val="{00000003-C911-4EF1-B9BB-4863C32CA63B}"/>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43894088720024577"/>
          <c:y val="4.4561046610082436E-2"/>
          <c:w val="0.52943074931781631"/>
          <c:h val="0.88211672813866704"/>
        </c:manualLayout>
      </c:layout>
      <c:barChart>
        <c:barDir val="bar"/>
        <c:grouping val="stacked"/>
        <c:varyColors val="0"/>
        <c:ser>
          <c:idx val="0"/>
          <c:order val="0"/>
          <c:spPr>
            <a:solidFill>
              <a:schemeClr val="tx2">
                <a:lumMod val="50000"/>
                <a:lumOff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lifestyle!$A$5:$A$7</c:f>
              <c:strCache>
                <c:ptCount val="3"/>
                <c:pt idx="0">
                  <c:v>Curated exclusive digital experiences</c:v>
                </c:pt>
                <c:pt idx="1">
                  <c:v>Community and social engagement opportunities</c:v>
                </c:pt>
                <c:pt idx="2">
                  <c:v>Personalized unique luxury experiences</c:v>
                </c:pt>
              </c:strCache>
            </c:strRef>
          </c:cat>
          <c:val>
            <c:numRef>
              <c:f>lifestyle!$C$5:$C$7</c:f>
              <c:numCache>
                <c:formatCode>0%</c:formatCode>
                <c:ptCount val="3"/>
                <c:pt idx="0">
                  <c:v>0.21276595744680851</c:v>
                </c:pt>
                <c:pt idx="1">
                  <c:v>0.32978723404255317</c:v>
                </c:pt>
                <c:pt idx="2">
                  <c:v>0.45744680851063829</c:v>
                </c:pt>
              </c:numCache>
            </c:numRef>
          </c:val>
          <c:extLst>
            <c:ext xmlns:c16="http://schemas.microsoft.com/office/drawing/2014/chart" uri="{C3380CC4-5D6E-409C-BE32-E72D297353CC}">
              <c16:uniqueId val="{00000000-3ED8-4953-8134-51998CFD9E7C}"/>
            </c:ext>
          </c:extLst>
        </c:ser>
        <c:dLbls>
          <c:dLblPos val="ctr"/>
          <c:showLegendKey val="0"/>
          <c:showVal val="1"/>
          <c:showCatName val="0"/>
          <c:showSerName val="0"/>
          <c:showPercent val="0"/>
          <c:showBubbleSize val="0"/>
        </c:dLbls>
        <c:gapWidth val="122"/>
        <c:overlap val="100"/>
        <c:axId val="1409679120"/>
        <c:axId val="1131043120"/>
      </c:barChart>
      <c:catAx>
        <c:axId val="14096791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419884052814996"/>
          <c:y val="9.2826512072620659E-2"/>
          <c:w val="0.4155022472130746"/>
          <c:h val="0.72313443088493923"/>
        </c:manualLayout>
      </c:layout>
      <c:barChart>
        <c:barDir val="col"/>
        <c:grouping val="percentStacked"/>
        <c:varyColors val="0"/>
        <c:ser>
          <c:idx val="0"/>
          <c:order val="0"/>
          <c:tx>
            <c:strRef>
              <c:f>'PB experinece'!$B$246</c:f>
              <c:strCache>
                <c:ptCount val="1"/>
                <c:pt idx="0">
                  <c:v>Federal</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'PB experinece'!$A$249:$A$250</c:f>
              <c:strCache>
                <c:ptCount val="2"/>
                <c:pt idx="0">
                  <c:v>Credit card benefits</c:v>
                </c:pt>
                <c:pt idx="1">
                  <c:v>Vouchers &amp; special offers</c:v>
                </c:pt>
              </c:strCache>
            </c:strRef>
          </c:cat>
          <c:val>
            <c:numRef>
              <c:f>'PB experinece'!$B$249:$B$250</c:f>
              <c:numCache>
                <c:formatCode>0%</c:formatCode>
                <c:ptCount val="2"/>
                <c:pt idx="0">
                  <c:v>0.49152542372881358</c:v>
                </c:pt>
                <c:pt idx="1">
                  <c:v>0.49152542372881358</c:v>
                </c:pt>
              </c:numCache>
            </c:numRef>
          </c:val>
          <c:extLst>
            <c:ext xmlns:c16="http://schemas.microsoft.com/office/drawing/2014/chart" uri="{C3380CC4-5D6E-409C-BE32-E72D297353CC}">
              <c16:uniqueId val="{00000000-396C-4F8F-843F-7125D29EFAD5}"/>
            </c:ext>
          </c:extLst>
        </c:ser>
        <c:ser>
          <c:idx val="1"/>
          <c:order val="1"/>
          <c:tx>
            <c:strRef>
              <c:f>'PB experinece'!$C$246</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'PB experinece'!$A$249:$A$250</c:f>
              <c:strCache>
                <c:ptCount val="2"/>
                <c:pt idx="0">
                  <c:v>Credit card benefits</c:v>
                </c:pt>
                <c:pt idx="1">
                  <c:v>Vouchers &amp; special offers</c:v>
                </c:pt>
              </c:strCache>
            </c:strRef>
          </c:cat>
          <c:val>
            <c:numRef>
              <c:f>'PB experinece'!$C$249:$C$250</c:f>
              <c:numCache>
                <c:formatCode>0%</c:formatCode>
                <c:ptCount val="2"/>
                <c:pt idx="0">
                  <c:v>0.20338983050847459</c:v>
                </c:pt>
                <c:pt idx="1">
                  <c:v>0.13559322033898305</c:v>
                </c:pt>
              </c:numCache>
            </c:numRef>
          </c:val>
          <c:extLst>
            <c:ext xmlns:c16="http://schemas.microsoft.com/office/drawing/2014/chart" uri="{C3380CC4-5D6E-409C-BE32-E72D297353CC}">
              <c16:uniqueId val="{00000001-396C-4F8F-843F-7125D29EFAD5}"/>
            </c:ext>
          </c:extLst>
        </c:ser>
        <c:ser>
          <c:idx val="2"/>
          <c:order val="2"/>
          <c:tx>
            <c:strRef>
              <c:f>'PB experinece'!$D$246</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'PB experinece'!$A$249:$A$250</c:f>
              <c:strCache>
                <c:ptCount val="2"/>
                <c:pt idx="0">
                  <c:v>Credit card benefits</c:v>
                </c:pt>
                <c:pt idx="1">
                  <c:v>Vouchers &amp; special offers</c:v>
                </c:pt>
              </c:strCache>
            </c:strRef>
          </c:cat>
          <c:val>
            <c:numRef>
              <c:f>'PB experinece'!$D$249:$D$250</c:f>
              <c:numCache>
                <c:formatCode>0%</c:formatCode>
                <c:ptCount val="2"/>
                <c:pt idx="0">
                  <c:v>8.4745762711864403E-2</c:v>
                </c:pt>
                <c:pt idx="1">
                  <c:v>0.16949152542372881</c:v>
                </c:pt>
              </c:numCache>
            </c:numRef>
          </c:val>
          <c:extLst>
            <c:ext xmlns:c16="http://schemas.microsoft.com/office/drawing/2014/chart" uri="{C3380CC4-5D6E-409C-BE32-E72D297353CC}">
              <c16:uniqueId val="{00000002-396C-4F8F-843F-7125D29EFAD5}"/>
            </c:ext>
          </c:extLst>
        </c:ser>
        <c:ser>
          <c:idx val="3"/>
          <c:order val="3"/>
          <c:tx>
            <c:strRef>
              <c:f>'PB experinece'!$E$246</c:f>
              <c:strCache>
                <c:ptCount val="1"/>
                <c:pt idx="0">
                  <c:v>ICICI</c:v>
                </c:pt>
              </c:strCache>
            </c:strRef>
          </c:tx>
          <c:spPr>
            <a:solidFill>
              <a:schemeClr val="accent2">
                <a:tint val="9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'PB experinece'!$A$249:$A$250</c:f>
              <c:strCache>
                <c:ptCount val="2"/>
                <c:pt idx="0">
                  <c:v>Credit card benefits</c:v>
                </c:pt>
                <c:pt idx="1">
                  <c:v>Vouchers &amp; special offers</c:v>
                </c:pt>
              </c:strCache>
            </c:strRef>
          </c:cat>
          <c:val>
            <c:numRef>
              <c:f>'PB experinece'!$E$249:$E$250</c:f>
              <c:numCache>
                <c:formatCode>0%</c:formatCode>
                <c:ptCount val="2"/>
                <c:pt idx="0">
                  <c:v>6.7796610169491525E-2</c:v>
                </c:pt>
                <c:pt idx="1">
                  <c:v>3.3898305084745763E-2</c:v>
                </c:pt>
              </c:numCache>
            </c:numRef>
          </c:val>
          <c:extLst>
            <c:ext xmlns:c16="http://schemas.microsoft.com/office/drawing/2014/chart" uri="{C3380CC4-5D6E-409C-BE32-E72D297353CC}">
              <c16:uniqueId val="{00000003-396C-4F8F-843F-7125D29EFAD5}"/>
            </c:ext>
          </c:extLst>
        </c:ser>
        <c:ser>
          <c:idx val="5"/>
          <c:order val="5"/>
          <c:tx>
            <c:strRef>
              <c:f>'PB experinece'!$G$246</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'PB experinece'!$A$249:$A$250</c:f>
              <c:strCache>
                <c:ptCount val="2"/>
                <c:pt idx="0">
                  <c:v>Credit card benefits</c:v>
                </c:pt>
                <c:pt idx="1">
                  <c:v>Vouchers &amp; special offers</c:v>
                </c:pt>
              </c:strCache>
            </c:strRef>
          </c:cat>
          <c:val>
            <c:numRef>
              <c:f>'PB experinece'!$G$249:$G$250</c:f>
              <c:numCache>
                <c:formatCode>0%</c:formatCode>
                <c:ptCount val="2"/>
                <c:pt idx="0">
                  <c:v>0.15254237288135594</c:v>
                </c:pt>
                <c:pt idx="1">
                  <c:v>0.16949152542372881</c:v>
                </c:pt>
              </c:numCache>
            </c:numRef>
          </c:val>
          <c:extLst>
            <c:ext xmlns:c16="http://schemas.microsoft.com/office/drawing/2014/chart" uri="{C3380CC4-5D6E-409C-BE32-E72D297353CC}">
              <c16:uniqueId val="{00000005-396C-4F8F-843F-7125D29EFAD5}"/>
            </c:ext>
          </c:extLst>
        </c:ser>
        <c:dLbls>
          <c:dLblPos val="ctr"/>
          <c:showLegendKey val="0"/>
          <c:showVal val="1"/>
          <c:showCatName val="0"/>
          <c:showSerName val="0"/>
          <c:showPercent val="0"/>
          <c:showBubbleSize val="0"/>
        </c:dLbls>
        <c:gapWidth val="150"/>
        <c:overlap val="100"/>
        <c:axId val="1409679120"/>
        <c:axId val="1131043120"/>
        <c:extLst>
          <c:ext xmlns:c15="http://schemas.microsoft.com/office/drawing/2012/chart" uri="{02D57815-91ED-43cb-92C2-25804820EDAC}">
            <c15:filteredBarSeries>
              <c15:ser>
                <c:idx val="4"/>
                <c:order val="4"/>
                <c:tx>
                  <c:strRef>
                    <c:extLst>
                      <c:ext uri="{02D57815-91ED-43cb-92C2-25804820EDAC}">
                        <c15:formulaRef>
                          <c15:sqref>'PB experinece'!$F$246</c15:sqref>
                        </c15:formulaRef>
                      </c:ext>
                    </c:extLst>
                    <c:strCache>
                      <c:ptCount val="1"/>
                      <c:pt idx="0">
                        <c:v>Kotak</c:v>
                      </c:pt>
                    </c:strCache>
                  </c:strRef>
                </c:tx>
                <c:spPr>
                  <a:solidFill>
                    <a:srgbClr val="003874"/>
                  </a:solidFill>
                  <a:ln>
                    <a:noFill/>
                  </a:ln>
                  <a:effectLst/>
                </c:spPr>
                <c:invertIfNegative val="0"/>
                <c:dLbls>
                  <c:delete val="1"/>
                </c:dLbls>
                <c:cat>
                  <c:strRef>
                    <c:extLst>
                      <c:ext uri="{02D57815-91ED-43cb-92C2-25804820EDAC}">
                        <c15:formulaRef>
                          <c15:sqref>'PB experinece'!$A$249:$A$250</c15:sqref>
                        </c15:formulaRef>
                      </c:ext>
                    </c:extLst>
                    <c:strCache>
                      <c:ptCount val="2"/>
                      <c:pt idx="0">
                        <c:v>Credit card benefits</c:v>
                      </c:pt>
                      <c:pt idx="1">
                        <c:v>Vouchers &amp; special offers</c:v>
                      </c:pt>
                    </c:strCache>
                  </c:strRef>
                </c:cat>
                <c:val>
                  <c:numRef>
                    <c:extLst>
                      <c:ext uri="{02D57815-91ED-43cb-92C2-25804820EDAC}">
                        <c15:formulaRef>
                          <c15:sqref>'PB experinece'!$F$249:$F$250</c15:sqref>
                        </c15:formulaRef>
                      </c:ext>
                    </c:extLst>
                    <c:numCache>
                      <c:formatCode>0%</c:formatCode>
                      <c:ptCount val="2"/>
                      <c:pt idx="0">
                        <c:v>0</c:v>
                      </c:pt>
                      <c:pt idx="1">
                        <c:v>0</c:v>
                      </c:pt>
                    </c:numCache>
                  </c:numRef>
                </c:val>
                <c:extLst>
                  <c:ext xmlns:c16="http://schemas.microsoft.com/office/drawing/2014/chart" uri="{C3380CC4-5D6E-409C-BE32-E72D297353CC}">
                    <c16:uniqueId val="{00000004-396C-4F8F-843F-7125D29EFAD5}"/>
                  </c:ext>
                </c:extLst>
              </c15:ser>
            </c15:filteredBarSeries>
          </c:ext>
        </c:extLst>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legend>
      <c:legendPos val="t"/>
      <c:layout>
        <c:manualLayout>
          <c:xMode val="edge"/>
          <c:yMode val="edge"/>
          <c:x val="0.50916461735773333"/>
          <c:y val="1.2616924080922336E-3"/>
          <c:w val="0.49083519012851062"/>
          <c:h val="0.84301700077058372"/>
        </c:manualLayout>
      </c:layout>
      <c:overlay val="0"/>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291536459061237"/>
          <c:y val="0.1000487555197852"/>
          <c:w val="0.85986382008150675"/>
          <c:h val="0.75048407627518965"/>
        </c:manualLayout>
      </c:layout>
      <c:barChart>
        <c:barDir val="col"/>
        <c:grouping val="stacked"/>
        <c:varyColors val="0"/>
        <c:ser>
          <c:idx val="0"/>
          <c:order val="0"/>
          <c:spPr>
            <a:solidFill>
              <a:srgbClr val="002060"/>
            </a:solidFill>
            <a:ln>
              <a:noFill/>
            </a:ln>
            <a:effectLst/>
          </c:spPr>
          <c:invertIfNegative val="0"/>
          <c:dLbls>
            <c:dLbl>
              <c:idx val="0"/>
              <c:layout>
                <c:manualLayout>
                  <c:x val="0"/>
                  <c:y val="-0.148615434911439"/>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862-4CD2-9035-9CF13BA545B9}"/>
                </c:ext>
              </c:extLst>
            </c:dLbl>
            <c:dLbl>
              <c:idx val="1"/>
              <c:layout>
                <c:manualLayout>
                  <c:x val="0"/>
                  <c:y val="-9.859527335049847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862-4CD2-9035-9CF13BA545B9}"/>
                </c:ext>
              </c:extLst>
            </c:dLbl>
            <c:dLbl>
              <c:idx val="2"/>
              <c:layout>
                <c:manualLayout>
                  <c:x val="-6.9829623344218676E-17"/>
                  <c:y val="-8.704866557679624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862-4CD2-9035-9CF13BA545B9}"/>
                </c:ext>
              </c:extLst>
            </c:dLbl>
            <c:dLbl>
              <c:idx val="3"/>
              <c:layout>
                <c:manualLayout>
                  <c:x val="1.9044662733269002E-3"/>
                  <c:y val="-6.43737587493176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862-4CD2-9035-9CF13BA545B9}"/>
                </c:ext>
              </c:extLst>
            </c:dLbl>
            <c:dLbl>
              <c:idx val="4"/>
              <c:layout>
                <c:manualLayout>
                  <c:x val="0"/>
                  <c:y val="-4.884908101711351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862-4CD2-9035-9CF13BA545B9}"/>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ysClr val="windowText" lastClr="000000"/>
                    </a:solidFill>
                    <a:latin typeface="Montserrat SemiBold" panose="00000700000000000000" pitchFamily="2"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'Q13-Debit offer'!$A$89:$A$93</c:f>
              <c:strCache>
                <c:ptCount val="5"/>
                <c:pt idx="0">
                  <c:v>Relevant and use them</c:v>
                </c:pt>
                <c:pt idx="1">
                  <c:v>Aware but not relevant</c:v>
                </c:pt>
                <c:pt idx="2">
                  <c:v>Not aware</c:v>
                </c:pt>
                <c:pt idx="3">
                  <c:v>Relevant but too complex to use</c:v>
                </c:pt>
                <c:pt idx="4">
                  <c:v>Aware but don't know how to use it</c:v>
                </c:pt>
              </c:strCache>
            </c:strRef>
          </c:cat>
          <c:val>
            <c:numRef>
              <c:f>'Q13-Debit offer'!$B$89:$B$93</c:f>
              <c:numCache>
                <c:formatCode>0%</c:formatCode>
                <c:ptCount val="5"/>
                <c:pt idx="0">
                  <c:v>0.36969696969696969</c:v>
                </c:pt>
                <c:pt idx="1">
                  <c:v>0.23636363636363636</c:v>
                </c:pt>
                <c:pt idx="2">
                  <c:v>0.18181818181818182</c:v>
                </c:pt>
                <c:pt idx="3">
                  <c:v>0.11515151515151516</c:v>
                </c:pt>
                <c:pt idx="4">
                  <c:v>9.696969696969697E-2</c:v>
                </c:pt>
              </c:numCache>
            </c:numRef>
          </c:val>
          <c:extLst>
            <c:ext xmlns:c16="http://schemas.microsoft.com/office/drawing/2014/chart" uri="{C3380CC4-5D6E-409C-BE32-E72D297353CC}">
              <c16:uniqueId val="{00000005-7862-4CD2-9035-9CF13BA545B9}"/>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just">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1546978691955554E-2"/>
          <c:y val="4.899313443455023E-2"/>
          <c:w val="0.42583678120972895"/>
          <c:h val="0.83871219994080282"/>
        </c:manualLayout>
      </c:layout>
      <c:barChart>
        <c:barDir val="col"/>
        <c:grouping val="percentStacked"/>
        <c:varyColors val="0"/>
        <c:ser>
          <c:idx val="0"/>
          <c:order val="0"/>
          <c:tx>
            <c:strRef>
              <c:f>'ONLY FEDERAL (2)'!$AZ$54</c:f>
              <c:strCache>
                <c:ptCount val="1"/>
                <c:pt idx="0">
                  <c:v>FEDERAL</c:v>
                </c:pt>
              </c:strCache>
            </c:strRef>
          </c:tx>
          <c:spPr>
            <a:solidFill>
              <a:srgbClr val="002060"/>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(2)'!$AY$55:$AY$58</c:f>
              <c:strCache>
                <c:ptCount val="2"/>
                <c:pt idx="0">
                  <c:v>Lifestyle benefits</c:v>
                </c:pt>
                <c:pt idx="1">
                  <c:v>Travel benefits</c:v>
                </c:pt>
              </c:strCache>
            </c:strRef>
          </c:cat>
          <c:val>
            <c:numRef>
              <c:f>'ONLY FEDERAL (2)'!$AZ$55:$AZ$58</c:f>
              <c:numCache>
                <c:formatCode>0%</c:formatCode>
                <c:ptCount val="2"/>
                <c:pt idx="0">
                  <c:v>0.44666666666666666</c:v>
                </c:pt>
                <c:pt idx="1">
                  <c:v>0.42763157894736842</c:v>
                </c:pt>
              </c:numCache>
            </c:numRef>
          </c:val>
          <c:extLst>
            <c:ext xmlns:c16="http://schemas.microsoft.com/office/drawing/2014/chart" uri="{C3380CC4-5D6E-409C-BE32-E72D297353CC}">
              <c16:uniqueId val="{00000000-D3B4-404C-8DBD-539D43896E77}"/>
            </c:ext>
          </c:extLst>
        </c:ser>
        <c:ser>
          <c:idx val="1"/>
          <c:order val="1"/>
          <c:tx>
            <c:strRef>
              <c:f>'ONLY FEDERAL (2)'!$BA$54</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(2)'!$AY$55:$AY$58</c:f>
              <c:strCache>
                <c:ptCount val="2"/>
                <c:pt idx="0">
                  <c:v>Lifestyle benefits</c:v>
                </c:pt>
                <c:pt idx="1">
                  <c:v>Travel benefits</c:v>
                </c:pt>
              </c:strCache>
            </c:strRef>
          </c:cat>
          <c:val>
            <c:numRef>
              <c:f>'ONLY FEDERAL (2)'!$BA$55:$BA$58</c:f>
              <c:numCache>
                <c:formatCode>0%</c:formatCode>
                <c:ptCount val="2"/>
                <c:pt idx="0">
                  <c:v>0.16666666666666666</c:v>
                </c:pt>
                <c:pt idx="1">
                  <c:v>0.15131578947368421</c:v>
                </c:pt>
              </c:numCache>
            </c:numRef>
          </c:val>
          <c:extLst>
            <c:ext xmlns:c16="http://schemas.microsoft.com/office/drawing/2014/chart" uri="{C3380CC4-5D6E-409C-BE32-E72D297353CC}">
              <c16:uniqueId val="{00000001-D3B4-404C-8DBD-539D43896E77}"/>
            </c:ext>
          </c:extLst>
        </c:ser>
        <c:ser>
          <c:idx val="2"/>
          <c:order val="2"/>
          <c:tx>
            <c:strRef>
              <c:f>'ONLY FEDERAL (2)'!$BB$54</c:f>
              <c:strCache>
                <c:ptCount val="1"/>
                <c:pt idx="0">
                  <c:v>KOTAK</c:v>
                </c:pt>
              </c:strCache>
            </c:strRef>
          </c:tx>
          <c:spPr>
            <a:solidFill>
              <a:sysClr val="window" lastClr="FFFFFF">
                <a:lumMod val="50000"/>
              </a:sysClr>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(2)'!$AY$55:$AY$58</c:f>
              <c:strCache>
                <c:ptCount val="2"/>
                <c:pt idx="0">
                  <c:v>Lifestyle benefits</c:v>
                </c:pt>
                <c:pt idx="1">
                  <c:v>Travel benefits</c:v>
                </c:pt>
              </c:strCache>
            </c:strRef>
          </c:cat>
          <c:val>
            <c:numRef>
              <c:f>'ONLY FEDERAL (2)'!$BB$55:$BB$58</c:f>
              <c:numCache>
                <c:formatCode>0%</c:formatCode>
                <c:ptCount val="2"/>
                <c:pt idx="0">
                  <c:v>0.04</c:v>
                </c:pt>
                <c:pt idx="1">
                  <c:v>3.2894736842105261E-2</c:v>
                </c:pt>
              </c:numCache>
            </c:numRef>
          </c:val>
          <c:extLst>
            <c:ext xmlns:c16="http://schemas.microsoft.com/office/drawing/2014/chart" uri="{C3380CC4-5D6E-409C-BE32-E72D297353CC}">
              <c16:uniqueId val="{00000002-D3B4-404C-8DBD-539D43896E77}"/>
            </c:ext>
          </c:extLst>
        </c:ser>
        <c:ser>
          <c:idx val="3"/>
          <c:order val="3"/>
          <c:tx>
            <c:strRef>
              <c:f>'ONLY FEDERAL (2)'!$BC$54</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(2)'!$AY$55:$AY$58</c:f>
              <c:strCache>
                <c:ptCount val="2"/>
                <c:pt idx="0">
                  <c:v>Lifestyle benefits</c:v>
                </c:pt>
                <c:pt idx="1">
                  <c:v>Travel benefits</c:v>
                </c:pt>
              </c:strCache>
            </c:strRef>
          </c:cat>
          <c:val>
            <c:numRef>
              <c:f>'ONLY FEDERAL (2)'!$BC$55:$BC$58</c:f>
              <c:numCache>
                <c:formatCode>0%</c:formatCode>
                <c:ptCount val="2"/>
                <c:pt idx="0">
                  <c:v>5.3333333333333337E-2</c:v>
                </c:pt>
                <c:pt idx="1">
                  <c:v>0.10526315789473684</c:v>
                </c:pt>
              </c:numCache>
            </c:numRef>
          </c:val>
          <c:extLst>
            <c:ext xmlns:c16="http://schemas.microsoft.com/office/drawing/2014/chart" uri="{C3380CC4-5D6E-409C-BE32-E72D297353CC}">
              <c16:uniqueId val="{00000003-D3B4-404C-8DBD-539D43896E77}"/>
            </c:ext>
          </c:extLst>
        </c:ser>
        <c:ser>
          <c:idx val="4"/>
          <c:order val="4"/>
          <c:tx>
            <c:strRef>
              <c:f>'ONLY FEDERAL (2)'!$BD$54</c:f>
              <c:strCache>
                <c:ptCount val="1"/>
                <c:pt idx="0">
                  <c:v>I have not experienced this</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(2)'!$AY$55:$AY$58</c:f>
              <c:strCache>
                <c:ptCount val="2"/>
                <c:pt idx="0">
                  <c:v>Lifestyle benefits</c:v>
                </c:pt>
                <c:pt idx="1">
                  <c:v>Travel benefits</c:v>
                </c:pt>
              </c:strCache>
            </c:strRef>
          </c:cat>
          <c:val>
            <c:numRef>
              <c:f>'ONLY FEDERAL (2)'!$BD$55:$BD$58</c:f>
              <c:numCache>
                <c:formatCode>0%</c:formatCode>
                <c:ptCount val="2"/>
                <c:pt idx="0">
                  <c:v>0.29333333333333333</c:v>
                </c:pt>
                <c:pt idx="1">
                  <c:v>0.28289473684210525</c:v>
                </c:pt>
              </c:numCache>
            </c:numRef>
          </c:val>
          <c:extLst>
            <c:ext xmlns:c16="http://schemas.microsoft.com/office/drawing/2014/chart" uri="{C3380CC4-5D6E-409C-BE32-E72D297353CC}">
              <c16:uniqueId val="{00000004-D3B4-404C-8DBD-539D43896E77}"/>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legend>
      <c:legendPos val="t"/>
      <c:layout>
        <c:manualLayout>
          <c:xMode val="edge"/>
          <c:yMode val="edge"/>
          <c:x val="0.48965462679221927"/>
          <c:y val="3.738829333788983E-2"/>
          <c:w val="0.44689583312193687"/>
          <c:h val="0.89575764451254303"/>
        </c:manualLayout>
      </c:layout>
      <c:overlay val="0"/>
      <c:spPr>
        <a:noFill/>
        <a:ln>
          <a:noFill/>
        </a:ln>
        <a:effectLst/>
      </c:spPr>
      <c:txPr>
        <a:bodyPr rot="0" spcFirstLastPara="1" vertOverflow="ellipsis" vert="horz" wrap="square" anchor="ctr" anchorCtr="1"/>
        <a:lstStyle/>
        <a:p>
          <a:pPr algn="ctr">
            <a:defRPr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100">
          <a:solidFill>
            <a:schemeClr val="tx1"/>
          </a:solidFill>
          <a:latin typeface="Montserrat SemiBold" panose="00000700000000000000" pitchFamily="2" charset="0"/>
        </a:defRPr>
      </a:pPr>
      <a:endParaRPr lang="en-US"/>
    </a:p>
  </c:txPr>
  <c:externalData r:id="rId4">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2759701670679439E-2"/>
          <c:y val="7.1081448932604471E-2"/>
          <c:w val="0.891207151292294"/>
          <c:h val="0.75823692653608132"/>
        </c:manualLayout>
      </c:layout>
      <c:barChart>
        <c:barDir val="col"/>
        <c:grouping val="stacked"/>
        <c:varyColors val="0"/>
        <c:ser>
          <c:idx val="0"/>
          <c:order val="0"/>
          <c:tx>
            <c:strRef>
              <c:f>'Graph reportppt'!$N$221</c:f>
              <c:strCache>
                <c:ptCount val="1"/>
                <c:pt idx="0">
                  <c:v>Available for quick help</c:v>
                </c:pt>
              </c:strCache>
            </c:strRef>
          </c:tx>
          <c:spPr>
            <a:solidFill>
              <a:schemeClr val="accent2">
                <a:lumMod val="50000"/>
              </a:schemeClr>
            </a:solidFill>
            <a:ln>
              <a:noFill/>
            </a:ln>
            <a:effectLst/>
          </c:spPr>
          <c:invertIfNegative val="0"/>
          <c:dLbls>
            <c:dLbl>
              <c:idx val="0"/>
              <c:layout>
                <c:manualLayout>
                  <c:x val="-6.924962059925652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2B1-4D00-9487-F1FAAACF9029}"/>
                </c:ext>
              </c:extLst>
            </c:dLbl>
            <c:dLbl>
              <c:idx val="1"/>
              <c:layout>
                <c:manualLayout>
                  <c:x val="-6.116930020736505E-3"/>
                  <c:y val="9.437900410578527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2B1-4D00-9487-F1FAAACF9029}"/>
                </c:ext>
              </c:extLst>
            </c:dLbl>
            <c:dLbl>
              <c:idx val="2"/>
              <c:layout>
                <c:manualLayout>
                  <c:x val="-5.4012561249994918E-3"/>
                  <c:y val="-9.437900410578527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2B1-4D00-9487-F1FAAACF9029}"/>
                </c:ext>
              </c:extLst>
            </c:dLbl>
            <c:dLbl>
              <c:idx val="3"/>
              <c:layout>
                <c:manualLayout>
                  <c:x val="-4.747696810321390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2B1-4D00-9487-F1FAAACF9029}"/>
                </c:ext>
              </c:extLst>
            </c:dLbl>
            <c:dLbl>
              <c:idx val="4"/>
              <c:layout>
                <c:manualLayout>
                  <c:x val="-2.6424465007655828E-3"/>
                  <c:y val="-4.718950205289263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2B1-4D00-9487-F1FAAACF9029}"/>
                </c:ext>
              </c:extLst>
            </c:dLbl>
            <c:dLbl>
              <c:idx val="5"/>
              <c:layout>
                <c:manualLayout>
                  <c:x val="-2.566091677324244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2B1-4D00-9487-F1FAAACF9029}"/>
                </c:ext>
              </c:extLst>
            </c:dLbl>
            <c:dLbl>
              <c:idx val="6"/>
              <c:layout>
                <c:manualLayout>
                  <c:x val="-4.0209019633903713E-3"/>
                  <c:y val="-2.574002574002573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2B1-4D00-9487-F1FAAACF9029}"/>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 reportppt'!$M$222:$M$224</c:f>
              <c:strCache>
                <c:ptCount val="3"/>
                <c:pt idx="0">
                  <c:v>Regular banking assistance</c:v>
                </c:pt>
                <c:pt idx="1">
                  <c:v>Financial/Wealth management assistance</c:v>
                </c:pt>
                <c:pt idx="2">
                  <c:v>None of the above</c:v>
                </c:pt>
              </c:strCache>
            </c:strRef>
          </c:cat>
          <c:val>
            <c:numRef>
              <c:f>'Graph reportppt'!$N$222:$N$224</c:f>
              <c:numCache>
                <c:formatCode>General</c:formatCode>
                <c:ptCount val="3"/>
                <c:pt idx="0" formatCode="0%">
                  <c:v>0.39</c:v>
                </c:pt>
              </c:numCache>
            </c:numRef>
          </c:val>
          <c:extLst>
            <c:ext xmlns:c16="http://schemas.microsoft.com/office/drawing/2014/chart" uri="{C3380CC4-5D6E-409C-BE32-E72D297353CC}">
              <c16:uniqueId val="{00000007-D2B1-4D00-9487-F1FAAACF9029}"/>
            </c:ext>
          </c:extLst>
        </c:ser>
        <c:ser>
          <c:idx val="1"/>
          <c:order val="1"/>
          <c:tx>
            <c:strRef>
              <c:f>'Graph reportppt'!$O$221</c:f>
              <c:strCache>
                <c:ptCount val="1"/>
                <c:pt idx="0">
                  <c:v>Helps with daily banking tasks</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 reportppt'!$M$222:$M$224</c:f>
              <c:strCache>
                <c:ptCount val="3"/>
                <c:pt idx="0">
                  <c:v>Regular banking assistance</c:v>
                </c:pt>
                <c:pt idx="1">
                  <c:v>Financial/Wealth management assistance</c:v>
                </c:pt>
                <c:pt idx="2">
                  <c:v>None of the above</c:v>
                </c:pt>
              </c:strCache>
            </c:strRef>
          </c:cat>
          <c:val>
            <c:numRef>
              <c:f>'Graph reportppt'!$O$222:$O$224</c:f>
              <c:numCache>
                <c:formatCode>General</c:formatCode>
                <c:ptCount val="3"/>
                <c:pt idx="0" formatCode="0%">
                  <c:v>0.19</c:v>
                </c:pt>
              </c:numCache>
            </c:numRef>
          </c:val>
          <c:extLst>
            <c:ext xmlns:c16="http://schemas.microsoft.com/office/drawing/2014/chart" uri="{C3380CC4-5D6E-409C-BE32-E72D297353CC}">
              <c16:uniqueId val="{00000008-D2B1-4D00-9487-F1FAAACF9029}"/>
            </c:ext>
          </c:extLst>
        </c:ser>
        <c:ser>
          <c:idx val="2"/>
          <c:order val="2"/>
          <c:tx>
            <c:strRef>
              <c:f>'Graph reportppt'!$P$221</c:f>
              <c:strCache>
                <c:ptCount val="1"/>
                <c:pt idx="0">
                  <c:v>Connects me with other bank services</c:v>
                </c:pt>
              </c:strCache>
            </c:strRef>
          </c:tx>
          <c:spPr>
            <a:solidFill>
              <a:srgbClr val="FF333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 reportppt'!$M$222:$M$224</c:f>
              <c:strCache>
                <c:ptCount val="3"/>
                <c:pt idx="0">
                  <c:v>Regular banking assistance</c:v>
                </c:pt>
                <c:pt idx="1">
                  <c:v>Financial/Wealth management assistance</c:v>
                </c:pt>
                <c:pt idx="2">
                  <c:v>None of the above</c:v>
                </c:pt>
              </c:strCache>
            </c:strRef>
          </c:cat>
          <c:val>
            <c:numRef>
              <c:f>'Graph reportppt'!$P$222:$P$224</c:f>
              <c:numCache>
                <c:formatCode>General</c:formatCode>
                <c:ptCount val="3"/>
                <c:pt idx="0" formatCode="0%">
                  <c:v>0.06</c:v>
                </c:pt>
              </c:numCache>
            </c:numRef>
          </c:val>
          <c:extLst>
            <c:ext xmlns:c16="http://schemas.microsoft.com/office/drawing/2014/chart" uri="{C3380CC4-5D6E-409C-BE32-E72D297353CC}">
              <c16:uniqueId val="{00000009-D2B1-4D00-9487-F1FAAACF9029}"/>
            </c:ext>
          </c:extLst>
        </c:ser>
        <c:ser>
          <c:idx val="3"/>
          <c:order val="3"/>
          <c:tx>
            <c:strRef>
              <c:f>'Graph reportppt'!$Q$221</c:f>
              <c:strCache>
                <c:ptCount val="1"/>
                <c:pt idx="0">
                  <c:v>Gives good Investment advice</c:v>
                </c:pt>
              </c:strCache>
            </c:strRef>
          </c:tx>
          <c:spPr>
            <a:solidFill>
              <a:schemeClr val="accent3">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 reportppt'!$M$222:$M$224</c:f>
              <c:strCache>
                <c:ptCount val="3"/>
                <c:pt idx="0">
                  <c:v>Regular banking assistance</c:v>
                </c:pt>
                <c:pt idx="1">
                  <c:v>Financial/Wealth management assistance</c:v>
                </c:pt>
                <c:pt idx="2">
                  <c:v>None of the above</c:v>
                </c:pt>
              </c:strCache>
            </c:strRef>
          </c:cat>
          <c:val>
            <c:numRef>
              <c:f>'Graph reportppt'!$Q$222:$Q$224</c:f>
              <c:numCache>
                <c:formatCode>0%</c:formatCode>
                <c:ptCount val="3"/>
                <c:pt idx="1">
                  <c:v>0.15</c:v>
                </c:pt>
              </c:numCache>
            </c:numRef>
          </c:val>
          <c:extLst>
            <c:ext xmlns:c16="http://schemas.microsoft.com/office/drawing/2014/chart" uri="{C3380CC4-5D6E-409C-BE32-E72D297353CC}">
              <c16:uniqueId val="{0000000A-D2B1-4D00-9487-F1FAAACF9029}"/>
            </c:ext>
          </c:extLst>
        </c:ser>
        <c:ser>
          <c:idx val="4"/>
          <c:order val="4"/>
          <c:tx>
            <c:strRef>
              <c:f>'Graph reportppt'!$R$221</c:f>
              <c:strCache>
                <c:ptCount val="1"/>
                <c:pt idx="0">
                  <c:v>Keeps me updated on market changes</c:v>
                </c:pt>
              </c:strCache>
            </c:strRef>
          </c:tx>
          <c:spPr>
            <a:solidFill>
              <a:schemeClr val="accent3">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 reportppt'!$M$222:$M$224</c:f>
              <c:strCache>
                <c:ptCount val="3"/>
                <c:pt idx="0">
                  <c:v>Regular banking assistance</c:v>
                </c:pt>
                <c:pt idx="1">
                  <c:v>Financial/Wealth management assistance</c:v>
                </c:pt>
                <c:pt idx="2">
                  <c:v>None of the above</c:v>
                </c:pt>
              </c:strCache>
            </c:strRef>
          </c:cat>
          <c:val>
            <c:numRef>
              <c:f>'Graph reportppt'!$R$222:$R$224</c:f>
              <c:numCache>
                <c:formatCode>0%</c:formatCode>
                <c:ptCount val="3"/>
                <c:pt idx="1">
                  <c:v>0.12</c:v>
                </c:pt>
              </c:numCache>
            </c:numRef>
          </c:val>
          <c:extLst>
            <c:ext xmlns:c16="http://schemas.microsoft.com/office/drawing/2014/chart" uri="{C3380CC4-5D6E-409C-BE32-E72D297353CC}">
              <c16:uniqueId val="{0000000B-D2B1-4D00-9487-F1FAAACF9029}"/>
            </c:ext>
          </c:extLst>
        </c:ser>
        <c:ser>
          <c:idx val="5"/>
          <c:order val="5"/>
          <c:tx>
            <c:strRef>
              <c:f>'Graph reportppt'!$S$221</c:f>
              <c:strCache>
                <c:ptCount val="1"/>
                <c:pt idx="0">
                  <c:v>Teaches me about financial choices</c:v>
                </c:pt>
              </c:strCache>
            </c:strRef>
          </c:tx>
          <c:spPr>
            <a:solidFill>
              <a:schemeClr val="accent4">
                <a:lumMod val="50000"/>
              </a:schemeClr>
            </a:solidFill>
            <a:ln>
              <a:noFill/>
            </a:ln>
            <a:effectLst/>
          </c:spPr>
          <c:invertIfNegative val="0"/>
          <c:dLbls>
            <c:dLbl>
              <c:idx val="1"/>
              <c:layout>
                <c:manualLayout>
                  <c:x val="2.3540572547503299E-3"/>
                  <c:y val="-3.497287422180202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94-404A-B39E-0A71EFB06CCF}"/>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 reportppt'!$M$222:$M$224</c:f>
              <c:strCache>
                <c:ptCount val="3"/>
                <c:pt idx="0">
                  <c:v>Regular banking assistance</c:v>
                </c:pt>
                <c:pt idx="1">
                  <c:v>Financial/Wealth management assistance</c:v>
                </c:pt>
                <c:pt idx="2">
                  <c:v>None of the above</c:v>
                </c:pt>
              </c:strCache>
            </c:strRef>
          </c:cat>
          <c:val>
            <c:numRef>
              <c:f>'Graph reportppt'!$S$222:$S$224</c:f>
              <c:numCache>
                <c:formatCode>0%</c:formatCode>
                <c:ptCount val="3"/>
                <c:pt idx="1">
                  <c:v>0.02</c:v>
                </c:pt>
              </c:numCache>
            </c:numRef>
          </c:val>
          <c:extLst>
            <c:ext xmlns:c16="http://schemas.microsoft.com/office/drawing/2014/chart" uri="{C3380CC4-5D6E-409C-BE32-E72D297353CC}">
              <c16:uniqueId val="{0000000C-D2B1-4D00-9487-F1FAAACF9029}"/>
            </c:ext>
          </c:extLst>
        </c:ser>
        <c:ser>
          <c:idx val="6"/>
          <c:order val="6"/>
          <c:tx>
            <c:strRef>
              <c:f>'Graph reportppt'!$T$221</c:f>
              <c:strCache>
                <c:ptCount val="1"/>
                <c:pt idx="0">
                  <c:v>None of the above</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 reportppt'!$M$222:$M$224</c:f>
              <c:strCache>
                <c:ptCount val="3"/>
                <c:pt idx="0">
                  <c:v>Regular banking assistance</c:v>
                </c:pt>
                <c:pt idx="1">
                  <c:v>Financial/Wealth management assistance</c:v>
                </c:pt>
                <c:pt idx="2">
                  <c:v>None of the above</c:v>
                </c:pt>
              </c:strCache>
            </c:strRef>
          </c:cat>
          <c:val>
            <c:numRef>
              <c:f>'Graph reportppt'!$T$222:$T$224</c:f>
              <c:numCache>
                <c:formatCode>General</c:formatCode>
                <c:ptCount val="3"/>
                <c:pt idx="2" formatCode="0%">
                  <c:v>7.0000000000000007E-2</c:v>
                </c:pt>
              </c:numCache>
            </c:numRef>
          </c:val>
          <c:extLst>
            <c:ext xmlns:c16="http://schemas.microsoft.com/office/drawing/2014/chart" uri="{C3380CC4-5D6E-409C-BE32-E72D297353CC}">
              <c16:uniqueId val="{0000000D-D2B1-4D00-9487-F1FAAACF9029}"/>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373207369379387"/>
          <c:y val="0.30823674484529812"/>
          <c:w val="0.81546793111417604"/>
          <c:h val="0.62451164914533519"/>
        </c:manualLayout>
      </c:layout>
      <c:barChart>
        <c:barDir val="bar"/>
        <c:grouping val="percentStacked"/>
        <c:varyColors val="0"/>
        <c:ser>
          <c:idx val="0"/>
          <c:order val="0"/>
          <c:tx>
            <c:strRef>
              <c:f>'RM role -(brand wise)'!$T$14</c:f>
              <c:strCache>
                <c:ptCount val="1"/>
                <c:pt idx="0">
                  <c:v>Available for quick help</c:v>
                </c:pt>
              </c:strCache>
            </c:strRef>
          </c:tx>
          <c:spPr>
            <a:solidFill>
              <a:schemeClr val="accent4">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 -(brand wise)'!$U$13:$Y$13</c:f>
              <c:strCache>
                <c:ptCount val="5"/>
                <c:pt idx="0">
                  <c:v>ICICI</c:v>
                </c:pt>
                <c:pt idx="1">
                  <c:v>AXIS</c:v>
                </c:pt>
                <c:pt idx="2">
                  <c:v>HDFC</c:v>
                </c:pt>
                <c:pt idx="3">
                  <c:v>KOTAK</c:v>
                </c:pt>
                <c:pt idx="4">
                  <c:v>FEDERAL</c:v>
                </c:pt>
              </c:strCache>
            </c:strRef>
          </c:cat>
          <c:val>
            <c:numRef>
              <c:f>'RM role -(brand wise)'!$U$14:$Y$14</c:f>
              <c:numCache>
                <c:formatCode>0%</c:formatCode>
                <c:ptCount val="5"/>
                <c:pt idx="0">
                  <c:v>0.22222222222222221</c:v>
                </c:pt>
                <c:pt idx="1">
                  <c:v>0.14960629921259844</c:v>
                </c:pt>
                <c:pt idx="2">
                  <c:v>0.14173228346456693</c:v>
                </c:pt>
                <c:pt idx="3">
                  <c:v>0.11904761904761904</c:v>
                </c:pt>
                <c:pt idx="4">
                  <c:v>0.37575757575757573</c:v>
                </c:pt>
              </c:numCache>
            </c:numRef>
          </c:val>
          <c:extLst>
            <c:ext xmlns:c16="http://schemas.microsoft.com/office/drawing/2014/chart" uri="{C3380CC4-5D6E-409C-BE32-E72D297353CC}">
              <c16:uniqueId val="{00000000-A561-46D0-863C-B91298CA16C8}"/>
            </c:ext>
          </c:extLst>
        </c:ser>
        <c:ser>
          <c:idx val="1"/>
          <c:order val="1"/>
          <c:tx>
            <c:strRef>
              <c:f>'RM role -(brand wise)'!$T$15</c:f>
              <c:strCache>
                <c:ptCount val="1"/>
                <c:pt idx="0">
                  <c:v>Helps with daily banking tasks</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 -(brand wise)'!$U$13:$Y$13</c:f>
              <c:strCache>
                <c:ptCount val="5"/>
                <c:pt idx="0">
                  <c:v>ICICI</c:v>
                </c:pt>
                <c:pt idx="1">
                  <c:v>AXIS</c:v>
                </c:pt>
                <c:pt idx="2">
                  <c:v>HDFC</c:v>
                </c:pt>
                <c:pt idx="3">
                  <c:v>KOTAK</c:v>
                </c:pt>
                <c:pt idx="4">
                  <c:v>FEDERAL</c:v>
                </c:pt>
              </c:strCache>
            </c:strRef>
          </c:cat>
          <c:val>
            <c:numRef>
              <c:f>'RM role -(brand wise)'!$U$15:$Y$15</c:f>
              <c:numCache>
                <c:formatCode>0%</c:formatCode>
                <c:ptCount val="5"/>
                <c:pt idx="0">
                  <c:v>0.1111111111111111</c:v>
                </c:pt>
                <c:pt idx="1">
                  <c:v>0.14173228346456693</c:v>
                </c:pt>
                <c:pt idx="2">
                  <c:v>0.11811023622047244</c:v>
                </c:pt>
                <c:pt idx="3">
                  <c:v>0.11904761904761904</c:v>
                </c:pt>
                <c:pt idx="4">
                  <c:v>0.19393939393939394</c:v>
                </c:pt>
              </c:numCache>
            </c:numRef>
          </c:val>
          <c:extLst>
            <c:ext xmlns:c16="http://schemas.microsoft.com/office/drawing/2014/chart" uri="{C3380CC4-5D6E-409C-BE32-E72D297353CC}">
              <c16:uniqueId val="{00000001-A561-46D0-863C-B91298CA16C8}"/>
            </c:ext>
          </c:extLst>
        </c:ser>
        <c:ser>
          <c:idx val="2"/>
          <c:order val="2"/>
          <c:tx>
            <c:strRef>
              <c:f>'RM role -(brand wise)'!$T$16</c:f>
              <c:strCache>
                <c:ptCount val="1"/>
                <c:pt idx="0">
                  <c:v>Gives good Investment advice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 -(brand wise)'!$U$13:$Y$13</c:f>
              <c:strCache>
                <c:ptCount val="5"/>
                <c:pt idx="0">
                  <c:v>ICICI</c:v>
                </c:pt>
                <c:pt idx="1">
                  <c:v>AXIS</c:v>
                </c:pt>
                <c:pt idx="2">
                  <c:v>HDFC</c:v>
                </c:pt>
                <c:pt idx="3">
                  <c:v>KOTAK</c:v>
                </c:pt>
                <c:pt idx="4">
                  <c:v>FEDERAL</c:v>
                </c:pt>
              </c:strCache>
            </c:strRef>
          </c:cat>
          <c:val>
            <c:numRef>
              <c:f>'RM role -(brand wise)'!$U$16:$Y$16</c:f>
              <c:numCache>
                <c:formatCode>0%</c:formatCode>
                <c:ptCount val="5"/>
                <c:pt idx="0">
                  <c:v>0.33333333333333331</c:v>
                </c:pt>
                <c:pt idx="1">
                  <c:v>0.15748031496062992</c:v>
                </c:pt>
                <c:pt idx="2">
                  <c:v>0.22047244094488189</c:v>
                </c:pt>
                <c:pt idx="3">
                  <c:v>0.23809523809523808</c:v>
                </c:pt>
                <c:pt idx="4">
                  <c:v>0.1393939393939394</c:v>
                </c:pt>
              </c:numCache>
            </c:numRef>
          </c:val>
          <c:extLst>
            <c:ext xmlns:c16="http://schemas.microsoft.com/office/drawing/2014/chart" uri="{C3380CC4-5D6E-409C-BE32-E72D297353CC}">
              <c16:uniqueId val="{00000002-A561-46D0-863C-B91298CA16C8}"/>
            </c:ext>
          </c:extLst>
        </c:ser>
        <c:ser>
          <c:idx val="3"/>
          <c:order val="3"/>
          <c:tx>
            <c:strRef>
              <c:f>'RM role -(brand wise)'!$T$17</c:f>
              <c:strCache>
                <c:ptCount val="1"/>
                <c:pt idx="0">
                  <c:v>Keeps me updated on market changes</c:v>
                </c:pt>
              </c:strCache>
            </c:strRef>
          </c:tx>
          <c:spPr>
            <a:solidFill>
              <a:srgbClr val="70AD47">
                <a:lumMod val="60000"/>
                <a:lumOff val="4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 -(brand wise)'!$U$13:$Y$13</c:f>
              <c:strCache>
                <c:ptCount val="5"/>
                <c:pt idx="0">
                  <c:v>ICICI</c:v>
                </c:pt>
                <c:pt idx="1">
                  <c:v>AXIS</c:v>
                </c:pt>
                <c:pt idx="2">
                  <c:v>HDFC</c:v>
                </c:pt>
                <c:pt idx="3">
                  <c:v>KOTAK</c:v>
                </c:pt>
                <c:pt idx="4">
                  <c:v>FEDERAL</c:v>
                </c:pt>
              </c:strCache>
            </c:strRef>
          </c:cat>
          <c:val>
            <c:numRef>
              <c:f>'RM role -(brand wise)'!$U$17:$Y$17</c:f>
              <c:numCache>
                <c:formatCode>0%</c:formatCode>
                <c:ptCount val="5"/>
                <c:pt idx="0">
                  <c:v>0.1111111111111111</c:v>
                </c:pt>
                <c:pt idx="1">
                  <c:v>0.25196850393700787</c:v>
                </c:pt>
                <c:pt idx="2">
                  <c:v>0.27559055118110237</c:v>
                </c:pt>
                <c:pt idx="3">
                  <c:v>0.30952380952380953</c:v>
                </c:pt>
                <c:pt idx="4">
                  <c:v>0.12121212121212122</c:v>
                </c:pt>
              </c:numCache>
            </c:numRef>
          </c:val>
          <c:extLst>
            <c:ext xmlns:c16="http://schemas.microsoft.com/office/drawing/2014/chart" uri="{C3380CC4-5D6E-409C-BE32-E72D297353CC}">
              <c16:uniqueId val="{00000003-A561-46D0-863C-B91298CA16C8}"/>
            </c:ext>
          </c:extLst>
        </c:ser>
        <c:ser>
          <c:idx val="4"/>
          <c:order val="4"/>
          <c:tx>
            <c:strRef>
              <c:f>'RM role -(brand wise)'!$T$18</c:f>
              <c:strCache>
                <c:ptCount val="1"/>
                <c:pt idx="0">
                  <c:v>None of the above</c:v>
                </c:pt>
              </c:strCache>
            </c:strRef>
          </c:tx>
          <c:spPr>
            <a:solidFill>
              <a:srgbClr val="C00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0-795E-4CC5-A17D-1D25B2946149}"/>
                </c:ext>
              </c:extLst>
            </c:dLbl>
            <c:dLbl>
              <c:idx val="1"/>
              <c:delete val="1"/>
              <c:extLst>
                <c:ext xmlns:c15="http://schemas.microsoft.com/office/drawing/2012/chart" uri="{CE6537A1-D6FC-4f65-9D91-7224C49458BB}"/>
                <c:ext xmlns:c16="http://schemas.microsoft.com/office/drawing/2014/chart" uri="{C3380CC4-5D6E-409C-BE32-E72D297353CC}">
                  <c16:uniqueId val="{00000001-795E-4CC5-A17D-1D25B2946149}"/>
                </c:ext>
              </c:extLst>
            </c:dLbl>
            <c:dLbl>
              <c:idx val="2"/>
              <c:delete val="1"/>
              <c:extLst>
                <c:ext xmlns:c15="http://schemas.microsoft.com/office/drawing/2012/chart" uri="{CE6537A1-D6FC-4f65-9D91-7224C49458BB}"/>
                <c:ext xmlns:c16="http://schemas.microsoft.com/office/drawing/2014/chart" uri="{C3380CC4-5D6E-409C-BE32-E72D297353CC}">
                  <c16:uniqueId val="{00000002-795E-4CC5-A17D-1D25B2946149}"/>
                </c:ext>
              </c:extLst>
            </c:dLbl>
            <c:dLbl>
              <c:idx val="3"/>
              <c:delete val="1"/>
              <c:extLst>
                <c:ext xmlns:c15="http://schemas.microsoft.com/office/drawing/2012/chart" uri="{CE6537A1-D6FC-4f65-9D91-7224C49458BB}"/>
                <c:ext xmlns:c16="http://schemas.microsoft.com/office/drawing/2014/chart" uri="{C3380CC4-5D6E-409C-BE32-E72D297353CC}">
                  <c16:uniqueId val="{00000003-795E-4CC5-A17D-1D25B2946149}"/>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 -(brand wise)'!$U$13:$Y$13</c:f>
              <c:strCache>
                <c:ptCount val="5"/>
                <c:pt idx="0">
                  <c:v>ICICI</c:v>
                </c:pt>
                <c:pt idx="1">
                  <c:v>AXIS</c:v>
                </c:pt>
                <c:pt idx="2">
                  <c:v>HDFC</c:v>
                </c:pt>
                <c:pt idx="3">
                  <c:v>KOTAK</c:v>
                </c:pt>
                <c:pt idx="4">
                  <c:v>FEDERAL</c:v>
                </c:pt>
              </c:strCache>
            </c:strRef>
          </c:cat>
          <c:val>
            <c:numRef>
              <c:f>'RM role -(brand wise)'!$U$18:$Y$18</c:f>
              <c:numCache>
                <c:formatCode>0%</c:formatCode>
                <c:ptCount val="5"/>
                <c:pt idx="0">
                  <c:v>0</c:v>
                </c:pt>
                <c:pt idx="1">
                  <c:v>0</c:v>
                </c:pt>
                <c:pt idx="2">
                  <c:v>0</c:v>
                </c:pt>
                <c:pt idx="3">
                  <c:v>0</c:v>
                </c:pt>
                <c:pt idx="4">
                  <c:v>7.2727272727272724E-2</c:v>
                </c:pt>
              </c:numCache>
            </c:numRef>
          </c:val>
          <c:extLst>
            <c:ext xmlns:c16="http://schemas.microsoft.com/office/drawing/2014/chart" uri="{C3380CC4-5D6E-409C-BE32-E72D297353CC}">
              <c16:uniqueId val="{00000004-A561-46D0-863C-B91298CA16C8}"/>
            </c:ext>
          </c:extLst>
        </c:ser>
        <c:ser>
          <c:idx val="5"/>
          <c:order val="5"/>
          <c:tx>
            <c:strRef>
              <c:f>'RM role -(brand wise)'!$T$19</c:f>
              <c:strCache>
                <c:ptCount val="1"/>
                <c:pt idx="0">
                  <c:v>Connects me with other bank services</c:v>
                </c:pt>
              </c:strCache>
            </c:strRef>
          </c:tx>
          <c:spPr>
            <a:solidFill>
              <a:schemeClr val="accent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 -(brand wise)'!$U$13:$Y$13</c:f>
              <c:strCache>
                <c:ptCount val="5"/>
                <c:pt idx="0">
                  <c:v>ICICI</c:v>
                </c:pt>
                <c:pt idx="1">
                  <c:v>AXIS</c:v>
                </c:pt>
                <c:pt idx="2">
                  <c:v>HDFC</c:v>
                </c:pt>
                <c:pt idx="3">
                  <c:v>KOTAK</c:v>
                </c:pt>
                <c:pt idx="4">
                  <c:v>FEDERAL</c:v>
                </c:pt>
              </c:strCache>
            </c:strRef>
          </c:cat>
          <c:val>
            <c:numRef>
              <c:f>'RM role -(brand wise)'!$U$19:$Y$19</c:f>
              <c:numCache>
                <c:formatCode>0%</c:formatCode>
                <c:ptCount val="5"/>
                <c:pt idx="0">
                  <c:v>0.14814814814814814</c:v>
                </c:pt>
                <c:pt idx="1">
                  <c:v>0.14960629921259844</c:v>
                </c:pt>
                <c:pt idx="2">
                  <c:v>0.14173228346456693</c:v>
                </c:pt>
                <c:pt idx="3">
                  <c:v>0.11904761904761904</c:v>
                </c:pt>
                <c:pt idx="4">
                  <c:v>6.0606060606060608E-2</c:v>
                </c:pt>
              </c:numCache>
            </c:numRef>
          </c:val>
          <c:extLst>
            <c:ext xmlns:c16="http://schemas.microsoft.com/office/drawing/2014/chart" uri="{C3380CC4-5D6E-409C-BE32-E72D297353CC}">
              <c16:uniqueId val="{00000005-A561-46D0-863C-B91298CA16C8}"/>
            </c:ext>
          </c:extLst>
        </c:ser>
        <c:ser>
          <c:idx val="6"/>
          <c:order val="6"/>
          <c:tx>
            <c:strRef>
              <c:f>'RM role -(brand wise)'!$T$20</c:f>
              <c:strCache>
                <c:ptCount val="1"/>
                <c:pt idx="0">
                  <c:v>Teaches me about financial choices</c:v>
                </c:pt>
              </c:strCache>
            </c:strRef>
          </c:tx>
          <c:spPr>
            <a:solidFill>
              <a:schemeClr val="bg1">
                <a:lumMod val="85000"/>
              </a:schemeClr>
            </a:solidFill>
            <a:ln>
              <a:noFill/>
            </a:ln>
            <a:effectLst/>
          </c:spPr>
          <c:invertIfNegative val="0"/>
          <c:dLbls>
            <c:dLbl>
              <c:idx val="4"/>
              <c:layout>
                <c:manualLayout>
                  <c:x val="1.7972345927979907E-4"/>
                  <c:y val="2.9193019524763491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561-46D0-863C-B91298CA16C8}"/>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'RM role -(brand wise)'!$U$13:$Y$13</c:f>
              <c:strCache>
                <c:ptCount val="5"/>
                <c:pt idx="0">
                  <c:v>ICICI</c:v>
                </c:pt>
                <c:pt idx="1">
                  <c:v>AXIS</c:v>
                </c:pt>
                <c:pt idx="2">
                  <c:v>HDFC</c:v>
                </c:pt>
                <c:pt idx="3">
                  <c:v>KOTAK</c:v>
                </c:pt>
                <c:pt idx="4">
                  <c:v>FEDERAL</c:v>
                </c:pt>
              </c:strCache>
            </c:strRef>
          </c:cat>
          <c:val>
            <c:numRef>
              <c:f>'RM role -(brand wise)'!$U$20:$Y$20</c:f>
              <c:numCache>
                <c:formatCode>0%</c:formatCode>
                <c:ptCount val="5"/>
                <c:pt idx="0">
                  <c:v>7.407407407407407E-2</c:v>
                </c:pt>
                <c:pt idx="1">
                  <c:v>0.14960629921259844</c:v>
                </c:pt>
                <c:pt idx="2">
                  <c:v>0.10236220472440945</c:v>
                </c:pt>
                <c:pt idx="3">
                  <c:v>9.5238095238095233E-2</c:v>
                </c:pt>
                <c:pt idx="4">
                  <c:v>2.4242424242424242E-2</c:v>
                </c:pt>
              </c:numCache>
            </c:numRef>
          </c:val>
          <c:extLst>
            <c:ext xmlns:c16="http://schemas.microsoft.com/office/drawing/2014/chart" uri="{C3380CC4-5D6E-409C-BE32-E72D297353CC}">
              <c16:uniqueId val="{00000007-A561-46D0-863C-B91298CA16C8}"/>
            </c:ext>
          </c:extLst>
        </c:ser>
        <c:ser>
          <c:idx val="7"/>
          <c:order val="7"/>
          <c:tx>
            <c:strRef>
              <c:f>'RM role -(brand wise)'!$T$21</c:f>
              <c:strCache>
                <c:ptCount val="1"/>
                <c:pt idx="0">
                  <c:v>Something else (Please specify)</c:v>
                </c:pt>
              </c:strCache>
            </c:strRef>
          </c:tx>
          <c:spPr>
            <a:solidFill>
              <a:schemeClr val="accent1">
                <a:lumMod val="75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3-7558-4B43-936D-EB40CF267060}"/>
                </c:ext>
              </c:extLst>
            </c:dLbl>
            <c:dLbl>
              <c:idx val="1"/>
              <c:delete val="1"/>
              <c:extLst>
                <c:ext xmlns:c15="http://schemas.microsoft.com/office/drawing/2012/chart" uri="{CE6537A1-D6FC-4f65-9D91-7224C49458BB}"/>
                <c:ext xmlns:c16="http://schemas.microsoft.com/office/drawing/2014/chart" uri="{C3380CC4-5D6E-409C-BE32-E72D297353CC}">
                  <c16:uniqueId val="{00000002-7558-4B43-936D-EB40CF267060}"/>
                </c:ext>
              </c:extLst>
            </c:dLbl>
            <c:dLbl>
              <c:idx val="2"/>
              <c:delete val="1"/>
              <c:extLst>
                <c:ext xmlns:c15="http://schemas.microsoft.com/office/drawing/2012/chart" uri="{CE6537A1-D6FC-4f65-9D91-7224C49458BB}"/>
                <c:ext xmlns:c16="http://schemas.microsoft.com/office/drawing/2014/chart" uri="{C3380CC4-5D6E-409C-BE32-E72D297353CC}">
                  <c16:uniqueId val="{00000001-7558-4B43-936D-EB40CF267060}"/>
                </c:ext>
              </c:extLst>
            </c:dLbl>
            <c:dLbl>
              <c:idx val="3"/>
              <c:delete val="1"/>
              <c:extLst>
                <c:ext xmlns:c15="http://schemas.microsoft.com/office/drawing/2012/chart" uri="{CE6537A1-D6FC-4f65-9D91-7224C49458BB}"/>
                <c:ext xmlns:c16="http://schemas.microsoft.com/office/drawing/2014/chart" uri="{C3380CC4-5D6E-409C-BE32-E72D297353CC}">
                  <c16:uniqueId val="{00000000-7558-4B43-936D-EB40CF267060}"/>
                </c:ext>
              </c:extLst>
            </c:dLbl>
            <c:dLbl>
              <c:idx val="4"/>
              <c:layout>
                <c:manualLayout>
                  <c:x val="1.7166343580619442E-2"/>
                  <c:y val="3.568343637969927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561-46D0-863C-B91298CA16C8}"/>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 -(brand wise)'!$U$13:$Y$13</c:f>
              <c:strCache>
                <c:ptCount val="5"/>
                <c:pt idx="0">
                  <c:v>ICICI</c:v>
                </c:pt>
                <c:pt idx="1">
                  <c:v>AXIS</c:v>
                </c:pt>
                <c:pt idx="2">
                  <c:v>HDFC</c:v>
                </c:pt>
                <c:pt idx="3">
                  <c:v>KOTAK</c:v>
                </c:pt>
                <c:pt idx="4">
                  <c:v>FEDERAL</c:v>
                </c:pt>
              </c:strCache>
            </c:strRef>
          </c:cat>
          <c:val>
            <c:numRef>
              <c:f>'RM role -(brand wise)'!$U$21:$Y$21</c:f>
              <c:numCache>
                <c:formatCode>0%</c:formatCode>
                <c:ptCount val="5"/>
                <c:pt idx="0">
                  <c:v>0</c:v>
                </c:pt>
                <c:pt idx="1">
                  <c:v>0</c:v>
                </c:pt>
                <c:pt idx="2">
                  <c:v>0</c:v>
                </c:pt>
                <c:pt idx="3">
                  <c:v>0</c:v>
                </c:pt>
                <c:pt idx="4">
                  <c:v>1.2121212121212121E-2</c:v>
                </c:pt>
              </c:numCache>
            </c:numRef>
          </c:val>
          <c:extLst>
            <c:ext xmlns:c16="http://schemas.microsoft.com/office/drawing/2014/chart" uri="{C3380CC4-5D6E-409C-BE32-E72D297353CC}">
              <c16:uniqueId val="{00000009-A561-46D0-863C-B91298CA16C8}"/>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legend>
      <c:legendPos val="t"/>
      <c:layout>
        <c:manualLayout>
          <c:xMode val="edge"/>
          <c:yMode val="edge"/>
          <c:x val="4.1098352150868316E-2"/>
          <c:y val="2.3137290032120165E-2"/>
          <c:w val="0.95890166014755707"/>
          <c:h val="0.27670793940640259"/>
        </c:manualLayout>
      </c:layout>
      <c:overlay val="0"/>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1461758499617226E-2"/>
          <c:y val="0.16768488499829667"/>
          <c:w val="0.93664139404263869"/>
          <c:h val="0.76195124961074701"/>
        </c:manualLayout>
      </c:layout>
      <c:barChart>
        <c:barDir val="col"/>
        <c:grouping val="clustered"/>
        <c:varyColors val="0"/>
        <c:ser>
          <c:idx val="0"/>
          <c:order val="0"/>
          <c:tx>
            <c:strRef>
              <c:f>'Row wise'!$L$49</c:f>
              <c:strCache>
                <c:ptCount val="1"/>
                <c:pt idx="0">
                  <c:v>A place for personalized financial advice</c:v>
                </c:pt>
              </c:strCache>
            </c:strRef>
          </c:tx>
          <c:spPr>
            <a:solidFill>
              <a:srgbClr val="CCCC00"/>
            </a:solidFill>
            <a:ln>
              <a:noFill/>
            </a:ln>
            <a:effectLst/>
          </c:spPr>
          <c:invertIfNegative val="0"/>
          <c:dLbls>
            <c:dLbl>
              <c:idx val="2"/>
              <c:layout>
                <c:manualLayout>
                  <c:x val="-5.5563659196840405E-3"/>
                  <c:y val="-9.0098723538722596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FBD-4EDF-9A4C-DC4825008B27}"/>
                </c:ext>
              </c:extLst>
            </c:dLbl>
            <c:dLbl>
              <c:idx val="3"/>
              <c:layout>
                <c:manualLayout>
                  <c:x val="-8.1492425414579576E-17"/>
                  <c:y val="-1.96581304073161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FBD-4EDF-9A4C-DC4825008B27}"/>
                </c:ext>
              </c:extLst>
            </c:dLbl>
            <c:dLbl>
              <c:idx val="5"/>
              <c:layout>
                <c:manualLayout>
                  <c:x val="-2.2225463678735998E-3"/>
                  <c:y val="-4.914532601829198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FBD-4EDF-9A4C-DC4825008B27}"/>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'Row wise'!$M$48:$R$48</c:f>
              <c:strCache>
                <c:ptCount val="6"/>
                <c:pt idx="0">
                  <c:v>KOTAK</c:v>
                </c:pt>
                <c:pt idx="1">
                  <c:v>HDFC</c:v>
                </c:pt>
                <c:pt idx="2">
                  <c:v>FEDERAL</c:v>
                </c:pt>
                <c:pt idx="3">
                  <c:v>AXIS</c:v>
                </c:pt>
                <c:pt idx="4">
                  <c:v>ICICI</c:v>
                </c:pt>
                <c:pt idx="5">
                  <c:v>OTHER</c:v>
                </c:pt>
              </c:strCache>
            </c:strRef>
          </c:cat>
          <c:val>
            <c:numRef>
              <c:f>'Row wise'!$M$49:$R$49</c:f>
              <c:numCache>
                <c:formatCode>0%</c:formatCode>
                <c:ptCount val="6"/>
                <c:pt idx="0">
                  <c:v>7.8014184397163122E-2</c:v>
                </c:pt>
                <c:pt idx="1">
                  <c:v>7.6923076923076927E-2</c:v>
                </c:pt>
                <c:pt idx="2">
                  <c:v>6.4245810055865923E-2</c:v>
                </c:pt>
                <c:pt idx="3">
                  <c:v>9.4076655052264813E-2</c:v>
                </c:pt>
                <c:pt idx="4">
                  <c:v>0.125</c:v>
                </c:pt>
                <c:pt idx="5">
                  <c:v>6.8965517241379309E-2</c:v>
                </c:pt>
              </c:numCache>
            </c:numRef>
          </c:val>
          <c:extLst>
            <c:ext xmlns:c16="http://schemas.microsoft.com/office/drawing/2014/chart" uri="{C3380CC4-5D6E-409C-BE32-E72D297353CC}">
              <c16:uniqueId val="{00000003-BFBD-4EDF-9A4C-DC4825008B27}"/>
            </c:ext>
          </c:extLst>
        </c:ser>
        <c:ser>
          <c:idx val="1"/>
          <c:order val="1"/>
          <c:tx>
            <c:strRef>
              <c:f>'Row wise'!$L$50</c:f>
              <c:strCache>
                <c:ptCount val="1"/>
                <c:pt idx="0">
                  <c:v>A place to keep money safe</c:v>
                </c:pt>
              </c:strCache>
            </c:strRef>
          </c:tx>
          <c:spPr>
            <a:solidFill>
              <a:srgbClr val="FF3333"/>
            </a:solidFill>
            <a:ln>
              <a:noFill/>
            </a:ln>
            <a:effectLst/>
          </c:spPr>
          <c:invertIfNegative val="0"/>
          <c:dLbls>
            <c:dLbl>
              <c:idx val="1"/>
              <c:layout>
                <c:manualLayout>
                  <c:x val="1.1112731839367999E-3"/>
                  <c:y val="-9.0098723538722596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FBD-4EDF-9A4C-DC4825008B27}"/>
                </c:ext>
              </c:extLst>
            </c:dLbl>
            <c:dLbl>
              <c:idx val="2"/>
              <c:layout>
                <c:manualLayout>
                  <c:x val="0"/>
                  <c:y val="-7.371798902743618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FBD-4EDF-9A4C-DC4825008B27}"/>
                </c:ext>
              </c:extLst>
            </c:dLbl>
            <c:dLbl>
              <c:idx val="4"/>
              <c:layout>
                <c:manualLayout>
                  <c:x val="1.1112731839367184E-3"/>
                  <c:y val="-2.702992931005960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FBD-4EDF-9A4C-DC4825008B27}"/>
                </c:ext>
              </c:extLst>
            </c:dLbl>
            <c:dLbl>
              <c:idx val="5"/>
              <c:layout>
                <c:manualLayout>
                  <c:x val="0"/>
                  <c:y val="-2.702992931005969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FBD-4EDF-9A4C-DC4825008B27}"/>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'Row wise'!$M$48:$R$48</c:f>
              <c:strCache>
                <c:ptCount val="6"/>
                <c:pt idx="0">
                  <c:v>KOTAK</c:v>
                </c:pt>
                <c:pt idx="1">
                  <c:v>HDFC</c:v>
                </c:pt>
                <c:pt idx="2">
                  <c:v>FEDERAL</c:v>
                </c:pt>
                <c:pt idx="3">
                  <c:v>AXIS</c:v>
                </c:pt>
                <c:pt idx="4">
                  <c:v>ICICI</c:v>
                </c:pt>
                <c:pt idx="5">
                  <c:v>OTHER</c:v>
                </c:pt>
              </c:strCache>
            </c:strRef>
          </c:cat>
          <c:val>
            <c:numRef>
              <c:f>'Row wise'!$M$50:$R$50</c:f>
              <c:numCache>
                <c:formatCode>0%</c:formatCode>
                <c:ptCount val="6"/>
                <c:pt idx="0">
                  <c:v>0.18439716312056736</c:v>
                </c:pt>
                <c:pt idx="1">
                  <c:v>0.15384615384615385</c:v>
                </c:pt>
                <c:pt idx="2">
                  <c:v>0.19273743016759776</c:v>
                </c:pt>
                <c:pt idx="3">
                  <c:v>0.16376306620209058</c:v>
                </c:pt>
                <c:pt idx="4">
                  <c:v>0.125</c:v>
                </c:pt>
                <c:pt idx="5">
                  <c:v>0.15517241379310345</c:v>
                </c:pt>
              </c:numCache>
            </c:numRef>
          </c:val>
          <c:extLst>
            <c:ext xmlns:c16="http://schemas.microsoft.com/office/drawing/2014/chart" uri="{C3380CC4-5D6E-409C-BE32-E72D297353CC}">
              <c16:uniqueId val="{00000008-BFBD-4EDF-9A4C-DC4825008B27}"/>
            </c:ext>
          </c:extLst>
        </c:ser>
        <c:ser>
          <c:idx val="2"/>
          <c:order val="2"/>
          <c:tx>
            <c:strRef>
              <c:f>'Row wise'!$L$51</c:f>
              <c:strCache>
                <c:ptCount val="1"/>
                <c:pt idx="0">
                  <c:v>A provider of convenient banking services</c:v>
                </c:pt>
              </c:strCache>
            </c:strRef>
          </c:tx>
          <c:spPr>
            <a:solidFill>
              <a:schemeClr val="accent3">
                <a:lumMod val="50000"/>
              </a:schemeClr>
            </a:solidFill>
            <a:ln>
              <a:noFill/>
            </a:ln>
            <a:effectLst/>
          </c:spPr>
          <c:invertIfNegative val="0"/>
          <c:dLbls>
            <c:dLbl>
              <c:idx val="0"/>
              <c:layout>
                <c:manualLayout>
                  <c:x val="3.1883322771110965E-3"/>
                  <c:y val="-7.346398095721060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BFBD-4EDF-9A4C-DC4825008B27}"/>
                </c:ext>
              </c:extLst>
            </c:dLbl>
            <c:dLbl>
              <c:idx val="4"/>
              <c:layout>
                <c:manualLayout>
                  <c:x val="-8.1492425414579576E-17"/>
                  <c:y val="2.457266300914509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FBD-4EDF-9A4C-DC4825008B27}"/>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'Row wise'!$M$48:$R$48</c:f>
              <c:strCache>
                <c:ptCount val="6"/>
                <c:pt idx="0">
                  <c:v>KOTAK</c:v>
                </c:pt>
                <c:pt idx="1">
                  <c:v>HDFC</c:v>
                </c:pt>
                <c:pt idx="2">
                  <c:v>FEDERAL</c:v>
                </c:pt>
                <c:pt idx="3">
                  <c:v>AXIS</c:v>
                </c:pt>
                <c:pt idx="4">
                  <c:v>ICICI</c:v>
                </c:pt>
                <c:pt idx="5">
                  <c:v>OTHER</c:v>
                </c:pt>
              </c:strCache>
            </c:strRef>
          </c:cat>
          <c:val>
            <c:numRef>
              <c:f>'Row wise'!$M$51:$R$51</c:f>
              <c:numCache>
                <c:formatCode>0%</c:formatCode>
                <c:ptCount val="6"/>
                <c:pt idx="0">
                  <c:v>0.15957446808510639</c:v>
                </c:pt>
                <c:pt idx="1">
                  <c:v>0.11188811188811189</c:v>
                </c:pt>
                <c:pt idx="2">
                  <c:v>0.27932960893854747</c:v>
                </c:pt>
                <c:pt idx="3">
                  <c:v>0.13240418118466898</c:v>
                </c:pt>
                <c:pt idx="4">
                  <c:v>0.125</c:v>
                </c:pt>
                <c:pt idx="5">
                  <c:v>0.15517241379310345</c:v>
                </c:pt>
              </c:numCache>
            </c:numRef>
          </c:val>
          <c:extLst>
            <c:ext xmlns:c16="http://schemas.microsoft.com/office/drawing/2014/chart" uri="{C3380CC4-5D6E-409C-BE32-E72D297353CC}">
              <c16:uniqueId val="{0000000A-BFBD-4EDF-9A4C-DC4825008B27}"/>
            </c:ext>
          </c:extLst>
        </c:ser>
        <c:ser>
          <c:idx val="3"/>
          <c:order val="3"/>
          <c:tx>
            <c:strRef>
              <c:f>'Row wise'!$L$52</c:f>
              <c:strCache>
                <c:ptCount val="1"/>
                <c:pt idx="0">
                  <c:v>A reliable remittance service for transferring money</c:v>
                </c:pt>
              </c:strCache>
            </c:strRef>
          </c:tx>
          <c:spPr>
            <a:solidFill>
              <a:srgbClr val="003874"/>
            </a:solidFill>
            <a:ln>
              <a:noFill/>
            </a:ln>
            <a:effectLst/>
          </c:spPr>
          <c:invertIfNegative val="0"/>
          <c:dLbls>
            <c:dLbl>
              <c:idx val="0"/>
              <c:layout>
                <c:manualLayout>
                  <c:x val="4.4450927357471996E-3"/>
                  <c:y val="-9.0098723538722596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FBD-4EDF-9A4C-DC4825008B27}"/>
                </c:ext>
              </c:extLst>
            </c:dLbl>
            <c:dLbl>
              <c:idx val="1"/>
              <c:layout>
                <c:manualLayout>
                  <c:x val="0"/>
                  <c:y val="-1.228633150457254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FBD-4EDF-9A4C-DC4825008B27}"/>
                </c:ext>
              </c:extLst>
            </c:dLbl>
            <c:dLbl>
              <c:idx val="2"/>
              <c:layout>
                <c:manualLayout>
                  <c:x val="2.1255548514073977E-3"/>
                  <c:y val="-1.237106444680754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FBD-4EDF-9A4C-DC4825008B27}"/>
                </c:ext>
              </c:extLst>
            </c:dLbl>
            <c:dLbl>
              <c:idx val="4"/>
              <c:layout>
                <c:manualLayout>
                  <c:x val="1.1112731839367184E-3"/>
                  <c:y val="-9.0098723538722596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FBD-4EDF-9A4C-DC4825008B27}"/>
                </c:ext>
              </c:extLst>
            </c:dLbl>
            <c:dLbl>
              <c:idx val="5"/>
              <c:layout>
                <c:manualLayout>
                  <c:x val="-1.1112731839367999E-3"/>
                  <c:y val="-3.19444619118886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FBD-4EDF-9A4C-DC4825008B27}"/>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'Row wise'!$M$48:$R$48</c:f>
              <c:strCache>
                <c:ptCount val="6"/>
                <c:pt idx="0">
                  <c:v>KOTAK</c:v>
                </c:pt>
                <c:pt idx="1">
                  <c:v>HDFC</c:v>
                </c:pt>
                <c:pt idx="2">
                  <c:v>FEDERAL</c:v>
                </c:pt>
                <c:pt idx="3">
                  <c:v>AXIS</c:v>
                </c:pt>
                <c:pt idx="4">
                  <c:v>ICICI</c:v>
                </c:pt>
                <c:pt idx="5">
                  <c:v>OTHER</c:v>
                </c:pt>
              </c:strCache>
            </c:strRef>
          </c:cat>
          <c:val>
            <c:numRef>
              <c:f>'Row wise'!$M$52:$R$52</c:f>
              <c:numCache>
                <c:formatCode>0%</c:formatCode>
                <c:ptCount val="6"/>
                <c:pt idx="0">
                  <c:v>0.1276595744680851</c:v>
                </c:pt>
                <c:pt idx="1">
                  <c:v>0.11888111888111888</c:v>
                </c:pt>
                <c:pt idx="2">
                  <c:v>0.17318435754189945</c:v>
                </c:pt>
                <c:pt idx="3">
                  <c:v>0.10452961672473868</c:v>
                </c:pt>
                <c:pt idx="4">
                  <c:v>0.140625</c:v>
                </c:pt>
                <c:pt idx="5">
                  <c:v>9.4827586206896547E-2</c:v>
                </c:pt>
              </c:numCache>
            </c:numRef>
          </c:val>
          <c:extLst>
            <c:ext xmlns:c16="http://schemas.microsoft.com/office/drawing/2014/chart" uri="{C3380CC4-5D6E-409C-BE32-E72D297353CC}">
              <c16:uniqueId val="{00000010-BFBD-4EDF-9A4C-DC4825008B27}"/>
            </c:ext>
          </c:extLst>
        </c:ser>
        <c:ser>
          <c:idx val="4"/>
          <c:order val="4"/>
          <c:tx>
            <c:strRef>
              <c:f>'Row wise'!$L$53</c:f>
              <c:strCache>
                <c:ptCount val="1"/>
                <c:pt idx="0">
                  <c:v>A reliable source of quick and affordable credit (loans/debt)</c:v>
                </c:pt>
              </c:strCache>
            </c:strRef>
          </c:tx>
          <c:spPr>
            <a:solidFill>
              <a:srgbClr val="007FF2"/>
            </a:solidFill>
            <a:ln>
              <a:noFill/>
            </a:ln>
            <a:effectLst/>
          </c:spPr>
          <c:invertIfNegative val="0"/>
          <c:dLbls>
            <c:dLbl>
              <c:idx val="0"/>
              <c:layout>
                <c:manualLayout>
                  <c:x val="1.1112731839367999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BFBD-4EDF-9A4C-DC4825008B27}"/>
                </c:ext>
              </c:extLst>
            </c:dLbl>
            <c:dLbl>
              <c:idx val="2"/>
              <c:layout>
                <c:manualLayout>
                  <c:x val="2.2225463678735998E-3"/>
                  <c:y val="-4.9145326018290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BFBD-4EDF-9A4C-DC4825008B27}"/>
                </c:ext>
              </c:extLst>
            </c:dLbl>
            <c:dLbl>
              <c:idx val="4"/>
              <c:layout>
                <c:manualLayout>
                  <c:x val="1.1112731839367999E-3"/>
                  <c:y val="-1.228633150457263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BFBD-4EDF-9A4C-DC4825008B27}"/>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'Row wise'!$M$48:$R$48</c:f>
              <c:strCache>
                <c:ptCount val="6"/>
                <c:pt idx="0">
                  <c:v>KOTAK</c:v>
                </c:pt>
                <c:pt idx="1">
                  <c:v>HDFC</c:v>
                </c:pt>
                <c:pt idx="2">
                  <c:v>FEDERAL</c:v>
                </c:pt>
                <c:pt idx="3">
                  <c:v>AXIS</c:v>
                </c:pt>
                <c:pt idx="4">
                  <c:v>ICICI</c:v>
                </c:pt>
                <c:pt idx="5">
                  <c:v>OTHER</c:v>
                </c:pt>
              </c:strCache>
            </c:strRef>
          </c:cat>
          <c:val>
            <c:numRef>
              <c:f>'Row wise'!$M$53:$R$53</c:f>
              <c:numCache>
                <c:formatCode>0%</c:formatCode>
                <c:ptCount val="6"/>
                <c:pt idx="0">
                  <c:v>0.21276595744680851</c:v>
                </c:pt>
                <c:pt idx="1">
                  <c:v>0.22377622377622378</c:v>
                </c:pt>
                <c:pt idx="2">
                  <c:v>0.12290502793296089</c:v>
                </c:pt>
                <c:pt idx="3">
                  <c:v>0.22996515679442509</c:v>
                </c:pt>
                <c:pt idx="4">
                  <c:v>0.25</c:v>
                </c:pt>
                <c:pt idx="5">
                  <c:v>0.27586206896551724</c:v>
                </c:pt>
              </c:numCache>
            </c:numRef>
          </c:val>
          <c:extLst>
            <c:ext xmlns:c16="http://schemas.microsoft.com/office/drawing/2014/chart" uri="{C3380CC4-5D6E-409C-BE32-E72D297353CC}">
              <c16:uniqueId val="{00000014-BFBD-4EDF-9A4C-DC4825008B27}"/>
            </c:ext>
          </c:extLst>
        </c:ser>
        <c:ser>
          <c:idx val="5"/>
          <c:order val="5"/>
          <c:tx>
            <c:strRef>
              <c:f>'Row wise'!$L$54</c:f>
              <c:strCache>
                <c:ptCount val="1"/>
                <c:pt idx="0">
                  <c:v>A trusted advisor for growing wealth</c:v>
                </c:pt>
              </c:strCache>
            </c:strRef>
          </c:tx>
          <c:spPr>
            <a:solidFill>
              <a:srgbClr val="7030A0"/>
            </a:solidFill>
            <a:ln>
              <a:noFill/>
            </a:ln>
            <a:effectLst/>
          </c:spPr>
          <c:invertIfNegative val="0"/>
          <c:dLbls>
            <c:dLbl>
              <c:idx val="0"/>
              <c:layout>
                <c:manualLayout>
                  <c:x val="2.2225463678736202E-3"/>
                  <c:y val="-1.474359780548714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BFBD-4EDF-9A4C-DC4825008B27}"/>
                </c:ext>
              </c:extLst>
            </c:dLbl>
            <c:dLbl>
              <c:idx val="2"/>
              <c:layout>
                <c:manualLayout>
                  <c:x val="3.3338574694967457E-3"/>
                  <c:y val="7.227814504412176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BFBD-4EDF-9A4C-DC4825008B27}"/>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'Row wise'!$M$48:$R$48</c:f>
              <c:strCache>
                <c:ptCount val="6"/>
                <c:pt idx="0">
                  <c:v>KOTAK</c:v>
                </c:pt>
                <c:pt idx="1">
                  <c:v>HDFC</c:v>
                </c:pt>
                <c:pt idx="2">
                  <c:v>FEDERAL</c:v>
                </c:pt>
                <c:pt idx="3">
                  <c:v>AXIS</c:v>
                </c:pt>
                <c:pt idx="4">
                  <c:v>ICICI</c:v>
                </c:pt>
                <c:pt idx="5">
                  <c:v>OTHER</c:v>
                </c:pt>
              </c:strCache>
            </c:strRef>
          </c:cat>
          <c:val>
            <c:numRef>
              <c:f>'Row wise'!$M$54:$R$54</c:f>
              <c:numCache>
                <c:formatCode>0%</c:formatCode>
                <c:ptCount val="6"/>
                <c:pt idx="0">
                  <c:v>0.12056737588652482</c:v>
                </c:pt>
                <c:pt idx="1">
                  <c:v>0.15034965034965034</c:v>
                </c:pt>
                <c:pt idx="2">
                  <c:v>7.2625698324022353E-2</c:v>
                </c:pt>
                <c:pt idx="3">
                  <c:v>0.10801393728222997</c:v>
                </c:pt>
                <c:pt idx="4">
                  <c:v>9.375E-2</c:v>
                </c:pt>
                <c:pt idx="5">
                  <c:v>0.11206896551724138</c:v>
                </c:pt>
              </c:numCache>
            </c:numRef>
          </c:val>
          <c:extLst>
            <c:ext xmlns:c16="http://schemas.microsoft.com/office/drawing/2014/chart" uri="{C3380CC4-5D6E-409C-BE32-E72D297353CC}">
              <c16:uniqueId val="{00000017-BFBD-4EDF-9A4C-DC4825008B27}"/>
            </c:ext>
          </c:extLst>
        </c:ser>
        <c:ser>
          <c:idx val="6"/>
          <c:order val="6"/>
          <c:tx>
            <c:strRef>
              <c:f>'Row wise'!$L$55</c:f>
              <c:strCache>
                <c:ptCount val="1"/>
                <c:pt idx="0">
                  <c:v>A trusted advisor for managing wealth</c:v>
                </c:pt>
              </c:strCache>
            </c:strRef>
          </c:tx>
          <c:spPr>
            <a:solidFill>
              <a:srgbClr val="4EA72E">
                <a:lumMod val="50000"/>
              </a:srgbClr>
            </a:solidFill>
            <a:ln>
              <a:noFill/>
            </a:ln>
            <a:effectLst/>
          </c:spPr>
          <c:invertIfNegative val="0"/>
          <c:dLbls>
            <c:dLbl>
              <c:idx val="0"/>
              <c:layout>
                <c:manualLayout>
                  <c:x val="5.5563659196839997E-3"/>
                  <c:y val="-9.0098723538722596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BFBD-4EDF-9A4C-DC4825008B27}"/>
                </c:ext>
              </c:extLst>
            </c:dLbl>
            <c:dLbl>
              <c:idx val="2"/>
              <c:layout>
                <c:manualLayout>
                  <c:x val="3.3338195518103995E-3"/>
                  <c:y val="-9.0098723538722596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BFBD-4EDF-9A4C-DC4825008B27}"/>
                </c:ext>
              </c:extLst>
            </c:dLbl>
            <c:dLbl>
              <c:idx val="3"/>
              <c:layout>
                <c:manualLayout>
                  <c:x val="7.7789122875575175E-3"/>
                  <c:y val="2.457266300914509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BFBD-4EDF-9A4C-DC4825008B27}"/>
                </c:ext>
              </c:extLst>
            </c:dLbl>
            <c:dLbl>
              <c:idx val="4"/>
              <c:layout>
                <c:manualLayout>
                  <c:x val="5.5563659196839997E-3"/>
                  <c:y val="-7.371798902743618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BFBD-4EDF-9A4C-DC4825008B27}"/>
                </c:ext>
              </c:extLst>
            </c:dLbl>
            <c:dLbl>
              <c:idx val="5"/>
              <c:layout>
                <c:manualLayout>
                  <c:x val="1.0001458655431035E-2"/>
                  <c:y val="9.0098723538722596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BFBD-4EDF-9A4C-DC4825008B27}"/>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'Row wise'!$M$48:$R$48</c:f>
              <c:strCache>
                <c:ptCount val="6"/>
                <c:pt idx="0">
                  <c:v>KOTAK</c:v>
                </c:pt>
                <c:pt idx="1">
                  <c:v>HDFC</c:v>
                </c:pt>
                <c:pt idx="2">
                  <c:v>FEDERAL</c:v>
                </c:pt>
                <c:pt idx="3">
                  <c:v>AXIS</c:v>
                </c:pt>
                <c:pt idx="4">
                  <c:v>ICICI</c:v>
                </c:pt>
                <c:pt idx="5">
                  <c:v>OTHER</c:v>
                </c:pt>
              </c:strCache>
            </c:strRef>
          </c:cat>
          <c:val>
            <c:numRef>
              <c:f>'Row wise'!$M$55:$R$55</c:f>
              <c:numCache>
                <c:formatCode>0%</c:formatCode>
                <c:ptCount val="6"/>
                <c:pt idx="0">
                  <c:v>0.11702127659574468</c:v>
                </c:pt>
                <c:pt idx="1">
                  <c:v>0.16433566433566432</c:v>
                </c:pt>
                <c:pt idx="2">
                  <c:v>9.4972067039106142E-2</c:v>
                </c:pt>
                <c:pt idx="3">
                  <c:v>0.1672473867595819</c:v>
                </c:pt>
                <c:pt idx="4">
                  <c:v>0.140625</c:v>
                </c:pt>
                <c:pt idx="5">
                  <c:v>0.13793103448275862</c:v>
                </c:pt>
              </c:numCache>
            </c:numRef>
          </c:val>
          <c:extLst>
            <c:ext xmlns:c16="http://schemas.microsoft.com/office/drawing/2014/chart" uri="{C3380CC4-5D6E-409C-BE32-E72D297353CC}">
              <c16:uniqueId val="{0000001D-BFBD-4EDF-9A4C-DC4825008B27}"/>
            </c:ext>
          </c:extLst>
        </c:ser>
        <c:dLbls>
          <c:showLegendKey val="0"/>
          <c:showVal val="0"/>
          <c:showCatName val="0"/>
          <c:showSerName val="0"/>
          <c:showPercent val="0"/>
          <c:showBubbleSize val="0"/>
        </c:dLbls>
        <c:gapWidth val="18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0.8"/>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legend>
      <c:legendPos val="t"/>
      <c:layout>
        <c:manualLayout>
          <c:xMode val="edge"/>
          <c:yMode val="edge"/>
          <c:x val="5.4520147205552275E-2"/>
          <c:y val="3.909768492050561E-2"/>
          <c:w val="0.92647615137709638"/>
          <c:h val="0.22436417129588693"/>
        </c:manualLayout>
      </c:layout>
      <c:overlay val="0"/>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8038396666426447E-2"/>
          <c:y val="0.18206092325830045"/>
          <c:w val="0.88349094770219327"/>
          <c:h val="0.74461683411663004"/>
        </c:manualLayout>
      </c:layout>
      <c:barChart>
        <c:barDir val="bar"/>
        <c:grouping val="percentStacked"/>
        <c:varyColors val="0"/>
        <c:ser>
          <c:idx val="0"/>
          <c:order val="0"/>
          <c:tx>
            <c:strRef>
              <c:f>Sheet5!$J$37</c:f>
              <c:strCache>
                <c:ptCount val="1"/>
                <c:pt idx="0">
                  <c:v>Slow and steady</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Sheet5!$K$36:$P$36</c:f>
              <c:strCache>
                <c:ptCount val="6"/>
                <c:pt idx="0">
                  <c:v>KOTAK</c:v>
                </c:pt>
                <c:pt idx="1">
                  <c:v>AXIS</c:v>
                </c:pt>
                <c:pt idx="2">
                  <c:v>DBS</c:v>
                </c:pt>
                <c:pt idx="3">
                  <c:v>HDFC</c:v>
                </c:pt>
                <c:pt idx="4">
                  <c:v>FEDERAL</c:v>
                </c:pt>
                <c:pt idx="5">
                  <c:v>ICICI</c:v>
                </c:pt>
              </c:strCache>
            </c:strRef>
          </c:cat>
          <c:val>
            <c:numRef>
              <c:f>Sheet5!$K$37:$P$37</c:f>
              <c:numCache>
                <c:formatCode>0%</c:formatCode>
                <c:ptCount val="6"/>
                <c:pt idx="0">
                  <c:v>0.27777777777777779</c:v>
                </c:pt>
                <c:pt idx="1">
                  <c:v>0.29921259842519687</c:v>
                </c:pt>
                <c:pt idx="2">
                  <c:v>0.32</c:v>
                </c:pt>
                <c:pt idx="3">
                  <c:v>0.33070866141732286</c:v>
                </c:pt>
                <c:pt idx="4">
                  <c:v>0.486927710843374</c:v>
                </c:pt>
                <c:pt idx="5">
                  <c:v>0.5</c:v>
                </c:pt>
              </c:numCache>
            </c:numRef>
          </c:val>
          <c:extLst>
            <c:ext xmlns:c16="http://schemas.microsoft.com/office/drawing/2014/chart" uri="{C3380CC4-5D6E-409C-BE32-E72D297353CC}">
              <c16:uniqueId val="{00000000-CB9F-457D-A4DC-2E061AC4220D}"/>
            </c:ext>
          </c:extLst>
        </c:ser>
        <c:ser>
          <c:idx val="1"/>
          <c:order val="1"/>
          <c:tx>
            <c:strRef>
              <c:f>Sheet5!$J$38</c:f>
              <c:strCache>
                <c:ptCount val="1"/>
                <c:pt idx="0">
                  <c:v>Moderation is the key</c:v>
                </c:pt>
              </c:strCache>
            </c:strRef>
          </c:tx>
          <c:spPr>
            <a:solidFill>
              <a:srgbClr val="E8E8E8">
                <a:lumMod val="90000"/>
              </a:srgb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Sheet5!$K$36:$P$36</c:f>
              <c:strCache>
                <c:ptCount val="6"/>
                <c:pt idx="0">
                  <c:v>KOTAK</c:v>
                </c:pt>
                <c:pt idx="1">
                  <c:v>AXIS</c:v>
                </c:pt>
                <c:pt idx="2">
                  <c:v>DBS</c:v>
                </c:pt>
                <c:pt idx="3">
                  <c:v>HDFC</c:v>
                </c:pt>
                <c:pt idx="4">
                  <c:v>FEDERAL</c:v>
                </c:pt>
                <c:pt idx="5">
                  <c:v>ICICI</c:v>
                </c:pt>
              </c:strCache>
            </c:strRef>
          </c:cat>
          <c:val>
            <c:numRef>
              <c:f>Sheet5!$K$38:$P$38</c:f>
              <c:numCache>
                <c:formatCode>0%</c:formatCode>
                <c:ptCount val="6"/>
                <c:pt idx="0">
                  <c:v>0.30158730158730157</c:v>
                </c:pt>
                <c:pt idx="1">
                  <c:v>0.33858267716535434</c:v>
                </c:pt>
                <c:pt idx="2">
                  <c:v>0.36</c:v>
                </c:pt>
                <c:pt idx="3">
                  <c:v>0.26771653543307089</c:v>
                </c:pt>
                <c:pt idx="4">
                  <c:v>0.27108433734939757</c:v>
                </c:pt>
                <c:pt idx="5">
                  <c:v>0.39285714285714285</c:v>
                </c:pt>
              </c:numCache>
            </c:numRef>
          </c:val>
          <c:extLst>
            <c:ext xmlns:c16="http://schemas.microsoft.com/office/drawing/2014/chart" uri="{C3380CC4-5D6E-409C-BE32-E72D297353CC}">
              <c16:uniqueId val="{00000001-CB9F-457D-A4DC-2E061AC4220D}"/>
            </c:ext>
          </c:extLst>
        </c:ser>
        <c:ser>
          <c:idx val="2"/>
          <c:order val="2"/>
          <c:tx>
            <c:strRef>
              <c:f>Sheet5!$J$39</c:f>
              <c:strCache>
                <c:ptCount val="1"/>
                <c:pt idx="0">
                  <c:v>Go-getter</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Sheet5!$K$36:$P$36</c:f>
              <c:strCache>
                <c:ptCount val="6"/>
                <c:pt idx="0">
                  <c:v>KOTAK</c:v>
                </c:pt>
                <c:pt idx="1">
                  <c:v>AXIS</c:v>
                </c:pt>
                <c:pt idx="2">
                  <c:v>DBS</c:v>
                </c:pt>
                <c:pt idx="3">
                  <c:v>HDFC</c:v>
                </c:pt>
                <c:pt idx="4">
                  <c:v>FEDERAL</c:v>
                </c:pt>
                <c:pt idx="5">
                  <c:v>ICICI</c:v>
                </c:pt>
              </c:strCache>
            </c:strRef>
          </c:cat>
          <c:val>
            <c:numRef>
              <c:f>Sheet5!$K$39:$P$39</c:f>
              <c:numCache>
                <c:formatCode>0%</c:formatCode>
                <c:ptCount val="6"/>
                <c:pt idx="0">
                  <c:v>0.42063492063492064</c:v>
                </c:pt>
                <c:pt idx="1">
                  <c:v>0.36220472440944884</c:v>
                </c:pt>
                <c:pt idx="2">
                  <c:v>0.32</c:v>
                </c:pt>
                <c:pt idx="3">
                  <c:v>0.40157480314960631</c:v>
                </c:pt>
                <c:pt idx="4">
                  <c:v>0.23891566265060199</c:v>
                </c:pt>
                <c:pt idx="5">
                  <c:v>0.10714285714285714</c:v>
                </c:pt>
              </c:numCache>
            </c:numRef>
          </c:val>
          <c:extLst>
            <c:ext xmlns:c16="http://schemas.microsoft.com/office/drawing/2014/chart" uri="{C3380CC4-5D6E-409C-BE32-E72D297353CC}">
              <c16:uniqueId val="{00000002-CB9F-457D-A4DC-2E061AC4220D}"/>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05529931942446E-2"/>
          <c:y val="4.4732035163103721E-2"/>
          <c:w val="0.86729129529485571"/>
          <c:h val="0.77329768020833189"/>
        </c:manualLayout>
      </c:layout>
      <c:barChart>
        <c:barDir val="col"/>
        <c:grouping val="percentStacked"/>
        <c:varyColors val="0"/>
        <c:ser>
          <c:idx val="0"/>
          <c:order val="0"/>
          <c:tx>
            <c:strRef>
              <c:f>'ONLY FEDERAL (2)'!$BI$2</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(2)'!$BH$3:$BH$5</c:f>
              <c:strCache>
                <c:ptCount val="3"/>
                <c:pt idx="0">
                  <c:v>Interaction &amp; transaction at the branch</c:v>
                </c:pt>
                <c:pt idx="1">
                  <c:v>Mobile App</c:v>
                </c:pt>
                <c:pt idx="2">
                  <c:v>Internet Banking</c:v>
                </c:pt>
              </c:strCache>
            </c:strRef>
          </c:cat>
          <c:val>
            <c:numRef>
              <c:f>'ONLY FEDERAL (2)'!$BI$3:$BI$5</c:f>
              <c:numCache>
                <c:formatCode>0%</c:formatCode>
                <c:ptCount val="3"/>
                <c:pt idx="0">
                  <c:v>0.85034013605442171</c:v>
                </c:pt>
                <c:pt idx="1">
                  <c:v>0.76821192052980136</c:v>
                </c:pt>
                <c:pt idx="2">
                  <c:v>0.76595744680851063</c:v>
                </c:pt>
              </c:numCache>
            </c:numRef>
          </c:val>
          <c:extLst>
            <c:ext xmlns:c16="http://schemas.microsoft.com/office/drawing/2014/chart" uri="{C3380CC4-5D6E-409C-BE32-E72D297353CC}">
              <c16:uniqueId val="{00000001-0FCA-4591-97EE-2721292B8172}"/>
            </c:ext>
          </c:extLst>
        </c:ser>
        <c:ser>
          <c:idx val="1"/>
          <c:order val="1"/>
          <c:tx>
            <c:strRef>
              <c:f>'ONLY FEDERAL (2)'!$BJ$2</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(2)'!$BH$3:$BH$5</c:f>
              <c:strCache>
                <c:ptCount val="3"/>
                <c:pt idx="0">
                  <c:v>Interaction &amp; transaction at the branch</c:v>
                </c:pt>
                <c:pt idx="1">
                  <c:v>Mobile App</c:v>
                </c:pt>
                <c:pt idx="2">
                  <c:v>Internet Banking</c:v>
                </c:pt>
              </c:strCache>
            </c:strRef>
          </c:cat>
          <c:val>
            <c:numRef>
              <c:f>'ONLY FEDERAL (2)'!$BJ$3:$BJ$5</c:f>
              <c:numCache>
                <c:formatCode>0%</c:formatCode>
                <c:ptCount val="3"/>
                <c:pt idx="0">
                  <c:v>3.4013605442176874E-2</c:v>
                </c:pt>
                <c:pt idx="1">
                  <c:v>1.9867549668874173E-2</c:v>
                </c:pt>
                <c:pt idx="2">
                  <c:v>2.8368794326241134E-2</c:v>
                </c:pt>
              </c:numCache>
            </c:numRef>
          </c:val>
          <c:extLst>
            <c:ext xmlns:c16="http://schemas.microsoft.com/office/drawing/2014/chart" uri="{C3380CC4-5D6E-409C-BE32-E72D297353CC}">
              <c16:uniqueId val="{00000002-0FCA-4591-97EE-2721292B8172}"/>
            </c:ext>
          </c:extLst>
        </c:ser>
        <c:ser>
          <c:idx val="2"/>
          <c:order val="2"/>
          <c:tx>
            <c:strRef>
              <c:f>'ONLY FEDERAL (2)'!$BK$2</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(2)'!$BH$3:$BH$5</c:f>
              <c:strCache>
                <c:ptCount val="3"/>
                <c:pt idx="0">
                  <c:v>Interaction &amp; transaction at the branch</c:v>
                </c:pt>
                <c:pt idx="1">
                  <c:v>Mobile App</c:v>
                </c:pt>
                <c:pt idx="2">
                  <c:v>Internet Banking</c:v>
                </c:pt>
              </c:strCache>
            </c:strRef>
          </c:cat>
          <c:val>
            <c:numRef>
              <c:f>'ONLY FEDERAL (2)'!$BK$3:$BK$5</c:f>
              <c:numCache>
                <c:formatCode>0%</c:formatCode>
                <c:ptCount val="3"/>
                <c:pt idx="0">
                  <c:v>7.4829931972789115E-2</c:v>
                </c:pt>
                <c:pt idx="1">
                  <c:v>0.11258278145695365</c:v>
                </c:pt>
                <c:pt idx="2">
                  <c:v>0.14184397163120568</c:v>
                </c:pt>
              </c:numCache>
            </c:numRef>
          </c:val>
          <c:extLst>
            <c:ext xmlns:c16="http://schemas.microsoft.com/office/drawing/2014/chart" uri="{C3380CC4-5D6E-409C-BE32-E72D297353CC}">
              <c16:uniqueId val="{00000003-0FCA-4591-97EE-2721292B8172}"/>
            </c:ext>
          </c:extLst>
        </c:ser>
        <c:ser>
          <c:idx val="3"/>
          <c:order val="3"/>
          <c:tx>
            <c:strRef>
              <c:f>'ONLY FEDERAL (2)'!$BL$2</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(2)'!$BH$3:$BH$5</c:f>
              <c:strCache>
                <c:ptCount val="3"/>
                <c:pt idx="0">
                  <c:v>Interaction &amp; transaction at the branch</c:v>
                </c:pt>
                <c:pt idx="1">
                  <c:v>Mobile App</c:v>
                </c:pt>
                <c:pt idx="2">
                  <c:v>Internet Banking</c:v>
                </c:pt>
              </c:strCache>
            </c:strRef>
          </c:cat>
          <c:val>
            <c:numRef>
              <c:f>'ONLY FEDERAL (2)'!$BL$3:$BL$5</c:f>
              <c:numCache>
                <c:formatCode>0%</c:formatCode>
                <c:ptCount val="3"/>
                <c:pt idx="0">
                  <c:v>4.0816326530612242E-2</c:v>
                </c:pt>
                <c:pt idx="1">
                  <c:v>9.9337748344370855E-2</c:v>
                </c:pt>
                <c:pt idx="2">
                  <c:v>6.3829787234042548E-2</c:v>
                </c:pt>
              </c:numCache>
            </c:numRef>
          </c:val>
          <c:extLst>
            <c:ext xmlns:c16="http://schemas.microsoft.com/office/drawing/2014/chart" uri="{C3380CC4-5D6E-409C-BE32-E72D297353CC}">
              <c16:uniqueId val="{00000004-0FCA-4591-97EE-2721292B8172}"/>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05529931942446E-2"/>
          <c:y val="4.0260683280412136E-2"/>
          <c:w val="0.87015090812898421"/>
          <c:h val="0.78103918513625836"/>
        </c:manualLayout>
      </c:layout>
      <c:barChart>
        <c:barDir val="col"/>
        <c:grouping val="percentStacked"/>
        <c:varyColors val="0"/>
        <c:ser>
          <c:idx val="0"/>
          <c:order val="0"/>
          <c:tx>
            <c:strRef>
              <c:f>'FED+KOTAK (2)'!$AQ$89</c:f>
              <c:strCache>
                <c:ptCount val="1"/>
                <c:pt idx="0">
                  <c:v>FEDERAL</c:v>
                </c:pt>
              </c:strCache>
            </c:strRef>
          </c:tx>
          <c:spPr>
            <a:solidFill>
              <a:srgbClr val="F7A800"/>
            </a:solidFill>
            <a:ln>
              <a:noFill/>
            </a:ln>
            <a:effectLst/>
          </c:spPr>
          <c:invertIfNegative val="0"/>
          <c:dLbls>
            <c:dLbl>
              <c:idx val="4"/>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0-8B91-4A59-A779-FDE81BFCCD87}"/>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(2)'!$AP$90,'FED+KOTAK (2)'!$AP$93:$AP$94)</c:f>
              <c:strCache>
                <c:ptCount val="3"/>
                <c:pt idx="0">
                  <c:v>Interaction &amp; transaction at the branch</c:v>
                </c:pt>
                <c:pt idx="1">
                  <c:v>Internet Banking</c:v>
                </c:pt>
                <c:pt idx="2">
                  <c:v>Mobile App</c:v>
                </c:pt>
              </c:strCache>
            </c:strRef>
          </c:cat>
          <c:val>
            <c:numRef>
              <c:f>('FED+KOTAK (2)'!$AQ$90,'FED+KOTAK (2)'!$AQ$93:$AQ$94)</c:f>
              <c:numCache>
                <c:formatCode>0%</c:formatCode>
                <c:ptCount val="3"/>
                <c:pt idx="0">
                  <c:v>0.8</c:v>
                </c:pt>
                <c:pt idx="1">
                  <c:v>0.4</c:v>
                </c:pt>
                <c:pt idx="2">
                  <c:v>0.25</c:v>
                </c:pt>
              </c:numCache>
            </c:numRef>
          </c:val>
          <c:extLst>
            <c:ext xmlns:c16="http://schemas.microsoft.com/office/drawing/2014/chart" uri="{C3380CC4-5D6E-409C-BE32-E72D297353CC}">
              <c16:uniqueId val="{00000001-8B91-4A59-A779-FDE81BFCCD87}"/>
            </c:ext>
          </c:extLst>
        </c:ser>
        <c:ser>
          <c:idx val="1"/>
          <c:order val="1"/>
          <c:tx>
            <c:strRef>
              <c:f>'FED+KOTAK (2)'!$AR$89</c:f>
              <c:strCache>
                <c:ptCount val="1"/>
                <c:pt idx="0">
                  <c:v>KOTAK</c:v>
                </c:pt>
              </c:strCache>
            </c:strRef>
          </c:tx>
          <c:spPr>
            <a:solidFill>
              <a:srgbClr val="003874"/>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BF13-4E67-B7A0-1FE7129118A8}"/>
                </c:ext>
              </c:extLst>
            </c:dLbl>
            <c:dLbl>
              <c:idx val="1"/>
              <c:delete val="1"/>
              <c:extLst>
                <c:ext xmlns:c15="http://schemas.microsoft.com/office/drawing/2012/chart" uri="{CE6537A1-D6FC-4f65-9D91-7224C49458BB}"/>
                <c:ext xmlns:c16="http://schemas.microsoft.com/office/drawing/2014/chart" uri="{C3380CC4-5D6E-409C-BE32-E72D297353CC}">
                  <c16:uniqueId val="{00000003-BF13-4E67-B7A0-1FE7129118A8}"/>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(2)'!$AP$90,'FED+KOTAK (2)'!$AP$93:$AP$94)</c:f>
              <c:strCache>
                <c:ptCount val="3"/>
                <c:pt idx="0">
                  <c:v>Interaction &amp; transaction at the branch</c:v>
                </c:pt>
                <c:pt idx="1">
                  <c:v>Internet Banking</c:v>
                </c:pt>
                <c:pt idx="2">
                  <c:v>Mobile App</c:v>
                </c:pt>
              </c:strCache>
            </c:strRef>
          </c:cat>
          <c:val>
            <c:numRef>
              <c:f>('FED+KOTAK (2)'!$AR$90,'FED+KOTAK (2)'!$AR$93:$AR$94)</c:f>
              <c:numCache>
                <c:formatCode>0%</c:formatCode>
                <c:ptCount val="3"/>
                <c:pt idx="0">
                  <c:v>0</c:v>
                </c:pt>
                <c:pt idx="1">
                  <c:v>0</c:v>
                </c:pt>
                <c:pt idx="2">
                  <c:v>0.5</c:v>
                </c:pt>
              </c:numCache>
            </c:numRef>
          </c:val>
          <c:extLst>
            <c:ext xmlns:c16="http://schemas.microsoft.com/office/drawing/2014/chart" uri="{C3380CC4-5D6E-409C-BE32-E72D297353CC}">
              <c16:uniqueId val="{00000002-8B91-4A59-A779-FDE81BFCCD87}"/>
            </c:ext>
          </c:extLst>
        </c:ser>
        <c:ser>
          <c:idx val="2"/>
          <c:order val="2"/>
          <c:tx>
            <c:strRef>
              <c:f>'FED+KOTAK (2)'!$AS$89</c:f>
              <c:strCache>
                <c:ptCount val="1"/>
                <c:pt idx="0">
                  <c:v>HDFC</c:v>
                </c:pt>
              </c:strCache>
            </c:strRef>
          </c:tx>
          <c:spPr>
            <a:solidFill>
              <a:srgbClr val="007FF2"/>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0-BF13-4E67-B7A0-1FE7129118A8}"/>
                </c:ext>
              </c:extLst>
            </c:dLbl>
            <c:dLbl>
              <c:idx val="2"/>
              <c:delete val="1"/>
              <c:extLst>
                <c:ext xmlns:c15="http://schemas.microsoft.com/office/drawing/2012/chart" uri="{CE6537A1-D6FC-4f65-9D91-7224C49458BB}"/>
                <c:ext xmlns:c16="http://schemas.microsoft.com/office/drawing/2014/chart" uri="{C3380CC4-5D6E-409C-BE32-E72D297353CC}">
                  <c16:uniqueId val="{00000002-BF13-4E67-B7A0-1FE7129118A8}"/>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(2)'!$AP$90,'FED+KOTAK (2)'!$AP$93:$AP$94)</c:f>
              <c:strCache>
                <c:ptCount val="3"/>
                <c:pt idx="0">
                  <c:v>Interaction &amp; transaction at the branch</c:v>
                </c:pt>
                <c:pt idx="1">
                  <c:v>Internet Banking</c:v>
                </c:pt>
                <c:pt idx="2">
                  <c:v>Mobile App</c:v>
                </c:pt>
              </c:strCache>
            </c:strRef>
          </c:cat>
          <c:val>
            <c:numRef>
              <c:f>('FED+KOTAK (2)'!$AS$90,'FED+KOTAK (2)'!$AS$93:$AS$94)</c:f>
              <c:numCache>
                <c:formatCode>0%</c:formatCode>
                <c:ptCount val="3"/>
                <c:pt idx="0">
                  <c:v>0</c:v>
                </c:pt>
                <c:pt idx="1">
                  <c:v>0.4</c:v>
                </c:pt>
                <c:pt idx="2">
                  <c:v>0</c:v>
                </c:pt>
              </c:numCache>
            </c:numRef>
          </c:val>
          <c:extLst>
            <c:ext xmlns:c16="http://schemas.microsoft.com/office/drawing/2014/chart" uri="{C3380CC4-5D6E-409C-BE32-E72D297353CC}">
              <c16:uniqueId val="{00000003-8B91-4A59-A779-FDE81BFCCD87}"/>
            </c:ext>
          </c:extLst>
        </c:ser>
        <c:ser>
          <c:idx val="3"/>
          <c:order val="3"/>
          <c:tx>
            <c:strRef>
              <c:f>'FED+KOTAK (2)'!$AT$89</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(2)'!$AP$90,'FED+KOTAK (2)'!$AP$93:$AP$94)</c:f>
              <c:strCache>
                <c:ptCount val="3"/>
                <c:pt idx="0">
                  <c:v>Interaction &amp; transaction at the branch</c:v>
                </c:pt>
                <c:pt idx="1">
                  <c:v>Internet Banking</c:v>
                </c:pt>
                <c:pt idx="2">
                  <c:v>Mobile App</c:v>
                </c:pt>
              </c:strCache>
            </c:strRef>
          </c:cat>
          <c:val>
            <c:numRef>
              <c:f>('FED+KOTAK (2)'!$AT$90,'FED+KOTAK (2)'!$AT$93:$AT$94)</c:f>
              <c:numCache>
                <c:formatCode>0%</c:formatCode>
                <c:ptCount val="3"/>
                <c:pt idx="0">
                  <c:v>0.2</c:v>
                </c:pt>
                <c:pt idx="1">
                  <c:v>0.2</c:v>
                </c:pt>
                <c:pt idx="2">
                  <c:v>0.25</c:v>
                </c:pt>
              </c:numCache>
            </c:numRef>
          </c:val>
          <c:extLst>
            <c:ext xmlns:c16="http://schemas.microsoft.com/office/drawing/2014/chart" uri="{C3380CC4-5D6E-409C-BE32-E72D297353CC}">
              <c16:uniqueId val="{00000004-8B91-4A59-A779-FDE81BFCCD87}"/>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387404756485347"/>
          <c:y val="4.472212679175773E-2"/>
          <c:w val="0.86549478300790061"/>
          <c:h val="0.79087327402837571"/>
        </c:manualLayout>
      </c:layout>
      <c:barChart>
        <c:barDir val="col"/>
        <c:grouping val="percentStacked"/>
        <c:varyColors val="0"/>
        <c:ser>
          <c:idx val="0"/>
          <c:order val="0"/>
          <c:tx>
            <c:strRef>
              <c:f>'FED+HDFC (2)'!$AN$75</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(2)'!$AM$76,'FED+HDFC (2)'!$AM$79:$AM$80)</c:f>
              <c:strCache>
                <c:ptCount val="3"/>
                <c:pt idx="0">
                  <c:v>Interaction &amp; transaction at the branch</c:v>
                </c:pt>
                <c:pt idx="1">
                  <c:v>Mobile App</c:v>
                </c:pt>
                <c:pt idx="2">
                  <c:v>Internet Banking</c:v>
                </c:pt>
              </c:strCache>
            </c:strRef>
          </c:cat>
          <c:val>
            <c:numRef>
              <c:f>('FED+HDFC (2)'!$AN$76,'FED+HDFC (2)'!$AN$79:$AN$80)</c:f>
              <c:numCache>
                <c:formatCode>0%</c:formatCode>
                <c:ptCount val="3"/>
                <c:pt idx="0">
                  <c:v>0.96666666666666667</c:v>
                </c:pt>
                <c:pt idx="1">
                  <c:v>0.8</c:v>
                </c:pt>
                <c:pt idx="2">
                  <c:v>0.53333333333333333</c:v>
                </c:pt>
              </c:numCache>
            </c:numRef>
          </c:val>
          <c:extLst>
            <c:ext xmlns:c16="http://schemas.microsoft.com/office/drawing/2014/chart" uri="{C3380CC4-5D6E-409C-BE32-E72D297353CC}">
              <c16:uniqueId val="{00000001-1634-414B-B7F5-ACCABD498940}"/>
            </c:ext>
          </c:extLst>
        </c:ser>
        <c:ser>
          <c:idx val="1"/>
          <c:order val="1"/>
          <c:tx>
            <c:strRef>
              <c:f>'FED+HDFC (2)'!$AO$75</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(2)'!$AM$76,'FED+HDFC (2)'!$AM$79:$AM$80)</c:f>
              <c:strCache>
                <c:ptCount val="3"/>
                <c:pt idx="0">
                  <c:v>Interaction &amp; transaction at the branch</c:v>
                </c:pt>
                <c:pt idx="1">
                  <c:v>Mobile App</c:v>
                </c:pt>
                <c:pt idx="2">
                  <c:v>Internet Banking</c:v>
                </c:pt>
              </c:strCache>
            </c:strRef>
          </c:cat>
          <c:val>
            <c:numRef>
              <c:f>('FED+HDFC (2)'!$AO$76,'FED+HDFC (2)'!$AO$79:$AO$80)</c:f>
              <c:numCache>
                <c:formatCode>0%</c:formatCode>
                <c:ptCount val="3"/>
                <c:pt idx="0">
                  <c:v>3.3333333333333333E-2</c:v>
                </c:pt>
                <c:pt idx="1">
                  <c:v>0.1</c:v>
                </c:pt>
                <c:pt idx="2">
                  <c:v>0.33333333333333331</c:v>
                </c:pt>
              </c:numCache>
            </c:numRef>
          </c:val>
          <c:extLst>
            <c:ext xmlns:c16="http://schemas.microsoft.com/office/drawing/2014/chart" uri="{C3380CC4-5D6E-409C-BE32-E72D297353CC}">
              <c16:uniqueId val="{00000002-1634-414B-B7F5-ACCABD498940}"/>
            </c:ext>
          </c:extLst>
        </c:ser>
        <c:ser>
          <c:idx val="2"/>
          <c:order val="2"/>
          <c:tx>
            <c:strRef>
              <c:f>'FED+HDFC (2)'!$AP$75</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(2)'!$AM$76,'FED+HDFC (2)'!$AM$79:$AM$80)</c:f>
              <c:strCache>
                <c:ptCount val="3"/>
                <c:pt idx="0">
                  <c:v>Interaction &amp; transaction at the branch</c:v>
                </c:pt>
                <c:pt idx="1">
                  <c:v>Mobile App</c:v>
                </c:pt>
                <c:pt idx="2">
                  <c:v>Internet Banking</c:v>
                </c:pt>
              </c:strCache>
            </c:strRef>
          </c:cat>
          <c:val>
            <c:numRef>
              <c:f>('FED+HDFC (2)'!$AP$76,'FED+HDFC (2)'!$AP$79:$AP$80)</c:f>
              <c:numCache>
                <c:formatCode>0%</c:formatCode>
                <c:ptCount val="3"/>
                <c:pt idx="0">
                  <c:v>3.3333333333333333E-2</c:v>
                </c:pt>
                <c:pt idx="1">
                  <c:v>0</c:v>
                </c:pt>
                <c:pt idx="2">
                  <c:v>0</c:v>
                </c:pt>
              </c:numCache>
            </c:numRef>
          </c:val>
          <c:extLst>
            <c:ext xmlns:c16="http://schemas.microsoft.com/office/drawing/2014/chart" uri="{C3380CC4-5D6E-409C-BE32-E72D297353CC}">
              <c16:uniqueId val="{00000003-1634-414B-B7F5-ACCABD498940}"/>
            </c:ext>
          </c:extLst>
        </c:ser>
        <c:ser>
          <c:idx val="3"/>
          <c:order val="3"/>
          <c:tx>
            <c:strRef>
              <c:f>'FED+HDFC (2)'!$AQ$75</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(2)'!$AM$76,'FED+HDFC (2)'!$AM$79:$AM$80)</c:f>
              <c:strCache>
                <c:ptCount val="3"/>
                <c:pt idx="0">
                  <c:v>Interaction &amp; transaction at the branch</c:v>
                </c:pt>
                <c:pt idx="1">
                  <c:v>Mobile App</c:v>
                </c:pt>
                <c:pt idx="2">
                  <c:v>Internet Banking</c:v>
                </c:pt>
              </c:strCache>
            </c:strRef>
          </c:cat>
          <c:val>
            <c:numRef>
              <c:f>('FED+HDFC (2)'!$AQ$76,'FED+HDFC (2)'!$AQ$79:$AQ$80)</c:f>
              <c:numCache>
                <c:formatCode>0%</c:formatCode>
                <c:ptCount val="3"/>
                <c:pt idx="0">
                  <c:v>0</c:v>
                </c:pt>
                <c:pt idx="1">
                  <c:v>6.6666666666666666E-2</c:v>
                </c:pt>
                <c:pt idx="2">
                  <c:v>0.13333333333333333</c:v>
                </c:pt>
              </c:numCache>
            </c:numRef>
          </c:val>
          <c:extLst>
            <c:ext xmlns:c16="http://schemas.microsoft.com/office/drawing/2014/chart" uri="{C3380CC4-5D6E-409C-BE32-E72D297353CC}">
              <c16:uniqueId val="{00000004-1634-414B-B7F5-ACCABD498940}"/>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5.4120995938370227E-2"/>
          <c:w val="0.86452521518564218"/>
          <c:h val="0.76751396461246701"/>
        </c:manualLayout>
      </c:layout>
      <c:barChart>
        <c:barDir val="col"/>
        <c:grouping val="percentStacked"/>
        <c:varyColors val="0"/>
        <c:ser>
          <c:idx val="0"/>
          <c:order val="0"/>
          <c:tx>
            <c:strRef>
              <c:f>'FED+AXIS (2)'!$AN$63</c:f>
              <c:strCache>
                <c:ptCount val="1"/>
                <c:pt idx="0">
                  <c:v>FEDERAL</c:v>
                </c:pt>
              </c:strCache>
            </c:strRef>
          </c:tx>
          <c:spPr>
            <a:solidFill>
              <a:srgbClr val="F7A800"/>
            </a:solidFill>
            <a:ln>
              <a:noFill/>
            </a:ln>
            <a:effectLst/>
          </c:spPr>
          <c:invertIfNegative val="0"/>
          <c:dLbls>
            <c:dLbl>
              <c:idx val="4"/>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0-8E9C-432B-B2F4-912E6C3CBE91}"/>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(2)'!$AM$64,'FED+AXIS (2)'!$AM$67:$AM$68)</c:f>
              <c:strCache>
                <c:ptCount val="3"/>
                <c:pt idx="0">
                  <c:v>Interaction &amp; transaction at the branch</c:v>
                </c:pt>
                <c:pt idx="1">
                  <c:v>Mobile App</c:v>
                </c:pt>
                <c:pt idx="2">
                  <c:v>Internet Banking</c:v>
                </c:pt>
              </c:strCache>
            </c:strRef>
          </c:cat>
          <c:val>
            <c:numRef>
              <c:f>('FED+AXIS (2)'!$AN$64,'FED+AXIS (2)'!$AN$67:$AN$68)</c:f>
              <c:numCache>
                <c:formatCode>0%</c:formatCode>
                <c:ptCount val="3"/>
                <c:pt idx="0">
                  <c:v>0.93333333333333335</c:v>
                </c:pt>
                <c:pt idx="1">
                  <c:v>0.7857142857142857</c:v>
                </c:pt>
                <c:pt idx="2">
                  <c:v>0.46666666666666667</c:v>
                </c:pt>
              </c:numCache>
            </c:numRef>
          </c:val>
          <c:extLst>
            <c:ext xmlns:c16="http://schemas.microsoft.com/office/drawing/2014/chart" uri="{C3380CC4-5D6E-409C-BE32-E72D297353CC}">
              <c16:uniqueId val="{00000001-8E9C-432B-B2F4-912E6C3CBE91}"/>
            </c:ext>
          </c:extLst>
        </c:ser>
        <c:ser>
          <c:idx val="1"/>
          <c:order val="1"/>
          <c:tx>
            <c:strRef>
              <c:f>'FED+AXIS (2)'!$AO$63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(2)'!$AM$64,'FED+AXIS (2)'!$AM$67:$AM$68)</c:f>
              <c:strCache>
                <c:ptCount val="3"/>
                <c:pt idx="0">
                  <c:v>Interaction &amp; transaction at the branch</c:v>
                </c:pt>
                <c:pt idx="1">
                  <c:v>Mobile App</c:v>
                </c:pt>
                <c:pt idx="2">
                  <c:v>Internet Banking</c:v>
                </c:pt>
              </c:strCache>
            </c:strRef>
          </c:cat>
          <c:val>
            <c:numRef>
              <c:f>('FED+AXIS (2)'!$AO$64,'FED+AXIS (2)'!$AO$67:$AO$68)</c:f>
              <c:numCache>
                <c:formatCode>0%</c:formatCode>
                <c:ptCount val="3"/>
                <c:pt idx="0">
                  <c:v>0.14285714285714285</c:v>
                </c:pt>
                <c:pt idx="1">
                  <c:v>7.6923076923076927E-2</c:v>
                </c:pt>
                <c:pt idx="2">
                  <c:v>0.15384615384615385</c:v>
                </c:pt>
              </c:numCache>
            </c:numRef>
          </c:val>
          <c:extLst>
            <c:ext xmlns:c16="http://schemas.microsoft.com/office/drawing/2014/chart" uri="{C3380CC4-5D6E-409C-BE32-E72D297353CC}">
              <c16:uniqueId val="{00000002-8E9C-432B-B2F4-912E6C3CBE91}"/>
            </c:ext>
          </c:extLst>
        </c:ser>
        <c:ser>
          <c:idx val="2"/>
          <c:order val="2"/>
          <c:tx>
            <c:strRef>
              <c:f>'FED+AXIS (2)'!$AP$63</c:f>
              <c:strCache>
                <c:ptCount val="1"/>
                <c:pt idx="0">
                  <c:v>HDFC</c:v>
                </c:pt>
              </c:strCache>
            </c:strRef>
          </c:tx>
          <c:spPr>
            <a:solidFill>
              <a:srgbClr val="007FF2"/>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3-6BDE-4913-B6B2-5115CC9E14E8}"/>
                </c:ext>
              </c:extLst>
            </c:dLbl>
            <c:dLbl>
              <c:idx val="1"/>
              <c:delete val="1"/>
              <c:extLst>
                <c:ext xmlns:c15="http://schemas.microsoft.com/office/drawing/2012/chart" uri="{CE6537A1-D6FC-4f65-9D91-7224C49458BB}"/>
                <c:ext xmlns:c16="http://schemas.microsoft.com/office/drawing/2014/chart" uri="{C3380CC4-5D6E-409C-BE32-E72D297353CC}">
                  <c16:uniqueId val="{00000002-6BDE-4913-B6B2-5115CC9E14E8}"/>
                </c:ext>
              </c:extLst>
            </c:dLbl>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(2)'!$AM$64,'FED+AXIS (2)'!$AM$67:$AM$68)</c:f>
              <c:strCache>
                <c:ptCount val="3"/>
                <c:pt idx="0">
                  <c:v>Interaction &amp; transaction at the branch</c:v>
                </c:pt>
                <c:pt idx="1">
                  <c:v>Mobile App</c:v>
                </c:pt>
                <c:pt idx="2">
                  <c:v>Internet Banking</c:v>
                </c:pt>
              </c:strCache>
            </c:strRef>
          </c:cat>
          <c:val>
            <c:numRef>
              <c:f>('FED+AXIS (2)'!$AP$64,'FED+AXIS (2)'!$AP$67:$AP$68)</c:f>
              <c:numCache>
                <c:formatCode>0%</c:formatCode>
                <c:ptCount val="3"/>
                <c:pt idx="0">
                  <c:v>0</c:v>
                </c:pt>
                <c:pt idx="1">
                  <c:v>0</c:v>
                </c:pt>
                <c:pt idx="2">
                  <c:v>0.13333333333333333</c:v>
                </c:pt>
              </c:numCache>
            </c:numRef>
          </c:val>
          <c:extLst>
            <c:ext xmlns:c16="http://schemas.microsoft.com/office/drawing/2014/chart" uri="{C3380CC4-5D6E-409C-BE32-E72D297353CC}">
              <c16:uniqueId val="{00000003-8E9C-432B-B2F4-912E6C3CBE91}"/>
            </c:ext>
          </c:extLst>
        </c:ser>
        <c:ser>
          <c:idx val="3"/>
          <c:order val="3"/>
          <c:tx>
            <c:strRef>
              <c:f>'FED+AXIS (2)'!$AQ$63</c:f>
              <c:strCache>
                <c:ptCount val="1"/>
                <c:pt idx="0">
                  <c:v>KOTAK</c:v>
                </c:pt>
              </c:strCache>
            </c:strRef>
          </c:tx>
          <c:spPr>
            <a:solidFill>
              <a:srgbClr val="003874"/>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1-6BDE-4913-B6B2-5115CC9E14E8}"/>
                </c:ext>
              </c:extLst>
            </c:dLbl>
            <c:dLbl>
              <c:idx val="2"/>
              <c:delete val="1"/>
              <c:extLst>
                <c:ext xmlns:c15="http://schemas.microsoft.com/office/drawing/2012/chart" uri="{CE6537A1-D6FC-4f65-9D91-7224C49458BB}"/>
                <c:ext xmlns:c16="http://schemas.microsoft.com/office/drawing/2014/chart" uri="{C3380CC4-5D6E-409C-BE32-E72D297353CC}">
                  <c16:uniqueId val="{00000000-6BDE-4913-B6B2-5115CC9E14E8}"/>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(2)'!$AM$64,'FED+AXIS (2)'!$AM$67:$AM$68)</c:f>
              <c:strCache>
                <c:ptCount val="3"/>
                <c:pt idx="0">
                  <c:v>Interaction &amp; transaction at the branch</c:v>
                </c:pt>
                <c:pt idx="1">
                  <c:v>Mobile App</c:v>
                </c:pt>
                <c:pt idx="2">
                  <c:v>Internet Banking</c:v>
                </c:pt>
              </c:strCache>
            </c:strRef>
          </c:cat>
          <c:val>
            <c:numRef>
              <c:f>('FED+AXIS (2)'!$AQ$64,'FED+AXIS (2)'!$AQ$67:$AQ$68)</c:f>
              <c:numCache>
                <c:formatCode>0%</c:formatCode>
                <c:ptCount val="3"/>
                <c:pt idx="0">
                  <c:v>7.1428571428571425E-2</c:v>
                </c:pt>
                <c:pt idx="1">
                  <c:v>0</c:v>
                </c:pt>
                <c:pt idx="2">
                  <c:v>0</c:v>
                </c:pt>
              </c:numCache>
            </c:numRef>
          </c:val>
          <c:extLst>
            <c:ext xmlns:c16="http://schemas.microsoft.com/office/drawing/2014/chart" uri="{C3380CC4-5D6E-409C-BE32-E72D297353CC}">
              <c16:uniqueId val="{00000004-8E9C-432B-B2F4-912E6C3CBE91}"/>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7.58765000250545E-2"/>
          <c:w val="0.86434583338253057"/>
          <c:h val="0.75343744736290807"/>
        </c:manualLayout>
      </c:layout>
      <c:barChart>
        <c:barDir val="col"/>
        <c:grouping val="percentStacked"/>
        <c:varyColors val="0"/>
        <c:ser>
          <c:idx val="0"/>
          <c:order val="0"/>
          <c:tx>
            <c:strRef>
              <c:f>'KOTAK+HDFC+AXIS+ICICI (TE)'!$AA$2</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(TE)'!$Z$3:$Z$5</c:f>
              <c:strCache>
                <c:ptCount val="3"/>
                <c:pt idx="0">
                  <c:v>Interaction &amp; transaction at the branch</c:v>
                </c:pt>
                <c:pt idx="1">
                  <c:v>Mobile App</c:v>
                </c:pt>
                <c:pt idx="2">
                  <c:v>Internet Banking</c:v>
                </c:pt>
              </c:strCache>
            </c:strRef>
          </c:cat>
          <c:val>
            <c:numRef>
              <c:f>'KOTAK+HDFC+AXIS+ICICI (TE)'!$AA$3:$AA$5</c:f>
              <c:numCache>
                <c:formatCode>0%</c:formatCode>
                <c:ptCount val="3"/>
                <c:pt idx="0">
                  <c:v>3.2786885245901641E-2</c:v>
                </c:pt>
                <c:pt idx="1">
                  <c:v>7.9365079365079361E-3</c:v>
                </c:pt>
                <c:pt idx="2">
                  <c:v>0.04</c:v>
                </c:pt>
              </c:numCache>
            </c:numRef>
          </c:val>
          <c:extLst>
            <c:ext xmlns:c16="http://schemas.microsoft.com/office/drawing/2014/chart" uri="{C3380CC4-5D6E-409C-BE32-E72D297353CC}">
              <c16:uniqueId val="{00000001-ACFA-48C7-9C57-75E685CA250A}"/>
            </c:ext>
          </c:extLst>
        </c:ser>
        <c:ser>
          <c:idx val="1"/>
          <c:order val="1"/>
          <c:tx>
            <c:strRef>
              <c:f>'KOTAK+HDFC+AXIS+ICICI (TE)'!$AB$2</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(TE)'!$Z$3:$Z$5</c:f>
              <c:strCache>
                <c:ptCount val="3"/>
                <c:pt idx="0">
                  <c:v>Interaction &amp; transaction at the branch</c:v>
                </c:pt>
                <c:pt idx="1">
                  <c:v>Mobile App</c:v>
                </c:pt>
                <c:pt idx="2">
                  <c:v>Internet Banking</c:v>
                </c:pt>
              </c:strCache>
            </c:strRef>
          </c:cat>
          <c:val>
            <c:numRef>
              <c:f>'KOTAK+HDFC+AXIS+ICICI (TE)'!$AB$3:$AB$5</c:f>
              <c:numCache>
                <c:formatCode>0%</c:formatCode>
                <c:ptCount val="3"/>
                <c:pt idx="0">
                  <c:v>0.61475409836065575</c:v>
                </c:pt>
                <c:pt idx="1">
                  <c:v>0.58730158730158732</c:v>
                </c:pt>
                <c:pt idx="2">
                  <c:v>0.55200000000000005</c:v>
                </c:pt>
              </c:numCache>
            </c:numRef>
          </c:val>
          <c:extLst>
            <c:ext xmlns:c16="http://schemas.microsoft.com/office/drawing/2014/chart" uri="{C3380CC4-5D6E-409C-BE32-E72D297353CC}">
              <c16:uniqueId val="{00000002-ACFA-48C7-9C57-75E685CA250A}"/>
            </c:ext>
          </c:extLst>
        </c:ser>
        <c:ser>
          <c:idx val="2"/>
          <c:order val="2"/>
          <c:tx>
            <c:strRef>
              <c:f>'KOTAK+HDFC+AXIS+ICICI (TE)'!$AC$2</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(TE)'!$Z$3:$Z$5</c:f>
              <c:strCache>
                <c:ptCount val="3"/>
                <c:pt idx="0">
                  <c:v>Interaction &amp; transaction at the branch</c:v>
                </c:pt>
                <c:pt idx="1">
                  <c:v>Mobile App</c:v>
                </c:pt>
                <c:pt idx="2">
                  <c:v>Internet Banking</c:v>
                </c:pt>
              </c:strCache>
            </c:strRef>
          </c:cat>
          <c:val>
            <c:numRef>
              <c:f>'KOTAK+HDFC+AXIS+ICICI (TE)'!$AC$3:$AC$5</c:f>
              <c:numCache>
                <c:formatCode>0%</c:formatCode>
                <c:ptCount val="3"/>
                <c:pt idx="0">
                  <c:v>0.12295081967213115</c:v>
                </c:pt>
                <c:pt idx="1">
                  <c:v>0.13492063492063491</c:v>
                </c:pt>
                <c:pt idx="2">
                  <c:v>0.112</c:v>
                </c:pt>
              </c:numCache>
            </c:numRef>
          </c:val>
          <c:extLst>
            <c:ext xmlns:c16="http://schemas.microsoft.com/office/drawing/2014/chart" uri="{C3380CC4-5D6E-409C-BE32-E72D297353CC}">
              <c16:uniqueId val="{00000003-ACFA-48C7-9C57-75E685CA250A}"/>
            </c:ext>
          </c:extLst>
        </c:ser>
        <c:ser>
          <c:idx val="3"/>
          <c:order val="3"/>
          <c:tx>
            <c:strRef>
              <c:f>'KOTAK+HDFC+AXIS+ICICI (TE)'!$AD$2</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(TE)'!$Z$3:$Z$5</c:f>
              <c:strCache>
                <c:ptCount val="3"/>
                <c:pt idx="0">
                  <c:v>Interaction &amp; transaction at the branch</c:v>
                </c:pt>
                <c:pt idx="1">
                  <c:v>Mobile App</c:v>
                </c:pt>
                <c:pt idx="2">
                  <c:v>Internet Banking</c:v>
                </c:pt>
              </c:strCache>
            </c:strRef>
          </c:cat>
          <c:val>
            <c:numRef>
              <c:f>'KOTAK+HDFC+AXIS+ICICI (TE)'!$AD$3:$AD$5</c:f>
              <c:numCache>
                <c:formatCode>0%</c:formatCode>
                <c:ptCount val="3"/>
                <c:pt idx="0">
                  <c:v>0.12295081967213115</c:v>
                </c:pt>
                <c:pt idx="1">
                  <c:v>0.25396825396825395</c:v>
                </c:pt>
                <c:pt idx="2">
                  <c:v>0.08</c:v>
                </c:pt>
              </c:numCache>
            </c:numRef>
          </c:val>
          <c:extLst>
            <c:ext xmlns:c16="http://schemas.microsoft.com/office/drawing/2014/chart" uri="{C3380CC4-5D6E-409C-BE32-E72D297353CC}">
              <c16:uniqueId val="{00000004-ACFA-48C7-9C57-75E685CA250A}"/>
            </c:ext>
          </c:extLst>
        </c:ser>
        <c:ser>
          <c:idx val="4"/>
          <c:order val="4"/>
          <c:tx>
            <c:strRef>
              <c:f>'KOTAK+HDFC+AXIS+ICICI (TE)'!$AE$2</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(TE)'!$Z$3:$Z$5</c:f>
              <c:strCache>
                <c:ptCount val="3"/>
                <c:pt idx="0">
                  <c:v>Interaction &amp; transaction at the branch</c:v>
                </c:pt>
                <c:pt idx="1">
                  <c:v>Mobile App</c:v>
                </c:pt>
                <c:pt idx="2">
                  <c:v>Internet Banking</c:v>
                </c:pt>
              </c:strCache>
            </c:strRef>
          </c:cat>
          <c:val>
            <c:numRef>
              <c:f>'KOTAK+HDFC+AXIS+ICICI (TE)'!$AE$3:$AE$5</c:f>
              <c:numCache>
                <c:formatCode>0%</c:formatCode>
                <c:ptCount val="3"/>
                <c:pt idx="0">
                  <c:v>0.10655737704918032</c:v>
                </c:pt>
                <c:pt idx="1">
                  <c:v>1.5873015873015872E-2</c:v>
                </c:pt>
                <c:pt idx="2">
                  <c:v>0.216</c:v>
                </c:pt>
              </c:numCache>
            </c:numRef>
          </c:val>
          <c:extLst>
            <c:ext xmlns:c16="http://schemas.microsoft.com/office/drawing/2014/chart" uri="{C3380CC4-5D6E-409C-BE32-E72D297353CC}">
              <c16:uniqueId val="{00000005-ACFA-48C7-9C57-75E685CA250A}"/>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11036835331675"/>
          <c:w val="0.86453099319235638"/>
          <c:h val="0.70627512991918462"/>
        </c:manualLayout>
      </c:layout>
      <c:barChart>
        <c:barDir val="col"/>
        <c:grouping val="percentStacked"/>
        <c:varyColors val="0"/>
        <c:ser>
          <c:idx val="0"/>
          <c:order val="0"/>
          <c:tx>
            <c:strRef>
              <c:f>'KOTAK+HDFC+AXIS+ICICI (TE)'!$AA$9</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(TE)'!$Z$10:$Z$12</c:f>
              <c:strCache>
                <c:ptCount val="3"/>
                <c:pt idx="0">
                  <c:v>Mobile App</c:v>
                </c:pt>
                <c:pt idx="1">
                  <c:v>Interaction &amp; transaction at the branch</c:v>
                </c:pt>
                <c:pt idx="2">
                  <c:v>Internet Banking</c:v>
                </c:pt>
              </c:strCache>
            </c:strRef>
          </c:cat>
          <c:val>
            <c:numRef>
              <c:f>'KOTAK+HDFC+AXIS+ICICI (TE)'!$AA$10:$AA$12</c:f>
              <c:numCache>
                <c:formatCode>0%</c:formatCode>
                <c:ptCount val="3"/>
                <c:pt idx="0">
                  <c:v>2.3622047244094488E-2</c:v>
                </c:pt>
                <c:pt idx="1">
                  <c:v>2.3622047244094488E-2</c:v>
                </c:pt>
                <c:pt idx="2">
                  <c:v>0</c:v>
                </c:pt>
              </c:numCache>
            </c:numRef>
          </c:val>
          <c:extLst>
            <c:ext xmlns:c16="http://schemas.microsoft.com/office/drawing/2014/chart" uri="{C3380CC4-5D6E-409C-BE32-E72D297353CC}">
              <c16:uniqueId val="{00000001-5A98-4B6E-94B4-EC4290F7D4C6}"/>
            </c:ext>
          </c:extLst>
        </c:ser>
        <c:ser>
          <c:idx val="1"/>
          <c:order val="1"/>
          <c:tx>
            <c:strRef>
              <c:f>'KOTAK+HDFC+AXIS+ICICI (TE)'!$AB$9</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(TE)'!$Z$10:$Z$12</c:f>
              <c:strCache>
                <c:ptCount val="3"/>
                <c:pt idx="0">
                  <c:v>Mobile App</c:v>
                </c:pt>
                <c:pt idx="1">
                  <c:v>Interaction &amp; transaction at the branch</c:v>
                </c:pt>
                <c:pt idx="2">
                  <c:v>Internet Banking</c:v>
                </c:pt>
              </c:strCache>
            </c:strRef>
          </c:cat>
          <c:val>
            <c:numRef>
              <c:f>'KOTAK+HDFC+AXIS+ICICI (TE)'!$AB$10:$AB$12</c:f>
              <c:numCache>
                <c:formatCode>0%</c:formatCode>
                <c:ptCount val="3"/>
                <c:pt idx="0">
                  <c:v>0.69291338582677164</c:v>
                </c:pt>
                <c:pt idx="1">
                  <c:v>0.64800000000000002</c:v>
                </c:pt>
                <c:pt idx="2">
                  <c:v>0.56692913385826771</c:v>
                </c:pt>
              </c:numCache>
            </c:numRef>
          </c:val>
          <c:extLst>
            <c:ext xmlns:c16="http://schemas.microsoft.com/office/drawing/2014/chart" uri="{C3380CC4-5D6E-409C-BE32-E72D297353CC}">
              <c16:uniqueId val="{00000002-5A98-4B6E-94B4-EC4290F7D4C6}"/>
            </c:ext>
          </c:extLst>
        </c:ser>
        <c:ser>
          <c:idx val="2"/>
          <c:order val="2"/>
          <c:tx>
            <c:strRef>
              <c:f>'KOTAK+HDFC+AXIS+ICICI (TE)'!$AC$9</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(TE)'!$Z$10:$Z$12</c:f>
              <c:strCache>
                <c:ptCount val="3"/>
                <c:pt idx="0">
                  <c:v>Mobile App</c:v>
                </c:pt>
                <c:pt idx="1">
                  <c:v>Interaction &amp; transaction at the branch</c:v>
                </c:pt>
                <c:pt idx="2">
                  <c:v>Internet Banking</c:v>
                </c:pt>
              </c:strCache>
            </c:strRef>
          </c:cat>
          <c:val>
            <c:numRef>
              <c:f>'KOTAK+HDFC+AXIS+ICICI (TE)'!$AC$10:$AC$12</c:f>
              <c:numCache>
                <c:formatCode>0%</c:formatCode>
                <c:ptCount val="3"/>
                <c:pt idx="0">
                  <c:v>0.17322834645669291</c:v>
                </c:pt>
                <c:pt idx="1">
                  <c:v>0.128</c:v>
                </c:pt>
                <c:pt idx="2">
                  <c:v>0.10236220472440945</c:v>
                </c:pt>
              </c:numCache>
            </c:numRef>
          </c:val>
          <c:extLst>
            <c:ext xmlns:c16="http://schemas.microsoft.com/office/drawing/2014/chart" uri="{C3380CC4-5D6E-409C-BE32-E72D297353CC}">
              <c16:uniqueId val="{00000003-5A98-4B6E-94B4-EC4290F7D4C6}"/>
            </c:ext>
          </c:extLst>
        </c:ser>
        <c:ser>
          <c:idx val="3"/>
          <c:order val="3"/>
          <c:tx>
            <c:strRef>
              <c:f>'KOTAK+HDFC+AXIS+ICICI (TE)'!$AD$9</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(TE)'!$Z$10:$Z$12</c:f>
              <c:strCache>
                <c:ptCount val="3"/>
                <c:pt idx="0">
                  <c:v>Mobile App</c:v>
                </c:pt>
                <c:pt idx="1">
                  <c:v>Interaction &amp; transaction at the branch</c:v>
                </c:pt>
                <c:pt idx="2">
                  <c:v>Internet Banking</c:v>
                </c:pt>
              </c:strCache>
            </c:strRef>
          </c:cat>
          <c:val>
            <c:numRef>
              <c:f>'KOTAK+HDFC+AXIS+ICICI (TE)'!$AD$10:$AD$12</c:f>
              <c:numCache>
                <c:formatCode>0%</c:formatCode>
                <c:ptCount val="3"/>
                <c:pt idx="0">
                  <c:v>4.7244094488188976E-2</c:v>
                </c:pt>
                <c:pt idx="1">
                  <c:v>5.6000000000000001E-2</c:v>
                </c:pt>
                <c:pt idx="2">
                  <c:v>9.4488188976377951E-2</c:v>
                </c:pt>
              </c:numCache>
            </c:numRef>
          </c:val>
          <c:extLst>
            <c:ext xmlns:c16="http://schemas.microsoft.com/office/drawing/2014/chart" uri="{C3380CC4-5D6E-409C-BE32-E72D297353CC}">
              <c16:uniqueId val="{00000004-5A98-4B6E-94B4-EC4290F7D4C6}"/>
            </c:ext>
          </c:extLst>
        </c:ser>
        <c:ser>
          <c:idx val="4"/>
          <c:order val="4"/>
          <c:tx>
            <c:strRef>
              <c:f>'KOTAK+HDFC+AXIS+ICICI (TE)'!$AE$9</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(TE)'!$Z$10:$Z$12</c:f>
              <c:strCache>
                <c:ptCount val="3"/>
                <c:pt idx="0">
                  <c:v>Mobile App</c:v>
                </c:pt>
                <c:pt idx="1">
                  <c:v>Interaction &amp; transaction at the branch</c:v>
                </c:pt>
                <c:pt idx="2">
                  <c:v>Internet Banking</c:v>
                </c:pt>
              </c:strCache>
            </c:strRef>
          </c:cat>
          <c:val>
            <c:numRef>
              <c:f>'KOTAK+HDFC+AXIS+ICICI (TE)'!$AE$10:$AE$12</c:f>
              <c:numCache>
                <c:formatCode>0%</c:formatCode>
                <c:ptCount val="3"/>
                <c:pt idx="0">
                  <c:v>6.2992125984251968E-2</c:v>
                </c:pt>
                <c:pt idx="1">
                  <c:v>0.14399999999999999</c:v>
                </c:pt>
                <c:pt idx="2">
                  <c:v>0.23622047244094488</c:v>
                </c:pt>
              </c:numCache>
            </c:numRef>
          </c:val>
          <c:extLst>
            <c:ext xmlns:c16="http://schemas.microsoft.com/office/drawing/2014/chart" uri="{C3380CC4-5D6E-409C-BE32-E72D297353CC}">
              <c16:uniqueId val="{00000005-5A98-4B6E-94B4-EC4290F7D4C6}"/>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externalData r:id="rId4">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0277050912846582"/>
          <c:w val="0.85541651531138108"/>
          <c:h val="0.72741338761570318"/>
        </c:manualLayout>
      </c:layout>
      <c:barChart>
        <c:barDir val="col"/>
        <c:grouping val="percentStacked"/>
        <c:varyColors val="0"/>
        <c:ser>
          <c:idx val="0"/>
          <c:order val="0"/>
          <c:tx>
            <c:strRef>
              <c:f>'KOTAK+HDFC+AXIS+ICICI (TE)'!$AA$16</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(TE)'!$AA$17:$AA$19</c:f>
              <c:numCache>
                <c:formatCode>0%</c:formatCode>
                <c:ptCount val="3"/>
                <c:pt idx="0">
                  <c:v>7.874015748031496E-3</c:v>
                </c:pt>
                <c:pt idx="1">
                  <c:v>2.4E-2</c:v>
                </c:pt>
                <c:pt idx="2">
                  <c:v>0</c:v>
                </c:pt>
              </c:numCache>
            </c:numRef>
          </c:val>
          <c:extLst>
            <c:ext xmlns:c16="http://schemas.microsoft.com/office/drawing/2014/chart" uri="{C3380CC4-5D6E-409C-BE32-E72D297353CC}">
              <c16:uniqueId val="{00000001-C634-47BA-A9AA-7C9952919975}"/>
            </c:ext>
          </c:extLst>
        </c:ser>
        <c:ser>
          <c:idx val="1"/>
          <c:order val="1"/>
          <c:tx>
            <c:strRef>
              <c:f>'KOTAK+HDFC+AXIS+ICICI (TE)'!$AB$16</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(TE)'!$AB$17:$AB$19</c:f>
              <c:numCache>
                <c:formatCode>0%</c:formatCode>
                <c:ptCount val="3"/>
                <c:pt idx="0">
                  <c:v>0.61417322834645671</c:v>
                </c:pt>
                <c:pt idx="1">
                  <c:v>0.46456692913385828</c:v>
                </c:pt>
                <c:pt idx="2">
                  <c:v>0.39370078740157483</c:v>
                </c:pt>
              </c:numCache>
            </c:numRef>
          </c:val>
          <c:extLst>
            <c:ext xmlns:c16="http://schemas.microsoft.com/office/drawing/2014/chart" uri="{C3380CC4-5D6E-409C-BE32-E72D297353CC}">
              <c16:uniqueId val="{00000002-C634-47BA-A9AA-7C9952919975}"/>
            </c:ext>
          </c:extLst>
        </c:ser>
        <c:ser>
          <c:idx val="2"/>
          <c:order val="2"/>
          <c:tx>
            <c:strRef>
              <c:f>'KOTAK+HDFC+AXIS+ICICI (TE)'!$AC$16</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(TE)'!$AC$17:$AC$19</c:f>
              <c:numCache>
                <c:formatCode>0%</c:formatCode>
                <c:ptCount val="3"/>
                <c:pt idx="0">
                  <c:v>0.12598425196850394</c:v>
                </c:pt>
                <c:pt idx="1">
                  <c:v>9.6000000000000002E-2</c:v>
                </c:pt>
                <c:pt idx="2">
                  <c:v>8.1967213114754092E-2</c:v>
                </c:pt>
              </c:numCache>
            </c:numRef>
          </c:val>
          <c:extLst>
            <c:ext xmlns:c16="http://schemas.microsoft.com/office/drawing/2014/chart" uri="{C3380CC4-5D6E-409C-BE32-E72D297353CC}">
              <c16:uniqueId val="{00000003-C634-47BA-A9AA-7C9952919975}"/>
            </c:ext>
          </c:extLst>
        </c:ser>
        <c:ser>
          <c:idx val="3"/>
          <c:order val="3"/>
          <c:tx>
            <c:strRef>
              <c:f>'KOTAK+HDFC+AXIS+ICICI (TE)'!$AD$16</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(TE)'!$AD$17:$AD$19</c:f>
              <c:numCache>
                <c:formatCode>0%</c:formatCode>
                <c:ptCount val="3"/>
                <c:pt idx="0">
                  <c:v>0.1889763779527559</c:v>
                </c:pt>
                <c:pt idx="1">
                  <c:v>0.20472440944881889</c:v>
                </c:pt>
                <c:pt idx="2">
                  <c:v>0.15748031496062992</c:v>
                </c:pt>
              </c:numCache>
            </c:numRef>
          </c:val>
          <c:extLst>
            <c:ext xmlns:c16="http://schemas.microsoft.com/office/drawing/2014/chart" uri="{C3380CC4-5D6E-409C-BE32-E72D297353CC}">
              <c16:uniqueId val="{00000004-C634-47BA-A9AA-7C9952919975}"/>
            </c:ext>
          </c:extLst>
        </c:ser>
        <c:ser>
          <c:idx val="4"/>
          <c:order val="4"/>
          <c:tx>
            <c:strRef>
              <c:f>'KOTAK+HDFC+AXIS+ICICI (TE)'!$AE$16</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(TE)'!$AE$17:$AE$19</c:f>
              <c:numCache>
                <c:formatCode>0%</c:formatCode>
                <c:ptCount val="3"/>
                <c:pt idx="0">
                  <c:v>6.2992125984251968E-2</c:v>
                </c:pt>
                <c:pt idx="1">
                  <c:v>0.19685039370078741</c:v>
                </c:pt>
                <c:pt idx="2">
                  <c:v>0.33070866141732286</c:v>
                </c:pt>
              </c:numCache>
            </c:numRef>
          </c:val>
          <c:extLst>
            <c:ext xmlns:c16="http://schemas.microsoft.com/office/drawing/2014/chart" uri="{C3380CC4-5D6E-409C-BE32-E72D297353CC}">
              <c16:uniqueId val="{00000005-C634-47BA-A9AA-7C9952919975}"/>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externalData r:id="rId4">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870239790138731"/>
          <c:y val="0.12203190309752739"/>
          <c:w val="0.87159218074194766"/>
          <c:h val="0.70390264685257198"/>
        </c:manualLayout>
      </c:layout>
      <c:barChart>
        <c:barDir val="col"/>
        <c:grouping val="percentStacked"/>
        <c:varyColors val="0"/>
        <c:ser>
          <c:idx val="0"/>
          <c:order val="0"/>
          <c:tx>
            <c:strRef>
              <c:f>'KOTAK+HDFC+AXIS+ICICI (TE)'!$AA$24</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(TE)'!$Z$25:$Z$27</c:f>
              <c:strCache>
                <c:ptCount val="3"/>
                <c:pt idx="0">
                  <c:v>Interaction &amp; transaction at the branch</c:v>
                </c:pt>
                <c:pt idx="1">
                  <c:v>Mobile App</c:v>
                </c:pt>
                <c:pt idx="2">
                  <c:v>Internet Banking</c:v>
                </c:pt>
              </c:strCache>
            </c:strRef>
          </c:cat>
          <c:val>
            <c:numRef>
              <c:f>'KOTAK+HDFC+AXIS+ICICI (TE)'!$AA$25:$AA$27</c:f>
              <c:numCache>
                <c:formatCode>0%</c:formatCode>
                <c:ptCount val="3"/>
                <c:pt idx="0">
                  <c:v>3.7037037037037035E-2</c:v>
                </c:pt>
                <c:pt idx="1">
                  <c:v>0</c:v>
                </c:pt>
                <c:pt idx="2">
                  <c:v>0</c:v>
                </c:pt>
              </c:numCache>
            </c:numRef>
          </c:val>
          <c:extLst>
            <c:ext xmlns:c16="http://schemas.microsoft.com/office/drawing/2014/chart" uri="{C3380CC4-5D6E-409C-BE32-E72D297353CC}">
              <c16:uniqueId val="{00000001-5A73-4C1E-A223-BD740EE19BEE}"/>
            </c:ext>
          </c:extLst>
        </c:ser>
        <c:ser>
          <c:idx val="1"/>
          <c:order val="1"/>
          <c:tx>
            <c:strRef>
              <c:f>'KOTAK+HDFC+AXIS+ICICI (TE)'!$AB$24</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(TE)'!$Z$25:$Z$27</c:f>
              <c:strCache>
                <c:ptCount val="3"/>
                <c:pt idx="0">
                  <c:v>Interaction &amp; transaction at the branch</c:v>
                </c:pt>
                <c:pt idx="1">
                  <c:v>Mobile App</c:v>
                </c:pt>
                <c:pt idx="2">
                  <c:v>Internet Banking</c:v>
                </c:pt>
              </c:strCache>
            </c:strRef>
          </c:cat>
          <c:val>
            <c:numRef>
              <c:f>'KOTAK+HDFC+AXIS+ICICI (TE)'!$AB$25:$AB$27</c:f>
              <c:numCache>
                <c:formatCode>0%</c:formatCode>
                <c:ptCount val="3"/>
                <c:pt idx="0">
                  <c:v>0.55555555555555558</c:v>
                </c:pt>
                <c:pt idx="1">
                  <c:v>0.51851851851851849</c:v>
                </c:pt>
                <c:pt idx="2">
                  <c:v>0.51851851851851849</c:v>
                </c:pt>
              </c:numCache>
            </c:numRef>
          </c:val>
          <c:extLst>
            <c:ext xmlns:c16="http://schemas.microsoft.com/office/drawing/2014/chart" uri="{C3380CC4-5D6E-409C-BE32-E72D297353CC}">
              <c16:uniqueId val="{00000002-5A73-4C1E-A223-BD740EE19BEE}"/>
            </c:ext>
          </c:extLst>
        </c:ser>
        <c:ser>
          <c:idx val="2"/>
          <c:order val="2"/>
          <c:tx>
            <c:strRef>
              <c:f>'KOTAK+HDFC+AXIS+ICICI (TE)'!$AC$24</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(TE)'!$Z$25:$Z$27</c:f>
              <c:strCache>
                <c:ptCount val="3"/>
                <c:pt idx="0">
                  <c:v>Interaction &amp; transaction at the branch</c:v>
                </c:pt>
                <c:pt idx="1">
                  <c:v>Mobile App</c:v>
                </c:pt>
                <c:pt idx="2">
                  <c:v>Internet Banking</c:v>
                </c:pt>
              </c:strCache>
            </c:strRef>
          </c:cat>
          <c:val>
            <c:numRef>
              <c:f>'KOTAK+HDFC+AXIS+ICICI (TE)'!$AC$25:$AC$27</c:f>
              <c:numCache>
                <c:formatCode>0%</c:formatCode>
                <c:ptCount val="3"/>
                <c:pt idx="0">
                  <c:v>0.14814814814814814</c:v>
                </c:pt>
                <c:pt idx="1">
                  <c:v>3.7037037037037035E-2</c:v>
                </c:pt>
                <c:pt idx="2">
                  <c:v>3.7037037037037035E-2</c:v>
                </c:pt>
              </c:numCache>
            </c:numRef>
          </c:val>
          <c:extLst>
            <c:ext xmlns:c16="http://schemas.microsoft.com/office/drawing/2014/chart" uri="{C3380CC4-5D6E-409C-BE32-E72D297353CC}">
              <c16:uniqueId val="{00000003-5A73-4C1E-A223-BD740EE19BEE}"/>
            </c:ext>
          </c:extLst>
        </c:ser>
        <c:ser>
          <c:idx val="3"/>
          <c:order val="3"/>
          <c:tx>
            <c:strRef>
              <c:f>'KOTAK+HDFC+AXIS+ICICI (TE)'!$AD$24</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(TE)'!$Z$25:$Z$27</c:f>
              <c:strCache>
                <c:ptCount val="3"/>
                <c:pt idx="0">
                  <c:v>Interaction &amp; transaction at the branch</c:v>
                </c:pt>
                <c:pt idx="1">
                  <c:v>Mobile App</c:v>
                </c:pt>
                <c:pt idx="2">
                  <c:v>Internet Banking</c:v>
                </c:pt>
              </c:strCache>
            </c:strRef>
          </c:cat>
          <c:val>
            <c:numRef>
              <c:f>'KOTAK+HDFC+AXIS+ICICI (TE)'!$AD$25:$AD$27</c:f>
              <c:numCache>
                <c:formatCode>0%</c:formatCode>
                <c:ptCount val="3"/>
                <c:pt idx="0">
                  <c:v>0.14814814814814814</c:v>
                </c:pt>
                <c:pt idx="1">
                  <c:v>0.18518518518518517</c:v>
                </c:pt>
                <c:pt idx="2">
                  <c:v>0.29629629629629628</c:v>
                </c:pt>
              </c:numCache>
            </c:numRef>
          </c:val>
          <c:extLst>
            <c:ext xmlns:c16="http://schemas.microsoft.com/office/drawing/2014/chart" uri="{C3380CC4-5D6E-409C-BE32-E72D297353CC}">
              <c16:uniqueId val="{00000004-5A73-4C1E-A223-BD740EE19BEE}"/>
            </c:ext>
          </c:extLst>
        </c:ser>
        <c:ser>
          <c:idx val="4"/>
          <c:order val="4"/>
          <c:tx>
            <c:strRef>
              <c:f>'KOTAK+HDFC+AXIS+ICICI (TE)'!$AE$24</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(TE)'!$Z$25:$Z$27</c:f>
              <c:strCache>
                <c:ptCount val="3"/>
                <c:pt idx="0">
                  <c:v>Interaction &amp; transaction at the branch</c:v>
                </c:pt>
                <c:pt idx="1">
                  <c:v>Mobile App</c:v>
                </c:pt>
                <c:pt idx="2">
                  <c:v>Internet Banking</c:v>
                </c:pt>
              </c:strCache>
            </c:strRef>
          </c:cat>
          <c:val>
            <c:numRef>
              <c:f>'KOTAK+HDFC+AXIS+ICICI (TE)'!$AE$25:$AE$27</c:f>
              <c:numCache>
                <c:formatCode>0%</c:formatCode>
                <c:ptCount val="3"/>
                <c:pt idx="0">
                  <c:v>0.1111111111111111</c:v>
                </c:pt>
                <c:pt idx="1">
                  <c:v>0.25925925925925924</c:v>
                </c:pt>
                <c:pt idx="2">
                  <c:v>0.1111111111111111</c:v>
                </c:pt>
              </c:numCache>
            </c:numRef>
          </c:val>
          <c:extLst>
            <c:ext xmlns:c16="http://schemas.microsoft.com/office/drawing/2014/chart" uri="{C3380CC4-5D6E-409C-BE32-E72D297353CC}">
              <c16:uniqueId val="{00000005-5A73-4C1E-A223-BD740EE19BEE}"/>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0277050912846582"/>
          <c:w val="0.85541651531138108"/>
          <c:h val="0.72741338761570318"/>
        </c:manualLayout>
      </c:layout>
      <c:barChart>
        <c:barDir val="col"/>
        <c:grouping val="percentStacked"/>
        <c:varyColors val="0"/>
        <c:ser>
          <c:idx val="0"/>
          <c:order val="0"/>
          <c:tx>
            <c:strRef>
              <c:f>'KOTAK+HDFC+AXIS+ICICI (TE)'!$AA$16</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anchor="ctr" anchorCtr="1"/>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(TE)'!$AA$17:$AA$19</c:f>
              <c:numCache>
                <c:formatCode>0%</c:formatCode>
                <c:ptCount val="3"/>
                <c:pt idx="0">
                  <c:v>7.874015748031496E-3</c:v>
                </c:pt>
                <c:pt idx="1">
                  <c:v>2.4E-2</c:v>
                </c:pt>
                <c:pt idx="2">
                  <c:v>0</c:v>
                </c:pt>
              </c:numCache>
            </c:numRef>
          </c:val>
          <c:extLst>
            <c:ext xmlns:c16="http://schemas.microsoft.com/office/drawing/2014/chart" uri="{C3380CC4-5D6E-409C-BE32-E72D297353CC}">
              <c16:uniqueId val="{00000001-C634-47BA-A9AA-7C9952919975}"/>
            </c:ext>
          </c:extLst>
        </c:ser>
        <c:ser>
          <c:idx val="1"/>
          <c:order val="1"/>
          <c:tx>
            <c:strRef>
              <c:f>'KOTAK+HDFC+AXIS+ICICI (TE)'!$AB$16</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(TE)'!$AB$17:$AB$19</c:f>
              <c:numCache>
                <c:formatCode>0%</c:formatCode>
                <c:ptCount val="3"/>
                <c:pt idx="0">
                  <c:v>0.61417322834645671</c:v>
                </c:pt>
                <c:pt idx="1">
                  <c:v>0.46456692913385828</c:v>
                </c:pt>
                <c:pt idx="2">
                  <c:v>0.39370078740157483</c:v>
                </c:pt>
              </c:numCache>
            </c:numRef>
          </c:val>
          <c:extLst>
            <c:ext xmlns:c16="http://schemas.microsoft.com/office/drawing/2014/chart" uri="{C3380CC4-5D6E-409C-BE32-E72D297353CC}">
              <c16:uniqueId val="{00000002-C634-47BA-A9AA-7C9952919975}"/>
            </c:ext>
          </c:extLst>
        </c:ser>
        <c:ser>
          <c:idx val="2"/>
          <c:order val="2"/>
          <c:tx>
            <c:strRef>
              <c:f>'KOTAK+HDFC+AXIS+ICICI (TE)'!$AC$16</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(TE)'!$AC$17:$AC$19</c:f>
              <c:numCache>
                <c:formatCode>0%</c:formatCode>
                <c:ptCount val="3"/>
                <c:pt idx="0">
                  <c:v>0.12598425196850394</c:v>
                </c:pt>
                <c:pt idx="1">
                  <c:v>9.6000000000000002E-2</c:v>
                </c:pt>
                <c:pt idx="2">
                  <c:v>8.1967213114754092E-2</c:v>
                </c:pt>
              </c:numCache>
            </c:numRef>
          </c:val>
          <c:extLst>
            <c:ext xmlns:c16="http://schemas.microsoft.com/office/drawing/2014/chart" uri="{C3380CC4-5D6E-409C-BE32-E72D297353CC}">
              <c16:uniqueId val="{00000003-C634-47BA-A9AA-7C9952919975}"/>
            </c:ext>
          </c:extLst>
        </c:ser>
        <c:ser>
          <c:idx val="3"/>
          <c:order val="3"/>
          <c:tx>
            <c:strRef>
              <c:f>'KOTAK+HDFC+AXIS+ICICI (TE)'!$AD$16</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(TE)'!$AD$17:$AD$19</c:f>
              <c:numCache>
                <c:formatCode>0%</c:formatCode>
                <c:ptCount val="3"/>
                <c:pt idx="0">
                  <c:v>0.1889763779527559</c:v>
                </c:pt>
                <c:pt idx="1">
                  <c:v>0.20472440944881889</c:v>
                </c:pt>
                <c:pt idx="2">
                  <c:v>0.15748031496062992</c:v>
                </c:pt>
              </c:numCache>
            </c:numRef>
          </c:val>
          <c:extLst>
            <c:ext xmlns:c16="http://schemas.microsoft.com/office/drawing/2014/chart" uri="{C3380CC4-5D6E-409C-BE32-E72D297353CC}">
              <c16:uniqueId val="{00000004-C634-47BA-A9AA-7C9952919975}"/>
            </c:ext>
          </c:extLst>
        </c:ser>
        <c:ser>
          <c:idx val="4"/>
          <c:order val="4"/>
          <c:tx>
            <c:strRef>
              <c:f>'KOTAK+HDFC+AXIS+ICICI (TE)'!$AE$16</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(TE)'!$Z$17:$Z$19</c:f>
              <c:strCache>
                <c:ptCount val="3"/>
                <c:pt idx="0">
                  <c:v>Mobile App</c:v>
                </c:pt>
                <c:pt idx="1">
                  <c:v>Interaction &amp; transaction at the branch</c:v>
                </c:pt>
                <c:pt idx="2">
                  <c:v>Internet Banking</c:v>
                </c:pt>
              </c:strCache>
            </c:strRef>
          </c:cat>
          <c:val>
            <c:numRef>
              <c:f>'KOTAK+HDFC+AXIS+ICICI (TE)'!$AE$17:$AE$19</c:f>
              <c:numCache>
                <c:formatCode>0%</c:formatCode>
                <c:ptCount val="3"/>
                <c:pt idx="0">
                  <c:v>6.2992125984251968E-2</c:v>
                </c:pt>
                <c:pt idx="1">
                  <c:v>0.19685039370078741</c:v>
                </c:pt>
                <c:pt idx="2">
                  <c:v>0.33070866141732286</c:v>
                </c:pt>
              </c:numCache>
            </c:numRef>
          </c:val>
          <c:extLst>
            <c:ext xmlns:c16="http://schemas.microsoft.com/office/drawing/2014/chart" uri="{C3380CC4-5D6E-409C-BE32-E72D297353CC}">
              <c16:uniqueId val="{00000005-C634-47BA-A9AA-7C9952919975}"/>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lgn="ctr">
        <a:defRPr lang="en-US" sz="1100" b="0" i="0" u="none" strike="noStrike" kern="1200" baseline="0">
          <a:solidFill>
            <a:schemeClr val="tx1"/>
          </a:solidFill>
          <a:latin typeface="Montserrat SemiBold" panose="00000700000000000000" pitchFamily="2" charset="0"/>
          <a:ea typeface="+mn-ea"/>
          <a:cs typeface="+mn-cs"/>
        </a:defRPr>
      </a:pPr>
      <a:endParaRPr lang="en-US"/>
    </a:p>
  </c:txPr>
  <c:externalData r:id="rId4">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5776851315243407E-2"/>
          <c:y val="4.0305535864383457E-2"/>
          <c:w val="0.90008974918234341"/>
          <c:h val="0.62190209569436816"/>
        </c:manualLayout>
      </c:layout>
      <c:barChart>
        <c:barDir val="col"/>
        <c:grouping val="percentStacked"/>
        <c:varyColors val="0"/>
        <c:ser>
          <c:idx val="0"/>
          <c:order val="0"/>
          <c:tx>
            <c:strRef>
              <c:f>'ONLY FEDERAL (2)'!$AT$21</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(2)'!$AS$22:$AS$26</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'ONLY FEDERAL (2)'!$AT$22:$AT$26</c:f>
              <c:numCache>
                <c:formatCode>0%</c:formatCode>
                <c:ptCount val="5"/>
                <c:pt idx="0">
                  <c:v>0.71794871794871795</c:v>
                </c:pt>
                <c:pt idx="1">
                  <c:v>0.55629139072847678</c:v>
                </c:pt>
                <c:pt idx="2">
                  <c:v>0.48684210526315791</c:v>
                </c:pt>
                <c:pt idx="3">
                  <c:v>0.45333333333333331</c:v>
                </c:pt>
                <c:pt idx="4">
                  <c:v>0.41558441558441561</c:v>
                </c:pt>
              </c:numCache>
            </c:numRef>
          </c:val>
          <c:extLst>
            <c:ext xmlns:c16="http://schemas.microsoft.com/office/drawing/2014/chart" uri="{C3380CC4-5D6E-409C-BE32-E72D297353CC}">
              <c16:uniqueId val="{00000001-A69C-4B9B-8452-97444B64F270}"/>
            </c:ext>
          </c:extLst>
        </c:ser>
        <c:ser>
          <c:idx val="1"/>
          <c:order val="1"/>
          <c:tx>
            <c:strRef>
              <c:f>'ONLY FEDERAL (2)'!$AU$21</c:f>
              <c:strCache>
                <c:ptCount val="1"/>
                <c:pt idx="0">
                  <c:v>KOTAK</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(2)'!$AS$22:$AS$26</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'ONLY FEDERAL (2)'!$AU$22:$AU$26</c:f>
              <c:numCache>
                <c:formatCode>0%</c:formatCode>
                <c:ptCount val="5"/>
                <c:pt idx="0">
                  <c:v>3.2051282051282048E-2</c:v>
                </c:pt>
                <c:pt idx="1">
                  <c:v>3.9735099337748346E-2</c:v>
                </c:pt>
                <c:pt idx="2">
                  <c:v>2.6315789473684209E-2</c:v>
                </c:pt>
                <c:pt idx="3">
                  <c:v>1.3333333333333334E-2</c:v>
                </c:pt>
                <c:pt idx="4">
                  <c:v>5.844155844155844E-2</c:v>
                </c:pt>
              </c:numCache>
            </c:numRef>
          </c:val>
          <c:extLst>
            <c:ext xmlns:c16="http://schemas.microsoft.com/office/drawing/2014/chart" uri="{C3380CC4-5D6E-409C-BE32-E72D297353CC}">
              <c16:uniqueId val="{00000002-A69C-4B9B-8452-97444B64F270}"/>
            </c:ext>
          </c:extLst>
        </c:ser>
        <c:ser>
          <c:idx val="2"/>
          <c:order val="2"/>
          <c:tx>
            <c:strRef>
              <c:f>'ONLY FEDERAL (2)'!$AV$21</c:f>
              <c:strCache>
                <c:ptCount val="1"/>
                <c:pt idx="0">
                  <c:v>HDFC</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(2)'!$AS$22:$AS$26</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'ONLY FEDERAL (2)'!$AV$22:$AV$26</c:f>
              <c:numCache>
                <c:formatCode>0%</c:formatCode>
                <c:ptCount val="5"/>
                <c:pt idx="0">
                  <c:v>8.3333333333333329E-2</c:v>
                </c:pt>
                <c:pt idx="1">
                  <c:v>7.2847682119205295E-2</c:v>
                </c:pt>
                <c:pt idx="2">
                  <c:v>0.15789473684210525</c:v>
                </c:pt>
                <c:pt idx="3">
                  <c:v>0.14666666666666667</c:v>
                </c:pt>
                <c:pt idx="4">
                  <c:v>5.844155844155844E-2</c:v>
                </c:pt>
              </c:numCache>
            </c:numRef>
          </c:val>
          <c:extLst>
            <c:ext xmlns:c16="http://schemas.microsoft.com/office/drawing/2014/chart" uri="{C3380CC4-5D6E-409C-BE32-E72D297353CC}">
              <c16:uniqueId val="{00000003-A69C-4B9B-8452-97444B64F270}"/>
            </c:ext>
          </c:extLst>
        </c:ser>
        <c:ser>
          <c:idx val="3"/>
          <c:order val="3"/>
          <c:tx>
            <c:strRef>
              <c:f>'ONLY FEDERAL (2)'!$AW$21</c:f>
              <c:strCache>
                <c:ptCount val="1"/>
                <c:pt idx="0">
                  <c:v>AXIS</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(2)'!$AS$22:$AS$26</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'ONLY FEDERAL (2)'!$AW$22:$AW$26</c:f>
              <c:numCache>
                <c:formatCode>0%</c:formatCode>
                <c:ptCount val="5"/>
                <c:pt idx="0">
                  <c:v>7.0512820512820512E-2</c:v>
                </c:pt>
                <c:pt idx="1">
                  <c:v>5.2980132450331126E-2</c:v>
                </c:pt>
                <c:pt idx="2">
                  <c:v>7.2368421052631582E-2</c:v>
                </c:pt>
                <c:pt idx="3">
                  <c:v>0.08</c:v>
                </c:pt>
                <c:pt idx="4">
                  <c:v>4.5454545454545456E-2</c:v>
                </c:pt>
              </c:numCache>
            </c:numRef>
          </c:val>
          <c:extLst>
            <c:ext xmlns:c16="http://schemas.microsoft.com/office/drawing/2014/chart" uri="{C3380CC4-5D6E-409C-BE32-E72D297353CC}">
              <c16:uniqueId val="{00000004-A69C-4B9B-8452-97444B64F270}"/>
            </c:ext>
          </c:extLst>
        </c:ser>
        <c:ser>
          <c:idx val="4"/>
          <c:order val="4"/>
          <c:tx>
            <c:strRef>
              <c:f>'ONLY FEDERAL (2)'!$AX$21</c:f>
              <c:strCache>
                <c:ptCount val="1"/>
                <c:pt idx="0">
                  <c:v>NOT EXPERIENCED</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(2)'!$AS$22:$AS$26</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'ONLY FEDERAL (2)'!$AX$22:$AX$26</c:f>
              <c:numCache>
                <c:formatCode>0%</c:formatCode>
                <c:ptCount val="5"/>
                <c:pt idx="0">
                  <c:v>9.6153846153846159E-2</c:v>
                </c:pt>
                <c:pt idx="1">
                  <c:v>0.27814569536423839</c:v>
                </c:pt>
                <c:pt idx="2">
                  <c:v>0.25657894736842107</c:v>
                </c:pt>
                <c:pt idx="3">
                  <c:v>0.30666666666666664</c:v>
                </c:pt>
                <c:pt idx="4">
                  <c:v>0.42207792207792205</c:v>
                </c:pt>
              </c:numCache>
            </c:numRef>
          </c:val>
          <c:extLst>
            <c:ext xmlns:c16="http://schemas.microsoft.com/office/drawing/2014/chart" uri="{C3380CC4-5D6E-409C-BE32-E72D297353CC}">
              <c16:uniqueId val="{00000005-A69C-4B9B-8452-97444B64F270}"/>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05529931942446E-2"/>
          <c:y val="5.1580358703552827E-2"/>
          <c:w val="0.89632791050894545"/>
          <c:h val="0.67864656284473357"/>
        </c:manualLayout>
      </c:layout>
      <c:barChart>
        <c:barDir val="col"/>
        <c:grouping val="percentStacked"/>
        <c:varyColors val="0"/>
        <c:ser>
          <c:idx val="0"/>
          <c:order val="0"/>
          <c:tx>
            <c:strRef>
              <c:f>'FED+KOTAK (2)'!$S$102</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(2)'!$R$103:$R$107</c:f>
              <c:strCache>
                <c:ptCount val="5"/>
                <c:pt idx="0">
                  <c:v>Account statements &amp; reports</c:v>
                </c:pt>
                <c:pt idx="1">
                  <c:v>Home banking services</c:v>
                </c:pt>
                <c:pt idx="2">
                  <c:v>Business banking services</c:v>
                </c:pt>
                <c:pt idx="3">
                  <c:v>Investment planning advice</c:v>
                </c:pt>
                <c:pt idx="4">
                  <c:v>Discount on retail banking services</c:v>
                </c:pt>
              </c:strCache>
            </c:strRef>
          </c:cat>
          <c:val>
            <c:numRef>
              <c:f>'FED+KOTAK (2)'!$S$103:$S$107</c:f>
              <c:numCache>
                <c:formatCode>0%</c:formatCode>
                <c:ptCount val="5"/>
                <c:pt idx="0">
                  <c:v>0.6</c:v>
                </c:pt>
                <c:pt idx="1">
                  <c:v>0.6</c:v>
                </c:pt>
                <c:pt idx="2">
                  <c:v>0.2</c:v>
                </c:pt>
                <c:pt idx="3">
                  <c:v>0</c:v>
                </c:pt>
                <c:pt idx="4">
                  <c:v>0</c:v>
                </c:pt>
              </c:numCache>
            </c:numRef>
          </c:val>
          <c:extLst>
            <c:ext xmlns:c16="http://schemas.microsoft.com/office/drawing/2014/chart" uri="{C3380CC4-5D6E-409C-BE32-E72D297353CC}">
              <c16:uniqueId val="{00000001-9574-4F83-B79C-F55E1D032A20}"/>
            </c:ext>
          </c:extLst>
        </c:ser>
        <c:ser>
          <c:idx val="1"/>
          <c:order val="1"/>
          <c:tx>
            <c:strRef>
              <c:f>'FED+KOTAK (2)'!$T$102</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(2)'!$R$103:$R$107</c:f>
              <c:strCache>
                <c:ptCount val="5"/>
                <c:pt idx="0">
                  <c:v>Account statements &amp; reports</c:v>
                </c:pt>
                <c:pt idx="1">
                  <c:v>Home banking services</c:v>
                </c:pt>
                <c:pt idx="2">
                  <c:v>Business banking services</c:v>
                </c:pt>
                <c:pt idx="3">
                  <c:v>Investment planning advice</c:v>
                </c:pt>
                <c:pt idx="4">
                  <c:v>Discount on retail banking services</c:v>
                </c:pt>
              </c:strCache>
            </c:strRef>
          </c:cat>
          <c:val>
            <c:numRef>
              <c:f>'FED+KOTAK (2)'!$T$103:$T$107</c:f>
              <c:numCache>
                <c:formatCode>0%</c:formatCode>
                <c:ptCount val="5"/>
                <c:pt idx="0">
                  <c:v>0.2</c:v>
                </c:pt>
                <c:pt idx="1">
                  <c:v>0</c:v>
                </c:pt>
                <c:pt idx="2">
                  <c:v>0.2</c:v>
                </c:pt>
                <c:pt idx="3">
                  <c:v>0</c:v>
                </c:pt>
                <c:pt idx="4">
                  <c:v>0.4</c:v>
                </c:pt>
              </c:numCache>
            </c:numRef>
          </c:val>
          <c:extLst>
            <c:ext xmlns:c16="http://schemas.microsoft.com/office/drawing/2014/chart" uri="{C3380CC4-5D6E-409C-BE32-E72D297353CC}">
              <c16:uniqueId val="{00000002-9574-4F83-B79C-F55E1D032A20}"/>
            </c:ext>
          </c:extLst>
        </c:ser>
        <c:ser>
          <c:idx val="2"/>
          <c:order val="2"/>
          <c:tx>
            <c:strRef>
              <c:f>'FED+KOTAK (2)'!$U$102</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(2)'!$R$103:$R$107</c:f>
              <c:strCache>
                <c:ptCount val="5"/>
                <c:pt idx="0">
                  <c:v>Account statements &amp; reports</c:v>
                </c:pt>
                <c:pt idx="1">
                  <c:v>Home banking services</c:v>
                </c:pt>
                <c:pt idx="2">
                  <c:v>Business banking services</c:v>
                </c:pt>
                <c:pt idx="3">
                  <c:v>Investment planning advice</c:v>
                </c:pt>
                <c:pt idx="4">
                  <c:v>Discount on retail banking services</c:v>
                </c:pt>
              </c:strCache>
            </c:strRef>
          </c:cat>
          <c:val>
            <c:numRef>
              <c:f>'FED+KOTAK (2)'!$U$103:$U$107</c:f>
              <c:numCache>
                <c:formatCode>0%</c:formatCode>
                <c:ptCount val="5"/>
                <c:pt idx="0">
                  <c:v>0.2</c:v>
                </c:pt>
                <c:pt idx="1">
                  <c:v>0.2</c:v>
                </c:pt>
                <c:pt idx="2">
                  <c:v>0.2</c:v>
                </c:pt>
                <c:pt idx="3">
                  <c:v>0.2</c:v>
                </c:pt>
                <c:pt idx="4">
                  <c:v>0</c:v>
                </c:pt>
              </c:numCache>
            </c:numRef>
          </c:val>
          <c:extLst>
            <c:ext xmlns:c16="http://schemas.microsoft.com/office/drawing/2014/chart" uri="{C3380CC4-5D6E-409C-BE32-E72D297353CC}">
              <c16:uniqueId val="{00000003-9574-4F83-B79C-F55E1D032A20}"/>
            </c:ext>
          </c:extLst>
        </c:ser>
        <c:ser>
          <c:idx val="3"/>
          <c:order val="3"/>
          <c:tx>
            <c:strRef>
              <c:f>'FED+KOTAK (2)'!$V$102</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(2)'!$R$103:$R$107</c:f>
              <c:strCache>
                <c:ptCount val="5"/>
                <c:pt idx="0">
                  <c:v>Account statements &amp; reports</c:v>
                </c:pt>
                <c:pt idx="1">
                  <c:v>Home banking services</c:v>
                </c:pt>
                <c:pt idx="2">
                  <c:v>Business banking services</c:v>
                </c:pt>
                <c:pt idx="3">
                  <c:v>Investment planning advice</c:v>
                </c:pt>
                <c:pt idx="4">
                  <c:v>Discount on retail banking services</c:v>
                </c:pt>
              </c:strCache>
            </c:strRef>
          </c:cat>
          <c:val>
            <c:numRef>
              <c:f>'FED+KOTAK (2)'!$V$103:$V$107</c:f>
              <c:numCache>
                <c:formatCode>0%</c:formatCode>
                <c:ptCount val="5"/>
                <c:pt idx="0">
                  <c:v>0</c:v>
                </c:pt>
                <c:pt idx="1">
                  <c:v>0.2</c:v>
                </c:pt>
                <c:pt idx="2">
                  <c:v>0</c:v>
                </c:pt>
                <c:pt idx="3">
                  <c:v>0.2</c:v>
                </c:pt>
                <c:pt idx="4">
                  <c:v>0.2</c:v>
                </c:pt>
              </c:numCache>
            </c:numRef>
          </c:val>
          <c:extLst>
            <c:ext xmlns:c16="http://schemas.microsoft.com/office/drawing/2014/chart" uri="{C3380CC4-5D6E-409C-BE32-E72D297353CC}">
              <c16:uniqueId val="{00000004-9574-4F83-B79C-F55E1D032A20}"/>
            </c:ext>
          </c:extLst>
        </c:ser>
        <c:ser>
          <c:idx val="4"/>
          <c:order val="4"/>
          <c:tx>
            <c:strRef>
              <c:f>'FED+KOTAK (2)'!$W$102</c:f>
              <c:strCache>
                <c:ptCount val="1"/>
                <c:pt idx="0">
                  <c:v>I have not experienced this</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(2)'!$R$103:$R$107</c:f>
              <c:strCache>
                <c:ptCount val="5"/>
                <c:pt idx="0">
                  <c:v>Account statements &amp; reports</c:v>
                </c:pt>
                <c:pt idx="1">
                  <c:v>Home banking services</c:v>
                </c:pt>
                <c:pt idx="2">
                  <c:v>Business banking services</c:v>
                </c:pt>
                <c:pt idx="3">
                  <c:v>Investment planning advice</c:v>
                </c:pt>
                <c:pt idx="4">
                  <c:v>Discount on retail banking services</c:v>
                </c:pt>
              </c:strCache>
            </c:strRef>
          </c:cat>
          <c:val>
            <c:numRef>
              <c:f>'FED+KOTAK (2)'!$W$103:$W$107</c:f>
              <c:numCache>
                <c:formatCode>0%</c:formatCode>
                <c:ptCount val="5"/>
                <c:pt idx="0">
                  <c:v>0</c:v>
                </c:pt>
                <c:pt idx="1">
                  <c:v>0</c:v>
                </c:pt>
                <c:pt idx="2">
                  <c:v>0.4</c:v>
                </c:pt>
                <c:pt idx="3">
                  <c:v>0.6</c:v>
                </c:pt>
                <c:pt idx="4">
                  <c:v>0.4</c:v>
                </c:pt>
              </c:numCache>
            </c:numRef>
          </c:val>
          <c:extLst>
            <c:ext xmlns:c16="http://schemas.microsoft.com/office/drawing/2014/chart" uri="{C3380CC4-5D6E-409C-BE32-E72D297353CC}">
              <c16:uniqueId val="{00000005-9574-4F83-B79C-F55E1D032A20}"/>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595177381335937"/>
          <c:y val="6.3793888493078654E-2"/>
          <c:w val="0.89114740634919842"/>
          <c:h val="0.66628361464702157"/>
        </c:manualLayout>
      </c:layout>
      <c:barChart>
        <c:barDir val="col"/>
        <c:grouping val="percentStacked"/>
        <c:varyColors val="0"/>
        <c:ser>
          <c:idx val="0"/>
          <c:order val="0"/>
          <c:tx>
            <c:strRef>
              <c:f>'FED+AXIS (2)'!$R$72</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(2)'!$Q$73:$Q$77</c:f>
              <c:strCache>
                <c:ptCount val="5"/>
                <c:pt idx="0">
                  <c:v>Home banking services</c:v>
                </c:pt>
                <c:pt idx="1">
                  <c:v>Account statements &amp; reports</c:v>
                </c:pt>
                <c:pt idx="2">
                  <c:v>Discount on retail banking services</c:v>
                </c:pt>
                <c:pt idx="3">
                  <c:v>Business banking services</c:v>
                </c:pt>
                <c:pt idx="4">
                  <c:v>Investment planning advice</c:v>
                </c:pt>
              </c:strCache>
            </c:strRef>
          </c:cat>
          <c:val>
            <c:numRef>
              <c:f>'FED+AXIS (2)'!$R$73:$R$77</c:f>
              <c:numCache>
                <c:formatCode>0%</c:formatCode>
                <c:ptCount val="5"/>
                <c:pt idx="0">
                  <c:v>0.625</c:v>
                </c:pt>
                <c:pt idx="1">
                  <c:v>0.5625</c:v>
                </c:pt>
                <c:pt idx="2">
                  <c:v>0.375</c:v>
                </c:pt>
                <c:pt idx="3">
                  <c:v>0.3125</c:v>
                </c:pt>
                <c:pt idx="4">
                  <c:v>0.25</c:v>
                </c:pt>
              </c:numCache>
            </c:numRef>
          </c:val>
          <c:extLst>
            <c:ext xmlns:c16="http://schemas.microsoft.com/office/drawing/2014/chart" uri="{C3380CC4-5D6E-409C-BE32-E72D297353CC}">
              <c16:uniqueId val="{00000001-D756-4622-8538-DEF231F59BF4}"/>
            </c:ext>
          </c:extLst>
        </c:ser>
        <c:ser>
          <c:idx val="1"/>
          <c:order val="1"/>
          <c:tx>
            <c:strRef>
              <c:f>'FED+AXIS (2)'!$S$72</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(2)'!$Q$73:$Q$77</c:f>
              <c:strCache>
                <c:ptCount val="5"/>
                <c:pt idx="0">
                  <c:v>Home banking services</c:v>
                </c:pt>
                <c:pt idx="1">
                  <c:v>Account statements &amp; reports</c:v>
                </c:pt>
                <c:pt idx="2">
                  <c:v>Discount on retail banking services</c:v>
                </c:pt>
                <c:pt idx="3">
                  <c:v>Business banking services</c:v>
                </c:pt>
                <c:pt idx="4">
                  <c:v>Investment planning advice</c:v>
                </c:pt>
              </c:strCache>
            </c:strRef>
          </c:cat>
          <c:val>
            <c:numRef>
              <c:f>'FED+AXIS (2)'!$S$73:$S$77</c:f>
              <c:numCache>
                <c:formatCode>0%</c:formatCode>
                <c:ptCount val="5"/>
                <c:pt idx="0">
                  <c:v>6.25E-2</c:v>
                </c:pt>
                <c:pt idx="1">
                  <c:v>0.125</c:v>
                </c:pt>
                <c:pt idx="2">
                  <c:v>0.1875</c:v>
                </c:pt>
                <c:pt idx="3">
                  <c:v>0</c:v>
                </c:pt>
                <c:pt idx="4">
                  <c:v>0.1875</c:v>
                </c:pt>
              </c:numCache>
            </c:numRef>
          </c:val>
          <c:extLst>
            <c:ext xmlns:c16="http://schemas.microsoft.com/office/drawing/2014/chart" uri="{C3380CC4-5D6E-409C-BE32-E72D297353CC}">
              <c16:uniqueId val="{00000002-D756-4622-8538-DEF231F59BF4}"/>
            </c:ext>
          </c:extLst>
        </c:ser>
        <c:ser>
          <c:idx val="2"/>
          <c:order val="2"/>
          <c:tx>
            <c:strRef>
              <c:f>'FED+AXIS (2)'!$T$72</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(2)'!$Q$73:$Q$77</c:f>
              <c:strCache>
                <c:ptCount val="5"/>
                <c:pt idx="0">
                  <c:v>Home banking services</c:v>
                </c:pt>
                <c:pt idx="1">
                  <c:v>Account statements &amp; reports</c:v>
                </c:pt>
                <c:pt idx="2">
                  <c:v>Discount on retail banking services</c:v>
                </c:pt>
                <c:pt idx="3">
                  <c:v>Business banking services</c:v>
                </c:pt>
                <c:pt idx="4">
                  <c:v>Investment planning advice</c:v>
                </c:pt>
              </c:strCache>
            </c:strRef>
          </c:cat>
          <c:val>
            <c:numRef>
              <c:f>'FED+AXIS (2)'!$T$73:$T$77</c:f>
              <c:numCache>
                <c:formatCode>0%</c:formatCode>
                <c:ptCount val="5"/>
                <c:pt idx="0">
                  <c:v>0</c:v>
                </c:pt>
                <c:pt idx="1">
                  <c:v>0</c:v>
                </c:pt>
                <c:pt idx="2">
                  <c:v>0</c:v>
                </c:pt>
                <c:pt idx="3">
                  <c:v>6.25E-2</c:v>
                </c:pt>
                <c:pt idx="4">
                  <c:v>0</c:v>
                </c:pt>
              </c:numCache>
            </c:numRef>
          </c:val>
          <c:extLst>
            <c:ext xmlns:c16="http://schemas.microsoft.com/office/drawing/2014/chart" uri="{C3380CC4-5D6E-409C-BE32-E72D297353CC}">
              <c16:uniqueId val="{00000003-D756-4622-8538-DEF231F59BF4}"/>
            </c:ext>
          </c:extLst>
        </c:ser>
        <c:ser>
          <c:idx val="3"/>
          <c:order val="3"/>
          <c:tx>
            <c:strRef>
              <c:f>'FED+AXIS (2)'!$U$72</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(2)'!$Q$73:$Q$77</c:f>
              <c:strCache>
                <c:ptCount val="5"/>
                <c:pt idx="0">
                  <c:v>Home banking services</c:v>
                </c:pt>
                <c:pt idx="1">
                  <c:v>Account statements &amp; reports</c:v>
                </c:pt>
                <c:pt idx="2">
                  <c:v>Discount on retail banking services</c:v>
                </c:pt>
                <c:pt idx="3">
                  <c:v>Business banking services</c:v>
                </c:pt>
                <c:pt idx="4">
                  <c:v>Investment planning advice</c:v>
                </c:pt>
              </c:strCache>
            </c:strRef>
          </c:cat>
          <c:val>
            <c:numRef>
              <c:f>'FED+AXIS (2)'!$U$73:$U$77</c:f>
              <c:numCache>
                <c:formatCode>0%</c:formatCode>
                <c:ptCount val="5"/>
                <c:pt idx="0">
                  <c:v>0.125</c:v>
                </c:pt>
                <c:pt idx="1">
                  <c:v>0.1875</c:v>
                </c:pt>
                <c:pt idx="2">
                  <c:v>6.25E-2</c:v>
                </c:pt>
                <c:pt idx="3">
                  <c:v>0.125</c:v>
                </c:pt>
                <c:pt idx="4">
                  <c:v>0.125</c:v>
                </c:pt>
              </c:numCache>
            </c:numRef>
          </c:val>
          <c:extLst>
            <c:ext xmlns:c16="http://schemas.microsoft.com/office/drawing/2014/chart" uri="{C3380CC4-5D6E-409C-BE32-E72D297353CC}">
              <c16:uniqueId val="{00000004-D756-4622-8538-DEF231F59BF4}"/>
            </c:ext>
          </c:extLst>
        </c:ser>
        <c:ser>
          <c:idx val="4"/>
          <c:order val="4"/>
          <c:tx>
            <c:strRef>
              <c:f>'FED+AXIS (2)'!$V$72</c:f>
              <c:strCache>
                <c:ptCount val="1"/>
                <c:pt idx="0">
                  <c:v>I have not experienced this</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(2)'!$Q$73:$Q$77</c:f>
              <c:strCache>
                <c:ptCount val="5"/>
                <c:pt idx="0">
                  <c:v>Home banking services</c:v>
                </c:pt>
                <c:pt idx="1">
                  <c:v>Account statements &amp; reports</c:v>
                </c:pt>
                <c:pt idx="2">
                  <c:v>Discount on retail banking services</c:v>
                </c:pt>
                <c:pt idx="3">
                  <c:v>Business banking services</c:v>
                </c:pt>
                <c:pt idx="4">
                  <c:v>Investment planning advice</c:v>
                </c:pt>
              </c:strCache>
            </c:strRef>
          </c:cat>
          <c:val>
            <c:numRef>
              <c:f>'FED+AXIS (2)'!$V$73:$V$77</c:f>
              <c:numCache>
                <c:formatCode>0%</c:formatCode>
                <c:ptCount val="5"/>
                <c:pt idx="0">
                  <c:v>0.1875</c:v>
                </c:pt>
                <c:pt idx="1">
                  <c:v>0.125</c:v>
                </c:pt>
                <c:pt idx="2">
                  <c:v>0.375</c:v>
                </c:pt>
                <c:pt idx="3">
                  <c:v>0.5</c:v>
                </c:pt>
                <c:pt idx="4">
                  <c:v>0.4375</c:v>
                </c:pt>
              </c:numCache>
            </c:numRef>
          </c:val>
          <c:extLst>
            <c:ext xmlns:c16="http://schemas.microsoft.com/office/drawing/2014/chart" uri="{C3380CC4-5D6E-409C-BE32-E72D297353CC}">
              <c16:uniqueId val="{00000005-D756-4622-8538-DEF231F59BF4}"/>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2.7016405435251512E-2"/>
          <c:w val="0.89165360533455729"/>
          <c:h val="0.72159762776652381"/>
        </c:manualLayout>
      </c:layout>
      <c:barChart>
        <c:barDir val="col"/>
        <c:grouping val="percentStacked"/>
        <c:varyColors val="0"/>
        <c:ser>
          <c:idx val="0"/>
          <c:order val="0"/>
          <c:tx>
            <c:strRef>
              <c:f>'FED+HDFC (2)'!$S$99</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(2)'!$R$100:$R$104</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'FED+HDFC (2)'!$S$100:$S$104</c:f>
              <c:numCache>
                <c:formatCode>0%</c:formatCode>
                <c:ptCount val="5"/>
                <c:pt idx="0">
                  <c:v>0.61290322580645162</c:v>
                </c:pt>
                <c:pt idx="1">
                  <c:v>0.5161290322580645</c:v>
                </c:pt>
                <c:pt idx="2">
                  <c:v>0.29032258064516131</c:v>
                </c:pt>
                <c:pt idx="3">
                  <c:v>0.29032258064516131</c:v>
                </c:pt>
                <c:pt idx="4">
                  <c:v>0.25806451612903225</c:v>
                </c:pt>
              </c:numCache>
            </c:numRef>
          </c:val>
          <c:extLst>
            <c:ext xmlns:c16="http://schemas.microsoft.com/office/drawing/2014/chart" uri="{C3380CC4-5D6E-409C-BE32-E72D297353CC}">
              <c16:uniqueId val="{00000001-6B3A-445D-BDD6-663FED6A73B7}"/>
            </c:ext>
          </c:extLst>
        </c:ser>
        <c:ser>
          <c:idx val="1"/>
          <c:order val="1"/>
          <c:tx>
            <c:strRef>
              <c:f>'FED+HDFC (2)'!$T$99</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(2)'!$R$100:$R$104</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'FED+HDFC (2)'!$T$100:$T$104</c:f>
              <c:numCache>
                <c:formatCode>0%</c:formatCode>
                <c:ptCount val="5"/>
                <c:pt idx="0">
                  <c:v>0.25806451612903225</c:v>
                </c:pt>
                <c:pt idx="1">
                  <c:v>0.12903225806451613</c:v>
                </c:pt>
                <c:pt idx="2">
                  <c:v>0.32258064516129031</c:v>
                </c:pt>
                <c:pt idx="3">
                  <c:v>0.22580645161290322</c:v>
                </c:pt>
                <c:pt idx="4">
                  <c:v>9.6774193548387094E-2</c:v>
                </c:pt>
              </c:numCache>
            </c:numRef>
          </c:val>
          <c:extLst>
            <c:ext xmlns:c16="http://schemas.microsoft.com/office/drawing/2014/chart" uri="{C3380CC4-5D6E-409C-BE32-E72D297353CC}">
              <c16:uniqueId val="{00000002-6B3A-445D-BDD6-663FED6A73B7}"/>
            </c:ext>
          </c:extLst>
        </c:ser>
        <c:ser>
          <c:idx val="2"/>
          <c:order val="2"/>
          <c:tx>
            <c:strRef>
              <c:f>'FED+HDFC (2)'!$U$99</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(2)'!$R$100:$R$104</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'FED+HDFC (2)'!$U$100:$U$104</c:f>
              <c:numCache>
                <c:formatCode>0%</c:formatCode>
                <c:ptCount val="5"/>
                <c:pt idx="0">
                  <c:v>0</c:v>
                </c:pt>
                <c:pt idx="1">
                  <c:v>0</c:v>
                </c:pt>
                <c:pt idx="2">
                  <c:v>0</c:v>
                </c:pt>
                <c:pt idx="3">
                  <c:v>3.2258064516129031E-2</c:v>
                </c:pt>
                <c:pt idx="4">
                  <c:v>3.2258064516129031E-2</c:v>
                </c:pt>
              </c:numCache>
            </c:numRef>
          </c:val>
          <c:extLst>
            <c:ext xmlns:c16="http://schemas.microsoft.com/office/drawing/2014/chart" uri="{C3380CC4-5D6E-409C-BE32-E72D297353CC}">
              <c16:uniqueId val="{00000003-6B3A-445D-BDD6-663FED6A73B7}"/>
            </c:ext>
          </c:extLst>
        </c:ser>
        <c:ser>
          <c:idx val="3"/>
          <c:order val="3"/>
          <c:tx>
            <c:strRef>
              <c:f>'FED+HDFC (2)'!$V$99</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(2)'!$R$100:$R$104</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'FED+HDFC (2)'!$V$100:$V$104</c:f>
              <c:numCache>
                <c:formatCode>0%</c:formatCode>
                <c:ptCount val="5"/>
                <c:pt idx="0">
                  <c:v>6.4516129032258063E-2</c:v>
                </c:pt>
                <c:pt idx="1">
                  <c:v>0</c:v>
                </c:pt>
                <c:pt idx="2">
                  <c:v>6.4516129032258063E-2</c:v>
                </c:pt>
                <c:pt idx="3">
                  <c:v>6.4516129032258063E-2</c:v>
                </c:pt>
                <c:pt idx="4">
                  <c:v>0</c:v>
                </c:pt>
              </c:numCache>
            </c:numRef>
          </c:val>
          <c:extLst>
            <c:ext xmlns:c16="http://schemas.microsoft.com/office/drawing/2014/chart" uri="{C3380CC4-5D6E-409C-BE32-E72D297353CC}">
              <c16:uniqueId val="{00000004-6B3A-445D-BDD6-663FED6A73B7}"/>
            </c:ext>
          </c:extLst>
        </c:ser>
        <c:ser>
          <c:idx val="4"/>
          <c:order val="4"/>
          <c:tx>
            <c:strRef>
              <c:f>'FED+HDFC (2)'!$W$99</c:f>
              <c:strCache>
                <c:ptCount val="1"/>
                <c:pt idx="0">
                  <c:v>NOT EXPERIENCED</c:v>
                </c:pt>
              </c:strCache>
            </c:strRef>
          </c:tx>
          <c:spPr>
            <a:solidFill>
              <a:srgbClr val="F7B4AE"/>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(2)'!$R$100:$R$104</c:f>
              <c:strCache>
                <c:ptCount val="5"/>
                <c:pt idx="0">
                  <c:v>Account statements &amp; reports</c:v>
                </c:pt>
                <c:pt idx="1">
                  <c:v>Home banking services</c:v>
                </c:pt>
                <c:pt idx="2">
                  <c:v>Investment planning advice</c:v>
                </c:pt>
                <c:pt idx="3">
                  <c:v>Discount on retail banking services</c:v>
                </c:pt>
                <c:pt idx="4">
                  <c:v>Business banking services</c:v>
                </c:pt>
              </c:strCache>
            </c:strRef>
          </c:cat>
          <c:val>
            <c:numRef>
              <c:f>'FED+HDFC (2)'!$W$100:$W$104</c:f>
              <c:numCache>
                <c:formatCode>0%</c:formatCode>
                <c:ptCount val="5"/>
                <c:pt idx="0">
                  <c:v>6.4516129032258063E-2</c:v>
                </c:pt>
                <c:pt idx="1">
                  <c:v>0.35483870967741937</c:v>
                </c:pt>
                <c:pt idx="2">
                  <c:v>0.32258064516129031</c:v>
                </c:pt>
                <c:pt idx="3">
                  <c:v>0.38709677419354838</c:v>
                </c:pt>
                <c:pt idx="4">
                  <c:v>0.61290322580645162</c:v>
                </c:pt>
              </c:numCache>
            </c:numRef>
          </c:val>
          <c:extLst>
            <c:ext xmlns:c16="http://schemas.microsoft.com/office/drawing/2014/chart" uri="{C3380CC4-5D6E-409C-BE32-E72D297353CC}">
              <c16:uniqueId val="{00000005-6B3A-445D-BDD6-663FED6A73B7}"/>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86744961544991517"/>
          <c:h val="0.4416030035264325"/>
        </c:manualLayout>
      </c:layout>
      <c:barChart>
        <c:barDir val="col"/>
        <c:grouping val="percentStacked"/>
        <c:varyColors val="0"/>
        <c:ser>
          <c:idx val="0"/>
          <c:order val="0"/>
          <c:tx>
            <c:strRef>
              <c:f>'KOTAK+HDFC+AXIS+ICICI (PB)'!$AG$3</c:f>
              <c:strCache>
                <c:ptCount val="1"/>
                <c:pt idx="0">
                  <c:v>FEDERAL</c:v>
                </c:pt>
              </c:strCache>
            </c:strRef>
          </c:tx>
          <c:spPr>
            <a:solidFill>
              <a:srgbClr val="F7A800"/>
            </a:solidFill>
            <a:ln>
              <a:noFill/>
            </a:ln>
            <a:effectLst/>
          </c:spPr>
          <c:invertIfNegative val="0"/>
          <c:dLbls>
            <c:dLbl>
              <c:idx val="4"/>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0-CD90-4824-93A1-F426AE8828FB}"/>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(PB)'!$AF$4:$AF$8</c:f>
              <c:strCache>
                <c:ptCount val="5"/>
                <c:pt idx="0">
                  <c:v>Discount on retail banking services</c:v>
                </c:pt>
                <c:pt idx="1">
                  <c:v>Business banking services</c:v>
                </c:pt>
                <c:pt idx="2">
                  <c:v>Account statements &amp; reports</c:v>
                </c:pt>
                <c:pt idx="3">
                  <c:v>Investment planning advice</c:v>
                </c:pt>
                <c:pt idx="4">
                  <c:v>Home banking services</c:v>
                </c:pt>
              </c:strCache>
            </c:strRef>
          </c:cat>
          <c:val>
            <c:numRef>
              <c:f>'KOTAK+HDFC+AXIS+ICICI (PB)'!$AG$4:$AG$8</c:f>
              <c:numCache>
                <c:formatCode>0%</c:formatCode>
                <c:ptCount val="5"/>
                <c:pt idx="0">
                  <c:v>2.4E-2</c:v>
                </c:pt>
                <c:pt idx="1">
                  <c:v>2.4590163934426229E-2</c:v>
                </c:pt>
                <c:pt idx="2">
                  <c:v>2.4E-2</c:v>
                </c:pt>
                <c:pt idx="3">
                  <c:v>8.0645161290322578E-3</c:v>
                </c:pt>
                <c:pt idx="4">
                  <c:v>1.6E-2</c:v>
                </c:pt>
              </c:numCache>
            </c:numRef>
          </c:val>
          <c:extLst>
            <c:ext xmlns:c16="http://schemas.microsoft.com/office/drawing/2014/chart" uri="{C3380CC4-5D6E-409C-BE32-E72D297353CC}">
              <c16:uniqueId val="{00000001-CD90-4824-93A1-F426AE8828FB}"/>
            </c:ext>
          </c:extLst>
        </c:ser>
        <c:ser>
          <c:idx val="1"/>
          <c:order val="1"/>
          <c:tx>
            <c:strRef>
              <c:f>'KOTAK+HDFC+AXIS+ICICI (PB)'!$AH$3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(PB)'!$AF$4:$AF$8</c:f>
              <c:strCache>
                <c:ptCount val="5"/>
                <c:pt idx="0">
                  <c:v>Discount on retail banking services</c:v>
                </c:pt>
                <c:pt idx="1">
                  <c:v>Business banking services</c:v>
                </c:pt>
                <c:pt idx="2">
                  <c:v>Account statements &amp; reports</c:v>
                </c:pt>
                <c:pt idx="3">
                  <c:v>Investment planning advice</c:v>
                </c:pt>
                <c:pt idx="4">
                  <c:v>Home banking services</c:v>
                </c:pt>
              </c:strCache>
            </c:strRef>
          </c:cat>
          <c:val>
            <c:numRef>
              <c:f>'KOTAK+HDFC+AXIS+ICICI (PB)'!$AH$4:$AH$8</c:f>
              <c:numCache>
                <c:formatCode>0%</c:formatCode>
                <c:ptCount val="5"/>
                <c:pt idx="0">
                  <c:v>0.61599999999999999</c:v>
                </c:pt>
                <c:pt idx="1">
                  <c:v>0.60655737704918034</c:v>
                </c:pt>
                <c:pt idx="2">
                  <c:v>0.59199999999999997</c:v>
                </c:pt>
                <c:pt idx="3">
                  <c:v>0.57258064516129037</c:v>
                </c:pt>
                <c:pt idx="4">
                  <c:v>0.55200000000000005</c:v>
                </c:pt>
              </c:numCache>
            </c:numRef>
          </c:val>
          <c:extLst>
            <c:ext xmlns:c16="http://schemas.microsoft.com/office/drawing/2014/chart" uri="{C3380CC4-5D6E-409C-BE32-E72D297353CC}">
              <c16:uniqueId val="{00000002-CD90-4824-93A1-F426AE8828FB}"/>
            </c:ext>
          </c:extLst>
        </c:ser>
        <c:ser>
          <c:idx val="2"/>
          <c:order val="2"/>
          <c:tx>
            <c:strRef>
              <c:f>'KOTAK+HDFC+AXIS+ICICI (PB)'!$AI$3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(PB)'!$AF$4:$AF$8</c:f>
              <c:strCache>
                <c:ptCount val="5"/>
                <c:pt idx="0">
                  <c:v>Discount on retail banking services</c:v>
                </c:pt>
                <c:pt idx="1">
                  <c:v>Business banking services</c:v>
                </c:pt>
                <c:pt idx="2">
                  <c:v>Account statements &amp; reports</c:v>
                </c:pt>
                <c:pt idx="3">
                  <c:v>Investment planning advice</c:v>
                </c:pt>
                <c:pt idx="4">
                  <c:v>Home banking services</c:v>
                </c:pt>
              </c:strCache>
            </c:strRef>
          </c:cat>
          <c:val>
            <c:numRef>
              <c:f>'KOTAK+HDFC+AXIS+ICICI (PB)'!$AI$4:$AI$8</c:f>
              <c:numCache>
                <c:formatCode>0%</c:formatCode>
                <c:ptCount val="5"/>
                <c:pt idx="0">
                  <c:v>8.7999999999999995E-2</c:v>
                </c:pt>
                <c:pt idx="1">
                  <c:v>0.10655737704918032</c:v>
                </c:pt>
                <c:pt idx="2">
                  <c:v>0.104</c:v>
                </c:pt>
                <c:pt idx="3">
                  <c:v>0.21774193548387097</c:v>
                </c:pt>
                <c:pt idx="4">
                  <c:v>0.128</c:v>
                </c:pt>
              </c:numCache>
            </c:numRef>
          </c:val>
          <c:extLst>
            <c:ext xmlns:c16="http://schemas.microsoft.com/office/drawing/2014/chart" uri="{C3380CC4-5D6E-409C-BE32-E72D297353CC}">
              <c16:uniqueId val="{00000003-CD90-4824-93A1-F426AE8828FB}"/>
            </c:ext>
          </c:extLst>
        </c:ser>
        <c:ser>
          <c:idx val="3"/>
          <c:order val="3"/>
          <c:tx>
            <c:strRef>
              <c:f>'KOTAK+HDFC+AXIS+ICICI (PB)'!$AJ$3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(PB)'!$AF$4:$AF$8</c:f>
              <c:strCache>
                <c:ptCount val="5"/>
                <c:pt idx="0">
                  <c:v>Discount on retail banking services</c:v>
                </c:pt>
                <c:pt idx="1">
                  <c:v>Business banking services</c:v>
                </c:pt>
                <c:pt idx="2">
                  <c:v>Account statements &amp; reports</c:v>
                </c:pt>
                <c:pt idx="3">
                  <c:v>Investment planning advice</c:v>
                </c:pt>
                <c:pt idx="4">
                  <c:v>Home banking services</c:v>
                </c:pt>
              </c:strCache>
            </c:strRef>
          </c:cat>
          <c:val>
            <c:numRef>
              <c:f>'KOTAK+HDFC+AXIS+ICICI (PB)'!$AJ$4:$AJ$8</c:f>
              <c:numCache>
                <c:formatCode>0%</c:formatCode>
                <c:ptCount val="5"/>
                <c:pt idx="0">
                  <c:v>0.13600000000000001</c:v>
                </c:pt>
                <c:pt idx="1">
                  <c:v>0.15573770491803279</c:v>
                </c:pt>
                <c:pt idx="2">
                  <c:v>0.12</c:v>
                </c:pt>
                <c:pt idx="3">
                  <c:v>0.11290322580645161</c:v>
                </c:pt>
                <c:pt idx="4">
                  <c:v>0.20799999999999999</c:v>
                </c:pt>
              </c:numCache>
            </c:numRef>
          </c:val>
          <c:extLst>
            <c:ext xmlns:c16="http://schemas.microsoft.com/office/drawing/2014/chart" uri="{C3380CC4-5D6E-409C-BE32-E72D297353CC}">
              <c16:uniqueId val="{00000004-CD90-4824-93A1-F426AE8828FB}"/>
            </c:ext>
          </c:extLst>
        </c:ser>
        <c:ser>
          <c:idx val="4"/>
          <c:order val="4"/>
          <c:tx>
            <c:strRef>
              <c:f>'KOTAK+HDFC+AXIS+ICICI (PB)'!$AK$3</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(PB)'!$AF$4:$AF$8</c:f>
              <c:strCache>
                <c:ptCount val="5"/>
                <c:pt idx="0">
                  <c:v>Discount on retail banking services</c:v>
                </c:pt>
                <c:pt idx="1">
                  <c:v>Business banking services</c:v>
                </c:pt>
                <c:pt idx="2">
                  <c:v>Account statements &amp; reports</c:v>
                </c:pt>
                <c:pt idx="3">
                  <c:v>Investment planning advice</c:v>
                </c:pt>
                <c:pt idx="4">
                  <c:v>Home banking services</c:v>
                </c:pt>
              </c:strCache>
            </c:strRef>
          </c:cat>
          <c:val>
            <c:numRef>
              <c:f>'KOTAK+HDFC+AXIS+ICICI (PB)'!$AK$4:$AK$8</c:f>
              <c:numCache>
                <c:formatCode>0%</c:formatCode>
                <c:ptCount val="5"/>
                <c:pt idx="0">
                  <c:v>0.13600000000000001</c:v>
                </c:pt>
                <c:pt idx="1">
                  <c:v>0.10655737704918032</c:v>
                </c:pt>
                <c:pt idx="2">
                  <c:v>0.16</c:v>
                </c:pt>
                <c:pt idx="3">
                  <c:v>8.8709677419354843E-2</c:v>
                </c:pt>
                <c:pt idx="4">
                  <c:v>8.7999999999999995E-2</c:v>
                </c:pt>
              </c:numCache>
            </c:numRef>
          </c:val>
          <c:extLst>
            <c:ext xmlns:c16="http://schemas.microsoft.com/office/drawing/2014/chart" uri="{C3380CC4-5D6E-409C-BE32-E72D297353CC}">
              <c16:uniqueId val="{00000005-CD90-4824-93A1-F426AE8828FB}"/>
            </c:ext>
          </c:extLst>
        </c:ser>
        <c:ser>
          <c:idx val="5"/>
          <c:order val="5"/>
          <c:tx>
            <c:strRef>
              <c:f>'KOTAK+HDFC+AXIS+ICICI (PB)'!$AL$3</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(PB)'!$AF$4:$AF$8</c:f>
              <c:strCache>
                <c:ptCount val="5"/>
                <c:pt idx="0">
                  <c:v>Discount on retail banking services</c:v>
                </c:pt>
                <c:pt idx="1">
                  <c:v>Business banking services</c:v>
                </c:pt>
                <c:pt idx="2">
                  <c:v>Account statements &amp; reports</c:v>
                </c:pt>
                <c:pt idx="3">
                  <c:v>Investment planning advice</c:v>
                </c:pt>
                <c:pt idx="4">
                  <c:v>Home banking services</c:v>
                </c:pt>
              </c:strCache>
            </c:strRef>
          </c:cat>
          <c:val>
            <c:numRef>
              <c:f>'KOTAK+HDFC+AXIS+ICICI (PB)'!$AL$4:$AL$8</c:f>
              <c:numCache>
                <c:formatCode>0%</c:formatCode>
                <c:ptCount val="5"/>
                <c:pt idx="0">
                  <c:v>0</c:v>
                </c:pt>
                <c:pt idx="1">
                  <c:v>0</c:v>
                </c:pt>
                <c:pt idx="2">
                  <c:v>0</c:v>
                </c:pt>
                <c:pt idx="3">
                  <c:v>0</c:v>
                </c:pt>
                <c:pt idx="4">
                  <c:v>8.0000000000000002E-3</c:v>
                </c:pt>
              </c:numCache>
            </c:numRef>
          </c:val>
          <c:extLst>
            <c:ext xmlns:c16="http://schemas.microsoft.com/office/drawing/2014/chart" uri="{C3380CC4-5D6E-409C-BE32-E72D297353CC}">
              <c16:uniqueId val="{00000006-CD90-4824-93A1-F426AE8828FB}"/>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9011746189627079"/>
          <c:h val="0.83425200556665191"/>
        </c:manualLayout>
      </c:layout>
      <c:barChart>
        <c:barDir val="col"/>
        <c:grouping val="percentStacked"/>
        <c:varyColors val="0"/>
        <c:ser>
          <c:idx val="0"/>
          <c:order val="0"/>
          <c:tx>
            <c:strRef>
              <c:f>'KOTAK+HDFC+AXIS+ICICI (PB)'!$AG$12</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(PB)'!$AF$13:$AF$17</c:f>
              <c:strCache>
                <c:ptCount val="5"/>
                <c:pt idx="0">
                  <c:v>Business banking services</c:v>
                </c:pt>
                <c:pt idx="1">
                  <c:v>Investment planning advice</c:v>
                </c:pt>
                <c:pt idx="2">
                  <c:v>Home banking services</c:v>
                </c:pt>
                <c:pt idx="3">
                  <c:v>Discount on retail banking services</c:v>
                </c:pt>
                <c:pt idx="4">
                  <c:v>Account statements &amp; reports</c:v>
                </c:pt>
              </c:strCache>
            </c:strRef>
          </c:cat>
          <c:val>
            <c:numRef>
              <c:f>'KOTAK+HDFC+AXIS+ICICI (PB)'!$AG$13:$AG$17</c:f>
              <c:numCache>
                <c:formatCode>0%</c:formatCode>
                <c:ptCount val="5"/>
                <c:pt idx="0">
                  <c:v>1.6129032258064516E-2</c:v>
                </c:pt>
                <c:pt idx="1">
                  <c:v>0</c:v>
                </c:pt>
                <c:pt idx="2">
                  <c:v>0</c:v>
                </c:pt>
                <c:pt idx="3">
                  <c:v>2.4E-2</c:v>
                </c:pt>
                <c:pt idx="4">
                  <c:v>0</c:v>
                </c:pt>
              </c:numCache>
            </c:numRef>
          </c:val>
          <c:extLst>
            <c:ext xmlns:c16="http://schemas.microsoft.com/office/drawing/2014/chart" uri="{C3380CC4-5D6E-409C-BE32-E72D297353CC}">
              <c16:uniqueId val="{00000001-EC18-4D08-B357-64C0CF31B0D4}"/>
            </c:ext>
          </c:extLst>
        </c:ser>
        <c:ser>
          <c:idx val="1"/>
          <c:order val="1"/>
          <c:tx>
            <c:strRef>
              <c:f>'KOTAK+HDFC+AXIS+ICICI (PB)'!$AH$12</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(PB)'!$AF$13:$AF$17</c:f>
              <c:strCache>
                <c:ptCount val="5"/>
                <c:pt idx="0">
                  <c:v>Business banking services</c:v>
                </c:pt>
                <c:pt idx="1">
                  <c:v>Investment planning advice</c:v>
                </c:pt>
                <c:pt idx="2">
                  <c:v>Home banking services</c:v>
                </c:pt>
                <c:pt idx="3">
                  <c:v>Discount on retail banking services</c:v>
                </c:pt>
                <c:pt idx="4">
                  <c:v>Account statements &amp; reports</c:v>
                </c:pt>
              </c:strCache>
            </c:strRef>
          </c:cat>
          <c:val>
            <c:numRef>
              <c:f>'KOTAK+HDFC+AXIS+ICICI (PB)'!$AH$13:$AH$17</c:f>
              <c:numCache>
                <c:formatCode>0%</c:formatCode>
                <c:ptCount val="5"/>
                <c:pt idx="0">
                  <c:v>0.70161290322580649</c:v>
                </c:pt>
                <c:pt idx="1">
                  <c:v>0.69047619047619047</c:v>
                </c:pt>
                <c:pt idx="2">
                  <c:v>0.63492063492063489</c:v>
                </c:pt>
                <c:pt idx="3">
                  <c:v>0.58399999999999996</c:v>
                </c:pt>
                <c:pt idx="4">
                  <c:v>0.56000000000000005</c:v>
                </c:pt>
              </c:numCache>
            </c:numRef>
          </c:val>
          <c:extLst>
            <c:ext xmlns:c16="http://schemas.microsoft.com/office/drawing/2014/chart" uri="{C3380CC4-5D6E-409C-BE32-E72D297353CC}">
              <c16:uniqueId val="{00000002-EC18-4D08-B357-64C0CF31B0D4}"/>
            </c:ext>
          </c:extLst>
        </c:ser>
        <c:ser>
          <c:idx val="2"/>
          <c:order val="2"/>
          <c:tx>
            <c:strRef>
              <c:f>'KOTAK+HDFC+AXIS+ICICI (PB)'!$AI$12</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(PB)'!$AF$13:$AF$17</c:f>
              <c:strCache>
                <c:ptCount val="5"/>
                <c:pt idx="0">
                  <c:v>Business banking services</c:v>
                </c:pt>
                <c:pt idx="1">
                  <c:v>Investment planning advice</c:v>
                </c:pt>
                <c:pt idx="2">
                  <c:v>Home banking services</c:v>
                </c:pt>
                <c:pt idx="3">
                  <c:v>Discount on retail banking services</c:v>
                </c:pt>
                <c:pt idx="4">
                  <c:v>Account statements &amp; reports</c:v>
                </c:pt>
              </c:strCache>
            </c:strRef>
          </c:cat>
          <c:val>
            <c:numRef>
              <c:f>'KOTAK+HDFC+AXIS+ICICI (PB)'!$AI$13:$AI$17</c:f>
              <c:numCache>
                <c:formatCode>0%</c:formatCode>
                <c:ptCount val="5"/>
                <c:pt idx="0">
                  <c:v>0.11290322580645161</c:v>
                </c:pt>
                <c:pt idx="1">
                  <c:v>0.16666666666666666</c:v>
                </c:pt>
                <c:pt idx="2">
                  <c:v>0.14285714285714285</c:v>
                </c:pt>
                <c:pt idx="3">
                  <c:v>0.152</c:v>
                </c:pt>
                <c:pt idx="4">
                  <c:v>0.16</c:v>
                </c:pt>
              </c:numCache>
            </c:numRef>
          </c:val>
          <c:extLst>
            <c:ext xmlns:c16="http://schemas.microsoft.com/office/drawing/2014/chart" uri="{C3380CC4-5D6E-409C-BE32-E72D297353CC}">
              <c16:uniqueId val="{00000003-EC18-4D08-B357-64C0CF31B0D4}"/>
            </c:ext>
          </c:extLst>
        </c:ser>
        <c:ser>
          <c:idx val="3"/>
          <c:order val="3"/>
          <c:tx>
            <c:strRef>
              <c:f>'KOTAK+HDFC+AXIS+ICICI (PB)'!$AJ$12</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(PB)'!$AF$13:$AF$17</c:f>
              <c:strCache>
                <c:ptCount val="5"/>
                <c:pt idx="0">
                  <c:v>Business banking services</c:v>
                </c:pt>
                <c:pt idx="1">
                  <c:v>Investment planning advice</c:v>
                </c:pt>
                <c:pt idx="2">
                  <c:v>Home banking services</c:v>
                </c:pt>
                <c:pt idx="3">
                  <c:v>Discount on retail banking services</c:v>
                </c:pt>
                <c:pt idx="4">
                  <c:v>Account statements &amp; reports</c:v>
                </c:pt>
              </c:strCache>
            </c:strRef>
          </c:cat>
          <c:val>
            <c:numRef>
              <c:f>'KOTAK+HDFC+AXIS+ICICI (PB)'!$AJ$13:$AJ$17</c:f>
              <c:numCache>
                <c:formatCode>0%</c:formatCode>
                <c:ptCount val="5"/>
                <c:pt idx="0">
                  <c:v>5.6451612903225805E-2</c:v>
                </c:pt>
                <c:pt idx="1">
                  <c:v>6.3492063492063489E-2</c:v>
                </c:pt>
                <c:pt idx="2">
                  <c:v>7.1428571428571425E-2</c:v>
                </c:pt>
                <c:pt idx="3">
                  <c:v>8.7999999999999995E-2</c:v>
                </c:pt>
                <c:pt idx="4">
                  <c:v>0.13600000000000001</c:v>
                </c:pt>
              </c:numCache>
            </c:numRef>
          </c:val>
          <c:extLst>
            <c:ext xmlns:c16="http://schemas.microsoft.com/office/drawing/2014/chart" uri="{C3380CC4-5D6E-409C-BE32-E72D297353CC}">
              <c16:uniqueId val="{00000004-EC18-4D08-B357-64C0CF31B0D4}"/>
            </c:ext>
          </c:extLst>
        </c:ser>
        <c:ser>
          <c:idx val="4"/>
          <c:order val="4"/>
          <c:tx>
            <c:strRef>
              <c:f>'KOTAK+HDFC+AXIS+ICICI (PB)'!$AK$12</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(PB)'!$AF$13:$AF$17</c:f>
              <c:strCache>
                <c:ptCount val="5"/>
                <c:pt idx="0">
                  <c:v>Business banking services</c:v>
                </c:pt>
                <c:pt idx="1">
                  <c:v>Investment planning advice</c:v>
                </c:pt>
                <c:pt idx="2">
                  <c:v>Home banking services</c:v>
                </c:pt>
                <c:pt idx="3">
                  <c:v>Discount on retail banking services</c:v>
                </c:pt>
                <c:pt idx="4">
                  <c:v>Account statements &amp; reports</c:v>
                </c:pt>
              </c:strCache>
            </c:strRef>
          </c:cat>
          <c:val>
            <c:numRef>
              <c:f>'KOTAK+HDFC+AXIS+ICICI (PB)'!$AK$13:$AK$17</c:f>
              <c:numCache>
                <c:formatCode>0%</c:formatCode>
                <c:ptCount val="5"/>
                <c:pt idx="0">
                  <c:v>0.11290322580645161</c:v>
                </c:pt>
                <c:pt idx="1">
                  <c:v>7.9365079365079361E-2</c:v>
                </c:pt>
                <c:pt idx="2">
                  <c:v>0.14285714285714285</c:v>
                </c:pt>
                <c:pt idx="3">
                  <c:v>0.152</c:v>
                </c:pt>
                <c:pt idx="4">
                  <c:v>0.14399999999999999</c:v>
                </c:pt>
              </c:numCache>
            </c:numRef>
          </c:val>
          <c:extLst>
            <c:ext xmlns:c16="http://schemas.microsoft.com/office/drawing/2014/chart" uri="{C3380CC4-5D6E-409C-BE32-E72D297353CC}">
              <c16:uniqueId val="{00000005-EC18-4D08-B357-64C0CF31B0D4}"/>
            </c:ext>
          </c:extLst>
        </c:ser>
        <c:ser>
          <c:idx val="5"/>
          <c:order val="5"/>
          <c:tx>
            <c:strRef>
              <c:f>'KOTAK+HDFC+AXIS+ICICI (PB)'!$AL$12</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(PB)'!$AF$13:$AF$17</c:f>
              <c:strCache>
                <c:ptCount val="5"/>
                <c:pt idx="0">
                  <c:v>Business banking services</c:v>
                </c:pt>
                <c:pt idx="1">
                  <c:v>Investment planning advice</c:v>
                </c:pt>
                <c:pt idx="2">
                  <c:v>Home banking services</c:v>
                </c:pt>
                <c:pt idx="3">
                  <c:v>Discount on retail banking services</c:v>
                </c:pt>
                <c:pt idx="4">
                  <c:v>Account statements &amp; reports</c:v>
                </c:pt>
              </c:strCache>
            </c:strRef>
          </c:cat>
          <c:val>
            <c:numRef>
              <c:f>'KOTAK+HDFC+AXIS+ICICI (PB)'!$AL$13:$AL$17</c:f>
              <c:numCache>
                <c:formatCode>0%</c:formatCode>
                <c:ptCount val="5"/>
                <c:pt idx="0">
                  <c:v>0</c:v>
                </c:pt>
                <c:pt idx="1">
                  <c:v>0</c:v>
                </c:pt>
                <c:pt idx="2">
                  <c:v>7.9365079365079361E-3</c:v>
                </c:pt>
                <c:pt idx="3">
                  <c:v>0</c:v>
                </c:pt>
                <c:pt idx="4">
                  <c:v>0</c:v>
                </c:pt>
              </c:numCache>
            </c:numRef>
          </c:val>
          <c:extLst>
            <c:ext xmlns:c16="http://schemas.microsoft.com/office/drawing/2014/chart" uri="{C3380CC4-5D6E-409C-BE32-E72D297353CC}">
              <c16:uniqueId val="{00000006-EC18-4D08-B357-64C0CF31B0D4}"/>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9011746189627079"/>
          <c:h val="0.83425200556665191"/>
        </c:manualLayout>
      </c:layout>
      <c:barChart>
        <c:barDir val="col"/>
        <c:grouping val="percentStacked"/>
        <c:varyColors val="0"/>
        <c:ser>
          <c:idx val="0"/>
          <c:order val="0"/>
          <c:tx>
            <c:strRef>
              <c:f>'KOTAK+HDFC+AXIS+ICICI (PB)'!$AG$30</c:f>
              <c:strCache>
                <c:ptCount val="1"/>
                <c:pt idx="0">
                  <c:v>FEDERAL</c:v>
                </c:pt>
              </c:strCache>
            </c:strRef>
          </c:tx>
          <c:spPr>
            <a:solidFill>
              <a:srgbClr val="F7A800"/>
            </a:solidFill>
            <a:ln>
              <a:noFill/>
            </a:ln>
            <a:effectLst/>
          </c:spPr>
          <c:invertIfNegative val="0"/>
          <c:dLbls>
            <c:dLbl>
              <c:idx val="4"/>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0-53CE-4CD8-9B84-87495E629D66}"/>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(PB)'!$AF$31:$AF$35</c:f>
              <c:strCache>
                <c:ptCount val="5"/>
                <c:pt idx="0">
                  <c:v>Business banking services</c:v>
                </c:pt>
                <c:pt idx="1">
                  <c:v>Investment planning advice</c:v>
                </c:pt>
                <c:pt idx="2">
                  <c:v>Discount on retail banking services</c:v>
                </c:pt>
                <c:pt idx="3">
                  <c:v>Home banking services</c:v>
                </c:pt>
                <c:pt idx="4">
                  <c:v>Account statements &amp; reports</c:v>
                </c:pt>
              </c:strCache>
            </c:strRef>
          </c:cat>
          <c:val>
            <c:numRef>
              <c:f>'KOTAK+HDFC+AXIS+ICICI (PB)'!$AG$31:$AG$35</c:f>
              <c:numCache>
                <c:formatCode>0%</c:formatCode>
                <c:ptCount val="5"/>
                <c:pt idx="0">
                  <c:v>4.1666666666666664E-2</c:v>
                </c:pt>
                <c:pt idx="1">
                  <c:v>0</c:v>
                </c:pt>
                <c:pt idx="2">
                  <c:v>0</c:v>
                </c:pt>
                <c:pt idx="3">
                  <c:v>3.7037037037037035E-2</c:v>
                </c:pt>
                <c:pt idx="4">
                  <c:v>0</c:v>
                </c:pt>
              </c:numCache>
            </c:numRef>
          </c:val>
          <c:extLst>
            <c:ext xmlns:c16="http://schemas.microsoft.com/office/drawing/2014/chart" uri="{C3380CC4-5D6E-409C-BE32-E72D297353CC}">
              <c16:uniqueId val="{00000001-53CE-4CD8-9B84-87495E629D66}"/>
            </c:ext>
          </c:extLst>
        </c:ser>
        <c:ser>
          <c:idx val="1"/>
          <c:order val="1"/>
          <c:tx>
            <c:strRef>
              <c:f>'KOTAK+HDFC+AXIS+ICICI (PB)'!$AH$30</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(PB)'!$AF$31:$AF$35</c:f>
              <c:strCache>
                <c:ptCount val="5"/>
                <c:pt idx="0">
                  <c:v>Business banking services</c:v>
                </c:pt>
                <c:pt idx="1">
                  <c:v>Investment planning advice</c:v>
                </c:pt>
                <c:pt idx="2">
                  <c:v>Discount on retail banking services</c:v>
                </c:pt>
                <c:pt idx="3">
                  <c:v>Home banking services</c:v>
                </c:pt>
                <c:pt idx="4">
                  <c:v>Account statements &amp; reports</c:v>
                </c:pt>
              </c:strCache>
            </c:strRef>
          </c:cat>
          <c:val>
            <c:numRef>
              <c:f>'KOTAK+HDFC+AXIS+ICICI (PB)'!$AH$31:$AH$35</c:f>
              <c:numCache>
                <c:formatCode>0%</c:formatCode>
                <c:ptCount val="5"/>
                <c:pt idx="0">
                  <c:v>0.58333333333333337</c:v>
                </c:pt>
                <c:pt idx="1">
                  <c:v>0.48148148148148145</c:v>
                </c:pt>
                <c:pt idx="2">
                  <c:v>0.48148148148148145</c:v>
                </c:pt>
                <c:pt idx="3">
                  <c:v>0.37037037037037035</c:v>
                </c:pt>
                <c:pt idx="4">
                  <c:v>0.29629629629629628</c:v>
                </c:pt>
              </c:numCache>
            </c:numRef>
          </c:val>
          <c:extLst>
            <c:ext xmlns:c16="http://schemas.microsoft.com/office/drawing/2014/chart" uri="{C3380CC4-5D6E-409C-BE32-E72D297353CC}">
              <c16:uniqueId val="{00000002-53CE-4CD8-9B84-87495E629D66}"/>
            </c:ext>
          </c:extLst>
        </c:ser>
        <c:ser>
          <c:idx val="2"/>
          <c:order val="2"/>
          <c:tx>
            <c:strRef>
              <c:f>'KOTAK+HDFC+AXIS+ICICI (PB)'!$AI$30</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(PB)'!$AF$31:$AF$35</c:f>
              <c:strCache>
                <c:ptCount val="5"/>
                <c:pt idx="0">
                  <c:v>Business banking services</c:v>
                </c:pt>
                <c:pt idx="1">
                  <c:v>Investment planning advice</c:v>
                </c:pt>
                <c:pt idx="2">
                  <c:v>Discount on retail banking services</c:v>
                </c:pt>
                <c:pt idx="3">
                  <c:v>Home banking services</c:v>
                </c:pt>
                <c:pt idx="4">
                  <c:v>Account statements &amp; reports</c:v>
                </c:pt>
              </c:strCache>
            </c:strRef>
          </c:cat>
          <c:val>
            <c:numRef>
              <c:f>'KOTAK+HDFC+AXIS+ICICI (PB)'!$AI$31:$AI$35</c:f>
              <c:numCache>
                <c:formatCode>0%</c:formatCode>
                <c:ptCount val="5"/>
                <c:pt idx="0">
                  <c:v>0.125</c:v>
                </c:pt>
                <c:pt idx="1">
                  <c:v>7.407407407407407E-2</c:v>
                </c:pt>
                <c:pt idx="2">
                  <c:v>3.7037037037037035E-2</c:v>
                </c:pt>
                <c:pt idx="3">
                  <c:v>0.1111111111111111</c:v>
                </c:pt>
                <c:pt idx="4">
                  <c:v>0.1111111111111111</c:v>
                </c:pt>
              </c:numCache>
            </c:numRef>
          </c:val>
          <c:extLst>
            <c:ext xmlns:c16="http://schemas.microsoft.com/office/drawing/2014/chart" uri="{C3380CC4-5D6E-409C-BE32-E72D297353CC}">
              <c16:uniqueId val="{00000003-53CE-4CD8-9B84-87495E629D66}"/>
            </c:ext>
          </c:extLst>
        </c:ser>
        <c:ser>
          <c:idx val="3"/>
          <c:order val="3"/>
          <c:tx>
            <c:strRef>
              <c:f>'KOTAK+HDFC+AXIS+ICICI (PB)'!$AJ$30</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(PB)'!$AF$31:$AF$35</c:f>
              <c:strCache>
                <c:ptCount val="5"/>
                <c:pt idx="0">
                  <c:v>Business banking services</c:v>
                </c:pt>
                <c:pt idx="1">
                  <c:v>Investment planning advice</c:v>
                </c:pt>
                <c:pt idx="2">
                  <c:v>Discount on retail banking services</c:v>
                </c:pt>
                <c:pt idx="3">
                  <c:v>Home banking services</c:v>
                </c:pt>
                <c:pt idx="4">
                  <c:v>Account statements &amp; reports</c:v>
                </c:pt>
              </c:strCache>
            </c:strRef>
          </c:cat>
          <c:val>
            <c:numRef>
              <c:f>'KOTAK+HDFC+AXIS+ICICI (PB)'!$AJ$31:$AJ$35</c:f>
              <c:numCache>
                <c:formatCode>0%</c:formatCode>
                <c:ptCount val="5"/>
                <c:pt idx="0">
                  <c:v>4.1666666666666664E-2</c:v>
                </c:pt>
                <c:pt idx="1">
                  <c:v>0.29629629629629628</c:v>
                </c:pt>
                <c:pt idx="2">
                  <c:v>0.25925925925925924</c:v>
                </c:pt>
                <c:pt idx="3">
                  <c:v>0.22222222222222221</c:v>
                </c:pt>
                <c:pt idx="4">
                  <c:v>0.33333333333333331</c:v>
                </c:pt>
              </c:numCache>
            </c:numRef>
          </c:val>
          <c:extLst>
            <c:ext xmlns:c16="http://schemas.microsoft.com/office/drawing/2014/chart" uri="{C3380CC4-5D6E-409C-BE32-E72D297353CC}">
              <c16:uniqueId val="{00000004-53CE-4CD8-9B84-87495E629D66}"/>
            </c:ext>
          </c:extLst>
        </c:ser>
        <c:ser>
          <c:idx val="4"/>
          <c:order val="4"/>
          <c:tx>
            <c:strRef>
              <c:f>'KOTAK+HDFC+AXIS+ICICI (PB)'!$AK$30</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(PB)'!$AF$31:$AF$35</c:f>
              <c:strCache>
                <c:ptCount val="5"/>
                <c:pt idx="0">
                  <c:v>Business banking services</c:v>
                </c:pt>
                <c:pt idx="1">
                  <c:v>Investment planning advice</c:v>
                </c:pt>
                <c:pt idx="2">
                  <c:v>Discount on retail banking services</c:v>
                </c:pt>
                <c:pt idx="3">
                  <c:v>Home banking services</c:v>
                </c:pt>
                <c:pt idx="4">
                  <c:v>Account statements &amp; reports</c:v>
                </c:pt>
              </c:strCache>
            </c:strRef>
          </c:cat>
          <c:val>
            <c:numRef>
              <c:f>'KOTAK+HDFC+AXIS+ICICI (PB)'!$AK$31:$AK$35</c:f>
              <c:numCache>
                <c:formatCode>0%</c:formatCode>
                <c:ptCount val="5"/>
                <c:pt idx="0">
                  <c:v>0.16666666666666666</c:v>
                </c:pt>
                <c:pt idx="1">
                  <c:v>0.14814814814814814</c:v>
                </c:pt>
                <c:pt idx="2">
                  <c:v>0.22222222222222221</c:v>
                </c:pt>
                <c:pt idx="3">
                  <c:v>0.14814814814814814</c:v>
                </c:pt>
                <c:pt idx="4">
                  <c:v>0.25925925925925924</c:v>
                </c:pt>
              </c:numCache>
            </c:numRef>
          </c:val>
          <c:extLst>
            <c:ext xmlns:c16="http://schemas.microsoft.com/office/drawing/2014/chart" uri="{C3380CC4-5D6E-409C-BE32-E72D297353CC}">
              <c16:uniqueId val="{00000005-53CE-4CD8-9B84-87495E629D66}"/>
            </c:ext>
          </c:extLst>
        </c:ser>
        <c:ser>
          <c:idx val="5"/>
          <c:order val="5"/>
          <c:tx>
            <c:strRef>
              <c:f>'KOTAK+HDFC+AXIS+ICICI (PB)'!$AL$30</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(PB)'!$AF$31:$AF$35</c:f>
              <c:strCache>
                <c:ptCount val="5"/>
                <c:pt idx="0">
                  <c:v>Business banking services</c:v>
                </c:pt>
                <c:pt idx="1">
                  <c:v>Investment planning advice</c:v>
                </c:pt>
                <c:pt idx="2">
                  <c:v>Discount on retail banking services</c:v>
                </c:pt>
                <c:pt idx="3">
                  <c:v>Home banking services</c:v>
                </c:pt>
                <c:pt idx="4">
                  <c:v>Account statements &amp; reports</c:v>
                </c:pt>
              </c:strCache>
            </c:strRef>
          </c:cat>
          <c:val>
            <c:numRef>
              <c:f>'KOTAK+HDFC+AXIS+ICICI (PB)'!$AL$31:$AL$35</c:f>
              <c:numCache>
                <c:formatCode>0%</c:formatCode>
                <c:ptCount val="5"/>
                <c:pt idx="0">
                  <c:v>4.1666666666666664E-2</c:v>
                </c:pt>
                <c:pt idx="1">
                  <c:v>0</c:v>
                </c:pt>
                <c:pt idx="2">
                  <c:v>0</c:v>
                </c:pt>
                <c:pt idx="3">
                  <c:v>0.1111111111111111</c:v>
                </c:pt>
                <c:pt idx="4">
                  <c:v>0</c:v>
                </c:pt>
              </c:numCache>
            </c:numRef>
          </c:val>
          <c:extLst>
            <c:ext xmlns:c16="http://schemas.microsoft.com/office/drawing/2014/chart" uri="{C3380CC4-5D6E-409C-BE32-E72D297353CC}">
              <c16:uniqueId val="{00000006-53CE-4CD8-9B84-87495E629D66}"/>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9011746189627079"/>
          <c:h val="0.83425200556665191"/>
        </c:manualLayout>
      </c:layout>
      <c:barChart>
        <c:barDir val="col"/>
        <c:grouping val="percentStacked"/>
        <c:varyColors val="0"/>
        <c:ser>
          <c:idx val="0"/>
          <c:order val="0"/>
          <c:tx>
            <c:strRef>
              <c:f>'KOTAK+HDFC+AXIS+ICICI (PB)'!$AG$21</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(PB)'!$AF$22:$AF$26</c:f>
              <c:strCache>
                <c:ptCount val="5"/>
                <c:pt idx="0">
                  <c:v>Home banking services</c:v>
                </c:pt>
                <c:pt idx="1">
                  <c:v>Business banking services</c:v>
                </c:pt>
                <c:pt idx="2">
                  <c:v>Investment planning advice</c:v>
                </c:pt>
                <c:pt idx="3">
                  <c:v>Account statements &amp; reports</c:v>
                </c:pt>
                <c:pt idx="4">
                  <c:v>Discount on retail banking services</c:v>
                </c:pt>
              </c:strCache>
            </c:strRef>
          </c:cat>
          <c:val>
            <c:numRef>
              <c:f>'KOTAK+HDFC+AXIS+ICICI (PB)'!$AG$22:$AG$26</c:f>
              <c:numCache>
                <c:formatCode>0%</c:formatCode>
                <c:ptCount val="5"/>
                <c:pt idx="0">
                  <c:v>8.0645161290322578E-3</c:v>
                </c:pt>
                <c:pt idx="1">
                  <c:v>5.0420168067226892E-2</c:v>
                </c:pt>
                <c:pt idx="2">
                  <c:v>2.3622047244094488E-2</c:v>
                </c:pt>
                <c:pt idx="3">
                  <c:v>2.4390243902439025E-2</c:v>
                </c:pt>
                <c:pt idx="4">
                  <c:v>0</c:v>
                </c:pt>
              </c:numCache>
            </c:numRef>
          </c:val>
          <c:extLst>
            <c:ext xmlns:c16="http://schemas.microsoft.com/office/drawing/2014/chart" uri="{C3380CC4-5D6E-409C-BE32-E72D297353CC}">
              <c16:uniqueId val="{00000001-35A0-4F15-BE20-3E2C6FED70BC}"/>
            </c:ext>
          </c:extLst>
        </c:ser>
        <c:ser>
          <c:idx val="1"/>
          <c:order val="1"/>
          <c:tx>
            <c:strRef>
              <c:f>'KOTAK+HDFC+AXIS+ICICI (PB)'!$AH$21</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(PB)'!$AF$22:$AF$26</c:f>
              <c:strCache>
                <c:ptCount val="5"/>
                <c:pt idx="0">
                  <c:v>Home banking services</c:v>
                </c:pt>
                <c:pt idx="1">
                  <c:v>Business banking services</c:v>
                </c:pt>
                <c:pt idx="2">
                  <c:v>Investment planning advice</c:v>
                </c:pt>
                <c:pt idx="3">
                  <c:v>Account statements &amp; reports</c:v>
                </c:pt>
                <c:pt idx="4">
                  <c:v>Discount on retail banking services</c:v>
                </c:pt>
              </c:strCache>
            </c:strRef>
          </c:cat>
          <c:val>
            <c:numRef>
              <c:f>'KOTAK+HDFC+AXIS+ICICI (PB)'!$AH$22:$AH$26</c:f>
              <c:numCache>
                <c:formatCode>0%</c:formatCode>
                <c:ptCount val="5"/>
                <c:pt idx="0">
                  <c:v>0.52419354838709675</c:v>
                </c:pt>
                <c:pt idx="1">
                  <c:v>0.52100840336134457</c:v>
                </c:pt>
                <c:pt idx="2">
                  <c:v>0.49606299212598426</c:v>
                </c:pt>
                <c:pt idx="3">
                  <c:v>0.45528455284552843</c:v>
                </c:pt>
                <c:pt idx="4">
                  <c:v>0.45238095238095238</c:v>
                </c:pt>
              </c:numCache>
            </c:numRef>
          </c:val>
          <c:extLst>
            <c:ext xmlns:c16="http://schemas.microsoft.com/office/drawing/2014/chart" uri="{C3380CC4-5D6E-409C-BE32-E72D297353CC}">
              <c16:uniqueId val="{00000002-35A0-4F15-BE20-3E2C6FED70BC}"/>
            </c:ext>
          </c:extLst>
        </c:ser>
        <c:ser>
          <c:idx val="2"/>
          <c:order val="2"/>
          <c:tx>
            <c:strRef>
              <c:f>'KOTAK+HDFC+AXIS+ICICI (PB)'!$AI$21</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(PB)'!$AF$22:$AF$26</c:f>
              <c:strCache>
                <c:ptCount val="5"/>
                <c:pt idx="0">
                  <c:v>Home banking services</c:v>
                </c:pt>
                <c:pt idx="1">
                  <c:v>Business banking services</c:v>
                </c:pt>
                <c:pt idx="2">
                  <c:v>Investment planning advice</c:v>
                </c:pt>
                <c:pt idx="3">
                  <c:v>Account statements &amp; reports</c:v>
                </c:pt>
                <c:pt idx="4">
                  <c:v>Discount on retail banking services</c:v>
                </c:pt>
              </c:strCache>
            </c:strRef>
          </c:cat>
          <c:val>
            <c:numRef>
              <c:f>'KOTAK+HDFC+AXIS+ICICI (PB)'!$AI$22:$AI$26</c:f>
              <c:numCache>
                <c:formatCode>0%</c:formatCode>
                <c:ptCount val="5"/>
                <c:pt idx="0">
                  <c:v>0.11290322580645161</c:v>
                </c:pt>
                <c:pt idx="1">
                  <c:v>0.12605042016806722</c:v>
                </c:pt>
                <c:pt idx="2">
                  <c:v>0.10236220472440945</c:v>
                </c:pt>
                <c:pt idx="3">
                  <c:v>0.13821138211382114</c:v>
                </c:pt>
                <c:pt idx="4">
                  <c:v>0.1984126984126984</c:v>
                </c:pt>
              </c:numCache>
            </c:numRef>
          </c:val>
          <c:extLst>
            <c:ext xmlns:c16="http://schemas.microsoft.com/office/drawing/2014/chart" uri="{C3380CC4-5D6E-409C-BE32-E72D297353CC}">
              <c16:uniqueId val="{00000003-35A0-4F15-BE20-3E2C6FED70BC}"/>
            </c:ext>
          </c:extLst>
        </c:ser>
        <c:ser>
          <c:idx val="3"/>
          <c:order val="3"/>
          <c:tx>
            <c:strRef>
              <c:f>'KOTAK+HDFC+AXIS+ICICI (PB)'!$AJ$21</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(PB)'!$AF$22:$AF$26</c:f>
              <c:strCache>
                <c:ptCount val="5"/>
                <c:pt idx="0">
                  <c:v>Home banking services</c:v>
                </c:pt>
                <c:pt idx="1">
                  <c:v>Business banking services</c:v>
                </c:pt>
                <c:pt idx="2">
                  <c:v>Investment planning advice</c:v>
                </c:pt>
                <c:pt idx="3">
                  <c:v>Account statements &amp; reports</c:v>
                </c:pt>
                <c:pt idx="4">
                  <c:v>Discount on retail banking services</c:v>
                </c:pt>
              </c:strCache>
            </c:strRef>
          </c:cat>
          <c:val>
            <c:numRef>
              <c:f>'KOTAK+HDFC+AXIS+ICICI (PB)'!$AJ$22:$AJ$26</c:f>
              <c:numCache>
                <c:formatCode>0%</c:formatCode>
                <c:ptCount val="5"/>
                <c:pt idx="0">
                  <c:v>0.23387096774193547</c:v>
                </c:pt>
                <c:pt idx="1">
                  <c:v>0.11764705882352941</c:v>
                </c:pt>
                <c:pt idx="2">
                  <c:v>0.24409448818897639</c:v>
                </c:pt>
                <c:pt idx="3">
                  <c:v>8.943089430894309E-2</c:v>
                </c:pt>
                <c:pt idx="4">
                  <c:v>0.1984126984126984</c:v>
                </c:pt>
              </c:numCache>
            </c:numRef>
          </c:val>
          <c:extLst>
            <c:ext xmlns:c16="http://schemas.microsoft.com/office/drawing/2014/chart" uri="{C3380CC4-5D6E-409C-BE32-E72D297353CC}">
              <c16:uniqueId val="{00000004-35A0-4F15-BE20-3E2C6FED70BC}"/>
            </c:ext>
          </c:extLst>
        </c:ser>
        <c:ser>
          <c:idx val="4"/>
          <c:order val="4"/>
          <c:tx>
            <c:strRef>
              <c:f>'KOTAK+HDFC+AXIS+ICICI (PB)'!$AK$21</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(PB)'!$AF$22:$AF$26</c:f>
              <c:strCache>
                <c:ptCount val="5"/>
                <c:pt idx="0">
                  <c:v>Home banking services</c:v>
                </c:pt>
                <c:pt idx="1">
                  <c:v>Business banking services</c:v>
                </c:pt>
                <c:pt idx="2">
                  <c:v>Investment planning advice</c:v>
                </c:pt>
                <c:pt idx="3">
                  <c:v>Account statements &amp; reports</c:v>
                </c:pt>
                <c:pt idx="4">
                  <c:v>Discount on retail banking services</c:v>
                </c:pt>
              </c:strCache>
            </c:strRef>
          </c:cat>
          <c:val>
            <c:numRef>
              <c:f>'KOTAK+HDFC+AXIS+ICICI (PB)'!$AK$22:$AK$26</c:f>
              <c:numCache>
                <c:formatCode>0%</c:formatCode>
                <c:ptCount val="5"/>
                <c:pt idx="0">
                  <c:v>0.12096774193548387</c:v>
                </c:pt>
                <c:pt idx="1">
                  <c:v>0.18487394957983194</c:v>
                </c:pt>
                <c:pt idx="2">
                  <c:v>0.13385826771653545</c:v>
                </c:pt>
                <c:pt idx="3">
                  <c:v>0.29268292682926828</c:v>
                </c:pt>
                <c:pt idx="4">
                  <c:v>0.15079365079365079</c:v>
                </c:pt>
              </c:numCache>
            </c:numRef>
          </c:val>
          <c:extLst>
            <c:ext xmlns:c16="http://schemas.microsoft.com/office/drawing/2014/chart" uri="{C3380CC4-5D6E-409C-BE32-E72D297353CC}">
              <c16:uniqueId val="{00000005-35A0-4F15-BE20-3E2C6FED70BC}"/>
            </c:ext>
          </c:extLst>
        </c:ser>
        <c:ser>
          <c:idx val="5"/>
          <c:order val="5"/>
          <c:tx>
            <c:strRef>
              <c:f>'KOTAK+HDFC+AXIS+ICICI (PB)'!$AL$21</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(PB)'!$AF$22:$AF$26</c:f>
              <c:strCache>
                <c:ptCount val="5"/>
                <c:pt idx="0">
                  <c:v>Home banking services</c:v>
                </c:pt>
                <c:pt idx="1">
                  <c:v>Business banking services</c:v>
                </c:pt>
                <c:pt idx="2">
                  <c:v>Investment planning advice</c:v>
                </c:pt>
                <c:pt idx="3">
                  <c:v>Account statements &amp; reports</c:v>
                </c:pt>
                <c:pt idx="4">
                  <c:v>Discount on retail banking services</c:v>
                </c:pt>
              </c:strCache>
            </c:strRef>
          </c:cat>
          <c:val>
            <c:numRef>
              <c:f>'KOTAK+HDFC+AXIS+ICICI (PB)'!$AL$22:$AL$26</c:f>
              <c:numCache>
                <c:formatCode>0%</c:formatCode>
                <c:ptCount val="5"/>
                <c:pt idx="0">
                  <c:v>0</c:v>
                </c:pt>
                <c:pt idx="1">
                  <c:v>0</c:v>
                </c:pt>
                <c:pt idx="2">
                  <c:v>0</c:v>
                </c:pt>
                <c:pt idx="3">
                  <c:v>0</c:v>
                </c:pt>
                <c:pt idx="4">
                  <c:v>0</c:v>
                </c:pt>
              </c:numCache>
            </c:numRef>
          </c:val>
          <c:extLst>
            <c:ext xmlns:c16="http://schemas.microsoft.com/office/drawing/2014/chart" uri="{C3380CC4-5D6E-409C-BE32-E72D297353CC}">
              <c16:uniqueId val="{00000006-35A0-4F15-BE20-3E2C6FED70BC}"/>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externalData r:id="rId4">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1546978691955554E-2"/>
          <c:y val="5.461431661963824E-2"/>
          <c:w val="0.83109463215885193"/>
          <c:h val="0.76376209984775256"/>
        </c:manualLayout>
      </c:layout>
      <c:barChart>
        <c:barDir val="col"/>
        <c:grouping val="percentStacked"/>
        <c:varyColors val="0"/>
        <c:ser>
          <c:idx val="0"/>
          <c:order val="0"/>
          <c:tx>
            <c:strRef>
              <c:f>'ONLY FEDERAL (2)'!$AU$39</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(2)'!$AT$40:$AT$43</c:f>
              <c:strCache>
                <c:ptCount val="4"/>
                <c:pt idx="0">
                  <c:v>Vouchers &amp; offers</c:v>
                </c:pt>
                <c:pt idx="1">
                  <c:v>Credit card</c:v>
                </c:pt>
                <c:pt idx="2">
                  <c:v>Lifestyle benefits</c:v>
                </c:pt>
                <c:pt idx="3">
                  <c:v>Travel benefits</c:v>
                </c:pt>
              </c:strCache>
            </c:strRef>
          </c:cat>
          <c:val>
            <c:numRef>
              <c:f>'ONLY FEDERAL (2)'!$AU$40:$AU$43</c:f>
              <c:numCache>
                <c:formatCode>0%</c:formatCode>
                <c:ptCount val="4"/>
                <c:pt idx="0">
                  <c:v>0.4370860927152318</c:v>
                </c:pt>
                <c:pt idx="1">
                  <c:v>0.40384615384615385</c:v>
                </c:pt>
                <c:pt idx="2">
                  <c:v>0.44666666666666666</c:v>
                </c:pt>
                <c:pt idx="3">
                  <c:v>0.42763157894736842</c:v>
                </c:pt>
              </c:numCache>
            </c:numRef>
          </c:val>
          <c:extLst>
            <c:ext xmlns:c16="http://schemas.microsoft.com/office/drawing/2014/chart" uri="{C3380CC4-5D6E-409C-BE32-E72D297353CC}">
              <c16:uniqueId val="{00000001-7E50-4055-A7BF-FBF500462798}"/>
            </c:ext>
          </c:extLst>
        </c:ser>
        <c:ser>
          <c:idx val="1"/>
          <c:order val="1"/>
          <c:tx>
            <c:strRef>
              <c:f>'ONLY FEDERAL (2)'!$AV$39</c:f>
              <c:strCache>
                <c:ptCount val="1"/>
                <c:pt idx="0">
                  <c:v>KOTAK</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(2)'!$AT$40:$AT$43</c:f>
              <c:strCache>
                <c:ptCount val="4"/>
                <c:pt idx="0">
                  <c:v>Vouchers &amp; offers</c:v>
                </c:pt>
                <c:pt idx="1">
                  <c:v>Credit card</c:v>
                </c:pt>
                <c:pt idx="2">
                  <c:v>Lifestyle benefits</c:v>
                </c:pt>
                <c:pt idx="3">
                  <c:v>Travel benefits</c:v>
                </c:pt>
              </c:strCache>
            </c:strRef>
          </c:cat>
          <c:val>
            <c:numRef>
              <c:f>'ONLY FEDERAL (2)'!$AV$40:$AV$43</c:f>
              <c:numCache>
                <c:formatCode>0%</c:formatCode>
                <c:ptCount val="4"/>
                <c:pt idx="0">
                  <c:v>3.3112582781456956E-2</c:v>
                </c:pt>
                <c:pt idx="1">
                  <c:v>2.564102564102564E-2</c:v>
                </c:pt>
                <c:pt idx="2">
                  <c:v>0.04</c:v>
                </c:pt>
                <c:pt idx="3">
                  <c:v>3.2894736842105261E-2</c:v>
                </c:pt>
              </c:numCache>
            </c:numRef>
          </c:val>
          <c:extLst>
            <c:ext xmlns:c16="http://schemas.microsoft.com/office/drawing/2014/chart" uri="{C3380CC4-5D6E-409C-BE32-E72D297353CC}">
              <c16:uniqueId val="{00000002-7E50-4055-A7BF-FBF500462798}"/>
            </c:ext>
          </c:extLst>
        </c:ser>
        <c:ser>
          <c:idx val="2"/>
          <c:order val="2"/>
          <c:tx>
            <c:strRef>
              <c:f>'ONLY FEDERAL (2)'!$AW$39</c:f>
              <c:strCache>
                <c:ptCount val="1"/>
                <c:pt idx="0">
                  <c:v>HDFC</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(2)'!$AT$40:$AT$43</c:f>
              <c:strCache>
                <c:ptCount val="4"/>
                <c:pt idx="0">
                  <c:v>Vouchers &amp; offers</c:v>
                </c:pt>
                <c:pt idx="1">
                  <c:v>Credit card</c:v>
                </c:pt>
                <c:pt idx="2">
                  <c:v>Lifestyle benefits</c:v>
                </c:pt>
                <c:pt idx="3">
                  <c:v>Travel benefits</c:v>
                </c:pt>
              </c:strCache>
            </c:strRef>
          </c:cat>
          <c:val>
            <c:numRef>
              <c:f>'ONLY FEDERAL (2)'!$AW$40:$AW$43</c:f>
              <c:numCache>
                <c:formatCode>0%</c:formatCode>
                <c:ptCount val="4"/>
                <c:pt idx="0">
                  <c:v>0.13907284768211919</c:v>
                </c:pt>
                <c:pt idx="1">
                  <c:v>0.14743589743589744</c:v>
                </c:pt>
                <c:pt idx="2">
                  <c:v>0.16666666666666666</c:v>
                </c:pt>
                <c:pt idx="3">
                  <c:v>0.15131578947368421</c:v>
                </c:pt>
              </c:numCache>
            </c:numRef>
          </c:val>
          <c:extLst>
            <c:ext xmlns:c16="http://schemas.microsoft.com/office/drawing/2014/chart" uri="{C3380CC4-5D6E-409C-BE32-E72D297353CC}">
              <c16:uniqueId val="{00000003-7E50-4055-A7BF-FBF500462798}"/>
            </c:ext>
          </c:extLst>
        </c:ser>
        <c:ser>
          <c:idx val="3"/>
          <c:order val="3"/>
          <c:tx>
            <c:strRef>
              <c:f>'ONLY FEDERAL (2)'!$AX$39</c:f>
              <c:strCache>
                <c:ptCount val="1"/>
                <c:pt idx="0">
                  <c:v>AXIS</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(2)'!$AT$40:$AT$43</c:f>
              <c:strCache>
                <c:ptCount val="4"/>
                <c:pt idx="0">
                  <c:v>Vouchers &amp; offers</c:v>
                </c:pt>
                <c:pt idx="1">
                  <c:v>Credit card</c:v>
                </c:pt>
                <c:pt idx="2">
                  <c:v>Lifestyle benefits</c:v>
                </c:pt>
                <c:pt idx="3">
                  <c:v>Travel benefits</c:v>
                </c:pt>
              </c:strCache>
            </c:strRef>
          </c:cat>
          <c:val>
            <c:numRef>
              <c:f>'ONLY FEDERAL (2)'!$AX$40:$AX$43</c:f>
              <c:numCache>
                <c:formatCode>0%</c:formatCode>
                <c:ptCount val="4"/>
                <c:pt idx="0">
                  <c:v>7.2847682119205295E-2</c:v>
                </c:pt>
                <c:pt idx="1">
                  <c:v>0.10256410256410256</c:v>
                </c:pt>
                <c:pt idx="2">
                  <c:v>5.3333333333333337E-2</c:v>
                </c:pt>
                <c:pt idx="3">
                  <c:v>0.10526315789473684</c:v>
                </c:pt>
              </c:numCache>
            </c:numRef>
          </c:val>
          <c:extLst>
            <c:ext xmlns:c16="http://schemas.microsoft.com/office/drawing/2014/chart" uri="{C3380CC4-5D6E-409C-BE32-E72D297353CC}">
              <c16:uniqueId val="{00000004-7E50-4055-A7BF-FBF500462798}"/>
            </c:ext>
          </c:extLst>
        </c:ser>
        <c:ser>
          <c:idx val="4"/>
          <c:order val="4"/>
          <c:tx>
            <c:strRef>
              <c:f>'ONLY FEDERAL (2)'!$AY$39</c:f>
              <c:strCache>
                <c:ptCount val="1"/>
                <c:pt idx="0">
                  <c:v>I have not experienced this</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'ONLY FEDERAL (2)'!$AT$40:$AT$43</c:f>
              <c:strCache>
                <c:ptCount val="4"/>
                <c:pt idx="0">
                  <c:v>Vouchers &amp; offers</c:v>
                </c:pt>
                <c:pt idx="1">
                  <c:v>Credit card</c:v>
                </c:pt>
                <c:pt idx="2">
                  <c:v>Lifestyle benefits</c:v>
                </c:pt>
                <c:pt idx="3">
                  <c:v>Travel benefits</c:v>
                </c:pt>
              </c:strCache>
            </c:strRef>
          </c:cat>
          <c:val>
            <c:numRef>
              <c:f>'ONLY FEDERAL (2)'!$AY$40:$AY$43</c:f>
              <c:numCache>
                <c:formatCode>0%</c:formatCode>
                <c:ptCount val="4"/>
                <c:pt idx="0">
                  <c:v>0.31788079470198677</c:v>
                </c:pt>
                <c:pt idx="1">
                  <c:v>0.32051282051282054</c:v>
                </c:pt>
                <c:pt idx="2">
                  <c:v>0.29333333333333333</c:v>
                </c:pt>
                <c:pt idx="3">
                  <c:v>0.28289473684210525</c:v>
                </c:pt>
              </c:numCache>
            </c:numRef>
          </c:val>
          <c:extLst>
            <c:ext xmlns:c16="http://schemas.microsoft.com/office/drawing/2014/chart" uri="{C3380CC4-5D6E-409C-BE32-E72D297353CC}">
              <c16:uniqueId val="{00000005-7E50-4055-A7BF-FBF500462798}"/>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just">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5.4559854549448707E-2"/>
          <c:w val="0.84358708580795339"/>
          <c:h val="0.79707306780128873"/>
        </c:manualLayout>
      </c:layout>
      <c:barChart>
        <c:barDir val="col"/>
        <c:grouping val="percentStacked"/>
        <c:varyColors val="0"/>
        <c:ser>
          <c:idx val="0"/>
          <c:order val="0"/>
          <c:tx>
            <c:strRef>
              <c:f>'FED+HDFC (2)'!$R$112</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(2)'!$Q$113:$Q$116</c:f>
              <c:strCache>
                <c:ptCount val="4"/>
                <c:pt idx="0">
                  <c:v>Travel benefits</c:v>
                </c:pt>
                <c:pt idx="1">
                  <c:v>Vouchers &amp; offers</c:v>
                </c:pt>
                <c:pt idx="2">
                  <c:v>Credit card</c:v>
                </c:pt>
                <c:pt idx="3">
                  <c:v>Lifestyle benefits</c:v>
                </c:pt>
              </c:strCache>
            </c:strRef>
          </c:cat>
          <c:val>
            <c:numRef>
              <c:f>'FED+HDFC (2)'!$R$113:$R$116</c:f>
              <c:numCache>
                <c:formatCode>0%</c:formatCode>
                <c:ptCount val="4"/>
                <c:pt idx="0">
                  <c:v>0.32258064516129031</c:v>
                </c:pt>
                <c:pt idx="1">
                  <c:v>0.22580645161290322</c:v>
                </c:pt>
                <c:pt idx="2">
                  <c:v>0.19354838709677419</c:v>
                </c:pt>
                <c:pt idx="3">
                  <c:v>0.19354838709677419</c:v>
                </c:pt>
              </c:numCache>
            </c:numRef>
          </c:val>
          <c:extLst>
            <c:ext xmlns:c16="http://schemas.microsoft.com/office/drawing/2014/chart" uri="{C3380CC4-5D6E-409C-BE32-E72D297353CC}">
              <c16:uniqueId val="{00000001-4803-47E1-B4B1-1CD80A527F53}"/>
            </c:ext>
          </c:extLst>
        </c:ser>
        <c:ser>
          <c:idx val="1"/>
          <c:order val="1"/>
          <c:tx>
            <c:strRef>
              <c:f>'FED+HDFC (2)'!$S$112</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(2)'!$Q$113:$Q$116</c:f>
              <c:strCache>
                <c:ptCount val="4"/>
                <c:pt idx="0">
                  <c:v>Travel benefits</c:v>
                </c:pt>
                <c:pt idx="1">
                  <c:v>Vouchers &amp; offers</c:v>
                </c:pt>
                <c:pt idx="2">
                  <c:v>Credit card</c:v>
                </c:pt>
                <c:pt idx="3">
                  <c:v>Lifestyle benefits</c:v>
                </c:pt>
              </c:strCache>
            </c:strRef>
          </c:cat>
          <c:val>
            <c:numRef>
              <c:f>'FED+HDFC (2)'!$S$113:$S$116</c:f>
              <c:numCache>
                <c:formatCode>0%</c:formatCode>
                <c:ptCount val="4"/>
                <c:pt idx="0">
                  <c:v>0.29032258064516131</c:v>
                </c:pt>
                <c:pt idx="1">
                  <c:v>0.25806451612903225</c:v>
                </c:pt>
                <c:pt idx="2">
                  <c:v>0.25806451612903225</c:v>
                </c:pt>
                <c:pt idx="3">
                  <c:v>0.32258064516129031</c:v>
                </c:pt>
              </c:numCache>
            </c:numRef>
          </c:val>
          <c:extLst>
            <c:ext xmlns:c16="http://schemas.microsoft.com/office/drawing/2014/chart" uri="{C3380CC4-5D6E-409C-BE32-E72D297353CC}">
              <c16:uniqueId val="{00000002-4803-47E1-B4B1-1CD80A527F53}"/>
            </c:ext>
          </c:extLst>
        </c:ser>
        <c:ser>
          <c:idx val="2"/>
          <c:order val="2"/>
          <c:tx>
            <c:strRef>
              <c:f>'FED+HDFC (2)'!$T$112</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(2)'!$Q$113:$Q$116</c:f>
              <c:strCache>
                <c:ptCount val="4"/>
                <c:pt idx="0">
                  <c:v>Travel benefits</c:v>
                </c:pt>
                <c:pt idx="1">
                  <c:v>Vouchers &amp; offers</c:v>
                </c:pt>
                <c:pt idx="2">
                  <c:v>Credit card</c:v>
                </c:pt>
                <c:pt idx="3">
                  <c:v>Lifestyle benefits</c:v>
                </c:pt>
              </c:strCache>
            </c:strRef>
          </c:cat>
          <c:val>
            <c:numRef>
              <c:f>'FED+HDFC (2)'!$T$113:$T$116</c:f>
              <c:numCache>
                <c:formatCode>0%</c:formatCode>
                <c:ptCount val="4"/>
                <c:pt idx="0">
                  <c:v>3.2258064516129031E-2</c:v>
                </c:pt>
                <c:pt idx="1">
                  <c:v>3.2258064516129031E-2</c:v>
                </c:pt>
                <c:pt idx="2">
                  <c:v>3.2258064516129031E-2</c:v>
                </c:pt>
                <c:pt idx="3">
                  <c:v>3.2258064516129031E-2</c:v>
                </c:pt>
              </c:numCache>
            </c:numRef>
          </c:val>
          <c:extLst>
            <c:ext xmlns:c16="http://schemas.microsoft.com/office/drawing/2014/chart" uri="{C3380CC4-5D6E-409C-BE32-E72D297353CC}">
              <c16:uniqueId val="{00000003-4803-47E1-B4B1-1CD80A527F53}"/>
            </c:ext>
          </c:extLst>
        </c:ser>
        <c:ser>
          <c:idx val="3"/>
          <c:order val="3"/>
          <c:tx>
            <c:strRef>
              <c:f>'FED+HDFC (2)'!$U$112</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(2)'!$Q$113:$Q$116</c:f>
              <c:strCache>
                <c:ptCount val="4"/>
                <c:pt idx="0">
                  <c:v>Travel benefits</c:v>
                </c:pt>
                <c:pt idx="1">
                  <c:v>Vouchers &amp; offers</c:v>
                </c:pt>
                <c:pt idx="2">
                  <c:v>Credit card</c:v>
                </c:pt>
                <c:pt idx="3">
                  <c:v>Lifestyle benefits</c:v>
                </c:pt>
              </c:strCache>
            </c:strRef>
          </c:cat>
          <c:val>
            <c:numRef>
              <c:f>'FED+HDFC (2)'!$U$113:$U$116</c:f>
              <c:numCache>
                <c:formatCode>0%</c:formatCode>
                <c:ptCount val="4"/>
                <c:pt idx="0">
                  <c:v>6.4516129032258063E-2</c:v>
                </c:pt>
                <c:pt idx="1">
                  <c:v>3.2258064516129031E-2</c:v>
                </c:pt>
                <c:pt idx="2">
                  <c:v>6.4516129032258063E-2</c:v>
                </c:pt>
                <c:pt idx="3">
                  <c:v>6.4516129032258063E-2</c:v>
                </c:pt>
              </c:numCache>
            </c:numRef>
          </c:val>
          <c:extLst>
            <c:ext xmlns:c16="http://schemas.microsoft.com/office/drawing/2014/chart" uri="{C3380CC4-5D6E-409C-BE32-E72D297353CC}">
              <c16:uniqueId val="{00000004-4803-47E1-B4B1-1CD80A527F53}"/>
            </c:ext>
          </c:extLst>
        </c:ser>
        <c:ser>
          <c:idx val="4"/>
          <c:order val="4"/>
          <c:tx>
            <c:strRef>
              <c:f>'FED+HDFC (2)'!$V$112</c:f>
              <c:strCache>
                <c:ptCount val="1"/>
                <c:pt idx="0">
                  <c:v>I have not experienced this</c:v>
                </c:pt>
              </c:strCache>
            </c:strRef>
          </c:tx>
          <c:spPr>
            <a:solidFill>
              <a:srgbClr val="F7B4AE"/>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(2)'!$Q$113:$Q$116</c:f>
              <c:strCache>
                <c:ptCount val="4"/>
                <c:pt idx="0">
                  <c:v>Travel benefits</c:v>
                </c:pt>
                <c:pt idx="1">
                  <c:v>Vouchers &amp; offers</c:v>
                </c:pt>
                <c:pt idx="2">
                  <c:v>Credit card</c:v>
                </c:pt>
                <c:pt idx="3">
                  <c:v>Lifestyle benefits</c:v>
                </c:pt>
              </c:strCache>
            </c:strRef>
          </c:cat>
          <c:val>
            <c:numRef>
              <c:f>'FED+HDFC (2)'!$V$113:$V$116</c:f>
              <c:numCache>
                <c:formatCode>0%</c:formatCode>
                <c:ptCount val="4"/>
                <c:pt idx="0">
                  <c:v>0.29032258064516131</c:v>
                </c:pt>
                <c:pt idx="1">
                  <c:v>0.45161290322580644</c:v>
                </c:pt>
                <c:pt idx="2">
                  <c:v>0.45161290322580644</c:v>
                </c:pt>
                <c:pt idx="3">
                  <c:v>0.38709677419354838</c:v>
                </c:pt>
              </c:numCache>
            </c:numRef>
          </c:val>
          <c:extLst>
            <c:ext xmlns:c16="http://schemas.microsoft.com/office/drawing/2014/chart" uri="{C3380CC4-5D6E-409C-BE32-E72D297353CC}">
              <c16:uniqueId val="{00000005-4803-47E1-B4B1-1CD80A527F53}"/>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05529931942446E-2"/>
          <c:y val="5.4614298312977261E-2"/>
          <c:w val="0.87679389086924819"/>
          <c:h val="0.77836210401692352"/>
        </c:manualLayout>
      </c:layout>
      <c:barChart>
        <c:barDir val="col"/>
        <c:grouping val="percentStacked"/>
        <c:varyColors val="0"/>
        <c:ser>
          <c:idx val="0"/>
          <c:order val="0"/>
          <c:tx>
            <c:strRef>
              <c:f>'FED+KOTAK (2)'!$S$113</c:f>
              <c:strCache>
                <c:ptCount val="1"/>
                <c:pt idx="0">
                  <c:v>FEDERAL</c:v>
                </c:pt>
              </c:strCache>
            </c:strRef>
          </c:tx>
          <c:spPr>
            <a:solidFill>
              <a:srgbClr val="F7A800"/>
            </a:solidFill>
            <a:ln>
              <a:noFill/>
            </a:ln>
            <a:effectLst/>
          </c:spPr>
          <c:invertIfNegative val="0"/>
          <c:dLbls>
            <c:dLbl>
              <c:idx val="4"/>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0-8F92-4600-ACDC-4C04F692F46E}"/>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(2)'!$R$114:$R$117</c:f>
              <c:strCache>
                <c:ptCount val="4"/>
                <c:pt idx="0">
                  <c:v>Credit card</c:v>
                </c:pt>
                <c:pt idx="1">
                  <c:v>Vouchers &amp; offers</c:v>
                </c:pt>
                <c:pt idx="2">
                  <c:v>Lifestyle benefits</c:v>
                </c:pt>
                <c:pt idx="3">
                  <c:v>Travel benefits</c:v>
                </c:pt>
              </c:strCache>
            </c:strRef>
          </c:cat>
          <c:val>
            <c:numRef>
              <c:f>'FED+KOTAK (2)'!$S$114:$S$117</c:f>
              <c:numCache>
                <c:formatCode>0%</c:formatCode>
                <c:ptCount val="4"/>
                <c:pt idx="0">
                  <c:v>0</c:v>
                </c:pt>
                <c:pt idx="1">
                  <c:v>0</c:v>
                </c:pt>
                <c:pt idx="2">
                  <c:v>0</c:v>
                </c:pt>
                <c:pt idx="3">
                  <c:v>0</c:v>
                </c:pt>
              </c:numCache>
            </c:numRef>
          </c:val>
          <c:extLst>
            <c:ext xmlns:c16="http://schemas.microsoft.com/office/drawing/2014/chart" uri="{C3380CC4-5D6E-409C-BE32-E72D297353CC}">
              <c16:uniqueId val="{00000001-8F92-4600-ACDC-4C04F692F46E}"/>
            </c:ext>
          </c:extLst>
        </c:ser>
        <c:ser>
          <c:idx val="1"/>
          <c:order val="1"/>
          <c:tx>
            <c:strRef>
              <c:f>'FED+KOTAK (2)'!$T$113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(2)'!$R$114:$R$117</c:f>
              <c:strCache>
                <c:ptCount val="4"/>
                <c:pt idx="0">
                  <c:v>Credit card</c:v>
                </c:pt>
                <c:pt idx="1">
                  <c:v>Vouchers &amp; offers</c:v>
                </c:pt>
                <c:pt idx="2">
                  <c:v>Lifestyle benefits</c:v>
                </c:pt>
                <c:pt idx="3">
                  <c:v>Travel benefits</c:v>
                </c:pt>
              </c:strCache>
            </c:strRef>
          </c:cat>
          <c:val>
            <c:numRef>
              <c:f>'FED+KOTAK (2)'!$T$114:$T$117</c:f>
              <c:numCache>
                <c:formatCode>0%</c:formatCode>
                <c:ptCount val="4"/>
                <c:pt idx="0">
                  <c:v>0.4</c:v>
                </c:pt>
                <c:pt idx="1">
                  <c:v>0.2</c:v>
                </c:pt>
                <c:pt idx="2">
                  <c:v>0.2</c:v>
                </c:pt>
                <c:pt idx="3">
                  <c:v>0.2</c:v>
                </c:pt>
              </c:numCache>
            </c:numRef>
          </c:val>
          <c:extLst>
            <c:ext xmlns:c16="http://schemas.microsoft.com/office/drawing/2014/chart" uri="{C3380CC4-5D6E-409C-BE32-E72D297353CC}">
              <c16:uniqueId val="{00000002-8F92-4600-ACDC-4C04F692F46E}"/>
            </c:ext>
          </c:extLst>
        </c:ser>
        <c:ser>
          <c:idx val="2"/>
          <c:order val="2"/>
          <c:tx>
            <c:strRef>
              <c:f>'FED+KOTAK (2)'!$U$113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(2)'!$R$114:$R$117</c:f>
              <c:strCache>
                <c:ptCount val="4"/>
                <c:pt idx="0">
                  <c:v>Credit card</c:v>
                </c:pt>
                <c:pt idx="1">
                  <c:v>Vouchers &amp; offers</c:v>
                </c:pt>
                <c:pt idx="2">
                  <c:v>Lifestyle benefits</c:v>
                </c:pt>
                <c:pt idx="3">
                  <c:v>Travel benefits</c:v>
                </c:pt>
              </c:strCache>
            </c:strRef>
          </c:cat>
          <c:val>
            <c:numRef>
              <c:f>'FED+KOTAK (2)'!$U$114:$U$117</c:f>
              <c:numCache>
                <c:formatCode>0%</c:formatCode>
                <c:ptCount val="4"/>
                <c:pt idx="0">
                  <c:v>0</c:v>
                </c:pt>
                <c:pt idx="1">
                  <c:v>0.2</c:v>
                </c:pt>
                <c:pt idx="2">
                  <c:v>0.2</c:v>
                </c:pt>
                <c:pt idx="3">
                  <c:v>0.4</c:v>
                </c:pt>
              </c:numCache>
            </c:numRef>
          </c:val>
          <c:extLst>
            <c:ext xmlns:c16="http://schemas.microsoft.com/office/drawing/2014/chart" uri="{C3380CC4-5D6E-409C-BE32-E72D297353CC}">
              <c16:uniqueId val="{00000003-8F92-4600-ACDC-4C04F692F46E}"/>
            </c:ext>
          </c:extLst>
        </c:ser>
        <c:ser>
          <c:idx val="3"/>
          <c:order val="3"/>
          <c:tx>
            <c:strRef>
              <c:f>'FED+KOTAK (2)'!$V$113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(2)'!$R$114:$R$117</c:f>
              <c:strCache>
                <c:ptCount val="4"/>
                <c:pt idx="0">
                  <c:v>Credit card</c:v>
                </c:pt>
                <c:pt idx="1">
                  <c:v>Vouchers &amp; offers</c:v>
                </c:pt>
                <c:pt idx="2">
                  <c:v>Lifestyle benefits</c:v>
                </c:pt>
                <c:pt idx="3">
                  <c:v>Travel benefits</c:v>
                </c:pt>
              </c:strCache>
            </c:strRef>
          </c:cat>
          <c:val>
            <c:numRef>
              <c:f>'FED+KOTAK (2)'!$V$114:$V$117</c:f>
              <c:numCache>
                <c:formatCode>0%</c:formatCode>
                <c:ptCount val="4"/>
                <c:pt idx="0">
                  <c:v>0.2</c:v>
                </c:pt>
                <c:pt idx="1">
                  <c:v>0</c:v>
                </c:pt>
                <c:pt idx="2">
                  <c:v>0.2</c:v>
                </c:pt>
                <c:pt idx="3">
                  <c:v>0</c:v>
                </c:pt>
              </c:numCache>
            </c:numRef>
          </c:val>
          <c:extLst>
            <c:ext xmlns:c16="http://schemas.microsoft.com/office/drawing/2014/chart" uri="{C3380CC4-5D6E-409C-BE32-E72D297353CC}">
              <c16:uniqueId val="{00000004-8F92-4600-ACDC-4C04F692F46E}"/>
            </c:ext>
          </c:extLst>
        </c:ser>
        <c:ser>
          <c:idx val="4"/>
          <c:order val="4"/>
          <c:tx>
            <c:strRef>
              <c:f>'FED+KOTAK (2)'!$W$113</c:f>
              <c:strCache>
                <c:ptCount val="1"/>
                <c:pt idx="0">
                  <c:v>I have not experienced this</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(2)'!$R$114:$R$117</c:f>
              <c:strCache>
                <c:ptCount val="4"/>
                <c:pt idx="0">
                  <c:v>Credit card</c:v>
                </c:pt>
                <c:pt idx="1">
                  <c:v>Vouchers &amp; offers</c:v>
                </c:pt>
                <c:pt idx="2">
                  <c:v>Lifestyle benefits</c:v>
                </c:pt>
                <c:pt idx="3">
                  <c:v>Travel benefits</c:v>
                </c:pt>
              </c:strCache>
            </c:strRef>
          </c:cat>
          <c:val>
            <c:numRef>
              <c:f>'FED+KOTAK (2)'!$W$114:$W$117</c:f>
              <c:numCache>
                <c:formatCode>0%</c:formatCode>
                <c:ptCount val="4"/>
                <c:pt idx="0">
                  <c:v>0.4</c:v>
                </c:pt>
                <c:pt idx="1">
                  <c:v>0.6</c:v>
                </c:pt>
                <c:pt idx="2">
                  <c:v>0.4</c:v>
                </c:pt>
                <c:pt idx="3">
                  <c:v>0.4</c:v>
                </c:pt>
              </c:numCache>
            </c:numRef>
          </c:val>
          <c:extLst>
            <c:ext xmlns:c16="http://schemas.microsoft.com/office/drawing/2014/chart" uri="{C3380CC4-5D6E-409C-BE32-E72D297353CC}">
              <c16:uniqueId val="{00000005-8F92-4600-ACDC-4C04F692F46E}"/>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2.650439291668507E-2"/>
          <c:w val="0.83590721577972371"/>
          <c:h val="0.8039771997711348"/>
        </c:manualLayout>
      </c:layout>
      <c:barChart>
        <c:barDir val="col"/>
        <c:grouping val="percentStacked"/>
        <c:varyColors val="0"/>
        <c:ser>
          <c:idx val="0"/>
          <c:order val="0"/>
          <c:tx>
            <c:strRef>
              <c:f>'FED+AXIS (2)'!$R$84</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(2)'!$Q$85:$Q$88</c:f>
              <c:strCache>
                <c:ptCount val="4"/>
                <c:pt idx="0">
                  <c:v>Vouchers &amp; offers</c:v>
                </c:pt>
                <c:pt idx="1">
                  <c:v>Credit card</c:v>
                </c:pt>
                <c:pt idx="2">
                  <c:v>Lifestyle benefits</c:v>
                </c:pt>
                <c:pt idx="3">
                  <c:v>Travel benefits</c:v>
                </c:pt>
              </c:strCache>
            </c:strRef>
          </c:cat>
          <c:val>
            <c:numRef>
              <c:f>'FED+AXIS (2)'!$R$85:$R$88</c:f>
              <c:numCache>
                <c:formatCode>0%</c:formatCode>
                <c:ptCount val="4"/>
                <c:pt idx="0">
                  <c:v>0.375</c:v>
                </c:pt>
                <c:pt idx="1">
                  <c:v>0.25</c:v>
                </c:pt>
                <c:pt idx="2">
                  <c:v>0.25</c:v>
                </c:pt>
                <c:pt idx="3">
                  <c:v>0.25</c:v>
                </c:pt>
              </c:numCache>
            </c:numRef>
          </c:val>
          <c:extLst>
            <c:ext xmlns:c16="http://schemas.microsoft.com/office/drawing/2014/chart" uri="{C3380CC4-5D6E-409C-BE32-E72D297353CC}">
              <c16:uniqueId val="{00000001-2410-41A6-91AD-06B9FCA0FC5D}"/>
            </c:ext>
          </c:extLst>
        </c:ser>
        <c:ser>
          <c:idx val="1"/>
          <c:order val="1"/>
          <c:tx>
            <c:strRef>
              <c:f>'FED+AXIS (2)'!$S$84</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(2)'!$Q$85:$Q$88</c:f>
              <c:strCache>
                <c:ptCount val="4"/>
                <c:pt idx="0">
                  <c:v>Vouchers &amp; offers</c:v>
                </c:pt>
                <c:pt idx="1">
                  <c:v>Credit card</c:v>
                </c:pt>
                <c:pt idx="2">
                  <c:v>Lifestyle benefits</c:v>
                </c:pt>
                <c:pt idx="3">
                  <c:v>Travel benefits</c:v>
                </c:pt>
              </c:strCache>
            </c:strRef>
          </c:cat>
          <c:val>
            <c:numRef>
              <c:f>'FED+AXIS (2)'!$S$85:$S$88</c:f>
              <c:numCache>
                <c:formatCode>0%</c:formatCode>
                <c:ptCount val="4"/>
                <c:pt idx="0">
                  <c:v>6.25E-2</c:v>
                </c:pt>
                <c:pt idx="1">
                  <c:v>0.1875</c:v>
                </c:pt>
                <c:pt idx="2">
                  <c:v>0.25</c:v>
                </c:pt>
                <c:pt idx="3">
                  <c:v>0.25</c:v>
                </c:pt>
              </c:numCache>
            </c:numRef>
          </c:val>
          <c:extLst>
            <c:ext xmlns:c16="http://schemas.microsoft.com/office/drawing/2014/chart" uri="{C3380CC4-5D6E-409C-BE32-E72D297353CC}">
              <c16:uniqueId val="{00000002-2410-41A6-91AD-06B9FCA0FC5D}"/>
            </c:ext>
          </c:extLst>
        </c:ser>
        <c:ser>
          <c:idx val="2"/>
          <c:order val="2"/>
          <c:tx>
            <c:strRef>
              <c:f>'FED+AXIS (2)'!$T$84</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(2)'!$Q$85:$Q$88</c:f>
              <c:strCache>
                <c:ptCount val="4"/>
                <c:pt idx="0">
                  <c:v>Vouchers &amp; offers</c:v>
                </c:pt>
                <c:pt idx="1">
                  <c:v>Credit card</c:v>
                </c:pt>
                <c:pt idx="2">
                  <c:v>Lifestyle benefits</c:v>
                </c:pt>
                <c:pt idx="3">
                  <c:v>Travel benefits</c:v>
                </c:pt>
              </c:strCache>
            </c:strRef>
          </c:cat>
          <c:val>
            <c:numRef>
              <c:f>'FED+AXIS (2)'!$T$85:$T$88</c:f>
              <c:numCache>
                <c:formatCode>0%</c:formatCode>
                <c:ptCount val="4"/>
                <c:pt idx="0">
                  <c:v>0</c:v>
                </c:pt>
                <c:pt idx="1">
                  <c:v>0</c:v>
                </c:pt>
                <c:pt idx="2">
                  <c:v>0</c:v>
                </c:pt>
                <c:pt idx="3">
                  <c:v>0</c:v>
                </c:pt>
              </c:numCache>
            </c:numRef>
          </c:val>
          <c:extLst>
            <c:ext xmlns:c16="http://schemas.microsoft.com/office/drawing/2014/chart" uri="{C3380CC4-5D6E-409C-BE32-E72D297353CC}">
              <c16:uniqueId val="{00000003-2410-41A6-91AD-06B9FCA0FC5D}"/>
            </c:ext>
          </c:extLst>
        </c:ser>
        <c:ser>
          <c:idx val="3"/>
          <c:order val="3"/>
          <c:tx>
            <c:strRef>
              <c:f>'FED+AXIS (2)'!$U$84</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(2)'!$Q$85:$Q$88</c:f>
              <c:strCache>
                <c:ptCount val="4"/>
                <c:pt idx="0">
                  <c:v>Vouchers &amp; offers</c:v>
                </c:pt>
                <c:pt idx="1">
                  <c:v>Credit card</c:v>
                </c:pt>
                <c:pt idx="2">
                  <c:v>Lifestyle benefits</c:v>
                </c:pt>
                <c:pt idx="3">
                  <c:v>Travel benefits</c:v>
                </c:pt>
              </c:strCache>
            </c:strRef>
          </c:cat>
          <c:val>
            <c:numRef>
              <c:f>'FED+AXIS (2)'!$U$85:$U$88</c:f>
              <c:numCache>
                <c:formatCode>0%</c:formatCode>
                <c:ptCount val="4"/>
                <c:pt idx="0">
                  <c:v>0.1875</c:v>
                </c:pt>
                <c:pt idx="1">
                  <c:v>0.125</c:v>
                </c:pt>
                <c:pt idx="2">
                  <c:v>0.1875</c:v>
                </c:pt>
                <c:pt idx="3">
                  <c:v>0.25</c:v>
                </c:pt>
              </c:numCache>
            </c:numRef>
          </c:val>
          <c:extLst>
            <c:ext xmlns:c16="http://schemas.microsoft.com/office/drawing/2014/chart" uri="{C3380CC4-5D6E-409C-BE32-E72D297353CC}">
              <c16:uniqueId val="{00000004-2410-41A6-91AD-06B9FCA0FC5D}"/>
            </c:ext>
          </c:extLst>
        </c:ser>
        <c:ser>
          <c:idx val="4"/>
          <c:order val="4"/>
          <c:tx>
            <c:strRef>
              <c:f>'FED+AXIS (2)'!$V$84</c:f>
              <c:strCache>
                <c:ptCount val="1"/>
                <c:pt idx="0">
                  <c:v>I have not experienced this</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(2)'!$Q$85:$Q$88</c:f>
              <c:strCache>
                <c:ptCount val="4"/>
                <c:pt idx="0">
                  <c:v>Vouchers &amp; offers</c:v>
                </c:pt>
                <c:pt idx="1">
                  <c:v>Credit card</c:v>
                </c:pt>
                <c:pt idx="2">
                  <c:v>Lifestyle benefits</c:v>
                </c:pt>
                <c:pt idx="3">
                  <c:v>Travel benefits</c:v>
                </c:pt>
              </c:strCache>
            </c:strRef>
          </c:cat>
          <c:val>
            <c:numRef>
              <c:f>'FED+AXIS (2)'!$V$85:$V$88</c:f>
              <c:numCache>
                <c:formatCode>0%</c:formatCode>
                <c:ptCount val="4"/>
                <c:pt idx="0">
                  <c:v>0.375</c:v>
                </c:pt>
                <c:pt idx="1">
                  <c:v>0.4375</c:v>
                </c:pt>
                <c:pt idx="2">
                  <c:v>0.3125</c:v>
                </c:pt>
                <c:pt idx="3">
                  <c:v>0.25</c:v>
                </c:pt>
              </c:numCache>
            </c:numRef>
          </c:val>
          <c:extLst>
            <c:ext xmlns:c16="http://schemas.microsoft.com/office/drawing/2014/chart" uri="{C3380CC4-5D6E-409C-BE32-E72D297353CC}">
              <c16:uniqueId val="{00000005-2410-41A6-91AD-06B9FCA0FC5D}"/>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7635293373931533E-2"/>
          <c:y val="3.5138635268665321E-2"/>
          <c:w val="0.87923750454038363"/>
          <c:h val="0.8292822288765167"/>
        </c:manualLayout>
      </c:layout>
      <c:barChart>
        <c:barDir val="col"/>
        <c:grouping val="percentStacked"/>
        <c:varyColors val="0"/>
        <c:ser>
          <c:idx val="0"/>
          <c:order val="0"/>
          <c:tx>
            <c:strRef>
              <c:f>'KOTAK+HDFC+AXIS+ICICI (LB)'!$AG$3</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(LB)'!$AF$4:$AF$7</c:f>
              <c:strCache>
                <c:ptCount val="4"/>
                <c:pt idx="0">
                  <c:v>Credit card</c:v>
                </c:pt>
                <c:pt idx="1">
                  <c:v>Lifestyle benefits</c:v>
                </c:pt>
                <c:pt idx="2">
                  <c:v>Travel benefits</c:v>
                </c:pt>
                <c:pt idx="3">
                  <c:v>Vouchers &amp; offers</c:v>
                </c:pt>
              </c:strCache>
            </c:strRef>
          </c:cat>
          <c:val>
            <c:numRef>
              <c:f>'KOTAK+HDFC+AXIS+ICICI (LB)'!$AG$4:$AG$7</c:f>
              <c:numCache>
                <c:formatCode>0%</c:formatCode>
                <c:ptCount val="4"/>
                <c:pt idx="0">
                  <c:v>8.0000000000000002E-3</c:v>
                </c:pt>
                <c:pt idx="1">
                  <c:v>7.9365079365079361E-3</c:v>
                </c:pt>
                <c:pt idx="2">
                  <c:v>7.9365079365079361E-3</c:v>
                </c:pt>
                <c:pt idx="3">
                  <c:v>8.0000000000000002E-3</c:v>
                </c:pt>
              </c:numCache>
            </c:numRef>
          </c:val>
          <c:extLst>
            <c:ext xmlns:c16="http://schemas.microsoft.com/office/drawing/2014/chart" uri="{C3380CC4-5D6E-409C-BE32-E72D297353CC}">
              <c16:uniqueId val="{00000001-501B-4EE7-975A-8769C920E612}"/>
            </c:ext>
          </c:extLst>
        </c:ser>
        <c:ser>
          <c:idx val="1"/>
          <c:order val="1"/>
          <c:tx>
            <c:strRef>
              <c:f>'KOTAK+HDFC+AXIS+ICICI (LB)'!$AH$3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(LB)'!$AF$4:$AF$7</c:f>
              <c:strCache>
                <c:ptCount val="4"/>
                <c:pt idx="0">
                  <c:v>Credit card</c:v>
                </c:pt>
                <c:pt idx="1">
                  <c:v>Lifestyle benefits</c:v>
                </c:pt>
                <c:pt idx="2">
                  <c:v>Travel benefits</c:v>
                </c:pt>
                <c:pt idx="3">
                  <c:v>Vouchers &amp; offers</c:v>
                </c:pt>
              </c:strCache>
            </c:strRef>
          </c:cat>
          <c:val>
            <c:numRef>
              <c:f>'KOTAK+HDFC+AXIS+ICICI (LB)'!$AH$4:$AH$7</c:f>
              <c:numCache>
                <c:formatCode>0%</c:formatCode>
                <c:ptCount val="4"/>
                <c:pt idx="0">
                  <c:v>0.60799999999999998</c:v>
                </c:pt>
                <c:pt idx="1">
                  <c:v>0.60317460317460314</c:v>
                </c:pt>
                <c:pt idx="2">
                  <c:v>0.54761904761904767</c:v>
                </c:pt>
                <c:pt idx="3">
                  <c:v>0.51200000000000001</c:v>
                </c:pt>
              </c:numCache>
            </c:numRef>
          </c:val>
          <c:extLst>
            <c:ext xmlns:c16="http://schemas.microsoft.com/office/drawing/2014/chart" uri="{C3380CC4-5D6E-409C-BE32-E72D297353CC}">
              <c16:uniqueId val="{00000002-501B-4EE7-975A-8769C920E612}"/>
            </c:ext>
          </c:extLst>
        </c:ser>
        <c:ser>
          <c:idx val="2"/>
          <c:order val="2"/>
          <c:tx>
            <c:strRef>
              <c:f>'KOTAK+HDFC+AXIS+ICICI (LB)'!$AI$3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(LB)'!$AF$4:$AF$7</c:f>
              <c:strCache>
                <c:ptCount val="4"/>
                <c:pt idx="0">
                  <c:v>Credit card</c:v>
                </c:pt>
                <c:pt idx="1">
                  <c:v>Lifestyle benefits</c:v>
                </c:pt>
                <c:pt idx="2">
                  <c:v>Travel benefits</c:v>
                </c:pt>
                <c:pt idx="3">
                  <c:v>Vouchers &amp; offers</c:v>
                </c:pt>
              </c:strCache>
            </c:strRef>
          </c:cat>
          <c:val>
            <c:numRef>
              <c:f>'KOTAK+HDFC+AXIS+ICICI (LB)'!$AI$4:$AI$7</c:f>
              <c:numCache>
                <c:formatCode>0%</c:formatCode>
                <c:ptCount val="4"/>
                <c:pt idx="0">
                  <c:v>0.04</c:v>
                </c:pt>
                <c:pt idx="1">
                  <c:v>0.17460317460317459</c:v>
                </c:pt>
                <c:pt idx="2">
                  <c:v>0.1984126984126984</c:v>
                </c:pt>
                <c:pt idx="3">
                  <c:v>0.13600000000000001</c:v>
                </c:pt>
              </c:numCache>
            </c:numRef>
          </c:val>
          <c:extLst>
            <c:ext xmlns:c16="http://schemas.microsoft.com/office/drawing/2014/chart" uri="{C3380CC4-5D6E-409C-BE32-E72D297353CC}">
              <c16:uniqueId val="{00000003-501B-4EE7-975A-8769C920E612}"/>
            </c:ext>
          </c:extLst>
        </c:ser>
        <c:ser>
          <c:idx val="3"/>
          <c:order val="3"/>
          <c:tx>
            <c:strRef>
              <c:f>'KOTAK+HDFC+AXIS+ICICI (LB)'!$AJ$3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(LB)'!$AF$4:$AF$7</c:f>
              <c:strCache>
                <c:ptCount val="4"/>
                <c:pt idx="0">
                  <c:v>Credit card</c:v>
                </c:pt>
                <c:pt idx="1">
                  <c:v>Lifestyle benefits</c:v>
                </c:pt>
                <c:pt idx="2">
                  <c:v>Travel benefits</c:v>
                </c:pt>
                <c:pt idx="3">
                  <c:v>Vouchers &amp; offers</c:v>
                </c:pt>
              </c:strCache>
            </c:strRef>
          </c:cat>
          <c:val>
            <c:numRef>
              <c:f>'KOTAK+HDFC+AXIS+ICICI (LB)'!$AJ$4:$AJ$7</c:f>
              <c:numCache>
                <c:formatCode>0%</c:formatCode>
                <c:ptCount val="4"/>
                <c:pt idx="0">
                  <c:v>0.224</c:v>
                </c:pt>
                <c:pt idx="1">
                  <c:v>0.13492063492063491</c:v>
                </c:pt>
                <c:pt idx="2">
                  <c:v>0.13492063492063491</c:v>
                </c:pt>
                <c:pt idx="3">
                  <c:v>0.12</c:v>
                </c:pt>
              </c:numCache>
            </c:numRef>
          </c:val>
          <c:extLst>
            <c:ext xmlns:c16="http://schemas.microsoft.com/office/drawing/2014/chart" uri="{C3380CC4-5D6E-409C-BE32-E72D297353CC}">
              <c16:uniqueId val="{00000004-501B-4EE7-975A-8769C920E612}"/>
            </c:ext>
          </c:extLst>
        </c:ser>
        <c:ser>
          <c:idx val="4"/>
          <c:order val="4"/>
          <c:tx>
            <c:strRef>
              <c:f>'KOTAK+HDFC+AXIS+ICICI (LB)'!$AK$3</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(LB)'!$AF$4:$AF$7</c:f>
              <c:strCache>
                <c:ptCount val="4"/>
                <c:pt idx="0">
                  <c:v>Credit card</c:v>
                </c:pt>
                <c:pt idx="1">
                  <c:v>Lifestyle benefits</c:v>
                </c:pt>
                <c:pt idx="2">
                  <c:v>Travel benefits</c:v>
                </c:pt>
                <c:pt idx="3">
                  <c:v>Vouchers &amp; offers</c:v>
                </c:pt>
              </c:strCache>
            </c:strRef>
          </c:cat>
          <c:val>
            <c:numRef>
              <c:f>'KOTAK+HDFC+AXIS+ICICI (LB)'!$AK$4:$AK$7</c:f>
              <c:numCache>
                <c:formatCode>0%</c:formatCode>
                <c:ptCount val="4"/>
                <c:pt idx="0">
                  <c:v>0.12</c:v>
                </c:pt>
                <c:pt idx="1">
                  <c:v>7.1428571428571425E-2</c:v>
                </c:pt>
                <c:pt idx="2">
                  <c:v>0.10317460317460317</c:v>
                </c:pt>
                <c:pt idx="3">
                  <c:v>0.216</c:v>
                </c:pt>
              </c:numCache>
            </c:numRef>
          </c:val>
          <c:extLst>
            <c:ext xmlns:c16="http://schemas.microsoft.com/office/drawing/2014/chart" uri="{C3380CC4-5D6E-409C-BE32-E72D297353CC}">
              <c16:uniqueId val="{00000005-501B-4EE7-975A-8769C920E612}"/>
            </c:ext>
          </c:extLst>
        </c:ser>
        <c:ser>
          <c:idx val="5"/>
          <c:order val="5"/>
          <c:tx>
            <c:strRef>
              <c:f>'KOTAK+HDFC+AXIS+ICICI (LB)'!$AL$3</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(LB)'!$AF$4:$AF$7</c:f>
              <c:strCache>
                <c:ptCount val="4"/>
                <c:pt idx="0">
                  <c:v>Credit card</c:v>
                </c:pt>
                <c:pt idx="1">
                  <c:v>Lifestyle benefits</c:v>
                </c:pt>
                <c:pt idx="2">
                  <c:v>Travel benefits</c:v>
                </c:pt>
                <c:pt idx="3">
                  <c:v>Vouchers &amp; offers</c:v>
                </c:pt>
              </c:strCache>
            </c:strRef>
          </c:cat>
          <c:val>
            <c:numRef>
              <c:f>'KOTAK+HDFC+AXIS+ICICI (LB)'!$AL$4:$AL$7</c:f>
              <c:numCache>
                <c:formatCode>0%</c:formatCode>
                <c:ptCount val="4"/>
                <c:pt idx="0">
                  <c:v>0</c:v>
                </c:pt>
                <c:pt idx="1">
                  <c:v>7.9365079365079361E-3</c:v>
                </c:pt>
                <c:pt idx="2">
                  <c:v>7.9365079365079361E-3</c:v>
                </c:pt>
                <c:pt idx="3">
                  <c:v>8.0000000000000002E-3</c:v>
                </c:pt>
              </c:numCache>
            </c:numRef>
          </c:val>
          <c:extLst>
            <c:ext xmlns:c16="http://schemas.microsoft.com/office/drawing/2014/chart" uri="{C3380CC4-5D6E-409C-BE32-E72D297353CC}">
              <c16:uniqueId val="{00000006-501B-4EE7-975A-8769C920E612}"/>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4.7075406771115103E-2"/>
          <c:w val="0.88392719212973436"/>
          <c:h val="0.79163087522496167"/>
        </c:manualLayout>
      </c:layout>
      <c:barChart>
        <c:barDir val="col"/>
        <c:grouping val="percentStacked"/>
        <c:varyColors val="0"/>
        <c:ser>
          <c:idx val="0"/>
          <c:order val="0"/>
          <c:tx>
            <c:strRef>
              <c:f>'KOTAK+HDFC+AXIS+ICICI (LB)'!$AG$13</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(LB)'!$AF$14:$AF$17</c:f>
              <c:strCache>
                <c:ptCount val="4"/>
                <c:pt idx="0">
                  <c:v>Travel benefits</c:v>
                </c:pt>
                <c:pt idx="1">
                  <c:v>Vouchers &amp; offers</c:v>
                </c:pt>
                <c:pt idx="2">
                  <c:v>Lifestyle benefits</c:v>
                </c:pt>
                <c:pt idx="3">
                  <c:v>Credit card</c:v>
                </c:pt>
              </c:strCache>
            </c:strRef>
          </c:cat>
          <c:val>
            <c:numRef>
              <c:f>'KOTAK+HDFC+AXIS+ICICI (LB)'!$AG$14:$AG$17</c:f>
              <c:numCache>
                <c:formatCode>0%</c:formatCode>
                <c:ptCount val="4"/>
                <c:pt idx="0">
                  <c:v>7.9365079365079361E-3</c:v>
                </c:pt>
                <c:pt idx="1">
                  <c:v>1.5748031496062992E-2</c:v>
                </c:pt>
                <c:pt idx="2">
                  <c:v>0</c:v>
                </c:pt>
                <c:pt idx="3">
                  <c:v>7.9365079365079361E-3</c:v>
                </c:pt>
              </c:numCache>
            </c:numRef>
          </c:val>
          <c:extLst>
            <c:ext xmlns:c16="http://schemas.microsoft.com/office/drawing/2014/chart" uri="{C3380CC4-5D6E-409C-BE32-E72D297353CC}">
              <c16:uniqueId val="{00000001-DBE6-4E1C-AB6D-8F6258B668D7}"/>
            </c:ext>
          </c:extLst>
        </c:ser>
        <c:ser>
          <c:idx val="1"/>
          <c:order val="1"/>
          <c:tx>
            <c:strRef>
              <c:f>'KOTAK+HDFC+AXIS+ICICI (LB)'!$AH$13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(LB)'!$AF$14:$AF$17</c:f>
              <c:strCache>
                <c:ptCount val="4"/>
                <c:pt idx="0">
                  <c:v>Travel benefits</c:v>
                </c:pt>
                <c:pt idx="1">
                  <c:v>Vouchers &amp; offers</c:v>
                </c:pt>
                <c:pt idx="2">
                  <c:v>Lifestyle benefits</c:v>
                </c:pt>
                <c:pt idx="3">
                  <c:v>Credit card</c:v>
                </c:pt>
              </c:strCache>
            </c:strRef>
          </c:cat>
          <c:val>
            <c:numRef>
              <c:f>'KOTAK+HDFC+AXIS+ICICI (LB)'!$AH$14:$AH$17</c:f>
              <c:numCache>
                <c:formatCode>0%</c:formatCode>
                <c:ptCount val="4"/>
                <c:pt idx="0">
                  <c:v>0.7857142857142857</c:v>
                </c:pt>
                <c:pt idx="1">
                  <c:v>0.61417322834645671</c:v>
                </c:pt>
                <c:pt idx="2">
                  <c:v>0.59842519685039375</c:v>
                </c:pt>
                <c:pt idx="3">
                  <c:v>0.59523809523809523</c:v>
                </c:pt>
              </c:numCache>
            </c:numRef>
          </c:val>
          <c:extLst>
            <c:ext xmlns:c16="http://schemas.microsoft.com/office/drawing/2014/chart" uri="{C3380CC4-5D6E-409C-BE32-E72D297353CC}">
              <c16:uniqueId val="{00000002-DBE6-4E1C-AB6D-8F6258B668D7}"/>
            </c:ext>
          </c:extLst>
        </c:ser>
        <c:ser>
          <c:idx val="2"/>
          <c:order val="2"/>
          <c:tx>
            <c:strRef>
              <c:f>'KOTAK+HDFC+AXIS+ICICI (LB)'!$AI$13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(LB)'!$AF$14:$AF$17</c:f>
              <c:strCache>
                <c:ptCount val="4"/>
                <c:pt idx="0">
                  <c:v>Travel benefits</c:v>
                </c:pt>
                <c:pt idx="1">
                  <c:v>Vouchers &amp; offers</c:v>
                </c:pt>
                <c:pt idx="2">
                  <c:v>Lifestyle benefits</c:v>
                </c:pt>
                <c:pt idx="3">
                  <c:v>Credit card</c:v>
                </c:pt>
              </c:strCache>
            </c:strRef>
          </c:cat>
          <c:val>
            <c:numRef>
              <c:f>'KOTAK+HDFC+AXIS+ICICI (LB)'!$AI$14:$AI$17</c:f>
              <c:numCache>
                <c:formatCode>0%</c:formatCode>
                <c:ptCount val="4"/>
                <c:pt idx="0">
                  <c:v>1.5873015873015872E-2</c:v>
                </c:pt>
                <c:pt idx="1">
                  <c:v>3.937007874015748E-2</c:v>
                </c:pt>
                <c:pt idx="2">
                  <c:v>9.4488188976377951E-2</c:v>
                </c:pt>
                <c:pt idx="3">
                  <c:v>6.3492063492063489E-2</c:v>
                </c:pt>
              </c:numCache>
            </c:numRef>
          </c:val>
          <c:extLst>
            <c:ext xmlns:c16="http://schemas.microsoft.com/office/drawing/2014/chart" uri="{C3380CC4-5D6E-409C-BE32-E72D297353CC}">
              <c16:uniqueId val="{00000003-DBE6-4E1C-AB6D-8F6258B668D7}"/>
            </c:ext>
          </c:extLst>
        </c:ser>
        <c:ser>
          <c:idx val="3"/>
          <c:order val="3"/>
          <c:tx>
            <c:strRef>
              <c:f>'KOTAK+HDFC+AXIS+ICICI (LB)'!$AJ$13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(LB)'!$AF$14:$AF$17</c:f>
              <c:strCache>
                <c:ptCount val="4"/>
                <c:pt idx="0">
                  <c:v>Travel benefits</c:v>
                </c:pt>
                <c:pt idx="1">
                  <c:v>Vouchers &amp; offers</c:v>
                </c:pt>
                <c:pt idx="2">
                  <c:v>Lifestyle benefits</c:v>
                </c:pt>
                <c:pt idx="3">
                  <c:v>Credit card</c:v>
                </c:pt>
              </c:strCache>
            </c:strRef>
          </c:cat>
          <c:val>
            <c:numRef>
              <c:f>'KOTAK+HDFC+AXIS+ICICI (LB)'!$AJ$14:$AJ$17</c:f>
              <c:numCache>
                <c:formatCode>0%</c:formatCode>
                <c:ptCount val="4"/>
                <c:pt idx="0">
                  <c:v>0.10317460317460317</c:v>
                </c:pt>
                <c:pt idx="1">
                  <c:v>7.874015748031496E-2</c:v>
                </c:pt>
                <c:pt idx="2">
                  <c:v>0.16535433070866143</c:v>
                </c:pt>
                <c:pt idx="3">
                  <c:v>0.22222222222222221</c:v>
                </c:pt>
              </c:numCache>
            </c:numRef>
          </c:val>
          <c:extLst>
            <c:ext xmlns:c16="http://schemas.microsoft.com/office/drawing/2014/chart" uri="{C3380CC4-5D6E-409C-BE32-E72D297353CC}">
              <c16:uniqueId val="{00000004-DBE6-4E1C-AB6D-8F6258B668D7}"/>
            </c:ext>
          </c:extLst>
        </c:ser>
        <c:ser>
          <c:idx val="4"/>
          <c:order val="4"/>
          <c:tx>
            <c:strRef>
              <c:f>'KOTAK+HDFC+AXIS+ICICI (LB)'!$AK$13</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(LB)'!$AF$14:$AF$17</c:f>
              <c:strCache>
                <c:ptCount val="4"/>
                <c:pt idx="0">
                  <c:v>Travel benefits</c:v>
                </c:pt>
                <c:pt idx="1">
                  <c:v>Vouchers &amp; offers</c:v>
                </c:pt>
                <c:pt idx="2">
                  <c:v>Lifestyle benefits</c:v>
                </c:pt>
                <c:pt idx="3">
                  <c:v>Credit card</c:v>
                </c:pt>
              </c:strCache>
            </c:strRef>
          </c:cat>
          <c:val>
            <c:numRef>
              <c:f>'KOTAK+HDFC+AXIS+ICICI (LB)'!$AK$14:$AK$17</c:f>
              <c:numCache>
                <c:formatCode>0%</c:formatCode>
                <c:ptCount val="4"/>
                <c:pt idx="0">
                  <c:v>8.7301587301587297E-2</c:v>
                </c:pt>
                <c:pt idx="1">
                  <c:v>0.25196850393700787</c:v>
                </c:pt>
                <c:pt idx="2">
                  <c:v>0.13385826771653545</c:v>
                </c:pt>
                <c:pt idx="3">
                  <c:v>0.1111111111111111</c:v>
                </c:pt>
              </c:numCache>
            </c:numRef>
          </c:val>
          <c:extLst>
            <c:ext xmlns:c16="http://schemas.microsoft.com/office/drawing/2014/chart" uri="{C3380CC4-5D6E-409C-BE32-E72D297353CC}">
              <c16:uniqueId val="{00000005-DBE6-4E1C-AB6D-8F6258B668D7}"/>
            </c:ext>
          </c:extLst>
        </c:ser>
        <c:ser>
          <c:idx val="5"/>
          <c:order val="5"/>
          <c:tx>
            <c:strRef>
              <c:f>'KOTAK+HDFC+AXIS+ICICI (LB)'!$AL$13</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(LB)'!$AF$14:$AF$17</c:f>
              <c:strCache>
                <c:ptCount val="4"/>
                <c:pt idx="0">
                  <c:v>Travel benefits</c:v>
                </c:pt>
                <c:pt idx="1">
                  <c:v>Vouchers &amp; offers</c:v>
                </c:pt>
                <c:pt idx="2">
                  <c:v>Lifestyle benefits</c:v>
                </c:pt>
                <c:pt idx="3">
                  <c:v>Credit card</c:v>
                </c:pt>
              </c:strCache>
            </c:strRef>
          </c:cat>
          <c:val>
            <c:numRef>
              <c:f>'KOTAK+HDFC+AXIS+ICICI (LB)'!$AL$14:$AL$17</c:f>
              <c:numCache>
                <c:formatCode>0%</c:formatCode>
                <c:ptCount val="4"/>
                <c:pt idx="0">
                  <c:v>0</c:v>
                </c:pt>
                <c:pt idx="1">
                  <c:v>0</c:v>
                </c:pt>
                <c:pt idx="2">
                  <c:v>7.874015748031496E-3</c:v>
                </c:pt>
                <c:pt idx="3">
                  <c:v>0</c:v>
                </c:pt>
              </c:numCache>
            </c:numRef>
          </c:val>
          <c:extLst>
            <c:ext xmlns:c16="http://schemas.microsoft.com/office/drawing/2014/chart" uri="{C3380CC4-5D6E-409C-BE32-E72D297353CC}">
              <c16:uniqueId val="{00000006-DBE6-4E1C-AB6D-8F6258B668D7}"/>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89489486222763703"/>
          <c:h val="0.70111873958694415"/>
        </c:manualLayout>
      </c:layout>
      <c:barChart>
        <c:barDir val="col"/>
        <c:grouping val="percentStacked"/>
        <c:varyColors val="0"/>
        <c:ser>
          <c:idx val="0"/>
          <c:order val="0"/>
          <c:tx>
            <c:strRef>
              <c:f>'KOTAK+HDFC+AXIS+ICICI (LB)'!$AG$21</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(LB)'!$AF$22:$AF$25</c:f>
              <c:strCache>
                <c:ptCount val="4"/>
                <c:pt idx="0">
                  <c:v>Credit card</c:v>
                </c:pt>
                <c:pt idx="1">
                  <c:v>Travel benefits</c:v>
                </c:pt>
                <c:pt idx="2">
                  <c:v>Lifestyle benefits</c:v>
                </c:pt>
                <c:pt idx="3">
                  <c:v>Vouchers &amp; offers</c:v>
                </c:pt>
              </c:strCache>
            </c:strRef>
          </c:cat>
          <c:val>
            <c:numRef>
              <c:f>'KOTAK+HDFC+AXIS+ICICI (LB)'!$AG$22:$AG$25</c:f>
              <c:numCache>
                <c:formatCode>0%</c:formatCode>
                <c:ptCount val="4"/>
                <c:pt idx="0">
                  <c:v>1.6E-2</c:v>
                </c:pt>
                <c:pt idx="1">
                  <c:v>0</c:v>
                </c:pt>
                <c:pt idx="2">
                  <c:v>8.0000000000000002E-3</c:v>
                </c:pt>
                <c:pt idx="3">
                  <c:v>0</c:v>
                </c:pt>
              </c:numCache>
            </c:numRef>
          </c:val>
          <c:extLst>
            <c:ext xmlns:c16="http://schemas.microsoft.com/office/drawing/2014/chart" uri="{C3380CC4-5D6E-409C-BE32-E72D297353CC}">
              <c16:uniqueId val="{00000001-751F-4D5F-AA78-DE6CB19F626D}"/>
            </c:ext>
          </c:extLst>
        </c:ser>
        <c:ser>
          <c:idx val="1"/>
          <c:order val="1"/>
          <c:tx>
            <c:strRef>
              <c:f>'KOTAK+HDFC+AXIS+ICICI (LB)'!$AH$21</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(LB)'!$AF$22:$AF$25</c:f>
              <c:strCache>
                <c:ptCount val="4"/>
                <c:pt idx="0">
                  <c:v>Credit card</c:v>
                </c:pt>
                <c:pt idx="1">
                  <c:v>Travel benefits</c:v>
                </c:pt>
                <c:pt idx="2">
                  <c:v>Lifestyle benefits</c:v>
                </c:pt>
                <c:pt idx="3">
                  <c:v>Vouchers &amp; offers</c:v>
                </c:pt>
              </c:strCache>
            </c:strRef>
          </c:cat>
          <c:val>
            <c:numRef>
              <c:f>'KOTAK+HDFC+AXIS+ICICI (LB)'!$AH$22:$AH$25</c:f>
              <c:numCache>
                <c:formatCode>0%</c:formatCode>
                <c:ptCount val="4"/>
                <c:pt idx="0">
                  <c:v>0.54400000000000004</c:v>
                </c:pt>
                <c:pt idx="1">
                  <c:v>0.52755905511811019</c:v>
                </c:pt>
                <c:pt idx="2">
                  <c:v>0.52</c:v>
                </c:pt>
                <c:pt idx="3">
                  <c:v>0.44800000000000001</c:v>
                </c:pt>
              </c:numCache>
            </c:numRef>
          </c:val>
          <c:extLst>
            <c:ext xmlns:c16="http://schemas.microsoft.com/office/drawing/2014/chart" uri="{C3380CC4-5D6E-409C-BE32-E72D297353CC}">
              <c16:uniqueId val="{00000002-751F-4D5F-AA78-DE6CB19F626D}"/>
            </c:ext>
          </c:extLst>
        </c:ser>
        <c:ser>
          <c:idx val="2"/>
          <c:order val="2"/>
          <c:tx>
            <c:strRef>
              <c:f>'KOTAK+HDFC+AXIS+ICICI (LB)'!$AI$21</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(LB)'!$AF$22:$AF$25</c:f>
              <c:strCache>
                <c:ptCount val="4"/>
                <c:pt idx="0">
                  <c:v>Credit card</c:v>
                </c:pt>
                <c:pt idx="1">
                  <c:v>Travel benefits</c:v>
                </c:pt>
                <c:pt idx="2">
                  <c:v>Lifestyle benefits</c:v>
                </c:pt>
                <c:pt idx="3">
                  <c:v>Vouchers &amp; offers</c:v>
                </c:pt>
              </c:strCache>
            </c:strRef>
          </c:cat>
          <c:val>
            <c:numRef>
              <c:f>'KOTAK+HDFC+AXIS+ICICI (LB)'!$AI$22:$AI$25</c:f>
              <c:numCache>
                <c:formatCode>0%</c:formatCode>
                <c:ptCount val="4"/>
                <c:pt idx="0">
                  <c:v>0.08</c:v>
                </c:pt>
                <c:pt idx="1">
                  <c:v>7.874015748031496E-2</c:v>
                </c:pt>
                <c:pt idx="2">
                  <c:v>0.12</c:v>
                </c:pt>
                <c:pt idx="3">
                  <c:v>5.6000000000000001E-2</c:v>
                </c:pt>
              </c:numCache>
            </c:numRef>
          </c:val>
          <c:extLst>
            <c:ext xmlns:c16="http://schemas.microsoft.com/office/drawing/2014/chart" uri="{C3380CC4-5D6E-409C-BE32-E72D297353CC}">
              <c16:uniqueId val="{00000003-751F-4D5F-AA78-DE6CB19F626D}"/>
            </c:ext>
          </c:extLst>
        </c:ser>
        <c:ser>
          <c:idx val="3"/>
          <c:order val="3"/>
          <c:tx>
            <c:strRef>
              <c:f>'KOTAK+HDFC+AXIS+ICICI (LB)'!$AJ$21</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(LB)'!$AF$22:$AF$25</c:f>
              <c:strCache>
                <c:ptCount val="4"/>
                <c:pt idx="0">
                  <c:v>Credit card</c:v>
                </c:pt>
                <c:pt idx="1">
                  <c:v>Travel benefits</c:v>
                </c:pt>
                <c:pt idx="2">
                  <c:v>Lifestyle benefits</c:v>
                </c:pt>
                <c:pt idx="3">
                  <c:v>Vouchers &amp; offers</c:v>
                </c:pt>
              </c:strCache>
            </c:strRef>
          </c:cat>
          <c:val>
            <c:numRef>
              <c:f>'KOTAK+HDFC+AXIS+ICICI (LB)'!$AJ$22:$AJ$25</c:f>
              <c:numCache>
                <c:formatCode>0%</c:formatCode>
                <c:ptCount val="4"/>
                <c:pt idx="0">
                  <c:v>0.192</c:v>
                </c:pt>
                <c:pt idx="1">
                  <c:v>0.28346456692913385</c:v>
                </c:pt>
                <c:pt idx="2">
                  <c:v>0.23200000000000001</c:v>
                </c:pt>
                <c:pt idx="3">
                  <c:v>0.16800000000000001</c:v>
                </c:pt>
              </c:numCache>
            </c:numRef>
          </c:val>
          <c:extLst>
            <c:ext xmlns:c16="http://schemas.microsoft.com/office/drawing/2014/chart" uri="{C3380CC4-5D6E-409C-BE32-E72D297353CC}">
              <c16:uniqueId val="{00000004-751F-4D5F-AA78-DE6CB19F626D}"/>
            </c:ext>
          </c:extLst>
        </c:ser>
        <c:ser>
          <c:idx val="4"/>
          <c:order val="4"/>
          <c:tx>
            <c:strRef>
              <c:f>'KOTAK+HDFC+AXIS+ICICI (LB)'!$AK$21</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(LB)'!$AF$22:$AF$25</c:f>
              <c:strCache>
                <c:ptCount val="4"/>
                <c:pt idx="0">
                  <c:v>Credit card</c:v>
                </c:pt>
                <c:pt idx="1">
                  <c:v>Travel benefits</c:v>
                </c:pt>
                <c:pt idx="2">
                  <c:v>Lifestyle benefits</c:v>
                </c:pt>
                <c:pt idx="3">
                  <c:v>Vouchers &amp; offers</c:v>
                </c:pt>
              </c:strCache>
            </c:strRef>
          </c:cat>
          <c:val>
            <c:numRef>
              <c:f>'KOTAK+HDFC+AXIS+ICICI (LB)'!$AK$22:$AK$25</c:f>
              <c:numCache>
                <c:formatCode>0%</c:formatCode>
                <c:ptCount val="4"/>
                <c:pt idx="0">
                  <c:v>0.16800000000000001</c:v>
                </c:pt>
                <c:pt idx="1">
                  <c:v>0.11023622047244094</c:v>
                </c:pt>
                <c:pt idx="2">
                  <c:v>0.12</c:v>
                </c:pt>
                <c:pt idx="3">
                  <c:v>0.32800000000000001</c:v>
                </c:pt>
              </c:numCache>
            </c:numRef>
          </c:val>
          <c:extLst>
            <c:ext xmlns:c16="http://schemas.microsoft.com/office/drawing/2014/chart" uri="{C3380CC4-5D6E-409C-BE32-E72D297353CC}">
              <c16:uniqueId val="{00000005-751F-4D5F-AA78-DE6CB19F626D}"/>
            </c:ext>
          </c:extLst>
        </c:ser>
        <c:ser>
          <c:idx val="5"/>
          <c:order val="5"/>
          <c:tx>
            <c:strRef>
              <c:f>'KOTAK+HDFC+AXIS+ICICI (LB)'!$AL$21</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(LB)'!$AF$22:$AF$25</c:f>
              <c:strCache>
                <c:ptCount val="4"/>
                <c:pt idx="0">
                  <c:v>Credit card</c:v>
                </c:pt>
                <c:pt idx="1">
                  <c:v>Travel benefits</c:v>
                </c:pt>
                <c:pt idx="2">
                  <c:v>Lifestyle benefits</c:v>
                </c:pt>
                <c:pt idx="3">
                  <c:v>Vouchers &amp; offers</c:v>
                </c:pt>
              </c:strCache>
            </c:strRef>
          </c:cat>
          <c:val>
            <c:numRef>
              <c:f>'KOTAK+HDFC+AXIS+ICICI (LB)'!$AL$22:$AL$25</c:f>
              <c:numCache>
                <c:formatCode>0%</c:formatCode>
                <c:ptCount val="4"/>
                <c:pt idx="0">
                  <c:v>0</c:v>
                </c:pt>
                <c:pt idx="1">
                  <c:v>0</c:v>
                </c:pt>
                <c:pt idx="2">
                  <c:v>0</c:v>
                </c:pt>
                <c:pt idx="3">
                  <c:v>0</c:v>
                </c:pt>
              </c:numCache>
            </c:numRef>
          </c:val>
          <c:extLst>
            <c:ext xmlns:c16="http://schemas.microsoft.com/office/drawing/2014/chart" uri="{C3380CC4-5D6E-409C-BE32-E72D297353CC}">
              <c16:uniqueId val="{00000006-751F-4D5F-AA78-DE6CB19F626D}"/>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4.3012218325034775E-2"/>
          <c:w val="0.88620305827006707"/>
          <c:h val="0.77002953842272548"/>
        </c:manualLayout>
      </c:layout>
      <c:barChart>
        <c:barDir val="col"/>
        <c:grouping val="percentStacked"/>
        <c:varyColors val="0"/>
        <c:ser>
          <c:idx val="0"/>
          <c:order val="0"/>
          <c:tx>
            <c:strRef>
              <c:f>'KOTAK+HDFC+AXIS+ICICI (LB)'!$AG$29</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(LB)'!$AF$30:$AF$33</c:f>
              <c:strCache>
                <c:ptCount val="4"/>
                <c:pt idx="0">
                  <c:v>Credit card</c:v>
                </c:pt>
                <c:pt idx="1">
                  <c:v>Vouchers &amp; offers</c:v>
                </c:pt>
                <c:pt idx="2">
                  <c:v>Travel benefits</c:v>
                </c:pt>
                <c:pt idx="3">
                  <c:v>Lifestyle benefits</c:v>
                </c:pt>
              </c:strCache>
            </c:strRef>
          </c:cat>
          <c:val>
            <c:numRef>
              <c:f>'KOTAK+HDFC+AXIS+ICICI (LB)'!$AG$30:$AG$33</c:f>
              <c:numCache>
                <c:formatCode>0%</c:formatCode>
                <c:ptCount val="4"/>
                <c:pt idx="0">
                  <c:v>0</c:v>
                </c:pt>
                <c:pt idx="1">
                  <c:v>0</c:v>
                </c:pt>
                <c:pt idx="2">
                  <c:v>0</c:v>
                </c:pt>
                <c:pt idx="3">
                  <c:v>0</c:v>
                </c:pt>
              </c:numCache>
            </c:numRef>
          </c:val>
          <c:extLst>
            <c:ext xmlns:c16="http://schemas.microsoft.com/office/drawing/2014/chart" uri="{C3380CC4-5D6E-409C-BE32-E72D297353CC}">
              <c16:uniqueId val="{00000001-98D3-4733-B687-DD0D9BED5CAD}"/>
            </c:ext>
          </c:extLst>
        </c:ser>
        <c:ser>
          <c:idx val="1"/>
          <c:order val="1"/>
          <c:tx>
            <c:strRef>
              <c:f>'KOTAK+HDFC+AXIS+ICICI (LB)'!$AH$29</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(LB)'!$AF$30:$AF$33</c:f>
              <c:strCache>
                <c:ptCount val="4"/>
                <c:pt idx="0">
                  <c:v>Credit card</c:v>
                </c:pt>
                <c:pt idx="1">
                  <c:v>Vouchers &amp; offers</c:v>
                </c:pt>
                <c:pt idx="2">
                  <c:v>Travel benefits</c:v>
                </c:pt>
                <c:pt idx="3">
                  <c:v>Lifestyle benefits</c:v>
                </c:pt>
              </c:strCache>
            </c:strRef>
          </c:cat>
          <c:val>
            <c:numRef>
              <c:f>'KOTAK+HDFC+AXIS+ICICI (LB)'!$AH$30:$AH$33</c:f>
              <c:numCache>
                <c:formatCode>0%</c:formatCode>
                <c:ptCount val="4"/>
                <c:pt idx="0">
                  <c:v>0.66666666666666663</c:v>
                </c:pt>
                <c:pt idx="1">
                  <c:v>0.65384615384615385</c:v>
                </c:pt>
                <c:pt idx="2">
                  <c:v>0.51851851851851849</c:v>
                </c:pt>
                <c:pt idx="3">
                  <c:v>0.40740740740740738</c:v>
                </c:pt>
              </c:numCache>
            </c:numRef>
          </c:val>
          <c:extLst>
            <c:ext xmlns:c16="http://schemas.microsoft.com/office/drawing/2014/chart" uri="{C3380CC4-5D6E-409C-BE32-E72D297353CC}">
              <c16:uniqueId val="{00000002-98D3-4733-B687-DD0D9BED5CAD}"/>
            </c:ext>
          </c:extLst>
        </c:ser>
        <c:ser>
          <c:idx val="2"/>
          <c:order val="2"/>
          <c:tx>
            <c:strRef>
              <c:f>'KOTAK+HDFC+AXIS+ICICI (LB)'!$AI$29</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(LB)'!$AF$30:$AF$33</c:f>
              <c:strCache>
                <c:ptCount val="4"/>
                <c:pt idx="0">
                  <c:v>Credit card</c:v>
                </c:pt>
                <c:pt idx="1">
                  <c:v>Vouchers &amp; offers</c:v>
                </c:pt>
                <c:pt idx="2">
                  <c:v>Travel benefits</c:v>
                </c:pt>
                <c:pt idx="3">
                  <c:v>Lifestyle benefits</c:v>
                </c:pt>
              </c:strCache>
            </c:strRef>
          </c:cat>
          <c:val>
            <c:numRef>
              <c:f>'KOTAK+HDFC+AXIS+ICICI (LB)'!$AI$30:$AI$33</c:f>
              <c:numCache>
                <c:formatCode>0%</c:formatCode>
                <c:ptCount val="4"/>
                <c:pt idx="0">
                  <c:v>7.407407407407407E-2</c:v>
                </c:pt>
                <c:pt idx="1">
                  <c:v>3.8461538461538464E-2</c:v>
                </c:pt>
                <c:pt idx="2">
                  <c:v>0</c:v>
                </c:pt>
                <c:pt idx="3">
                  <c:v>7.407407407407407E-2</c:v>
                </c:pt>
              </c:numCache>
            </c:numRef>
          </c:val>
          <c:extLst>
            <c:ext xmlns:c16="http://schemas.microsoft.com/office/drawing/2014/chart" uri="{C3380CC4-5D6E-409C-BE32-E72D297353CC}">
              <c16:uniqueId val="{00000003-98D3-4733-B687-DD0D9BED5CAD}"/>
            </c:ext>
          </c:extLst>
        </c:ser>
        <c:ser>
          <c:idx val="3"/>
          <c:order val="3"/>
          <c:tx>
            <c:strRef>
              <c:f>'KOTAK+HDFC+AXIS+ICICI (LB)'!$AJ$29</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(LB)'!$AF$30:$AF$33</c:f>
              <c:strCache>
                <c:ptCount val="4"/>
                <c:pt idx="0">
                  <c:v>Credit card</c:v>
                </c:pt>
                <c:pt idx="1">
                  <c:v>Vouchers &amp; offers</c:v>
                </c:pt>
                <c:pt idx="2">
                  <c:v>Travel benefits</c:v>
                </c:pt>
                <c:pt idx="3">
                  <c:v>Lifestyle benefits</c:v>
                </c:pt>
              </c:strCache>
            </c:strRef>
          </c:cat>
          <c:val>
            <c:numRef>
              <c:f>'KOTAK+HDFC+AXIS+ICICI (LB)'!$AJ$30:$AJ$33</c:f>
              <c:numCache>
                <c:formatCode>0%</c:formatCode>
                <c:ptCount val="4"/>
                <c:pt idx="0">
                  <c:v>0.1111111111111111</c:v>
                </c:pt>
                <c:pt idx="1">
                  <c:v>0.26923076923076922</c:v>
                </c:pt>
                <c:pt idx="2">
                  <c:v>0.29629629629629628</c:v>
                </c:pt>
                <c:pt idx="3">
                  <c:v>0.1111111111111111</c:v>
                </c:pt>
              </c:numCache>
            </c:numRef>
          </c:val>
          <c:extLst>
            <c:ext xmlns:c16="http://schemas.microsoft.com/office/drawing/2014/chart" uri="{C3380CC4-5D6E-409C-BE32-E72D297353CC}">
              <c16:uniqueId val="{00000004-98D3-4733-B687-DD0D9BED5CAD}"/>
            </c:ext>
          </c:extLst>
        </c:ser>
        <c:ser>
          <c:idx val="4"/>
          <c:order val="4"/>
          <c:tx>
            <c:strRef>
              <c:f>'KOTAK+HDFC+AXIS+ICICI (LB)'!$AK$29</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(LB)'!$AF$30:$AF$33</c:f>
              <c:strCache>
                <c:ptCount val="4"/>
                <c:pt idx="0">
                  <c:v>Credit card</c:v>
                </c:pt>
                <c:pt idx="1">
                  <c:v>Vouchers &amp; offers</c:v>
                </c:pt>
                <c:pt idx="2">
                  <c:v>Travel benefits</c:v>
                </c:pt>
                <c:pt idx="3">
                  <c:v>Lifestyle benefits</c:v>
                </c:pt>
              </c:strCache>
            </c:strRef>
          </c:cat>
          <c:val>
            <c:numRef>
              <c:f>'KOTAK+HDFC+AXIS+ICICI (LB)'!$AK$30:$AK$33</c:f>
              <c:numCache>
                <c:formatCode>0%</c:formatCode>
                <c:ptCount val="4"/>
                <c:pt idx="0">
                  <c:v>0.14814814814814814</c:v>
                </c:pt>
                <c:pt idx="1">
                  <c:v>3.8461538461538464E-2</c:v>
                </c:pt>
                <c:pt idx="2">
                  <c:v>0.14814814814814814</c:v>
                </c:pt>
                <c:pt idx="3">
                  <c:v>0.33333333333333331</c:v>
                </c:pt>
              </c:numCache>
            </c:numRef>
          </c:val>
          <c:extLst>
            <c:ext xmlns:c16="http://schemas.microsoft.com/office/drawing/2014/chart" uri="{C3380CC4-5D6E-409C-BE32-E72D297353CC}">
              <c16:uniqueId val="{00000005-98D3-4733-B687-DD0D9BED5CAD}"/>
            </c:ext>
          </c:extLst>
        </c:ser>
        <c:ser>
          <c:idx val="5"/>
          <c:order val="5"/>
          <c:tx>
            <c:strRef>
              <c:f>'KOTAK+HDFC+AXIS+ICICI (LB)'!$AL$29</c:f>
              <c:strCache>
                <c:ptCount val="1"/>
                <c:pt idx="0">
                  <c:v>I have not experienced this</c:v>
                </c:pt>
              </c:strCache>
            </c:strRef>
          </c:tx>
          <c:spPr>
            <a:solidFill>
              <a:schemeClr val="accent2">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(LB)'!$AF$30:$AF$33</c:f>
              <c:strCache>
                <c:ptCount val="4"/>
                <c:pt idx="0">
                  <c:v>Credit card</c:v>
                </c:pt>
                <c:pt idx="1">
                  <c:v>Vouchers &amp; offers</c:v>
                </c:pt>
                <c:pt idx="2">
                  <c:v>Travel benefits</c:v>
                </c:pt>
                <c:pt idx="3">
                  <c:v>Lifestyle benefits</c:v>
                </c:pt>
              </c:strCache>
            </c:strRef>
          </c:cat>
          <c:val>
            <c:numRef>
              <c:f>'KOTAK+HDFC+AXIS+ICICI (LB)'!$AL$30:$AL$33</c:f>
              <c:numCache>
                <c:formatCode>0%</c:formatCode>
                <c:ptCount val="4"/>
                <c:pt idx="0">
                  <c:v>0</c:v>
                </c:pt>
                <c:pt idx="1">
                  <c:v>0</c:v>
                </c:pt>
                <c:pt idx="2">
                  <c:v>3.7037037037037035E-2</c:v>
                </c:pt>
                <c:pt idx="3">
                  <c:v>7.407407407407407E-2</c:v>
                </c:pt>
              </c:numCache>
            </c:numRef>
          </c:val>
          <c:extLst>
            <c:ext xmlns:c16="http://schemas.microsoft.com/office/drawing/2014/chart" uri="{C3380CC4-5D6E-409C-BE32-E72D297353CC}">
              <c16:uniqueId val="{00000006-98D3-4733-B687-DD0D9BED5CAD}"/>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4.2101570543971491E-2"/>
          <c:w val="0.86081056968196112"/>
          <c:h val="0.76420228172824933"/>
        </c:manualLayout>
      </c:layout>
      <c:barChart>
        <c:barDir val="col"/>
        <c:grouping val="percentStacked"/>
        <c:varyColors val="0"/>
        <c:ser>
          <c:idx val="0"/>
          <c:order val="0"/>
          <c:tx>
            <c:strRef>
              <c:f>RM!$Z$3</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RM!$Y$4:$Y$6</c:f>
              <c:strCache>
                <c:ptCount val="3"/>
                <c:pt idx="0">
                  <c:v>Ease of interaction</c:v>
                </c:pt>
                <c:pt idx="1">
                  <c:v>Availabilty</c:v>
                </c:pt>
                <c:pt idx="2">
                  <c:v>Ability to sort issues</c:v>
                </c:pt>
              </c:strCache>
            </c:strRef>
          </c:cat>
          <c:val>
            <c:numRef>
              <c:f>RM!$Z$4:$Z$6</c:f>
              <c:numCache>
                <c:formatCode>0%</c:formatCode>
                <c:ptCount val="3"/>
                <c:pt idx="0">
                  <c:v>0.88028169014084512</c:v>
                </c:pt>
                <c:pt idx="1">
                  <c:v>0.79710144927536231</c:v>
                </c:pt>
                <c:pt idx="2">
                  <c:v>0.8014184397163121</c:v>
                </c:pt>
              </c:numCache>
            </c:numRef>
          </c:val>
          <c:extLst>
            <c:ext xmlns:c16="http://schemas.microsoft.com/office/drawing/2014/chart" uri="{C3380CC4-5D6E-409C-BE32-E72D297353CC}">
              <c16:uniqueId val="{00000001-C4D5-4AFE-822E-D1EFAE5BEBA1}"/>
            </c:ext>
          </c:extLst>
        </c:ser>
        <c:ser>
          <c:idx val="1"/>
          <c:order val="1"/>
          <c:tx>
            <c:strRef>
              <c:f>RM!$AA$3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RM!$Y$4:$Y$6</c:f>
              <c:strCache>
                <c:ptCount val="3"/>
                <c:pt idx="0">
                  <c:v>Ease of interaction</c:v>
                </c:pt>
                <c:pt idx="1">
                  <c:v>Availabilty</c:v>
                </c:pt>
                <c:pt idx="2">
                  <c:v>Ability to sort issues</c:v>
                </c:pt>
              </c:strCache>
            </c:strRef>
          </c:cat>
          <c:val>
            <c:numRef>
              <c:f>RM!$AA$4:$AA$6</c:f>
              <c:numCache>
                <c:formatCode>0%</c:formatCode>
                <c:ptCount val="3"/>
                <c:pt idx="0">
                  <c:v>7.0422535211267609E-2</c:v>
                </c:pt>
                <c:pt idx="1">
                  <c:v>5.0724637681159424E-2</c:v>
                </c:pt>
                <c:pt idx="2">
                  <c:v>2.8368794326241134E-2</c:v>
                </c:pt>
              </c:numCache>
            </c:numRef>
          </c:val>
          <c:extLst>
            <c:ext xmlns:c16="http://schemas.microsoft.com/office/drawing/2014/chart" uri="{C3380CC4-5D6E-409C-BE32-E72D297353CC}">
              <c16:uniqueId val="{00000002-C4D5-4AFE-822E-D1EFAE5BEBA1}"/>
            </c:ext>
          </c:extLst>
        </c:ser>
        <c:ser>
          <c:idx val="2"/>
          <c:order val="2"/>
          <c:tx>
            <c:strRef>
              <c:f>RM!$AB$3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RM!$Y$4:$Y$6</c:f>
              <c:strCache>
                <c:ptCount val="3"/>
                <c:pt idx="0">
                  <c:v>Ease of interaction</c:v>
                </c:pt>
                <c:pt idx="1">
                  <c:v>Availabilty</c:v>
                </c:pt>
                <c:pt idx="2">
                  <c:v>Ability to sort issues</c:v>
                </c:pt>
              </c:strCache>
            </c:strRef>
          </c:cat>
          <c:val>
            <c:numRef>
              <c:f>RM!$AB$4:$AB$6</c:f>
              <c:numCache>
                <c:formatCode>0%</c:formatCode>
                <c:ptCount val="3"/>
                <c:pt idx="0">
                  <c:v>1.4084507042253521E-2</c:v>
                </c:pt>
                <c:pt idx="1">
                  <c:v>8.6956521739130432E-2</c:v>
                </c:pt>
                <c:pt idx="2">
                  <c:v>9.9290780141843976E-2</c:v>
                </c:pt>
              </c:numCache>
            </c:numRef>
          </c:val>
          <c:extLst>
            <c:ext xmlns:c16="http://schemas.microsoft.com/office/drawing/2014/chart" uri="{C3380CC4-5D6E-409C-BE32-E72D297353CC}">
              <c16:uniqueId val="{00000003-C4D5-4AFE-822E-D1EFAE5BEBA1}"/>
            </c:ext>
          </c:extLst>
        </c:ser>
        <c:ser>
          <c:idx val="3"/>
          <c:order val="3"/>
          <c:tx>
            <c:strRef>
              <c:f>RM!$AC$3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RM!$Y$4:$Y$6</c:f>
              <c:strCache>
                <c:ptCount val="3"/>
                <c:pt idx="0">
                  <c:v>Ease of interaction</c:v>
                </c:pt>
                <c:pt idx="1">
                  <c:v>Availabilty</c:v>
                </c:pt>
                <c:pt idx="2">
                  <c:v>Ability to sort issues</c:v>
                </c:pt>
              </c:strCache>
            </c:strRef>
          </c:cat>
          <c:val>
            <c:numRef>
              <c:f>RM!$AC$4:$AC$6</c:f>
              <c:numCache>
                <c:formatCode>0%</c:formatCode>
                <c:ptCount val="3"/>
                <c:pt idx="0">
                  <c:v>3.5211267605633804E-2</c:v>
                </c:pt>
                <c:pt idx="1">
                  <c:v>6.5217391304347824E-2</c:v>
                </c:pt>
                <c:pt idx="2">
                  <c:v>7.0921985815602842E-2</c:v>
                </c:pt>
              </c:numCache>
            </c:numRef>
          </c:val>
          <c:extLst>
            <c:ext xmlns:c16="http://schemas.microsoft.com/office/drawing/2014/chart" uri="{C3380CC4-5D6E-409C-BE32-E72D297353CC}">
              <c16:uniqueId val="{00000004-C4D5-4AFE-822E-D1EFAE5BEBA1}"/>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05529931942446E-2"/>
          <c:y val="0.11421265897176357"/>
          <c:w val="0.86971400307546676"/>
          <c:h val="0.71876383600460458"/>
        </c:manualLayout>
      </c:layout>
      <c:barChart>
        <c:barDir val="col"/>
        <c:grouping val="percentStacked"/>
        <c:varyColors val="0"/>
        <c:ser>
          <c:idx val="0"/>
          <c:order val="0"/>
          <c:tx>
            <c:strRef>
              <c:f>'FED+KOTAK (2)'!$Q$146</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(2)'!$P$147:$P$149</c:f>
              <c:strCache>
                <c:ptCount val="3"/>
                <c:pt idx="0">
                  <c:v>Ease of interaction</c:v>
                </c:pt>
                <c:pt idx="1">
                  <c:v>Availabilty</c:v>
                </c:pt>
                <c:pt idx="2">
                  <c:v>Ability to sort issues</c:v>
                </c:pt>
              </c:strCache>
            </c:strRef>
          </c:cat>
          <c:val>
            <c:numRef>
              <c:f>'FED+KOTAK (2)'!$Q$147:$Q$149</c:f>
              <c:numCache>
                <c:formatCode>0%</c:formatCode>
                <c:ptCount val="3"/>
                <c:pt idx="0">
                  <c:v>0.8</c:v>
                </c:pt>
                <c:pt idx="1">
                  <c:v>0.75</c:v>
                </c:pt>
                <c:pt idx="2">
                  <c:v>0.25</c:v>
                </c:pt>
              </c:numCache>
            </c:numRef>
          </c:val>
          <c:extLst>
            <c:ext xmlns:c16="http://schemas.microsoft.com/office/drawing/2014/chart" uri="{C3380CC4-5D6E-409C-BE32-E72D297353CC}">
              <c16:uniqueId val="{00000001-E144-4324-A0F2-62B2A6719280}"/>
            </c:ext>
          </c:extLst>
        </c:ser>
        <c:ser>
          <c:idx val="1"/>
          <c:order val="1"/>
          <c:tx>
            <c:strRef>
              <c:f>'FED+KOTAK (2)'!$R$146</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(2)'!$P$147:$P$149</c:f>
              <c:strCache>
                <c:ptCount val="3"/>
                <c:pt idx="0">
                  <c:v>Ease of interaction</c:v>
                </c:pt>
                <c:pt idx="1">
                  <c:v>Availabilty</c:v>
                </c:pt>
                <c:pt idx="2">
                  <c:v>Ability to sort issues</c:v>
                </c:pt>
              </c:strCache>
            </c:strRef>
          </c:cat>
          <c:val>
            <c:numRef>
              <c:f>'FED+KOTAK (2)'!$R$147:$R$149</c:f>
              <c:numCache>
                <c:formatCode>0%</c:formatCode>
                <c:ptCount val="3"/>
                <c:pt idx="0">
                  <c:v>0</c:v>
                </c:pt>
                <c:pt idx="1">
                  <c:v>0</c:v>
                </c:pt>
                <c:pt idx="2">
                  <c:v>0</c:v>
                </c:pt>
              </c:numCache>
            </c:numRef>
          </c:val>
          <c:extLst>
            <c:ext xmlns:c16="http://schemas.microsoft.com/office/drawing/2014/chart" uri="{C3380CC4-5D6E-409C-BE32-E72D297353CC}">
              <c16:uniqueId val="{00000002-E144-4324-A0F2-62B2A6719280}"/>
            </c:ext>
          </c:extLst>
        </c:ser>
        <c:ser>
          <c:idx val="2"/>
          <c:order val="2"/>
          <c:tx>
            <c:strRef>
              <c:f>'FED+KOTAK (2)'!$S$146</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(2)'!$P$147:$P$149</c:f>
              <c:strCache>
                <c:ptCount val="3"/>
                <c:pt idx="0">
                  <c:v>Ease of interaction</c:v>
                </c:pt>
                <c:pt idx="1">
                  <c:v>Availabilty</c:v>
                </c:pt>
                <c:pt idx="2">
                  <c:v>Ability to sort issues</c:v>
                </c:pt>
              </c:strCache>
            </c:strRef>
          </c:cat>
          <c:val>
            <c:numRef>
              <c:f>'FED+KOTAK (2)'!$S$147:$S$149</c:f>
              <c:numCache>
                <c:formatCode>0%</c:formatCode>
                <c:ptCount val="3"/>
                <c:pt idx="0">
                  <c:v>0</c:v>
                </c:pt>
                <c:pt idx="1">
                  <c:v>0</c:v>
                </c:pt>
                <c:pt idx="2">
                  <c:v>0.5</c:v>
                </c:pt>
              </c:numCache>
            </c:numRef>
          </c:val>
          <c:extLst>
            <c:ext xmlns:c16="http://schemas.microsoft.com/office/drawing/2014/chart" uri="{C3380CC4-5D6E-409C-BE32-E72D297353CC}">
              <c16:uniqueId val="{00000003-E144-4324-A0F2-62B2A6719280}"/>
            </c:ext>
          </c:extLst>
        </c:ser>
        <c:ser>
          <c:idx val="3"/>
          <c:order val="3"/>
          <c:tx>
            <c:strRef>
              <c:f>'FED+KOTAK (2)'!$T$146</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(2)'!$P$147:$P$149</c:f>
              <c:strCache>
                <c:ptCount val="3"/>
                <c:pt idx="0">
                  <c:v>Ease of interaction</c:v>
                </c:pt>
                <c:pt idx="1">
                  <c:v>Availabilty</c:v>
                </c:pt>
                <c:pt idx="2">
                  <c:v>Ability to sort issues</c:v>
                </c:pt>
              </c:strCache>
            </c:strRef>
          </c:cat>
          <c:val>
            <c:numRef>
              <c:f>'FED+KOTAK (2)'!$T$147:$T$149</c:f>
              <c:numCache>
                <c:formatCode>0%</c:formatCode>
                <c:ptCount val="3"/>
                <c:pt idx="0">
                  <c:v>0.2</c:v>
                </c:pt>
                <c:pt idx="1">
                  <c:v>0.25</c:v>
                </c:pt>
                <c:pt idx="2">
                  <c:v>0.25</c:v>
                </c:pt>
              </c:numCache>
            </c:numRef>
          </c:val>
          <c:extLst>
            <c:ext xmlns:c16="http://schemas.microsoft.com/office/drawing/2014/chart" uri="{C3380CC4-5D6E-409C-BE32-E72D297353CC}">
              <c16:uniqueId val="{00000004-E144-4324-A0F2-62B2A6719280}"/>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6.1298782561794211E-2"/>
          <c:w val="0.84539217265426669"/>
          <c:h val="0.78581967551854148"/>
        </c:manualLayout>
      </c:layout>
      <c:barChart>
        <c:barDir val="col"/>
        <c:grouping val="percentStacked"/>
        <c:varyColors val="0"/>
        <c:ser>
          <c:idx val="0"/>
          <c:order val="0"/>
          <c:tx>
            <c:strRef>
              <c:f>'FED+HDFC (2)'!$P$137</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(2)'!$O$138:$O$140</c:f>
              <c:strCache>
                <c:ptCount val="3"/>
                <c:pt idx="0">
                  <c:v>Ease of interaction</c:v>
                </c:pt>
                <c:pt idx="1">
                  <c:v>Availabilty</c:v>
                </c:pt>
                <c:pt idx="2">
                  <c:v>Ability to sort issues</c:v>
                </c:pt>
              </c:strCache>
            </c:strRef>
          </c:cat>
          <c:val>
            <c:numRef>
              <c:f>'FED+HDFC (2)'!$P$138:$P$140</c:f>
              <c:numCache>
                <c:formatCode>0%</c:formatCode>
                <c:ptCount val="3"/>
                <c:pt idx="0">
                  <c:v>0.96551724137931039</c:v>
                </c:pt>
                <c:pt idx="1">
                  <c:v>0.8928571428571429</c:v>
                </c:pt>
                <c:pt idx="2">
                  <c:v>0.75862068965517238</c:v>
                </c:pt>
              </c:numCache>
            </c:numRef>
          </c:val>
          <c:extLst>
            <c:ext xmlns:c16="http://schemas.microsoft.com/office/drawing/2014/chart" uri="{C3380CC4-5D6E-409C-BE32-E72D297353CC}">
              <c16:uniqueId val="{00000001-3735-4EC9-A28E-FF2814842898}"/>
            </c:ext>
          </c:extLst>
        </c:ser>
        <c:ser>
          <c:idx val="1"/>
          <c:order val="1"/>
          <c:tx>
            <c:strRef>
              <c:f>'FED+HDFC (2)'!$Q$137</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(2)'!$O$138:$O$140</c:f>
              <c:strCache>
                <c:ptCount val="3"/>
                <c:pt idx="0">
                  <c:v>Ease of interaction</c:v>
                </c:pt>
                <c:pt idx="1">
                  <c:v>Availabilty</c:v>
                </c:pt>
                <c:pt idx="2">
                  <c:v>Ability to sort issues</c:v>
                </c:pt>
              </c:strCache>
            </c:strRef>
          </c:cat>
          <c:val>
            <c:numRef>
              <c:f>'FED+HDFC (2)'!$Q$138:$Q$140</c:f>
              <c:numCache>
                <c:formatCode>0%</c:formatCode>
                <c:ptCount val="3"/>
                <c:pt idx="0">
                  <c:v>3.4482758620689655E-2</c:v>
                </c:pt>
                <c:pt idx="1">
                  <c:v>0.10714285714285714</c:v>
                </c:pt>
                <c:pt idx="2">
                  <c:v>0.2413793103448276</c:v>
                </c:pt>
              </c:numCache>
            </c:numRef>
          </c:val>
          <c:extLst>
            <c:ext xmlns:c16="http://schemas.microsoft.com/office/drawing/2014/chart" uri="{C3380CC4-5D6E-409C-BE32-E72D297353CC}">
              <c16:uniqueId val="{00000002-3735-4EC9-A28E-FF2814842898}"/>
            </c:ext>
          </c:extLst>
        </c:ser>
        <c:ser>
          <c:idx val="2"/>
          <c:order val="2"/>
          <c:tx>
            <c:strRef>
              <c:f>'FED+HDFC (2)'!$R$137</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(2)'!$O$138:$O$140</c:f>
              <c:strCache>
                <c:ptCount val="3"/>
                <c:pt idx="0">
                  <c:v>Ease of interaction</c:v>
                </c:pt>
                <c:pt idx="1">
                  <c:v>Availabilty</c:v>
                </c:pt>
                <c:pt idx="2">
                  <c:v>Ability to sort issues</c:v>
                </c:pt>
              </c:strCache>
            </c:strRef>
          </c:cat>
          <c:val>
            <c:numRef>
              <c:f>'FED+HDFC (2)'!$R$138:$R$140</c:f>
              <c:numCache>
                <c:formatCode>0%</c:formatCode>
                <c:ptCount val="3"/>
                <c:pt idx="0">
                  <c:v>0</c:v>
                </c:pt>
                <c:pt idx="1">
                  <c:v>0</c:v>
                </c:pt>
                <c:pt idx="2">
                  <c:v>0</c:v>
                </c:pt>
              </c:numCache>
            </c:numRef>
          </c:val>
          <c:extLst>
            <c:ext xmlns:c16="http://schemas.microsoft.com/office/drawing/2014/chart" uri="{C3380CC4-5D6E-409C-BE32-E72D297353CC}">
              <c16:uniqueId val="{00000003-3735-4EC9-A28E-FF2814842898}"/>
            </c:ext>
          </c:extLst>
        </c:ser>
        <c:ser>
          <c:idx val="3"/>
          <c:order val="3"/>
          <c:tx>
            <c:strRef>
              <c:f>'FED+HDFC (2)'!$S$137</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(2)'!$O$138:$O$140</c:f>
              <c:strCache>
                <c:ptCount val="3"/>
                <c:pt idx="0">
                  <c:v>Ease of interaction</c:v>
                </c:pt>
                <c:pt idx="1">
                  <c:v>Availabilty</c:v>
                </c:pt>
                <c:pt idx="2">
                  <c:v>Ability to sort issues</c:v>
                </c:pt>
              </c:strCache>
            </c:strRef>
          </c:cat>
          <c:val>
            <c:numRef>
              <c:f>'FED+HDFC (2)'!$S$138:$S$140</c:f>
              <c:numCache>
                <c:formatCode>0%</c:formatCode>
                <c:ptCount val="3"/>
                <c:pt idx="0">
                  <c:v>0</c:v>
                </c:pt>
                <c:pt idx="1">
                  <c:v>0</c:v>
                </c:pt>
                <c:pt idx="2">
                  <c:v>0</c:v>
                </c:pt>
              </c:numCache>
            </c:numRef>
          </c:val>
          <c:extLst>
            <c:ext xmlns:c16="http://schemas.microsoft.com/office/drawing/2014/chart" uri="{C3380CC4-5D6E-409C-BE32-E72D297353CC}">
              <c16:uniqueId val="{00000004-3735-4EC9-A28E-FF2814842898}"/>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8279172521194591"/>
          <c:h val="0.73015037191486409"/>
        </c:manualLayout>
      </c:layout>
      <c:barChart>
        <c:barDir val="col"/>
        <c:grouping val="percentStacked"/>
        <c:varyColors val="0"/>
        <c:ser>
          <c:idx val="0"/>
          <c:order val="0"/>
          <c:tx>
            <c:strRef>
              <c:f>'FED+AXIS (2)'!$R$113</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(2)'!$Q$114:$Q$116</c:f>
              <c:strCache>
                <c:ptCount val="3"/>
                <c:pt idx="0">
                  <c:v>Ease of interaction</c:v>
                </c:pt>
                <c:pt idx="1">
                  <c:v>Availabilty</c:v>
                </c:pt>
                <c:pt idx="2">
                  <c:v>Ability to sort issues</c:v>
                </c:pt>
              </c:strCache>
            </c:strRef>
          </c:cat>
          <c:val>
            <c:numRef>
              <c:f>'FED+AXIS (2)'!$R$114:$R$116</c:f>
              <c:numCache>
                <c:formatCode>0%</c:formatCode>
                <c:ptCount val="3"/>
                <c:pt idx="0">
                  <c:v>0.92307692307692313</c:v>
                </c:pt>
                <c:pt idx="1">
                  <c:v>0.84615384615384615</c:v>
                </c:pt>
                <c:pt idx="2">
                  <c:v>0.7142857142857143</c:v>
                </c:pt>
              </c:numCache>
            </c:numRef>
          </c:val>
          <c:extLst>
            <c:ext xmlns:c16="http://schemas.microsoft.com/office/drawing/2014/chart" uri="{C3380CC4-5D6E-409C-BE32-E72D297353CC}">
              <c16:uniqueId val="{00000001-FA15-45CB-BC6D-5F924C9261D7}"/>
            </c:ext>
          </c:extLst>
        </c:ser>
        <c:ser>
          <c:idx val="1"/>
          <c:order val="1"/>
          <c:tx>
            <c:strRef>
              <c:f>'FED+AXIS (2)'!$S$113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(2)'!$Q$114:$Q$116</c:f>
              <c:strCache>
                <c:ptCount val="3"/>
                <c:pt idx="0">
                  <c:v>Ease of interaction</c:v>
                </c:pt>
                <c:pt idx="1">
                  <c:v>Availabilty</c:v>
                </c:pt>
                <c:pt idx="2">
                  <c:v>Ability to sort issues</c:v>
                </c:pt>
              </c:strCache>
            </c:strRef>
          </c:cat>
          <c:val>
            <c:numRef>
              <c:f>'FED+AXIS (2)'!$S$114:$S$116</c:f>
              <c:numCache>
                <c:formatCode>0%</c:formatCode>
                <c:ptCount val="3"/>
                <c:pt idx="0">
                  <c:v>7.6923076923076927E-2</c:v>
                </c:pt>
                <c:pt idx="1">
                  <c:v>0.15384615384615385</c:v>
                </c:pt>
                <c:pt idx="2">
                  <c:v>7.1428571428571425E-2</c:v>
                </c:pt>
              </c:numCache>
            </c:numRef>
          </c:val>
          <c:extLst>
            <c:ext xmlns:c16="http://schemas.microsoft.com/office/drawing/2014/chart" uri="{C3380CC4-5D6E-409C-BE32-E72D297353CC}">
              <c16:uniqueId val="{00000002-FA15-45CB-BC6D-5F924C9261D7}"/>
            </c:ext>
          </c:extLst>
        </c:ser>
        <c:ser>
          <c:idx val="2"/>
          <c:order val="2"/>
          <c:tx>
            <c:strRef>
              <c:f>'FED+AXIS (2)'!$T$113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(2)'!$Q$114:$Q$116</c:f>
              <c:strCache>
                <c:ptCount val="3"/>
                <c:pt idx="0">
                  <c:v>Ease of interaction</c:v>
                </c:pt>
                <c:pt idx="1">
                  <c:v>Availabilty</c:v>
                </c:pt>
                <c:pt idx="2">
                  <c:v>Ability to sort issues</c:v>
                </c:pt>
              </c:strCache>
            </c:strRef>
          </c:cat>
          <c:val>
            <c:numRef>
              <c:f>'FED+AXIS (2)'!$T$114:$T$116</c:f>
              <c:numCache>
                <c:formatCode>0%</c:formatCode>
                <c:ptCount val="3"/>
                <c:pt idx="0">
                  <c:v>0</c:v>
                </c:pt>
                <c:pt idx="1">
                  <c:v>0</c:v>
                </c:pt>
                <c:pt idx="2">
                  <c:v>0</c:v>
                </c:pt>
              </c:numCache>
            </c:numRef>
          </c:val>
          <c:extLst>
            <c:ext xmlns:c16="http://schemas.microsoft.com/office/drawing/2014/chart" uri="{C3380CC4-5D6E-409C-BE32-E72D297353CC}">
              <c16:uniqueId val="{00000003-FA15-45CB-BC6D-5F924C9261D7}"/>
            </c:ext>
          </c:extLst>
        </c:ser>
        <c:ser>
          <c:idx val="3"/>
          <c:order val="3"/>
          <c:tx>
            <c:strRef>
              <c:f>'FED+AXIS (2)'!$U$113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(2)'!$Q$114:$Q$116</c:f>
              <c:strCache>
                <c:ptCount val="3"/>
                <c:pt idx="0">
                  <c:v>Ease of interaction</c:v>
                </c:pt>
                <c:pt idx="1">
                  <c:v>Availabilty</c:v>
                </c:pt>
                <c:pt idx="2">
                  <c:v>Ability to sort issues</c:v>
                </c:pt>
              </c:strCache>
            </c:strRef>
          </c:cat>
          <c:val>
            <c:numRef>
              <c:f>'FED+AXIS (2)'!$U$114:$U$116</c:f>
              <c:numCache>
                <c:formatCode>0%</c:formatCode>
                <c:ptCount val="3"/>
                <c:pt idx="0">
                  <c:v>0</c:v>
                </c:pt>
                <c:pt idx="1">
                  <c:v>0</c:v>
                </c:pt>
                <c:pt idx="2">
                  <c:v>0.21428571428571427</c:v>
                </c:pt>
              </c:numCache>
            </c:numRef>
          </c:val>
          <c:extLst>
            <c:ext xmlns:c16="http://schemas.microsoft.com/office/drawing/2014/chart" uri="{C3380CC4-5D6E-409C-BE32-E72D297353CC}">
              <c16:uniqueId val="{00000004-FA15-45CB-BC6D-5F924C9261D7}"/>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88741238280833756"/>
          <c:h val="0.69209129766047039"/>
        </c:manualLayout>
      </c:layout>
      <c:barChart>
        <c:barDir val="col"/>
        <c:grouping val="percentStacked"/>
        <c:varyColors val="0"/>
        <c:ser>
          <c:idx val="0"/>
          <c:order val="0"/>
          <c:tx>
            <c:strRef>
              <c:f>'RM ROLE'!$AC$3</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ROLE'!$AB$4:$AB$6</c:f>
              <c:strCache>
                <c:ptCount val="3"/>
                <c:pt idx="0">
                  <c:v>Communication with RM</c:v>
                </c:pt>
                <c:pt idx="1">
                  <c:v>Availabilty of RM</c:v>
                </c:pt>
                <c:pt idx="2">
                  <c:v>Ability to resolve issues</c:v>
                </c:pt>
              </c:strCache>
            </c:strRef>
          </c:cat>
          <c:val>
            <c:numRef>
              <c:f>'RM ROLE'!$AC$4:$AC$6</c:f>
              <c:numCache>
                <c:formatCode>0%</c:formatCode>
                <c:ptCount val="3"/>
                <c:pt idx="0">
                  <c:v>1.5873015873015872E-2</c:v>
                </c:pt>
                <c:pt idx="1">
                  <c:v>3.3333333333333333E-2</c:v>
                </c:pt>
                <c:pt idx="2">
                  <c:v>3.2258064516129031E-2</c:v>
                </c:pt>
              </c:numCache>
            </c:numRef>
          </c:val>
          <c:extLst>
            <c:ext xmlns:c16="http://schemas.microsoft.com/office/drawing/2014/chart" uri="{C3380CC4-5D6E-409C-BE32-E72D297353CC}">
              <c16:uniqueId val="{00000001-F146-496D-9443-88AEA305E40C}"/>
            </c:ext>
          </c:extLst>
        </c:ser>
        <c:ser>
          <c:idx val="1"/>
          <c:order val="1"/>
          <c:tx>
            <c:strRef>
              <c:f>'RM ROLE'!$AD$3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ROLE'!$AB$4:$AB$6</c:f>
              <c:strCache>
                <c:ptCount val="3"/>
                <c:pt idx="0">
                  <c:v>Communication with RM</c:v>
                </c:pt>
                <c:pt idx="1">
                  <c:v>Availabilty of RM</c:v>
                </c:pt>
                <c:pt idx="2">
                  <c:v>Ability to resolve issues</c:v>
                </c:pt>
              </c:strCache>
            </c:strRef>
          </c:cat>
          <c:val>
            <c:numRef>
              <c:f>'RM ROLE'!$AD$4:$AD$6</c:f>
              <c:numCache>
                <c:formatCode>0%</c:formatCode>
                <c:ptCount val="3"/>
                <c:pt idx="0">
                  <c:v>0.5714285714285714</c:v>
                </c:pt>
                <c:pt idx="1">
                  <c:v>0.58333333333333337</c:v>
                </c:pt>
                <c:pt idx="2">
                  <c:v>0.58870967741935487</c:v>
                </c:pt>
              </c:numCache>
            </c:numRef>
          </c:val>
          <c:extLst>
            <c:ext xmlns:c16="http://schemas.microsoft.com/office/drawing/2014/chart" uri="{C3380CC4-5D6E-409C-BE32-E72D297353CC}">
              <c16:uniqueId val="{00000002-F146-496D-9443-88AEA305E40C}"/>
            </c:ext>
          </c:extLst>
        </c:ser>
        <c:ser>
          <c:idx val="2"/>
          <c:order val="2"/>
          <c:tx>
            <c:strRef>
              <c:f>'RM ROLE'!$AE$3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ROLE'!$AB$4:$AB$6</c:f>
              <c:strCache>
                <c:ptCount val="3"/>
                <c:pt idx="0">
                  <c:v>Communication with RM</c:v>
                </c:pt>
                <c:pt idx="1">
                  <c:v>Availabilty of RM</c:v>
                </c:pt>
                <c:pt idx="2">
                  <c:v>Ability to resolve issues</c:v>
                </c:pt>
              </c:strCache>
            </c:strRef>
          </c:cat>
          <c:val>
            <c:numRef>
              <c:f>'RM ROLE'!$AE$4:$AE$6</c:f>
              <c:numCache>
                <c:formatCode>0%</c:formatCode>
                <c:ptCount val="3"/>
                <c:pt idx="0">
                  <c:v>0.10317460317460317</c:v>
                </c:pt>
                <c:pt idx="1">
                  <c:v>0.125</c:v>
                </c:pt>
                <c:pt idx="2">
                  <c:v>8.0645161290322578E-2</c:v>
                </c:pt>
              </c:numCache>
            </c:numRef>
          </c:val>
          <c:extLst>
            <c:ext xmlns:c16="http://schemas.microsoft.com/office/drawing/2014/chart" uri="{C3380CC4-5D6E-409C-BE32-E72D297353CC}">
              <c16:uniqueId val="{00000003-F146-496D-9443-88AEA305E40C}"/>
            </c:ext>
          </c:extLst>
        </c:ser>
        <c:ser>
          <c:idx val="3"/>
          <c:order val="3"/>
          <c:tx>
            <c:strRef>
              <c:f>'RM ROLE'!$AF$3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ROLE'!$AB$4:$AB$6</c:f>
              <c:strCache>
                <c:ptCount val="3"/>
                <c:pt idx="0">
                  <c:v>Communication with RM</c:v>
                </c:pt>
                <c:pt idx="1">
                  <c:v>Availabilty of RM</c:v>
                </c:pt>
                <c:pt idx="2">
                  <c:v>Ability to resolve issues</c:v>
                </c:pt>
              </c:strCache>
            </c:strRef>
          </c:cat>
          <c:val>
            <c:numRef>
              <c:f>'RM ROLE'!$AF$4:$AF$6</c:f>
              <c:numCache>
                <c:formatCode>0%</c:formatCode>
                <c:ptCount val="3"/>
                <c:pt idx="0">
                  <c:v>0.18253968253968253</c:v>
                </c:pt>
                <c:pt idx="1">
                  <c:v>0.13333333333333333</c:v>
                </c:pt>
                <c:pt idx="2">
                  <c:v>0.19354838709677419</c:v>
                </c:pt>
              </c:numCache>
            </c:numRef>
          </c:val>
          <c:extLst>
            <c:ext xmlns:c16="http://schemas.microsoft.com/office/drawing/2014/chart" uri="{C3380CC4-5D6E-409C-BE32-E72D297353CC}">
              <c16:uniqueId val="{00000004-F146-496D-9443-88AEA305E40C}"/>
            </c:ext>
          </c:extLst>
        </c:ser>
        <c:ser>
          <c:idx val="4"/>
          <c:order val="4"/>
          <c:tx>
            <c:strRef>
              <c:f>'RM ROLE'!$AG$3</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ROLE'!$AB$4:$AB$6</c:f>
              <c:strCache>
                <c:ptCount val="3"/>
                <c:pt idx="0">
                  <c:v>Communication with RM</c:v>
                </c:pt>
                <c:pt idx="1">
                  <c:v>Availabilty of RM</c:v>
                </c:pt>
                <c:pt idx="2">
                  <c:v>Ability to resolve issues</c:v>
                </c:pt>
              </c:strCache>
            </c:strRef>
          </c:cat>
          <c:val>
            <c:numRef>
              <c:f>'RM ROLE'!$AG$4:$AG$6</c:f>
              <c:numCache>
                <c:formatCode>0%</c:formatCode>
                <c:ptCount val="3"/>
                <c:pt idx="0">
                  <c:v>0.12698412698412698</c:v>
                </c:pt>
                <c:pt idx="1">
                  <c:v>0.125</c:v>
                </c:pt>
                <c:pt idx="2">
                  <c:v>0.10483870967741936</c:v>
                </c:pt>
              </c:numCache>
            </c:numRef>
          </c:val>
          <c:extLst>
            <c:ext xmlns:c16="http://schemas.microsoft.com/office/drawing/2014/chart" uri="{C3380CC4-5D6E-409C-BE32-E72D297353CC}">
              <c16:uniqueId val="{00000005-F146-496D-9443-88AEA305E40C}"/>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7.6532401839778885E-2"/>
          <c:w val="0.87180051388954793"/>
          <c:h val="0.72977159683102311"/>
        </c:manualLayout>
      </c:layout>
      <c:barChart>
        <c:barDir val="col"/>
        <c:grouping val="percentStacked"/>
        <c:varyColors val="0"/>
        <c:ser>
          <c:idx val="0"/>
          <c:order val="0"/>
          <c:tx>
            <c:strRef>
              <c:f>'RM ROLE'!$AC$12</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ROLE'!$AB$13:$AB$15</c:f>
              <c:strCache>
                <c:ptCount val="3"/>
                <c:pt idx="0">
                  <c:v>Communication with RM</c:v>
                </c:pt>
                <c:pt idx="1">
                  <c:v>Availabilty of RM</c:v>
                </c:pt>
                <c:pt idx="2">
                  <c:v>Ability to resolve issues</c:v>
                </c:pt>
              </c:strCache>
            </c:strRef>
          </c:cat>
          <c:val>
            <c:numRef>
              <c:f>'RM ROLE'!$AC$13:$AC$15</c:f>
              <c:numCache>
                <c:formatCode>0%</c:formatCode>
                <c:ptCount val="3"/>
                <c:pt idx="0">
                  <c:v>2.4E-2</c:v>
                </c:pt>
                <c:pt idx="1">
                  <c:v>1.5873015873015872E-2</c:v>
                </c:pt>
                <c:pt idx="2">
                  <c:v>1.5748031496062992E-2</c:v>
                </c:pt>
              </c:numCache>
            </c:numRef>
          </c:val>
          <c:extLst>
            <c:ext xmlns:c16="http://schemas.microsoft.com/office/drawing/2014/chart" uri="{C3380CC4-5D6E-409C-BE32-E72D297353CC}">
              <c16:uniqueId val="{00000001-34E4-452F-92D2-FC3B312BA5B6}"/>
            </c:ext>
          </c:extLst>
        </c:ser>
        <c:ser>
          <c:idx val="1"/>
          <c:order val="1"/>
          <c:tx>
            <c:strRef>
              <c:f>'RM ROLE'!$AD$12</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ROLE'!$AB$13:$AB$15</c:f>
              <c:strCache>
                <c:ptCount val="3"/>
                <c:pt idx="0">
                  <c:v>Communication with RM</c:v>
                </c:pt>
                <c:pt idx="1">
                  <c:v>Availabilty of RM</c:v>
                </c:pt>
                <c:pt idx="2">
                  <c:v>Ability to resolve issues</c:v>
                </c:pt>
              </c:strCache>
            </c:strRef>
          </c:cat>
          <c:val>
            <c:numRef>
              <c:f>'RM ROLE'!$AD$13:$AD$15</c:f>
              <c:numCache>
                <c:formatCode>0%</c:formatCode>
                <c:ptCount val="3"/>
                <c:pt idx="0">
                  <c:v>0.57599999999999996</c:v>
                </c:pt>
                <c:pt idx="1">
                  <c:v>0.67460317460317465</c:v>
                </c:pt>
                <c:pt idx="2">
                  <c:v>0.60629921259842523</c:v>
                </c:pt>
              </c:numCache>
            </c:numRef>
          </c:val>
          <c:extLst>
            <c:ext xmlns:c16="http://schemas.microsoft.com/office/drawing/2014/chart" uri="{C3380CC4-5D6E-409C-BE32-E72D297353CC}">
              <c16:uniqueId val="{00000002-34E4-452F-92D2-FC3B312BA5B6}"/>
            </c:ext>
          </c:extLst>
        </c:ser>
        <c:ser>
          <c:idx val="2"/>
          <c:order val="2"/>
          <c:tx>
            <c:strRef>
              <c:f>'RM ROLE'!$AE$12</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ROLE'!$AB$13:$AB$15</c:f>
              <c:strCache>
                <c:ptCount val="3"/>
                <c:pt idx="0">
                  <c:v>Communication with RM</c:v>
                </c:pt>
                <c:pt idx="1">
                  <c:v>Availabilty of RM</c:v>
                </c:pt>
                <c:pt idx="2">
                  <c:v>Ability to resolve issues</c:v>
                </c:pt>
              </c:strCache>
            </c:strRef>
          </c:cat>
          <c:val>
            <c:numRef>
              <c:f>'RM ROLE'!$AE$13:$AE$15</c:f>
              <c:numCache>
                <c:formatCode>0%</c:formatCode>
                <c:ptCount val="3"/>
                <c:pt idx="0">
                  <c:v>0.192</c:v>
                </c:pt>
                <c:pt idx="1">
                  <c:v>0.11904761904761904</c:v>
                </c:pt>
                <c:pt idx="2">
                  <c:v>0.20472440944881889</c:v>
                </c:pt>
              </c:numCache>
            </c:numRef>
          </c:val>
          <c:extLst>
            <c:ext xmlns:c16="http://schemas.microsoft.com/office/drawing/2014/chart" uri="{C3380CC4-5D6E-409C-BE32-E72D297353CC}">
              <c16:uniqueId val="{00000003-34E4-452F-92D2-FC3B312BA5B6}"/>
            </c:ext>
          </c:extLst>
        </c:ser>
        <c:ser>
          <c:idx val="3"/>
          <c:order val="3"/>
          <c:tx>
            <c:strRef>
              <c:f>'RM ROLE'!$AF$12</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ROLE'!$AB$13:$AB$15</c:f>
              <c:strCache>
                <c:ptCount val="3"/>
                <c:pt idx="0">
                  <c:v>Communication with RM</c:v>
                </c:pt>
                <c:pt idx="1">
                  <c:v>Availabilty of RM</c:v>
                </c:pt>
                <c:pt idx="2">
                  <c:v>Ability to resolve issues</c:v>
                </c:pt>
              </c:strCache>
            </c:strRef>
          </c:cat>
          <c:val>
            <c:numRef>
              <c:f>'RM ROLE'!$AF$13:$AF$15</c:f>
              <c:numCache>
                <c:formatCode>0%</c:formatCode>
                <c:ptCount val="3"/>
                <c:pt idx="0">
                  <c:v>0.12</c:v>
                </c:pt>
                <c:pt idx="1">
                  <c:v>0.1111111111111111</c:v>
                </c:pt>
                <c:pt idx="2">
                  <c:v>7.0866141732283464E-2</c:v>
                </c:pt>
              </c:numCache>
            </c:numRef>
          </c:val>
          <c:extLst>
            <c:ext xmlns:c16="http://schemas.microsoft.com/office/drawing/2014/chart" uri="{C3380CC4-5D6E-409C-BE32-E72D297353CC}">
              <c16:uniqueId val="{00000004-34E4-452F-92D2-FC3B312BA5B6}"/>
            </c:ext>
          </c:extLst>
        </c:ser>
        <c:ser>
          <c:idx val="4"/>
          <c:order val="4"/>
          <c:tx>
            <c:strRef>
              <c:f>'RM ROLE'!$AG$12</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ROLE'!$AB$13:$AB$15</c:f>
              <c:strCache>
                <c:ptCount val="3"/>
                <c:pt idx="0">
                  <c:v>Communication with RM</c:v>
                </c:pt>
                <c:pt idx="1">
                  <c:v>Availabilty of RM</c:v>
                </c:pt>
                <c:pt idx="2">
                  <c:v>Ability to resolve issues</c:v>
                </c:pt>
              </c:strCache>
            </c:strRef>
          </c:cat>
          <c:val>
            <c:numRef>
              <c:f>'RM ROLE'!$AG$13:$AG$15</c:f>
              <c:numCache>
                <c:formatCode>0%</c:formatCode>
                <c:ptCount val="3"/>
                <c:pt idx="0">
                  <c:v>8.7999999999999995E-2</c:v>
                </c:pt>
                <c:pt idx="1">
                  <c:v>7.9365079365079361E-2</c:v>
                </c:pt>
                <c:pt idx="2">
                  <c:v>0.10236220472440945</c:v>
                </c:pt>
              </c:numCache>
            </c:numRef>
          </c:val>
          <c:extLst>
            <c:ext xmlns:c16="http://schemas.microsoft.com/office/drawing/2014/chart" uri="{C3380CC4-5D6E-409C-BE32-E72D297353CC}">
              <c16:uniqueId val="{00000005-34E4-452F-92D2-FC3B312BA5B6}"/>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88741238280833756"/>
          <c:h val="0.69209129766047039"/>
        </c:manualLayout>
      </c:layout>
      <c:barChart>
        <c:barDir val="col"/>
        <c:grouping val="percentStacked"/>
        <c:varyColors val="0"/>
        <c:ser>
          <c:idx val="0"/>
          <c:order val="0"/>
          <c:tx>
            <c:strRef>
              <c:f>'RM ROLE'!$AC$20</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ROLE'!$AB$21:$AB$23</c:f>
              <c:strCache>
                <c:ptCount val="3"/>
                <c:pt idx="0">
                  <c:v>Communication with RM</c:v>
                </c:pt>
                <c:pt idx="1">
                  <c:v>Availabilty of RM</c:v>
                </c:pt>
                <c:pt idx="2">
                  <c:v>Ability to resolve issues</c:v>
                </c:pt>
              </c:strCache>
            </c:strRef>
          </c:cat>
          <c:val>
            <c:numRef>
              <c:f>'RM ROLE'!$AC$21:$AC$23</c:f>
              <c:numCache>
                <c:formatCode>0%</c:formatCode>
                <c:ptCount val="3"/>
                <c:pt idx="0">
                  <c:v>1.6393442622950821E-2</c:v>
                </c:pt>
                <c:pt idx="1">
                  <c:v>4.065040650406504E-2</c:v>
                </c:pt>
                <c:pt idx="2">
                  <c:v>2.4193548387096774E-2</c:v>
                </c:pt>
              </c:numCache>
            </c:numRef>
          </c:val>
          <c:extLst>
            <c:ext xmlns:c16="http://schemas.microsoft.com/office/drawing/2014/chart" uri="{C3380CC4-5D6E-409C-BE32-E72D297353CC}">
              <c16:uniqueId val="{00000001-2150-4A7F-99B7-7D2F57088C19}"/>
            </c:ext>
          </c:extLst>
        </c:ser>
        <c:ser>
          <c:idx val="1"/>
          <c:order val="1"/>
          <c:tx>
            <c:strRef>
              <c:f>'RM ROLE'!$AD$20</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ROLE'!$AB$21:$AB$23</c:f>
              <c:strCache>
                <c:ptCount val="3"/>
                <c:pt idx="0">
                  <c:v>Communication with RM</c:v>
                </c:pt>
                <c:pt idx="1">
                  <c:v>Availabilty of RM</c:v>
                </c:pt>
                <c:pt idx="2">
                  <c:v>Ability to resolve issues</c:v>
                </c:pt>
              </c:strCache>
            </c:strRef>
          </c:cat>
          <c:val>
            <c:numRef>
              <c:f>'RM ROLE'!$AD$21:$AD$23</c:f>
              <c:numCache>
                <c:formatCode>0%</c:formatCode>
                <c:ptCount val="3"/>
                <c:pt idx="0">
                  <c:v>0.51639344262295084</c:v>
                </c:pt>
                <c:pt idx="1">
                  <c:v>0.52032520325203258</c:v>
                </c:pt>
                <c:pt idx="2">
                  <c:v>0.50806451612903225</c:v>
                </c:pt>
              </c:numCache>
            </c:numRef>
          </c:val>
          <c:extLst>
            <c:ext xmlns:c16="http://schemas.microsoft.com/office/drawing/2014/chart" uri="{C3380CC4-5D6E-409C-BE32-E72D297353CC}">
              <c16:uniqueId val="{00000002-2150-4A7F-99B7-7D2F57088C19}"/>
            </c:ext>
          </c:extLst>
        </c:ser>
        <c:ser>
          <c:idx val="2"/>
          <c:order val="2"/>
          <c:tx>
            <c:strRef>
              <c:f>'RM ROLE'!$AE$20</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ROLE'!$AB$21:$AB$23</c:f>
              <c:strCache>
                <c:ptCount val="3"/>
                <c:pt idx="0">
                  <c:v>Communication with RM</c:v>
                </c:pt>
                <c:pt idx="1">
                  <c:v>Availabilty of RM</c:v>
                </c:pt>
                <c:pt idx="2">
                  <c:v>Ability to resolve issues</c:v>
                </c:pt>
              </c:strCache>
            </c:strRef>
          </c:cat>
          <c:val>
            <c:numRef>
              <c:f>'RM ROLE'!$AE$21:$AE$23</c:f>
              <c:numCache>
                <c:formatCode>0%</c:formatCode>
                <c:ptCount val="3"/>
                <c:pt idx="0">
                  <c:v>0.22131147540983606</c:v>
                </c:pt>
                <c:pt idx="1">
                  <c:v>0.14634146341463414</c:v>
                </c:pt>
                <c:pt idx="2">
                  <c:v>0.14516129032258066</c:v>
                </c:pt>
              </c:numCache>
            </c:numRef>
          </c:val>
          <c:extLst>
            <c:ext xmlns:c16="http://schemas.microsoft.com/office/drawing/2014/chart" uri="{C3380CC4-5D6E-409C-BE32-E72D297353CC}">
              <c16:uniqueId val="{00000003-2150-4A7F-99B7-7D2F57088C19}"/>
            </c:ext>
          </c:extLst>
        </c:ser>
        <c:ser>
          <c:idx val="3"/>
          <c:order val="3"/>
          <c:tx>
            <c:strRef>
              <c:f>'RM ROLE'!$AF$20</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ROLE'!$AB$21:$AB$23</c:f>
              <c:strCache>
                <c:ptCount val="3"/>
                <c:pt idx="0">
                  <c:v>Communication with RM</c:v>
                </c:pt>
                <c:pt idx="1">
                  <c:v>Availabilty of RM</c:v>
                </c:pt>
                <c:pt idx="2">
                  <c:v>Ability to resolve issues</c:v>
                </c:pt>
              </c:strCache>
            </c:strRef>
          </c:cat>
          <c:val>
            <c:numRef>
              <c:f>'RM ROLE'!$AF$21:$AF$23</c:f>
              <c:numCache>
                <c:formatCode>0%</c:formatCode>
                <c:ptCount val="3"/>
                <c:pt idx="0">
                  <c:v>0.13934426229508196</c:v>
                </c:pt>
                <c:pt idx="1">
                  <c:v>0.11382113821138211</c:v>
                </c:pt>
                <c:pt idx="2">
                  <c:v>0.16129032258064516</c:v>
                </c:pt>
              </c:numCache>
            </c:numRef>
          </c:val>
          <c:extLst>
            <c:ext xmlns:c16="http://schemas.microsoft.com/office/drawing/2014/chart" uri="{C3380CC4-5D6E-409C-BE32-E72D297353CC}">
              <c16:uniqueId val="{00000004-2150-4A7F-99B7-7D2F57088C19}"/>
            </c:ext>
          </c:extLst>
        </c:ser>
        <c:ser>
          <c:idx val="4"/>
          <c:order val="4"/>
          <c:tx>
            <c:strRef>
              <c:f>'RM ROLE'!$AG$20</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ROLE'!$AB$21:$AB$23</c:f>
              <c:strCache>
                <c:ptCount val="3"/>
                <c:pt idx="0">
                  <c:v>Communication with RM</c:v>
                </c:pt>
                <c:pt idx="1">
                  <c:v>Availabilty of RM</c:v>
                </c:pt>
                <c:pt idx="2">
                  <c:v>Ability to resolve issues</c:v>
                </c:pt>
              </c:strCache>
            </c:strRef>
          </c:cat>
          <c:val>
            <c:numRef>
              <c:f>'RM ROLE'!$AG$21:$AG$23</c:f>
              <c:numCache>
                <c:formatCode>0%</c:formatCode>
                <c:ptCount val="3"/>
                <c:pt idx="0">
                  <c:v>0.10655737704918032</c:v>
                </c:pt>
                <c:pt idx="1">
                  <c:v>0.17886178861788618</c:v>
                </c:pt>
                <c:pt idx="2">
                  <c:v>0.16129032258064516</c:v>
                </c:pt>
              </c:numCache>
            </c:numRef>
          </c:val>
          <c:extLst>
            <c:ext xmlns:c16="http://schemas.microsoft.com/office/drawing/2014/chart" uri="{C3380CC4-5D6E-409C-BE32-E72D297353CC}">
              <c16:uniqueId val="{00000005-2150-4A7F-99B7-7D2F57088C19}"/>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0.11421276104316892"/>
          <c:w val="0.88741238280833756"/>
          <c:h val="0.69209129766047039"/>
        </c:manualLayout>
      </c:layout>
      <c:barChart>
        <c:barDir val="col"/>
        <c:grouping val="percentStacked"/>
        <c:varyColors val="0"/>
        <c:ser>
          <c:idx val="0"/>
          <c:order val="0"/>
          <c:tx>
            <c:strRef>
              <c:f>'RM ROLE'!$AC$31</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ROLE'!$AB$32:$AB$34</c:f>
              <c:strCache>
                <c:ptCount val="3"/>
                <c:pt idx="0">
                  <c:v>Communication with RM</c:v>
                </c:pt>
                <c:pt idx="1">
                  <c:v>Availabilty of RM</c:v>
                </c:pt>
                <c:pt idx="2">
                  <c:v>Ability to resolve issues</c:v>
                </c:pt>
              </c:strCache>
            </c:strRef>
          </c:cat>
          <c:val>
            <c:numRef>
              <c:f>'RM ROLE'!$AC$32:$AC$34</c:f>
              <c:numCache>
                <c:formatCode>0%</c:formatCode>
                <c:ptCount val="3"/>
                <c:pt idx="0">
                  <c:v>0</c:v>
                </c:pt>
                <c:pt idx="1">
                  <c:v>3.8461538461538464E-2</c:v>
                </c:pt>
                <c:pt idx="2">
                  <c:v>0</c:v>
                </c:pt>
              </c:numCache>
            </c:numRef>
          </c:val>
          <c:extLst>
            <c:ext xmlns:c16="http://schemas.microsoft.com/office/drawing/2014/chart" uri="{C3380CC4-5D6E-409C-BE32-E72D297353CC}">
              <c16:uniqueId val="{00000001-01C2-475D-BF69-15CD4579237D}"/>
            </c:ext>
          </c:extLst>
        </c:ser>
        <c:ser>
          <c:idx val="1"/>
          <c:order val="1"/>
          <c:tx>
            <c:strRef>
              <c:f>'RM ROLE'!$AD$31</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ROLE'!$AB$32:$AB$34</c:f>
              <c:strCache>
                <c:ptCount val="3"/>
                <c:pt idx="0">
                  <c:v>Communication with RM</c:v>
                </c:pt>
                <c:pt idx="1">
                  <c:v>Availabilty of RM</c:v>
                </c:pt>
                <c:pt idx="2">
                  <c:v>Ability to resolve issues</c:v>
                </c:pt>
              </c:strCache>
            </c:strRef>
          </c:cat>
          <c:val>
            <c:numRef>
              <c:f>'RM ROLE'!$AD$32:$AD$34</c:f>
              <c:numCache>
                <c:formatCode>0%</c:formatCode>
                <c:ptCount val="3"/>
                <c:pt idx="0">
                  <c:v>0.53846153846153844</c:v>
                </c:pt>
                <c:pt idx="1">
                  <c:v>0.42307692307692307</c:v>
                </c:pt>
                <c:pt idx="2">
                  <c:v>0.40740740740740738</c:v>
                </c:pt>
              </c:numCache>
            </c:numRef>
          </c:val>
          <c:extLst>
            <c:ext xmlns:c16="http://schemas.microsoft.com/office/drawing/2014/chart" uri="{C3380CC4-5D6E-409C-BE32-E72D297353CC}">
              <c16:uniqueId val="{00000002-01C2-475D-BF69-15CD4579237D}"/>
            </c:ext>
          </c:extLst>
        </c:ser>
        <c:ser>
          <c:idx val="2"/>
          <c:order val="2"/>
          <c:tx>
            <c:strRef>
              <c:f>'RM ROLE'!$AE$31</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ROLE'!$AB$32:$AB$34</c:f>
              <c:strCache>
                <c:ptCount val="3"/>
                <c:pt idx="0">
                  <c:v>Communication with RM</c:v>
                </c:pt>
                <c:pt idx="1">
                  <c:v>Availabilty of RM</c:v>
                </c:pt>
                <c:pt idx="2">
                  <c:v>Ability to resolve issues</c:v>
                </c:pt>
              </c:strCache>
            </c:strRef>
          </c:cat>
          <c:val>
            <c:numRef>
              <c:f>'RM ROLE'!$AE$32:$AE$34</c:f>
              <c:numCache>
                <c:formatCode>0%</c:formatCode>
                <c:ptCount val="3"/>
                <c:pt idx="0">
                  <c:v>7.6923076923076927E-2</c:v>
                </c:pt>
                <c:pt idx="1">
                  <c:v>0.19230769230769232</c:v>
                </c:pt>
                <c:pt idx="2">
                  <c:v>0.1111111111111111</c:v>
                </c:pt>
              </c:numCache>
            </c:numRef>
          </c:val>
          <c:extLst>
            <c:ext xmlns:c16="http://schemas.microsoft.com/office/drawing/2014/chart" uri="{C3380CC4-5D6E-409C-BE32-E72D297353CC}">
              <c16:uniqueId val="{00000003-01C2-475D-BF69-15CD4579237D}"/>
            </c:ext>
          </c:extLst>
        </c:ser>
        <c:ser>
          <c:idx val="3"/>
          <c:order val="3"/>
          <c:tx>
            <c:strRef>
              <c:f>'RM ROLE'!$AF$31</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ROLE'!$AB$32:$AB$34</c:f>
              <c:strCache>
                <c:ptCount val="3"/>
                <c:pt idx="0">
                  <c:v>Communication with RM</c:v>
                </c:pt>
                <c:pt idx="1">
                  <c:v>Availabilty of RM</c:v>
                </c:pt>
                <c:pt idx="2">
                  <c:v>Ability to resolve issues</c:v>
                </c:pt>
              </c:strCache>
            </c:strRef>
          </c:cat>
          <c:val>
            <c:numRef>
              <c:f>'RM ROLE'!$AF$32:$AF$34</c:f>
              <c:numCache>
                <c:formatCode>0%</c:formatCode>
                <c:ptCount val="3"/>
                <c:pt idx="0">
                  <c:v>0.26923076923076922</c:v>
                </c:pt>
                <c:pt idx="1">
                  <c:v>0.11538461538461539</c:v>
                </c:pt>
                <c:pt idx="2">
                  <c:v>0.14814814814814814</c:v>
                </c:pt>
              </c:numCache>
            </c:numRef>
          </c:val>
          <c:extLst>
            <c:ext xmlns:c16="http://schemas.microsoft.com/office/drawing/2014/chart" uri="{C3380CC4-5D6E-409C-BE32-E72D297353CC}">
              <c16:uniqueId val="{00000004-01C2-475D-BF69-15CD4579237D}"/>
            </c:ext>
          </c:extLst>
        </c:ser>
        <c:ser>
          <c:idx val="4"/>
          <c:order val="4"/>
          <c:tx>
            <c:strRef>
              <c:f>'RM ROLE'!$AG$31</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'RM ROLE'!$AB$32:$AB$34</c:f>
              <c:strCache>
                <c:ptCount val="3"/>
                <c:pt idx="0">
                  <c:v>Communication with RM</c:v>
                </c:pt>
                <c:pt idx="1">
                  <c:v>Availabilty of RM</c:v>
                </c:pt>
                <c:pt idx="2">
                  <c:v>Ability to resolve issues</c:v>
                </c:pt>
              </c:strCache>
            </c:strRef>
          </c:cat>
          <c:val>
            <c:numRef>
              <c:f>'RM ROLE'!$AG$32:$AG$34</c:f>
              <c:numCache>
                <c:formatCode>0%</c:formatCode>
                <c:ptCount val="3"/>
                <c:pt idx="0">
                  <c:v>0.11538461538461539</c:v>
                </c:pt>
                <c:pt idx="1">
                  <c:v>0.23076923076923078</c:v>
                </c:pt>
                <c:pt idx="2">
                  <c:v>0.33333333333333331</c:v>
                </c:pt>
              </c:numCache>
            </c:numRef>
          </c:val>
          <c:extLst>
            <c:ext xmlns:c16="http://schemas.microsoft.com/office/drawing/2014/chart" uri="{C3380CC4-5D6E-409C-BE32-E72D297353CC}">
              <c16:uniqueId val="{00000005-01C2-475D-BF69-15CD4579237D}"/>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9.2797520021502863E-2"/>
          <c:w val="0.9011746189627079"/>
          <c:h val="0.71650793019124936"/>
        </c:manualLayout>
      </c:layout>
      <c:barChart>
        <c:barDir val="col"/>
        <c:grouping val="percentStacked"/>
        <c:varyColors val="0"/>
        <c:ser>
          <c:idx val="0"/>
          <c:order val="0"/>
          <c:tx>
            <c:strRef>
              <c:f>'FED+OTHERS (2)'!$AP$17</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'FED+OTHERS (2)'!$AO$18:$AO$21</c:f>
              <c:strCache>
                <c:ptCount val="4"/>
                <c:pt idx="0">
                  <c:v>Branch staff's ability</c:v>
                </c:pt>
                <c:pt idx="1">
                  <c:v>Call center support </c:v>
                </c:pt>
                <c:pt idx="2">
                  <c:v>Speed of query resolution</c:v>
                </c:pt>
                <c:pt idx="3">
                  <c:v>Correcting errors &amp; delays</c:v>
                </c:pt>
              </c:strCache>
            </c:strRef>
          </c:cat>
          <c:val>
            <c:numRef>
              <c:f>'FED+OTHERS (2)'!$AP$18:$AP$21</c:f>
              <c:numCache>
                <c:formatCode>0%</c:formatCode>
                <c:ptCount val="4"/>
                <c:pt idx="0">
                  <c:v>0.88321167883211682</c:v>
                </c:pt>
                <c:pt idx="1">
                  <c:v>0.78378378378378377</c:v>
                </c:pt>
                <c:pt idx="2">
                  <c:v>0.82978723404255317</c:v>
                </c:pt>
                <c:pt idx="3">
                  <c:v>0.75</c:v>
                </c:pt>
              </c:numCache>
            </c:numRef>
          </c:val>
          <c:extLst>
            <c:ext xmlns:c16="http://schemas.microsoft.com/office/drawing/2014/chart" uri="{C3380CC4-5D6E-409C-BE32-E72D297353CC}">
              <c16:uniqueId val="{00000001-4C11-4EDE-9E56-E4855AE0673F}"/>
            </c:ext>
          </c:extLst>
        </c:ser>
        <c:ser>
          <c:idx val="1"/>
          <c:order val="1"/>
          <c:tx>
            <c:strRef>
              <c:f>'FED+OTHERS (2)'!$AQ$17</c:f>
              <c:strCache>
                <c:ptCount val="1"/>
                <c:pt idx="0">
                  <c:v>KOTAK</c:v>
                </c:pt>
              </c:strCache>
            </c:strRef>
          </c:tx>
          <c:spPr>
            <a:solidFill>
              <a:srgbClr val="FF333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'FED+OTHERS (2)'!$AO$18:$AO$21</c:f>
              <c:strCache>
                <c:ptCount val="4"/>
                <c:pt idx="0">
                  <c:v>Branch staff's ability</c:v>
                </c:pt>
                <c:pt idx="1">
                  <c:v>Call center support </c:v>
                </c:pt>
                <c:pt idx="2">
                  <c:v>Speed of query resolution</c:v>
                </c:pt>
                <c:pt idx="3">
                  <c:v>Correcting errors &amp; delays</c:v>
                </c:pt>
              </c:strCache>
            </c:strRef>
          </c:cat>
          <c:val>
            <c:numRef>
              <c:f>'FED+OTHERS (2)'!$AQ$18:$AQ$21</c:f>
              <c:numCache>
                <c:formatCode>0%</c:formatCode>
                <c:ptCount val="4"/>
                <c:pt idx="0">
                  <c:v>0</c:v>
                </c:pt>
                <c:pt idx="1">
                  <c:v>5.4054054054054057E-2</c:v>
                </c:pt>
                <c:pt idx="2">
                  <c:v>2.8368794326241134E-2</c:v>
                </c:pt>
                <c:pt idx="3">
                  <c:v>5.46875E-2</c:v>
                </c:pt>
              </c:numCache>
            </c:numRef>
          </c:val>
          <c:extLst>
            <c:ext xmlns:c16="http://schemas.microsoft.com/office/drawing/2014/chart" uri="{C3380CC4-5D6E-409C-BE32-E72D297353CC}">
              <c16:uniqueId val="{00000002-4C11-4EDE-9E56-E4855AE0673F}"/>
            </c:ext>
          </c:extLst>
        </c:ser>
        <c:ser>
          <c:idx val="2"/>
          <c:order val="2"/>
          <c:tx>
            <c:strRef>
              <c:f>'FED+OTHERS (2)'!$AR$17</c:f>
              <c:strCache>
                <c:ptCount val="1"/>
                <c:pt idx="0">
                  <c:v>HDFC</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'FED+OTHERS (2)'!$AO$18:$AO$21</c:f>
              <c:strCache>
                <c:ptCount val="4"/>
                <c:pt idx="0">
                  <c:v>Branch staff's ability</c:v>
                </c:pt>
                <c:pt idx="1">
                  <c:v>Call center support </c:v>
                </c:pt>
                <c:pt idx="2">
                  <c:v>Speed of query resolution</c:v>
                </c:pt>
                <c:pt idx="3">
                  <c:v>Correcting errors &amp; delays</c:v>
                </c:pt>
              </c:strCache>
            </c:strRef>
          </c:cat>
          <c:val>
            <c:numRef>
              <c:f>'FED+OTHERS (2)'!$AR$18:$AR$21</c:f>
              <c:numCache>
                <c:formatCode>0%</c:formatCode>
                <c:ptCount val="4"/>
                <c:pt idx="0">
                  <c:v>8.7591240875912413E-2</c:v>
                </c:pt>
                <c:pt idx="1">
                  <c:v>7.2072072072072071E-2</c:v>
                </c:pt>
                <c:pt idx="2">
                  <c:v>8.5106382978723402E-2</c:v>
                </c:pt>
                <c:pt idx="3">
                  <c:v>8.59375E-2</c:v>
                </c:pt>
              </c:numCache>
            </c:numRef>
          </c:val>
          <c:extLst>
            <c:ext xmlns:c16="http://schemas.microsoft.com/office/drawing/2014/chart" uri="{C3380CC4-5D6E-409C-BE32-E72D297353CC}">
              <c16:uniqueId val="{00000003-4C11-4EDE-9E56-E4855AE0673F}"/>
            </c:ext>
          </c:extLst>
        </c:ser>
        <c:ser>
          <c:idx val="3"/>
          <c:order val="3"/>
          <c:tx>
            <c:strRef>
              <c:f>'FED+OTHERS (2)'!$AS$17</c:f>
              <c:strCache>
                <c:ptCount val="1"/>
                <c:pt idx="0">
                  <c:v>AXIS</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'FED+OTHERS (2)'!$AO$18:$AO$21</c:f>
              <c:strCache>
                <c:ptCount val="4"/>
                <c:pt idx="0">
                  <c:v>Branch staff's ability</c:v>
                </c:pt>
                <c:pt idx="1">
                  <c:v>Call center support </c:v>
                </c:pt>
                <c:pt idx="2">
                  <c:v>Speed of query resolution</c:v>
                </c:pt>
                <c:pt idx="3">
                  <c:v>Correcting errors &amp; delays</c:v>
                </c:pt>
              </c:strCache>
            </c:strRef>
          </c:cat>
          <c:val>
            <c:numRef>
              <c:f>'FED+OTHERS (2)'!$AS$18:$AS$21</c:f>
              <c:numCache>
                <c:formatCode>0%</c:formatCode>
                <c:ptCount val="4"/>
                <c:pt idx="0">
                  <c:v>2.9197080291970802E-2</c:v>
                </c:pt>
                <c:pt idx="1">
                  <c:v>9.0090090090090086E-2</c:v>
                </c:pt>
                <c:pt idx="2">
                  <c:v>5.6737588652482268E-2</c:v>
                </c:pt>
                <c:pt idx="3">
                  <c:v>0.109375</c:v>
                </c:pt>
              </c:numCache>
            </c:numRef>
          </c:val>
          <c:extLst>
            <c:ext xmlns:c16="http://schemas.microsoft.com/office/drawing/2014/chart" uri="{C3380CC4-5D6E-409C-BE32-E72D297353CC}">
              <c16:uniqueId val="{00000004-4C11-4EDE-9E56-E4855AE0673F}"/>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05529931942446E-2"/>
          <c:y val="5.4860794863034995E-2"/>
          <c:w val="0.86840400414737018"/>
          <c:h val="0.74207909024484364"/>
        </c:manualLayout>
      </c:layout>
      <c:barChart>
        <c:barDir val="col"/>
        <c:grouping val="percentStacked"/>
        <c:varyColors val="0"/>
        <c:ser>
          <c:idx val="0"/>
          <c:order val="0"/>
          <c:tx>
            <c:strRef>
              <c:f>'FED+KOTAK (2)'!$Q$132</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(2)'!$P$133:$P$136</c:f>
              <c:strCache>
                <c:ptCount val="4"/>
                <c:pt idx="0">
                  <c:v>Call center support </c:v>
                </c:pt>
                <c:pt idx="1">
                  <c:v>Speed of query resolution</c:v>
                </c:pt>
                <c:pt idx="2">
                  <c:v>Branch staff's ability</c:v>
                </c:pt>
                <c:pt idx="3">
                  <c:v>Correcting errors &amp; delays</c:v>
                </c:pt>
              </c:strCache>
            </c:strRef>
          </c:cat>
          <c:val>
            <c:numRef>
              <c:f>'FED+KOTAK (2)'!$Q$133:$Q$136</c:f>
              <c:numCache>
                <c:formatCode>0%</c:formatCode>
                <c:ptCount val="4"/>
                <c:pt idx="0">
                  <c:v>0.75</c:v>
                </c:pt>
                <c:pt idx="1">
                  <c:v>0.75</c:v>
                </c:pt>
                <c:pt idx="2">
                  <c:v>0.6</c:v>
                </c:pt>
                <c:pt idx="3">
                  <c:v>0.5</c:v>
                </c:pt>
              </c:numCache>
            </c:numRef>
          </c:val>
          <c:extLst>
            <c:ext xmlns:c16="http://schemas.microsoft.com/office/drawing/2014/chart" uri="{C3380CC4-5D6E-409C-BE32-E72D297353CC}">
              <c16:uniqueId val="{00000001-19D0-4319-838A-667880B99221}"/>
            </c:ext>
          </c:extLst>
        </c:ser>
        <c:ser>
          <c:idx val="1"/>
          <c:order val="1"/>
          <c:tx>
            <c:strRef>
              <c:f>'FED+KOTAK (2)'!$R$132</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(2)'!$P$133:$P$136</c:f>
              <c:strCache>
                <c:ptCount val="4"/>
                <c:pt idx="0">
                  <c:v>Call center support </c:v>
                </c:pt>
                <c:pt idx="1">
                  <c:v>Speed of query resolution</c:v>
                </c:pt>
                <c:pt idx="2">
                  <c:v>Branch staff's ability</c:v>
                </c:pt>
                <c:pt idx="3">
                  <c:v>Correcting errors &amp; delays</c:v>
                </c:pt>
              </c:strCache>
            </c:strRef>
          </c:cat>
          <c:val>
            <c:numRef>
              <c:f>'FED+KOTAK (2)'!$R$133:$R$136</c:f>
              <c:numCache>
                <c:formatCode>0%</c:formatCode>
                <c:ptCount val="4"/>
                <c:pt idx="0">
                  <c:v>0</c:v>
                </c:pt>
                <c:pt idx="1">
                  <c:v>0</c:v>
                </c:pt>
                <c:pt idx="2">
                  <c:v>0</c:v>
                </c:pt>
                <c:pt idx="3">
                  <c:v>0</c:v>
                </c:pt>
              </c:numCache>
            </c:numRef>
          </c:val>
          <c:extLst>
            <c:ext xmlns:c16="http://schemas.microsoft.com/office/drawing/2014/chart" uri="{C3380CC4-5D6E-409C-BE32-E72D297353CC}">
              <c16:uniqueId val="{00000002-19D0-4319-838A-667880B99221}"/>
            </c:ext>
          </c:extLst>
        </c:ser>
        <c:ser>
          <c:idx val="2"/>
          <c:order val="2"/>
          <c:tx>
            <c:strRef>
              <c:f>'FED+KOTAK (2)'!$S$132</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(2)'!$P$133:$P$136</c:f>
              <c:strCache>
                <c:ptCount val="4"/>
                <c:pt idx="0">
                  <c:v>Call center support </c:v>
                </c:pt>
                <c:pt idx="1">
                  <c:v>Speed of query resolution</c:v>
                </c:pt>
                <c:pt idx="2">
                  <c:v>Branch staff's ability</c:v>
                </c:pt>
                <c:pt idx="3">
                  <c:v>Correcting errors &amp; delays</c:v>
                </c:pt>
              </c:strCache>
            </c:strRef>
          </c:cat>
          <c:val>
            <c:numRef>
              <c:f>'FED+KOTAK (2)'!$S$133:$S$136</c:f>
              <c:numCache>
                <c:formatCode>0%</c:formatCode>
                <c:ptCount val="4"/>
                <c:pt idx="0">
                  <c:v>0</c:v>
                </c:pt>
                <c:pt idx="1">
                  <c:v>0</c:v>
                </c:pt>
                <c:pt idx="2">
                  <c:v>0.2</c:v>
                </c:pt>
                <c:pt idx="3">
                  <c:v>0.25</c:v>
                </c:pt>
              </c:numCache>
            </c:numRef>
          </c:val>
          <c:extLst>
            <c:ext xmlns:c16="http://schemas.microsoft.com/office/drawing/2014/chart" uri="{C3380CC4-5D6E-409C-BE32-E72D297353CC}">
              <c16:uniqueId val="{00000003-19D0-4319-838A-667880B99221}"/>
            </c:ext>
          </c:extLst>
        </c:ser>
        <c:ser>
          <c:idx val="3"/>
          <c:order val="3"/>
          <c:tx>
            <c:strRef>
              <c:f>'FED+KOTAK (2)'!$T$132</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'FED+KOTAK (2)'!$P$133:$P$136</c:f>
              <c:strCache>
                <c:ptCount val="4"/>
                <c:pt idx="0">
                  <c:v>Call center support </c:v>
                </c:pt>
                <c:pt idx="1">
                  <c:v>Speed of query resolution</c:v>
                </c:pt>
                <c:pt idx="2">
                  <c:v>Branch staff's ability</c:v>
                </c:pt>
                <c:pt idx="3">
                  <c:v>Correcting errors &amp; delays</c:v>
                </c:pt>
              </c:strCache>
            </c:strRef>
          </c:cat>
          <c:val>
            <c:numRef>
              <c:f>'FED+KOTAK (2)'!$T$133:$T$136</c:f>
              <c:numCache>
                <c:formatCode>0%</c:formatCode>
                <c:ptCount val="4"/>
                <c:pt idx="0">
                  <c:v>0.25</c:v>
                </c:pt>
                <c:pt idx="1">
                  <c:v>0.25</c:v>
                </c:pt>
                <c:pt idx="2">
                  <c:v>0.2</c:v>
                </c:pt>
                <c:pt idx="3">
                  <c:v>0.25</c:v>
                </c:pt>
              </c:numCache>
            </c:numRef>
          </c:val>
          <c:extLst>
            <c:ext xmlns:c16="http://schemas.microsoft.com/office/drawing/2014/chart" uri="{C3380CC4-5D6E-409C-BE32-E72D297353CC}">
              <c16:uniqueId val="{00000004-19D0-4319-838A-667880B99221}"/>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5.1800112268736195E-2"/>
          <c:w val="0.87424740864874828"/>
          <c:h val="0.68522344455877882"/>
        </c:manualLayout>
      </c:layout>
      <c:barChart>
        <c:barDir val="col"/>
        <c:grouping val="percentStacked"/>
        <c:varyColors val="0"/>
        <c:ser>
          <c:idx val="0"/>
          <c:order val="0"/>
          <c:tx>
            <c:strRef>
              <c:f>'FED+HDFC (2)'!$P$123</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(2)'!$O$124:$O$127</c:f>
              <c:strCache>
                <c:ptCount val="4"/>
                <c:pt idx="0">
                  <c:v>Correcting errors &amp; delays</c:v>
                </c:pt>
                <c:pt idx="1">
                  <c:v>Branch staff's ability</c:v>
                </c:pt>
                <c:pt idx="2">
                  <c:v>Call center support </c:v>
                </c:pt>
                <c:pt idx="3">
                  <c:v>Speed of query resolution</c:v>
                </c:pt>
              </c:strCache>
            </c:strRef>
          </c:cat>
          <c:val>
            <c:numRef>
              <c:f>'FED+HDFC (2)'!$P$124:$P$127</c:f>
              <c:numCache>
                <c:formatCode>0%</c:formatCode>
                <c:ptCount val="4"/>
                <c:pt idx="0">
                  <c:v>0.84</c:v>
                </c:pt>
                <c:pt idx="1">
                  <c:v>0.83333333333333337</c:v>
                </c:pt>
                <c:pt idx="2">
                  <c:v>0.83333333333333337</c:v>
                </c:pt>
                <c:pt idx="3">
                  <c:v>0.8214285714285714</c:v>
                </c:pt>
              </c:numCache>
            </c:numRef>
          </c:val>
          <c:extLst>
            <c:ext xmlns:c16="http://schemas.microsoft.com/office/drawing/2014/chart" uri="{C3380CC4-5D6E-409C-BE32-E72D297353CC}">
              <c16:uniqueId val="{00000001-6505-4C28-B477-4E0E7D01A701}"/>
            </c:ext>
          </c:extLst>
        </c:ser>
        <c:ser>
          <c:idx val="1"/>
          <c:order val="1"/>
          <c:tx>
            <c:strRef>
              <c:f>'FED+HDFC (2)'!$Q$123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(2)'!$O$124:$O$127</c:f>
              <c:strCache>
                <c:ptCount val="4"/>
                <c:pt idx="0">
                  <c:v>Correcting errors &amp; delays</c:v>
                </c:pt>
                <c:pt idx="1">
                  <c:v>Branch staff's ability</c:v>
                </c:pt>
                <c:pt idx="2">
                  <c:v>Call center support </c:v>
                </c:pt>
                <c:pt idx="3">
                  <c:v>Speed of query resolution</c:v>
                </c:pt>
              </c:strCache>
            </c:strRef>
          </c:cat>
          <c:val>
            <c:numRef>
              <c:f>'FED+HDFC (2)'!$Q$124:$Q$127</c:f>
              <c:numCache>
                <c:formatCode>0%</c:formatCode>
                <c:ptCount val="4"/>
                <c:pt idx="0">
                  <c:v>0.16</c:v>
                </c:pt>
                <c:pt idx="1">
                  <c:v>0.13333333333333333</c:v>
                </c:pt>
                <c:pt idx="2">
                  <c:v>0.16666666666666666</c:v>
                </c:pt>
                <c:pt idx="3">
                  <c:v>0.17857142857142858</c:v>
                </c:pt>
              </c:numCache>
            </c:numRef>
          </c:val>
          <c:extLst>
            <c:ext xmlns:c16="http://schemas.microsoft.com/office/drawing/2014/chart" uri="{C3380CC4-5D6E-409C-BE32-E72D297353CC}">
              <c16:uniqueId val="{00000002-6505-4C28-B477-4E0E7D01A701}"/>
            </c:ext>
          </c:extLst>
        </c:ser>
        <c:ser>
          <c:idx val="2"/>
          <c:order val="2"/>
          <c:tx>
            <c:strRef>
              <c:f>'FED+HDFC (2)'!$R$123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(2)'!$O$124:$O$127</c:f>
              <c:strCache>
                <c:ptCount val="4"/>
                <c:pt idx="0">
                  <c:v>Correcting errors &amp; delays</c:v>
                </c:pt>
                <c:pt idx="1">
                  <c:v>Branch staff's ability</c:v>
                </c:pt>
                <c:pt idx="2">
                  <c:v>Call center support </c:v>
                </c:pt>
                <c:pt idx="3">
                  <c:v>Speed of query resolution</c:v>
                </c:pt>
              </c:strCache>
            </c:strRef>
          </c:cat>
          <c:val>
            <c:numRef>
              <c:f>'FED+HDFC (2)'!$R$124:$R$127</c:f>
              <c:numCache>
                <c:formatCode>0%</c:formatCode>
                <c:ptCount val="4"/>
                <c:pt idx="0">
                  <c:v>0</c:v>
                </c:pt>
                <c:pt idx="1">
                  <c:v>0</c:v>
                </c:pt>
                <c:pt idx="2">
                  <c:v>0</c:v>
                </c:pt>
                <c:pt idx="3">
                  <c:v>0</c:v>
                </c:pt>
              </c:numCache>
            </c:numRef>
          </c:val>
          <c:extLst>
            <c:ext xmlns:c16="http://schemas.microsoft.com/office/drawing/2014/chart" uri="{C3380CC4-5D6E-409C-BE32-E72D297353CC}">
              <c16:uniqueId val="{00000003-6505-4C28-B477-4E0E7D01A701}"/>
            </c:ext>
          </c:extLst>
        </c:ser>
        <c:ser>
          <c:idx val="3"/>
          <c:order val="3"/>
          <c:tx>
            <c:strRef>
              <c:f>'FED+HDFC (2)'!$S$123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'FED+HDFC (2)'!$O$124:$O$127</c:f>
              <c:strCache>
                <c:ptCount val="4"/>
                <c:pt idx="0">
                  <c:v>Correcting errors &amp; delays</c:v>
                </c:pt>
                <c:pt idx="1">
                  <c:v>Branch staff's ability</c:v>
                </c:pt>
                <c:pt idx="2">
                  <c:v>Call center support </c:v>
                </c:pt>
                <c:pt idx="3">
                  <c:v>Speed of query resolution</c:v>
                </c:pt>
              </c:strCache>
            </c:strRef>
          </c:cat>
          <c:val>
            <c:numRef>
              <c:f>'FED+HDFC (2)'!$S$124:$S$127</c:f>
              <c:numCache>
                <c:formatCode>0%</c:formatCode>
                <c:ptCount val="4"/>
                <c:pt idx="0">
                  <c:v>0</c:v>
                </c:pt>
                <c:pt idx="1">
                  <c:v>3.3333333333333333E-2</c:v>
                </c:pt>
                <c:pt idx="2">
                  <c:v>0</c:v>
                </c:pt>
                <c:pt idx="3">
                  <c:v>0</c:v>
                </c:pt>
              </c:numCache>
            </c:numRef>
          </c:val>
          <c:extLst>
            <c:ext xmlns:c16="http://schemas.microsoft.com/office/drawing/2014/chart" uri="{C3380CC4-5D6E-409C-BE32-E72D297353CC}">
              <c16:uniqueId val="{00000004-6505-4C28-B477-4E0E7D01A701}"/>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015748089315056E-2"/>
          <c:y val="2.8105672040219222E-2"/>
          <c:w val="0.86488492388549831"/>
          <c:h val="0.72507521496993943"/>
        </c:manualLayout>
      </c:layout>
      <c:barChart>
        <c:barDir val="col"/>
        <c:grouping val="percentStacked"/>
        <c:varyColors val="0"/>
        <c:ser>
          <c:idx val="0"/>
          <c:order val="0"/>
          <c:tx>
            <c:strRef>
              <c:f>'FED+AXIS (2)'!$R$103</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(2)'!$Q$104:$Q$106,'FED+AXIS (2)'!$Q$108)</c:f>
              <c:strCache>
                <c:ptCount val="4"/>
                <c:pt idx="0">
                  <c:v>Speed of query resolution</c:v>
                </c:pt>
                <c:pt idx="1">
                  <c:v>Branch staff's ability</c:v>
                </c:pt>
                <c:pt idx="2">
                  <c:v>Call center support </c:v>
                </c:pt>
                <c:pt idx="3">
                  <c:v>Correcting errors &amp; delays</c:v>
                </c:pt>
              </c:strCache>
            </c:strRef>
          </c:cat>
          <c:val>
            <c:numRef>
              <c:f>('FED+AXIS (2)'!$R$104:$R$106,'FED+AXIS (2)'!$R$108)</c:f>
              <c:numCache>
                <c:formatCode>0%</c:formatCode>
                <c:ptCount val="4"/>
                <c:pt idx="0">
                  <c:v>0.83333333333333337</c:v>
                </c:pt>
                <c:pt idx="1">
                  <c:v>0.7857142857142857</c:v>
                </c:pt>
                <c:pt idx="2">
                  <c:v>0.75</c:v>
                </c:pt>
                <c:pt idx="3">
                  <c:v>0.7</c:v>
                </c:pt>
              </c:numCache>
            </c:numRef>
          </c:val>
          <c:extLst>
            <c:ext xmlns:c16="http://schemas.microsoft.com/office/drawing/2014/chart" uri="{C3380CC4-5D6E-409C-BE32-E72D297353CC}">
              <c16:uniqueId val="{00000001-6AB7-48CE-8326-71A09AED622E}"/>
            </c:ext>
          </c:extLst>
        </c:ser>
        <c:ser>
          <c:idx val="1"/>
          <c:order val="1"/>
          <c:tx>
            <c:strRef>
              <c:f>'FED+AXIS (2)'!$S$103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(2)'!$Q$104:$Q$106,'FED+AXIS (2)'!$Q$108)</c:f>
              <c:strCache>
                <c:ptCount val="4"/>
                <c:pt idx="0">
                  <c:v>Speed of query resolution</c:v>
                </c:pt>
                <c:pt idx="1">
                  <c:v>Branch staff's ability</c:v>
                </c:pt>
                <c:pt idx="2">
                  <c:v>Call center support </c:v>
                </c:pt>
                <c:pt idx="3">
                  <c:v>Correcting errors &amp; delays</c:v>
                </c:pt>
              </c:strCache>
            </c:strRef>
          </c:cat>
          <c:val>
            <c:numRef>
              <c:f>('FED+AXIS (2)'!$S$104:$S$106,'FED+AXIS (2)'!$S$108)</c:f>
              <c:numCache>
                <c:formatCode>0%</c:formatCode>
                <c:ptCount val="4"/>
                <c:pt idx="0">
                  <c:v>8.3333333333333329E-2</c:v>
                </c:pt>
                <c:pt idx="1">
                  <c:v>0.14285714285714285</c:v>
                </c:pt>
                <c:pt idx="2">
                  <c:v>8.3333333333333329E-2</c:v>
                </c:pt>
                <c:pt idx="3">
                  <c:v>0.1</c:v>
                </c:pt>
              </c:numCache>
            </c:numRef>
          </c:val>
          <c:extLst>
            <c:ext xmlns:c16="http://schemas.microsoft.com/office/drawing/2014/chart" uri="{C3380CC4-5D6E-409C-BE32-E72D297353CC}">
              <c16:uniqueId val="{00000002-6AB7-48CE-8326-71A09AED622E}"/>
            </c:ext>
          </c:extLst>
        </c:ser>
        <c:ser>
          <c:idx val="2"/>
          <c:order val="2"/>
          <c:tx>
            <c:strRef>
              <c:f>'FED+AXIS (2)'!$T$103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(2)'!$Q$104:$Q$106,'FED+AXIS (2)'!$Q$108)</c:f>
              <c:strCache>
                <c:ptCount val="4"/>
                <c:pt idx="0">
                  <c:v>Speed of query resolution</c:v>
                </c:pt>
                <c:pt idx="1">
                  <c:v>Branch staff's ability</c:v>
                </c:pt>
                <c:pt idx="2">
                  <c:v>Call center support </c:v>
                </c:pt>
                <c:pt idx="3">
                  <c:v>Correcting errors &amp; delays</c:v>
                </c:pt>
              </c:strCache>
            </c:strRef>
          </c:cat>
          <c:val>
            <c:numRef>
              <c:f>('FED+AXIS (2)'!$T$104:$T$106,'FED+AXIS (2)'!$T$108)</c:f>
              <c:numCache>
                <c:formatCode>0%</c:formatCode>
                <c:ptCount val="4"/>
                <c:pt idx="0">
                  <c:v>0</c:v>
                </c:pt>
                <c:pt idx="1">
                  <c:v>0</c:v>
                </c:pt>
                <c:pt idx="2">
                  <c:v>0</c:v>
                </c:pt>
                <c:pt idx="3">
                  <c:v>0</c:v>
                </c:pt>
              </c:numCache>
            </c:numRef>
          </c:val>
          <c:extLst>
            <c:ext xmlns:c16="http://schemas.microsoft.com/office/drawing/2014/chart" uri="{C3380CC4-5D6E-409C-BE32-E72D297353CC}">
              <c16:uniqueId val="{00000003-6AB7-48CE-8326-71A09AED622E}"/>
            </c:ext>
          </c:extLst>
        </c:ser>
        <c:ser>
          <c:idx val="3"/>
          <c:order val="3"/>
          <c:tx>
            <c:strRef>
              <c:f>'FED+AXIS (2)'!$U$103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('FED+AXIS (2)'!$Q$104:$Q$106,'FED+AXIS (2)'!$Q$108)</c:f>
              <c:strCache>
                <c:ptCount val="4"/>
                <c:pt idx="0">
                  <c:v>Speed of query resolution</c:v>
                </c:pt>
                <c:pt idx="1">
                  <c:v>Branch staff's ability</c:v>
                </c:pt>
                <c:pt idx="2">
                  <c:v>Call center support </c:v>
                </c:pt>
                <c:pt idx="3">
                  <c:v>Correcting errors &amp; delays</c:v>
                </c:pt>
              </c:strCache>
            </c:strRef>
          </c:cat>
          <c:val>
            <c:numRef>
              <c:f>('FED+AXIS (2)'!$U$104:$U$106,'FED+AXIS (2)'!$U$108)</c:f>
              <c:numCache>
                <c:formatCode>0%</c:formatCode>
                <c:ptCount val="4"/>
                <c:pt idx="0">
                  <c:v>8.3333333333333329E-2</c:v>
                </c:pt>
                <c:pt idx="1">
                  <c:v>7.1428571428571425E-2</c:v>
                </c:pt>
                <c:pt idx="2">
                  <c:v>0.16666666666666666</c:v>
                </c:pt>
                <c:pt idx="3">
                  <c:v>0.2</c:v>
                </c:pt>
              </c:numCache>
            </c:numRef>
          </c:val>
          <c:extLst>
            <c:ext xmlns:c16="http://schemas.microsoft.com/office/drawing/2014/chart" uri="{C3380CC4-5D6E-409C-BE32-E72D297353CC}">
              <c16:uniqueId val="{00000004-6AB7-48CE-8326-71A09AED622E}"/>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8.3015748089315056E-2"/>
          <c:y val="0.11421276104316892"/>
          <c:w val="0.89069086392000263"/>
          <c:h val="0.66307898573085466"/>
        </c:manualLayout>
      </c:layout>
      <c:barChart>
        <c:barDir val="col"/>
        <c:grouping val="percentStacked"/>
        <c:varyColors val="0"/>
        <c:ser>
          <c:idx val="0"/>
          <c:order val="0"/>
          <c:tx>
            <c:strRef>
              <c:f>'KOTAK+HDFC+AXIS+ICICI (SUPPORT)'!$AB$1</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(SUPPORT)'!$AA$2:$AA$5</c:f>
              <c:strCache>
                <c:ptCount val="4"/>
                <c:pt idx="0">
                  <c:v>Call center support </c:v>
                </c:pt>
                <c:pt idx="1">
                  <c:v>Speed of query resolution</c:v>
                </c:pt>
                <c:pt idx="2">
                  <c:v>Correcting errors &amp; delays</c:v>
                </c:pt>
                <c:pt idx="3">
                  <c:v>Branch staff's ability</c:v>
                </c:pt>
              </c:strCache>
            </c:strRef>
          </c:cat>
          <c:val>
            <c:numRef>
              <c:f>'KOTAK+HDFC+AXIS+ICICI (SUPPORT)'!$AB$2:$AB$5</c:f>
              <c:numCache>
                <c:formatCode>0%</c:formatCode>
                <c:ptCount val="4"/>
                <c:pt idx="0">
                  <c:v>5.6910569105691054E-2</c:v>
                </c:pt>
                <c:pt idx="1">
                  <c:v>1.5873015873015872E-2</c:v>
                </c:pt>
                <c:pt idx="2">
                  <c:v>1.6129032258064516E-2</c:v>
                </c:pt>
                <c:pt idx="3">
                  <c:v>3.2520325203252036E-2</c:v>
                </c:pt>
              </c:numCache>
            </c:numRef>
          </c:val>
          <c:extLst>
            <c:ext xmlns:c16="http://schemas.microsoft.com/office/drawing/2014/chart" uri="{C3380CC4-5D6E-409C-BE32-E72D297353CC}">
              <c16:uniqueId val="{00000001-7A9D-4A0D-B49B-ED10FEBF2F07}"/>
            </c:ext>
          </c:extLst>
        </c:ser>
        <c:ser>
          <c:idx val="1"/>
          <c:order val="1"/>
          <c:tx>
            <c:strRef>
              <c:f>'KOTAK+HDFC+AXIS+ICICI (SUPPORT)'!$AC$1</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(SUPPORT)'!$AA$2:$AA$5</c:f>
              <c:strCache>
                <c:ptCount val="4"/>
                <c:pt idx="0">
                  <c:v>Call center support </c:v>
                </c:pt>
                <c:pt idx="1">
                  <c:v>Speed of query resolution</c:v>
                </c:pt>
                <c:pt idx="2">
                  <c:v>Correcting errors &amp; delays</c:v>
                </c:pt>
                <c:pt idx="3">
                  <c:v>Branch staff's ability</c:v>
                </c:pt>
              </c:strCache>
            </c:strRef>
          </c:cat>
          <c:val>
            <c:numRef>
              <c:f>'KOTAK+HDFC+AXIS+ICICI (SUPPORT)'!$AC$2:$AC$5</c:f>
              <c:numCache>
                <c:formatCode>0%</c:formatCode>
                <c:ptCount val="4"/>
                <c:pt idx="0">
                  <c:v>0.60162601626016265</c:v>
                </c:pt>
                <c:pt idx="1">
                  <c:v>0.57936507936507942</c:v>
                </c:pt>
                <c:pt idx="2">
                  <c:v>0.56451612903225812</c:v>
                </c:pt>
                <c:pt idx="3">
                  <c:v>0.51219512195121952</c:v>
                </c:pt>
              </c:numCache>
            </c:numRef>
          </c:val>
          <c:extLst>
            <c:ext xmlns:c16="http://schemas.microsoft.com/office/drawing/2014/chart" uri="{C3380CC4-5D6E-409C-BE32-E72D297353CC}">
              <c16:uniqueId val="{00000002-7A9D-4A0D-B49B-ED10FEBF2F07}"/>
            </c:ext>
          </c:extLst>
        </c:ser>
        <c:ser>
          <c:idx val="2"/>
          <c:order val="2"/>
          <c:tx>
            <c:strRef>
              <c:f>'KOTAK+HDFC+AXIS+ICICI (SUPPORT)'!$AD$1</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(SUPPORT)'!$AA$2:$AA$5</c:f>
              <c:strCache>
                <c:ptCount val="4"/>
                <c:pt idx="0">
                  <c:v>Call center support </c:v>
                </c:pt>
                <c:pt idx="1">
                  <c:v>Speed of query resolution</c:v>
                </c:pt>
                <c:pt idx="2">
                  <c:v>Correcting errors &amp; delays</c:v>
                </c:pt>
                <c:pt idx="3">
                  <c:v>Branch staff's ability</c:v>
                </c:pt>
              </c:strCache>
            </c:strRef>
          </c:cat>
          <c:val>
            <c:numRef>
              <c:f>'KOTAK+HDFC+AXIS+ICICI (SUPPORT)'!$AD$2:$AD$5</c:f>
              <c:numCache>
                <c:formatCode>0%</c:formatCode>
                <c:ptCount val="4"/>
                <c:pt idx="0">
                  <c:v>8.1300813008130079E-2</c:v>
                </c:pt>
                <c:pt idx="1">
                  <c:v>0.16666666666666666</c:v>
                </c:pt>
                <c:pt idx="2">
                  <c:v>0.12096774193548387</c:v>
                </c:pt>
                <c:pt idx="3">
                  <c:v>0.17886178861788618</c:v>
                </c:pt>
              </c:numCache>
            </c:numRef>
          </c:val>
          <c:extLst>
            <c:ext xmlns:c16="http://schemas.microsoft.com/office/drawing/2014/chart" uri="{C3380CC4-5D6E-409C-BE32-E72D297353CC}">
              <c16:uniqueId val="{00000003-7A9D-4A0D-B49B-ED10FEBF2F07}"/>
            </c:ext>
          </c:extLst>
        </c:ser>
        <c:ser>
          <c:idx val="3"/>
          <c:order val="3"/>
          <c:tx>
            <c:strRef>
              <c:f>'KOTAK+HDFC+AXIS+ICICI (SUPPORT)'!$AE$1</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(SUPPORT)'!$AA$2:$AA$5</c:f>
              <c:strCache>
                <c:ptCount val="4"/>
                <c:pt idx="0">
                  <c:v>Call center support </c:v>
                </c:pt>
                <c:pt idx="1">
                  <c:v>Speed of query resolution</c:v>
                </c:pt>
                <c:pt idx="2">
                  <c:v>Correcting errors &amp; delays</c:v>
                </c:pt>
                <c:pt idx="3">
                  <c:v>Branch staff's ability</c:v>
                </c:pt>
              </c:strCache>
            </c:strRef>
          </c:cat>
          <c:val>
            <c:numRef>
              <c:f>'KOTAK+HDFC+AXIS+ICICI (SUPPORT)'!$AE$2:$AE$5</c:f>
              <c:numCache>
                <c:formatCode>0%</c:formatCode>
                <c:ptCount val="4"/>
                <c:pt idx="0">
                  <c:v>0.15447154471544716</c:v>
                </c:pt>
                <c:pt idx="1">
                  <c:v>0.10317460317460317</c:v>
                </c:pt>
                <c:pt idx="2">
                  <c:v>0.19354838709677419</c:v>
                </c:pt>
                <c:pt idx="3">
                  <c:v>9.7560975609756101E-2</c:v>
                </c:pt>
              </c:numCache>
            </c:numRef>
          </c:val>
          <c:extLst>
            <c:ext xmlns:c16="http://schemas.microsoft.com/office/drawing/2014/chart" uri="{C3380CC4-5D6E-409C-BE32-E72D297353CC}">
              <c16:uniqueId val="{00000004-7A9D-4A0D-B49B-ED10FEBF2F07}"/>
            </c:ext>
          </c:extLst>
        </c:ser>
        <c:ser>
          <c:idx val="4"/>
          <c:order val="4"/>
          <c:tx>
            <c:strRef>
              <c:f>'KOTAK+HDFC+AXIS+ICICI (SUPPORT)'!$AF$1</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(SUPPORT)'!$AA$2:$AA$5</c:f>
              <c:strCache>
                <c:ptCount val="4"/>
                <c:pt idx="0">
                  <c:v>Call center support </c:v>
                </c:pt>
                <c:pt idx="1">
                  <c:v>Speed of query resolution</c:v>
                </c:pt>
                <c:pt idx="2">
                  <c:v>Correcting errors &amp; delays</c:v>
                </c:pt>
                <c:pt idx="3">
                  <c:v>Branch staff's ability</c:v>
                </c:pt>
              </c:strCache>
            </c:strRef>
          </c:cat>
          <c:val>
            <c:numRef>
              <c:f>'KOTAK+HDFC+AXIS+ICICI (SUPPORT)'!$AF$2:$AF$5</c:f>
              <c:numCache>
                <c:formatCode>0%</c:formatCode>
                <c:ptCount val="4"/>
                <c:pt idx="0">
                  <c:v>0.10569105691056911</c:v>
                </c:pt>
                <c:pt idx="1">
                  <c:v>0.13492063492063491</c:v>
                </c:pt>
                <c:pt idx="2">
                  <c:v>0.10483870967741936</c:v>
                </c:pt>
                <c:pt idx="3">
                  <c:v>0.17886178861788618</c:v>
                </c:pt>
              </c:numCache>
            </c:numRef>
          </c:val>
          <c:extLst>
            <c:ext xmlns:c16="http://schemas.microsoft.com/office/drawing/2014/chart" uri="{C3380CC4-5D6E-409C-BE32-E72D297353CC}">
              <c16:uniqueId val="{00000005-7A9D-4A0D-B49B-ED10FEBF2F07}"/>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8.3015748089315056E-2"/>
          <c:y val="4.9335941570759226E-2"/>
          <c:w val="0.8466096718538989"/>
          <c:h val="0.73732453996473757"/>
        </c:manualLayout>
      </c:layout>
      <c:barChart>
        <c:barDir val="col"/>
        <c:grouping val="percentStacked"/>
        <c:varyColors val="0"/>
        <c:ser>
          <c:idx val="0"/>
          <c:order val="0"/>
          <c:tx>
            <c:strRef>
              <c:f>'KOTAK+HDFC+AXIS+ICICI (SUPPORT)'!$AB$13</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(SUPPORT)'!$AA$14:$AA$17</c:f>
              <c:strCache>
                <c:ptCount val="4"/>
                <c:pt idx="0">
                  <c:v>Correcting errors &amp; delays</c:v>
                </c:pt>
                <c:pt idx="1">
                  <c:v>Speed of query resolution</c:v>
                </c:pt>
                <c:pt idx="2">
                  <c:v>Branch staff's ability</c:v>
                </c:pt>
                <c:pt idx="3">
                  <c:v>Call center support </c:v>
                </c:pt>
              </c:strCache>
            </c:strRef>
          </c:cat>
          <c:val>
            <c:numRef>
              <c:f>'KOTAK+HDFC+AXIS+ICICI (SUPPORT)'!$AB$14:$AB$17</c:f>
              <c:numCache>
                <c:formatCode>0%</c:formatCode>
                <c:ptCount val="4"/>
                <c:pt idx="0">
                  <c:v>1.6129032258064516E-2</c:v>
                </c:pt>
                <c:pt idx="1">
                  <c:v>7.874015748031496E-3</c:v>
                </c:pt>
                <c:pt idx="2">
                  <c:v>0</c:v>
                </c:pt>
                <c:pt idx="3">
                  <c:v>0.04</c:v>
                </c:pt>
              </c:numCache>
            </c:numRef>
          </c:val>
          <c:extLst>
            <c:ext xmlns:c16="http://schemas.microsoft.com/office/drawing/2014/chart" uri="{C3380CC4-5D6E-409C-BE32-E72D297353CC}">
              <c16:uniqueId val="{00000001-ABA4-4BD9-92E5-76B63DA08B2D}"/>
            </c:ext>
          </c:extLst>
        </c:ser>
        <c:ser>
          <c:idx val="1"/>
          <c:order val="1"/>
          <c:tx>
            <c:strRef>
              <c:f>'KOTAK+HDFC+AXIS+ICICI (SUPPORT)'!$AC$13</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(SUPPORT)'!$AA$14:$AA$17</c:f>
              <c:strCache>
                <c:ptCount val="4"/>
                <c:pt idx="0">
                  <c:v>Correcting errors &amp; delays</c:v>
                </c:pt>
                <c:pt idx="1">
                  <c:v>Speed of query resolution</c:v>
                </c:pt>
                <c:pt idx="2">
                  <c:v>Branch staff's ability</c:v>
                </c:pt>
                <c:pt idx="3">
                  <c:v>Call center support </c:v>
                </c:pt>
              </c:strCache>
            </c:strRef>
          </c:cat>
          <c:val>
            <c:numRef>
              <c:f>'KOTAK+HDFC+AXIS+ICICI (SUPPORT)'!$AC$14:$AC$17</c:f>
              <c:numCache>
                <c:formatCode>0%</c:formatCode>
                <c:ptCount val="4"/>
                <c:pt idx="0">
                  <c:v>0.69354838709677424</c:v>
                </c:pt>
                <c:pt idx="1">
                  <c:v>0.64566929133858264</c:v>
                </c:pt>
                <c:pt idx="2">
                  <c:v>0.64227642276422769</c:v>
                </c:pt>
                <c:pt idx="3">
                  <c:v>0.624</c:v>
                </c:pt>
              </c:numCache>
            </c:numRef>
          </c:val>
          <c:extLst>
            <c:ext xmlns:c16="http://schemas.microsoft.com/office/drawing/2014/chart" uri="{C3380CC4-5D6E-409C-BE32-E72D297353CC}">
              <c16:uniqueId val="{00000002-ABA4-4BD9-92E5-76B63DA08B2D}"/>
            </c:ext>
          </c:extLst>
        </c:ser>
        <c:ser>
          <c:idx val="2"/>
          <c:order val="2"/>
          <c:tx>
            <c:strRef>
              <c:f>'KOTAK+HDFC+AXIS+ICICI (SUPPORT)'!$AD$13</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(SUPPORT)'!$AA$14:$AA$17</c:f>
              <c:strCache>
                <c:ptCount val="4"/>
                <c:pt idx="0">
                  <c:v>Correcting errors &amp; delays</c:v>
                </c:pt>
                <c:pt idx="1">
                  <c:v>Speed of query resolution</c:v>
                </c:pt>
                <c:pt idx="2">
                  <c:v>Branch staff's ability</c:v>
                </c:pt>
                <c:pt idx="3">
                  <c:v>Call center support </c:v>
                </c:pt>
              </c:strCache>
            </c:strRef>
          </c:cat>
          <c:val>
            <c:numRef>
              <c:f>'KOTAK+HDFC+AXIS+ICICI (SUPPORT)'!$AD$14:$AD$17</c:f>
              <c:numCache>
                <c:formatCode>0%</c:formatCode>
                <c:ptCount val="4"/>
                <c:pt idx="0">
                  <c:v>6.4516129032258063E-2</c:v>
                </c:pt>
                <c:pt idx="1">
                  <c:v>9.4488188976377951E-2</c:v>
                </c:pt>
                <c:pt idx="2">
                  <c:v>3.2520325203252036E-2</c:v>
                </c:pt>
                <c:pt idx="3">
                  <c:v>8.7999999999999995E-2</c:v>
                </c:pt>
              </c:numCache>
            </c:numRef>
          </c:val>
          <c:extLst>
            <c:ext xmlns:c16="http://schemas.microsoft.com/office/drawing/2014/chart" uri="{C3380CC4-5D6E-409C-BE32-E72D297353CC}">
              <c16:uniqueId val="{00000003-ABA4-4BD9-92E5-76B63DA08B2D}"/>
            </c:ext>
          </c:extLst>
        </c:ser>
        <c:ser>
          <c:idx val="3"/>
          <c:order val="3"/>
          <c:tx>
            <c:strRef>
              <c:f>'KOTAK+HDFC+AXIS+ICICI (SUPPORT)'!$AE$13</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(SUPPORT)'!$AA$14:$AA$17</c:f>
              <c:strCache>
                <c:ptCount val="4"/>
                <c:pt idx="0">
                  <c:v>Correcting errors &amp; delays</c:v>
                </c:pt>
                <c:pt idx="1">
                  <c:v>Speed of query resolution</c:v>
                </c:pt>
                <c:pt idx="2">
                  <c:v>Branch staff's ability</c:v>
                </c:pt>
                <c:pt idx="3">
                  <c:v>Call center support </c:v>
                </c:pt>
              </c:strCache>
            </c:strRef>
          </c:cat>
          <c:val>
            <c:numRef>
              <c:f>'KOTAK+HDFC+AXIS+ICICI (SUPPORT)'!$AE$14:$AE$17</c:f>
              <c:numCache>
                <c:formatCode>0%</c:formatCode>
                <c:ptCount val="4"/>
                <c:pt idx="0">
                  <c:v>0.12903225806451613</c:v>
                </c:pt>
                <c:pt idx="1">
                  <c:v>0.14173228346456693</c:v>
                </c:pt>
                <c:pt idx="2">
                  <c:v>9.7560975609756101E-2</c:v>
                </c:pt>
                <c:pt idx="3">
                  <c:v>0.08</c:v>
                </c:pt>
              </c:numCache>
            </c:numRef>
          </c:val>
          <c:extLst>
            <c:ext xmlns:c16="http://schemas.microsoft.com/office/drawing/2014/chart" uri="{C3380CC4-5D6E-409C-BE32-E72D297353CC}">
              <c16:uniqueId val="{00000004-ABA4-4BD9-92E5-76B63DA08B2D}"/>
            </c:ext>
          </c:extLst>
        </c:ser>
        <c:ser>
          <c:idx val="4"/>
          <c:order val="4"/>
          <c:tx>
            <c:strRef>
              <c:f>'KOTAK+HDFC+AXIS+ICICI (SUPPORT)'!$AF$13</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(SUPPORT)'!$AA$14:$AA$17</c:f>
              <c:strCache>
                <c:ptCount val="4"/>
                <c:pt idx="0">
                  <c:v>Correcting errors &amp; delays</c:v>
                </c:pt>
                <c:pt idx="1">
                  <c:v>Speed of query resolution</c:v>
                </c:pt>
                <c:pt idx="2">
                  <c:v>Branch staff's ability</c:v>
                </c:pt>
                <c:pt idx="3">
                  <c:v>Call center support </c:v>
                </c:pt>
              </c:strCache>
            </c:strRef>
          </c:cat>
          <c:val>
            <c:numRef>
              <c:f>'KOTAK+HDFC+AXIS+ICICI (SUPPORT)'!$AF$14:$AF$17</c:f>
              <c:numCache>
                <c:formatCode>0%</c:formatCode>
                <c:ptCount val="4"/>
                <c:pt idx="0">
                  <c:v>9.6774193548387094E-2</c:v>
                </c:pt>
                <c:pt idx="1">
                  <c:v>0.11023622047244094</c:v>
                </c:pt>
                <c:pt idx="2">
                  <c:v>0.22764227642276422</c:v>
                </c:pt>
                <c:pt idx="3">
                  <c:v>0.16800000000000001</c:v>
                </c:pt>
              </c:numCache>
            </c:numRef>
          </c:val>
          <c:extLst>
            <c:ext xmlns:c16="http://schemas.microsoft.com/office/drawing/2014/chart" uri="{C3380CC4-5D6E-409C-BE32-E72D297353CC}">
              <c16:uniqueId val="{00000005-ABA4-4BD9-92E5-76B63DA08B2D}"/>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8.3015748089315056E-2"/>
          <c:y val="3.0081282954846168E-2"/>
          <c:w val="0.8609622952094772"/>
          <c:h val="0.77277102947601028"/>
        </c:manualLayout>
      </c:layout>
      <c:barChart>
        <c:barDir val="col"/>
        <c:grouping val="percentStacked"/>
        <c:varyColors val="0"/>
        <c:ser>
          <c:idx val="0"/>
          <c:order val="0"/>
          <c:tx>
            <c:strRef>
              <c:f>'KOTAK+HDFC+AXIS+ICICI (SUPPORT)'!$AB$21</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(SUPPORT)'!$AA$22:$AA$25</c:f>
              <c:strCache>
                <c:ptCount val="4"/>
                <c:pt idx="0">
                  <c:v>Call center support </c:v>
                </c:pt>
                <c:pt idx="1">
                  <c:v>Branch staff's ability</c:v>
                </c:pt>
                <c:pt idx="2">
                  <c:v>Speed of query resolution</c:v>
                </c:pt>
                <c:pt idx="3">
                  <c:v>Correcting errors &amp; delays</c:v>
                </c:pt>
              </c:strCache>
            </c:strRef>
          </c:cat>
          <c:val>
            <c:numRef>
              <c:f>'KOTAK+HDFC+AXIS+ICICI (SUPPORT)'!$AB$22:$AB$25</c:f>
              <c:numCache>
                <c:formatCode>0%</c:formatCode>
                <c:ptCount val="4"/>
                <c:pt idx="0">
                  <c:v>3.2520325203252036E-2</c:v>
                </c:pt>
                <c:pt idx="1">
                  <c:v>1.6393442622950821E-2</c:v>
                </c:pt>
                <c:pt idx="2">
                  <c:v>8.0000000000000002E-3</c:v>
                </c:pt>
                <c:pt idx="3">
                  <c:v>1.6393442622950821E-2</c:v>
                </c:pt>
              </c:numCache>
            </c:numRef>
          </c:val>
          <c:extLst>
            <c:ext xmlns:c16="http://schemas.microsoft.com/office/drawing/2014/chart" uri="{C3380CC4-5D6E-409C-BE32-E72D297353CC}">
              <c16:uniqueId val="{00000001-C9C6-4BC6-810B-A65C49F289B3}"/>
            </c:ext>
          </c:extLst>
        </c:ser>
        <c:ser>
          <c:idx val="1"/>
          <c:order val="1"/>
          <c:tx>
            <c:strRef>
              <c:f>'KOTAK+HDFC+AXIS+ICICI (SUPPORT)'!$AC$21</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(SUPPORT)'!$AA$22:$AA$25</c:f>
              <c:strCache>
                <c:ptCount val="4"/>
                <c:pt idx="0">
                  <c:v>Call center support </c:v>
                </c:pt>
                <c:pt idx="1">
                  <c:v>Branch staff's ability</c:v>
                </c:pt>
                <c:pt idx="2">
                  <c:v>Speed of query resolution</c:v>
                </c:pt>
                <c:pt idx="3">
                  <c:v>Correcting errors &amp; delays</c:v>
                </c:pt>
              </c:strCache>
            </c:strRef>
          </c:cat>
          <c:val>
            <c:numRef>
              <c:f>'KOTAK+HDFC+AXIS+ICICI (SUPPORT)'!$AC$22:$AC$25</c:f>
              <c:numCache>
                <c:formatCode>0%</c:formatCode>
                <c:ptCount val="4"/>
                <c:pt idx="0">
                  <c:v>0.62</c:v>
                </c:pt>
                <c:pt idx="1">
                  <c:v>0.58536585365853655</c:v>
                </c:pt>
                <c:pt idx="2">
                  <c:v>0.580952380952381</c:v>
                </c:pt>
                <c:pt idx="3">
                  <c:v>0.53153153153153154</c:v>
                </c:pt>
              </c:numCache>
            </c:numRef>
          </c:val>
          <c:extLst>
            <c:ext xmlns:c16="http://schemas.microsoft.com/office/drawing/2014/chart" uri="{C3380CC4-5D6E-409C-BE32-E72D297353CC}">
              <c16:uniqueId val="{00000002-C9C6-4BC6-810B-A65C49F289B3}"/>
            </c:ext>
          </c:extLst>
        </c:ser>
        <c:ser>
          <c:idx val="2"/>
          <c:order val="2"/>
          <c:tx>
            <c:strRef>
              <c:f>'KOTAK+HDFC+AXIS+ICICI (SUPPORT)'!$AD$21</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(SUPPORT)'!$AA$22:$AA$25</c:f>
              <c:strCache>
                <c:ptCount val="4"/>
                <c:pt idx="0">
                  <c:v>Call center support </c:v>
                </c:pt>
                <c:pt idx="1">
                  <c:v>Branch staff's ability</c:v>
                </c:pt>
                <c:pt idx="2">
                  <c:v>Speed of query resolution</c:v>
                </c:pt>
                <c:pt idx="3">
                  <c:v>Correcting errors &amp; delays</c:v>
                </c:pt>
              </c:strCache>
            </c:strRef>
          </c:cat>
          <c:val>
            <c:numRef>
              <c:f>'KOTAK+HDFC+AXIS+ICICI (SUPPORT)'!$AD$22:$AD$25</c:f>
              <c:numCache>
                <c:formatCode>0%</c:formatCode>
                <c:ptCount val="4"/>
                <c:pt idx="0">
                  <c:v>0.15</c:v>
                </c:pt>
                <c:pt idx="1">
                  <c:v>0.12195121951219512</c:v>
                </c:pt>
                <c:pt idx="2">
                  <c:v>0.21904761904761905</c:v>
                </c:pt>
                <c:pt idx="3">
                  <c:v>0.16216216216216217</c:v>
                </c:pt>
              </c:numCache>
            </c:numRef>
          </c:val>
          <c:extLst>
            <c:ext xmlns:c16="http://schemas.microsoft.com/office/drawing/2014/chart" uri="{C3380CC4-5D6E-409C-BE32-E72D297353CC}">
              <c16:uniqueId val="{00000003-C9C6-4BC6-810B-A65C49F289B3}"/>
            </c:ext>
          </c:extLst>
        </c:ser>
        <c:ser>
          <c:idx val="3"/>
          <c:order val="3"/>
          <c:tx>
            <c:strRef>
              <c:f>'KOTAK+HDFC+AXIS+ICICI (SUPPORT)'!$AE$21</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(SUPPORT)'!$AA$22:$AA$25</c:f>
              <c:strCache>
                <c:ptCount val="4"/>
                <c:pt idx="0">
                  <c:v>Call center support </c:v>
                </c:pt>
                <c:pt idx="1">
                  <c:v>Branch staff's ability</c:v>
                </c:pt>
                <c:pt idx="2">
                  <c:v>Speed of query resolution</c:v>
                </c:pt>
                <c:pt idx="3">
                  <c:v>Correcting errors &amp; delays</c:v>
                </c:pt>
              </c:strCache>
            </c:strRef>
          </c:cat>
          <c:val>
            <c:numRef>
              <c:f>'KOTAK+HDFC+AXIS+ICICI (SUPPORT)'!$AE$22:$AE$25</c:f>
              <c:numCache>
                <c:formatCode>0%</c:formatCode>
                <c:ptCount val="4"/>
                <c:pt idx="0">
                  <c:v>0.19</c:v>
                </c:pt>
                <c:pt idx="1">
                  <c:v>0.26829268292682928</c:v>
                </c:pt>
                <c:pt idx="2">
                  <c:v>0.19047619047619047</c:v>
                </c:pt>
                <c:pt idx="3">
                  <c:v>0.28828828828828829</c:v>
                </c:pt>
              </c:numCache>
            </c:numRef>
          </c:val>
          <c:extLst>
            <c:ext xmlns:c16="http://schemas.microsoft.com/office/drawing/2014/chart" uri="{C3380CC4-5D6E-409C-BE32-E72D297353CC}">
              <c16:uniqueId val="{00000004-C9C6-4BC6-810B-A65C49F289B3}"/>
            </c:ext>
          </c:extLst>
        </c:ser>
        <c:ser>
          <c:idx val="4"/>
          <c:order val="4"/>
          <c:tx>
            <c:strRef>
              <c:f>'KOTAK+HDFC+AXIS+ICICI (SUPPORT)'!$AF$21</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(SUPPORT)'!$AA$22:$AA$25</c:f>
              <c:strCache>
                <c:ptCount val="4"/>
                <c:pt idx="0">
                  <c:v>Call center support </c:v>
                </c:pt>
                <c:pt idx="1">
                  <c:v>Branch staff's ability</c:v>
                </c:pt>
                <c:pt idx="2">
                  <c:v>Speed of query resolution</c:v>
                </c:pt>
                <c:pt idx="3">
                  <c:v>Correcting errors &amp; delays</c:v>
                </c:pt>
              </c:strCache>
            </c:strRef>
          </c:cat>
          <c:val>
            <c:numRef>
              <c:f>'KOTAK+HDFC+AXIS+ICICI (SUPPORT)'!$AF$22:$AF$25</c:f>
              <c:numCache>
                <c:formatCode>0%</c:formatCode>
                <c:ptCount val="4"/>
                <c:pt idx="0">
                  <c:v>0.18699186991869918</c:v>
                </c:pt>
                <c:pt idx="1">
                  <c:v>0.32786885245901637</c:v>
                </c:pt>
                <c:pt idx="2">
                  <c:v>0.16</c:v>
                </c:pt>
                <c:pt idx="3">
                  <c:v>9.0163934426229511E-2</c:v>
                </c:pt>
              </c:numCache>
            </c:numRef>
          </c:val>
          <c:extLst>
            <c:ext xmlns:c16="http://schemas.microsoft.com/office/drawing/2014/chart" uri="{C3380CC4-5D6E-409C-BE32-E72D297353CC}">
              <c16:uniqueId val="{00000005-C9C6-4BC6-810B-A65C49F289B3}"/>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8.3015748089315056E-2"/>
          <c:y val="0.114212784710869"/>
          <c:w val="0.88680930510037415"/>
          <c:h val="0.6849214243850259"/>
        </c:manualLayout>
      </c:layout>
      <c:barChart>
        <c:barDir val="col"/>
        <c:grouping val="percentStacked"/>
        <c:varyColors val="0"/>
        <c:ser>
          <c:idx val="0"/>
          <c:order val="0"/>
          <c:tx>
            <c:strRef>
              <c:f>'KOTAK+HDFC+AXIS+ICICI (SUPPORT)'!$AB$29</c:f>
              <c:strCache>
                <c:ptCount val="1"/>
                <c:pt idx="0">
                  <c:v>FEDERAL</c:v>
                </c:pt>
              </c:strCache>
            </c:strRef>
          </c:tx>
          <c:spPr>
            <a:solidFill>
              <a:srgbClr val="F7A80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(SUPPORT)'!$AA$30:$AA$33</c:f>
              <c:strCache>
                <c:ptCount val="4"/>
                <c:pt idx="0">
                  <c:v>Branch staff's ability</c:v>
                </c:pt>
                <c:pt idx="1">
                  <c:v>Call center support </c:v>
                </c:pt>
                <c:pt idx="2">
                  <c:v>Speed of query resolution</c:v>
                </c:pt>
                <c:pt idx="3">
                  <c:v>Correcting errors &amp; delays</c:v>
                </c:pt>
              </c:strCache>
            </c:strRef>
          </c:cat>
          <c:val>
            <c:numRef>
              <c:f>'KOTAK+HDFC+AXIS+ICICI (SUPPORT)'!$AB$30:$AB$33</c:f>
              <c:numCache>
                <c:formatCode>0%</c:formatCode>
                <c:ptCount val="4"/>
                <c:pt idx="0">
                  <c:v>0</c:v>
                </c:pt>
                <c:pt idx="1">
                  <c:v>0</c:v>
                </c:pt>
                <c:pt idx="2">
                  <c:v>7.407407407407407E-2</c:v>
                </c:pt>
                <c:pt idx="3">
                  <c:v>3.7037037037037035E-2</c:v>
                </c:pt>
              </c:numCache>
            </c:numRef>
          </c:val>
          <c:extLst>
            <c:ext xmlns:c16="http://schemas.microsoft.com/office/drawing/2014/chart" uri="{C3380CC4-5D6E-409C-BE32-E72D297353CC}">
              <c16:uniqueId val="{00000001-4934-4ECE-9F70-DB93D926F7ED}"/>
            </c:ext>
          </c:extLst>
        </c:ser>
        <c:ser>
          <c:idx val="1"/>
          <c:order val="1"/>
          <c:tx>
            <c:strRef>
              <c:f>'KOTAK+HDFC+AXIS+ICICI (SUPPORT)'!$AC$29</c:f>
              <c:strCache>
                <c:ptCount val="1"/>
                <c:pt idx="0">
                  <c:v>ICICI</c:v>
                </c:pt>
              </c:strCache>
            </c:strRef>
          </c:tx>
          <c:spPr>
            <a:solidFill>
              <a:srgbClr val="D4484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(SUPPORT)'!$AA$30:$AA$33</c:f>
              <c:strCache>
                <c:ptCount val="4"/>
                <c:pt idx="0">
                  <c:v>Branch staff's ability</c:v>
                </c:pt>
                <c:pt idx="1">
                  <c:v>Call center support </c:v>
                </c:pt>
                <c:pt idx="2">
                  <c:v>Speed of query resolution</c:v>
                </c:pt>
                <c:pt idx="3">
                  <c:v>Correcting errors &amp; delays</c:v>
                </c:pt>
              </c:strCache>
            </c:strRef>
          </c:cat>
          <c:val>
            <c:numRef>
              <c:f>'KOTAK+HDFC+AXIS+ICICI (SUPPORT)'!$AC$30:$AC$33</c:f>
              <c:numCache>
                <c:formatCode>0%</c:formatCode>
                <c:ptCount val="4"/>
                <c:pt idx="0">
                  <c:v>0.65384615384615385</c:v>
                </c:pt>
                <c:pt idx="1">
                  <c:v>0.46153846153846156</c:v>
                </c:pt>
                <c:pt idx="2">
                  <c:v>0.44444444444444442</c:v>
                </c:pt>
                <c:pt idx="3">
                  <c:v>0.44444444444444442</c:v>
                </c:pt>
              </c:numCache>
            </c:numRef>
          </c:val>
          <c:extLst>
            <c:ext xmlns:c16="http://schemas.microsoft.com/office/drawing/2014/chart" uri="{C3380CC4-5D6E-409C-BE32-E72D297353CC}">
              <c16:uniqueId val="{00000002-4934-4ECE-9F70-DB93D926F7ED}"/>
            </c:ext>
          </c:extLst>
        </c:ser>
        <c:ser>
          <c:idx val="2"/>
          <c:order val="2"/>
          <c:tx>
            <c:strRef>
              <c:f>'KOTAK+HDFC+AXIS+ICICI (SUPPORT)'!$AD$29</c:f>
              <c:strCache>
                <c:ptCount val="1"/>
                <c:pt idx="0">
                  <c:v>KOTAK</c:v>
                </c:pt>
              </c:strCache>
            </c:strRef>
          </c:tx>
          <c:spPr>
            <a:solidFill>
              <a:srgbClr val="003874"/>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(SUPPORT)'!$AA$30:$AA$33</c:f>
              <c:strCache>
                <c:ptCount val="4"/>
                <c:pt idx="0">
                  <c:v>Branch staff's ability</c:v>
                </c:pt>
                <c:pt idx="1">
                  <c:v>Call center support </c:v>
                </c:pt>
                <c:pt idx="2">
                  <c:v>Speed of query resolution</c:v>
                </c:pt>
                <c:pt idx="3">
                  <c:v>Correcting errors &amp; delays</c:v>
                </c:pt>
              </c:strCache>
            </c:strRef>
          </c:cat>
          <c:val>
            <c:numRef>
              <c:f>'KOTAK+HDFC+AXIS+ICICI (SUPPORT)'!$AD$30:$AD$33</c:f>
              <c:numCache>
                <c:formatCode>0%</c:formatCode>
                <c:ptCount val="4"/>
                <c:pt idx="0">
                  <c:v>3.8461538461538464E-2</c:v>
                </c:pt>
                <c:pt idx="1">
                  <c:v>0.23076923076923078</c:v>
                </c:pt>
                <c:pt idx="2">
                  <c:v>3.7037037037037035E-2</c:v>
                </c:pt>
                <c:pt idx="3">
                  <c:v>0.1111111111111111</c:v>
                </c:pt>
              </c:numCache>
            </c:numRef>
          </c:val>
          <c:extLst>
            <c:ext xmlns:c16="http://schemas.microsoft.com/office/drawing/2014/chart" uri="{C3380CC4-5D6E-409C-BE32-E72D297353CC}">
              <c16:uniqueId val="{00000003-4934-4ECE-9F70-DB93D926F7ED}"/>
            </c:ext>
          </c:extLst>
        </c:ser>
        <c:ser>
          <c:idx val="3"/>
          <c:order val="3"/>
          <c:tx>
            <c:strRef>
              <c:f>'KOTAK+HDFC+AXIS+ICICI (SUPPORT)'!$AE$29</c:f>
              <c:strCache>
                <c:ptCount val="1"/>
                <c:pt idx="0">
                  <c:v>HDFC</c:v>
                </c:pt>
              </c:strCache>
            </c:strRef>
          </c:tx>
          <c:spPr>
            <a:solidFill>
              <a:srgbClr val="007FF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(SUPPORT)'!$AA$30:$AA$33</c:f>
              <c:strCache>
                <c:ptCount val="4"/>
                <c:pt idx="0">
                  <c:v>Branch staff's ability</c:v>
                </c:pt>
                <c:pt idx="1">
                  <c:v>Call center support </c:v>
                </c:pt>
                <c:pt idx="2">
                  <c:v>Speed of query resolution</c:v>
                </c:pt>
                <c:pt idx="3">
                  <c:v>Correcting errors &amp; delays</c:v>
                </c:pt>
              </c:strCache>
            </c:strRef>
          </c:cat>
          <c:val>
            <c:numRef>
              <c:f>'KOTAK+HDFC+AXIS+ICICI (SUPPORT)'!$AE$30:$AE$33</c:f>
              <c:numCache>
                <c:formatCode>0%</c:formatCode>
                <c:ptCount val="4"/>
                <c:pt idx="0">
                  <c:v>0.19230769230769232</c:v>
                </c:pt>
                <c:pt idx="1">
                  <c:v>0.11538461538461539</c:v>
                </c:pt>
                <c:pt idx="2">
                  <c:v>0.22222222222222221</c:v>
                </c:pt>
                <c:pt idx="3">
                  <c:v>0.33333333333333331</c:v>
                </c:pt>
              </c:numCache>
            </c:numRef>
          </c:val>
          <c:extLst>
            <c:ext xmlns:c16="http://schemas.microsoft.com/office/drawing/2014/chart" uri="{C3380CC4-5D6E-409C-BE32-E72D297353CC}">
              <c16:uniqueId val="{00000004-4934-4ECE-9F70-DB93D926F7ED}"/>
            </c:ext>
          </c:extLst>
        </c:ser>
        <c:ser>
          <c:idx val="4"/>
          <c:order val="4"/>
          <c:tx>
            <c:strRef>
              <c:f>'KOTAK+HDFC+AXIS+ICICI (SUPPORT)'!$AF$29</c:f>
              <c:strCache>
                <c:ptCount val="1"/>
                <c:pt idx="0">
                  <c:v>AXIS</c:v>
                </c:pt>
              </c:strCache>
            </c:strRef>
          </c:tx>
          <c:spPr>
            <a:solidFill>
              <a:srgbClr val="891B3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Montserrat SemiBold" panose="00000700000000000000" pitchFamily="2"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'KOTAK+HDFC+AXIS+ICICI (SUPPORT)'!$AA$30:$AA$33</c:f>
              <c:strCache>
                <c:ptCount val="4"/>
                <c:pt idx="0">
                  <c:v>Branch staff's ability</c:v>
                </c:pt>
                <c:pt idx="1">
                  <c:v>Call center support </c:v>
                </c:pt>
                <c:pt idx="2">
                  <c:v>Speed of query resolution</c:v>
                </c:pt>
                <c:pt idx="3">
                  <c:v>Correcting errors &amp; delays</c:v>
                </c:pt>
              </c:strCache>
            </c:strRef>
          </c:cat>
          <c:val>
            <c:numRef>
              <c:f>'KOTAK+HDFC+AXIS+ICICI (SUPPORT)'!$AF$30:$AF$33</c:f>
              <c:numCache>
                <c:formatCode>0%</c:formatCode>
                <c:ptCount val="4"/>
                <c:pt idx="0">
                  <c:v>0.11538461538461539</c:v>
                </c:pt>
                <c:pt idx="1">
                  <c:v>0.19230769230769232</c:v>
                </c:pt>
                <c:pt idx="2">
                  <c:v>0.22222222222222221</c:v>
                </c:pt>
                <c:pt idx="3">
                  <c:v>7.407407407407407E-2</c:v>
                </c:pt>
              </c:numCache>
            </c:numRef>
          </c:val>
          <c:extLst>
            <c:ext xmlns:c16="http://schemas.microsoft.com/office/drawing/2014/chart" uri="{C3380CC4-5D6E-409C-BE32-E72D297353CC}">
              <c16:uniqueId val="{00000005-4934-4ECE-9F70-DB93D926F7ED}"/>
            </c:ext>
          </c:extLst>
        </c:ser>
        <c:dLbls>
          <c:dLblPos val="ctr"/>
          <c:showLegendKey val="0"/>
          <c:showVal val="1"/>
          <c:showCatName val="0"/>
          <c:showSerName val="0"/>
          <c:showPercent val="0"/>
          <c:showBubbleSize val="0"/>
        </c:dLbls>
        <c:gapWidth val="150"/>
        <c:overlap val="100"/>
        <c:axId val="1409679120"/>
        <c:axId val="1131043120"/>
      </c:barChart>
      <c:catAx>
        <c:axId val="140967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ontserrat SemiBold" panose="00000700000000000000" pitchFamily="2" charset="0"/>
                <a:ea typeface="+mn-ea"/>
                <a:cs typeface="+mn-cs"/>
              </a:defRPr>
            </a:pPr>
            <a:endParaRPr lang="en-US"/>
          </a:p>
        </c:txPr>
        <c:crossAx val="1131043120"/>
        <c:crosses val="autoZero"/>
        <c:auto val="1"/>
        <c:lblAlgn val="ctr"/>
        <c:lblOffset val="100"/>
        <c:noMultiLvlLbl val="0"/>
      </c:catAx>
      <c:valAx>
        <c:axId val="1131043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Montserrat SemiBold" panose="00000700000000000000" pitchFamily="2" charset="0"/>
                <a:ea typeface="+mn-ea"/>
                <a:cs typeface="+mn-cs"/>
              </a:defRPr>
            </a:pPr>
            <a:endParaRPr lang="en-US"/>
          </a:p>
        </c:txPr>
        <c:crossAx val="14096791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'Cross question'!$B$46:$B$49</cx:f>
        <cx:lvl ptCount="4">
          <cx:pt idx="0">Mobile App</cx:pt>
          <cx:pt idx="1">Online Banking</cx:pt>
          <cx:pt idx="2">Relationship Manager</cx:pt>
          <cx:pt idx="3">Branch Banking</cx:pt>
        </cx:lvl>
      </cx:strDim>
      <cx:numDim type="val">
        <cx:f>'Cross question'!$C$46:$C$49</cx:f>
        <cx:lvl ptCount="4" formatCode="0%">
          <cx:pt idx="0">0.44242424242424244</cx:pt>
          <cx:pt idx="1">0.26060606060606062</cx:pt>
          <cx:pt idx="2">0.23030303030303031</cx:pt>
          <cx:pt idx="3">0.066666666666666666</cx:pt>
        </cx:lvl>
      </cx:numDim>
    </cx:data>
  </cx:chartData>
  <cx:chart>
    <cx:plotArea>
      <cx:plotAreaRegion>
        <cx:plotSurface>
          <cx:spPr>
            <a:noFill/>
          </cx:spPr>
        </cx:plotSurface>
        <cx:series layoutId="funnel" uniqueId="{FEA4CEA9-8949-447D-9DD9-253ACE3DEE32}">
          <cx:dataLabels>
            <cx:txPr>
              <a:bodyPr spcFirstLastPara="1" vertOverflow="ellipsis" horzOverflow="overflow" wrap="square" lIns="0" tIns="0" rIns="0" bIns="0" anchor="ctr" anchorCtr="1"/>
              <a:lstStyle/>
              <a:p>
                <a:pPr algn="ctr" rtl="0">
                  <a:defRPr sz="1100">
                    <a:solidFill>
                      <a:schemeClr val="bg1"/>
                    </a:solidFill>
                    <a:latin typeface="Montserrat SemiBold" panose="00000700000000000000" pitchFamily="2" charset="0"/>
                    <a:ea typeface="Montserrat SemiBold" panose="00000700000000000000" pitchFamily="2" charset="0"/>
                    <a:cs typeface="Montserrat SemiBold" panose="00000700000000000000" pitchFamily="2" charset="0"/>
                  </a:defRPr>
                </a:pPr>
                <a:endParaRPr lang="en-US" sz="1100" b="0" i="0" u="none" strike="noStrike" baseline="0">
                  <a:solidFill>
                    <a:schemeClr val="bg1"/>
                  </a:solidFill>
                  <a:latin typeface="Montserrat SemiBold" panose="00000700000000000000" pitchFamily="2" charset="0"/>
                </a:endParaRPr>
              </a:p>
            </cx:txPr>
            <cx:visibility seriesName="0" categoryName="0" value="1"/>
          </cx:dataLabels>
          <cx:dataId val="0"/>
        </cx:series>
      </cx:plotAreaRegion>
      <cx:axis id="0">
        <cx:catScaling gapWidth="0.0599999987"/>
        <cx:tickLabels/>
        <cx:txPr>
          <a:bodyPr spcFirstLastPara="1" vertOverflow="ellipsis" horzOverflow="overflow" wrap="square" lIns="0" tIns="0" rIns="0" bIns="0" anchor="ctr" anchorCtr="1"/>
          <a:lstStyle/>
          <a:p>
            <a:pPr algn="ctr" rtl="0">
              <a:defRPr sz="1100">
                <a:solidFill>
                  <a:schemeClr val="tx1"/>
                </a:solidFill>
                <a:latin typeface="Montserrat SemiBold" panose="00000700000000000000" pitchFamily="2" charset="0"/>
                <a:ea typeface="Montserrat SemiBold" panose="00000700000000000000" pitchFamily="2" charset="0"/>
                <a:cs typeface="Montserrat SemiBold" panose="00000700000000000000" pitchFamily="2" charset="0"/>
              </a:defRPr>
            </a:pPr>
            <a:endParaRPr lang="en-US" sz="1100" b="0" i="0" u="none" strike="noStrike" baseline="0">
              <a:solidFill>
                <a:schemeClr val="tx1"/>
              </a:solidFill>
              <a:latin typeface="Montserrat SemiBold" panose="00000700000000000000" pitchFamily="2" charset="0"/>
            </a:endParaRPr>
          </a:p>
        </cx:txPr>
      </cx:axis>
    </cx:plotArea>
  </cx:chart>
  <cx:spPr>
    <a:noFill/>
    <a:ln>
      <a:noFill/>
    </a:ln>
  </cx:spPr>
  <cx:clrMapOvr bg1="lt1" tx1="dk1" bg2="lt2" tx2="dk2" accent1="accent1" accent2="accent2" accent3="accent3" accent4="accent4" accent5="accent5" accent6="accent6" hlink="hlink" folHlink="folHlink"/>
</cx: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colors2.xml><?xml version="1.0" encoding="utf-8"?>
<cs:colorStyle xmlns:cs="http://schemas.microsoft.com/office/drawing/2012/chartStyle" xmlns:a="http://schemas.openxmlformats.org/drawingml/2006/main" meth="withinLinearReversed" id="22">
  <a:schemeClr val="accent2"/>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2">
  <a:schemeClr val="accent2"/>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 id="17">
  <a:schemeClr val="accent4"/>
</cs:colorStyle>
</file>

<file path=ppt/charts/colors9.xml><?xml version="1.0" encoding="utf-8"?>
<cs:colorStyle xmlns:cs="http://schemas.microsoft.com/office/drawing/2012/chartStyle" xmlns:a="http://schemas.openxmlformats.org/drawingml/2006/main" meth="withinLinearReversed" id="22">
  <a:schemeClr val="accent2"/>
</cs:colorStyle>
</file>

<file path=ppt/charts/colors10.xml><?xml version="1.0" encoding="utf-8"?>
<cs:colorStyle xmlns:cs="http://schemas.microsoft.com/office/drawing/2012/chartStyle" xmlns:a="http://schemas.openxmlformats.org/drawingml/2006/main" meth="withinLinear" id="15">
  <a:schemeClr val="accent2"/>
</cs:colorStyle>
</file>

<file path=ppt/charts/colors11.xml><?xml version="1.0" encoding="utf-8"?>
<cs:colorStyle xmlns:cs="http://schemas.microsoft.com/office/drawing/2012/chartStyle" xmlns:a="http://schemas.openxmlformats.org/drawingml/2006/main" meth="withinLinear" id="15">
  <a:schemeClr val="accent2"/>
</cs:colorStyle>
</file>

<file path=ppt/charts/colors12.xml><?xml version="1.0" encoding="utf-8"?>
<cs:colorStyle xmlns:cs="http://schemas.microsoft.com/office/drawing/2012/chartStyle" xmlns:a="http://schemas.openxmlformats.org/drawingml/2006/main" meth="withinLinear" id="15">
  <a:schemeClr val="accent2"/>
</cs:colorStyle>
</file>

<file path=ppt/charts/colors13.xml><?xml version="1.0" encoding="utf-8"?>
<cs:colorStyle xmlns:cs="http://schemas.microsoft.com/office/drawing/2012/chartStyle" xmlns:a="http://schemas.openxmlformats.org/drawingml/2006/main" meth="withinLinear" id="15">
  <a:schemeClr val="accent2"/>
</cs:colorStyle>
</file>

<file path=ppt/charts/colors14.xml><?xml version="1.0" encoding="utf-8"?>
<cs:colorStyle xmlns:cs="http://schemas.microsoft.com/office/drawing/2012/chartStyle" xmlns:a="http://schemas.openxmlformats.org/drawingml/2006/main" meth="withinLinearReversed" id="21">
  <a:schemeClr val="accent1"/>
</cs:colorStyle>
</file>

<file path=ppt/charts/colors15.xml><?xml version="1.0" encoding="utf-8"?>
<cs:colorStyle xmlns:cs="http://schemas.microsoft.com/office/drawing/2012/chartStyle" xmlns:a="http://schemas.openxmlformats.org/drawingml/2006/main" meth="withinLinear" id="15">
  <a:schemeClr val="accent2"/>
</cs:colorStyle>
</file>

<file path=ppt/charts/colors16.xml><?xml version="1.0" encoding="utf-8"?>
<cs:colorStyle xmlns:cs="http://schemas.microsoft.com/office/drawing/2012/chartStyle" xmlns:a="http://schemas.openxmlformats.org/drawingml/2006/main" meth="withinLinear" id="15">
  <a:schemeClr val="accent2"/>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withinLinear" id="15">
  <a:schemeClr val="accent2"/>
</cs:colorStyle>
</file>

<file path=ppt/charts/colors19.xml><?xml version="1.0" encoding="utf-8"?>
<cs:colorStyle xmlns:cs="http://schemas.microsoft.com/office/drawing/2012/chartStyle" xmlns:a="http://schemas.openxmlformats.org/drawingml/2006/main" meth="withinLinear" id="15">
  <a:schemeClr val="accent2"/>
</cs:colorStyle>
</file>

<file path=ppt/charts/colors20.xml><?xml version="1.0" encoding="utf-8"?>
<cs:colorStyle xmlns:cs="http://schemas.microsoft.com/office/drawing/2012/chartStyle" xmlns:a="http://schemas.openxmlformats.org/drawingml/2006/main" meth="withinLinear" id="15">
  <a:schemeClr val="accent2"/>
</cs:colorStyle>
</file>

<file path=ppt/charts/colors21.xml><?xml version="1.0" encoding="utf-8"?>
<cs:colorStyle xmlns:cs="http://schemas.microsoft.com/office/drawing/2012/chartStyle" xmlns:a="http://schemas.openxmlformats.org/drawingml/2006/main" meth="withinLinear" id="15">
  <a:schemeClr val="accent2"/>
</cs:colorStyle>
</file>

<file path=ppt/charts/colors22.xml><?xml version="1.0" encoding="utf-8"?>
<cs:colorStyle xmlns:cs="http://schemas.microsoft.com/office/drawing/2012/chartStyle" xmlns:a="http://schemas.openxmlformats.org/drawingml/2006/main" meth="withinLinear" id="15">
  <a:schemeClr val="accent2"/>
</cs:colorStyle>
</file>

<file path=ppt/charts/colors23.xml><?xml version="1.0" encoding="utf-8"?>
<cs:colorStyle xmlns:cs="http://schemas.microsoft.com/office/drawing/2012/chartStyle" xmlns:a="http://schemas.openxmlformats.org/drawingml/2006/main" meth="withinLinear" id="16">
  <a:schemeClr val="accent3"/>
</cs:colorStyle>
</file>

<file path=ppt/charts/colors24.xml><?xml version="1.0" encoding="utf-8"?>
<cs:colorStyle xmlns:cs="http://schemas.microsoft.com/office/drawing/2012/chartStyle" xmlns:a="http://schemas.openxmlformats.org/drawingml/2006/main" meth="withinLinear" id="15">
  <a:schemeClr val="accent2"/>
</cs:colorStyle>
</file>

<file path=ppt/charts/colors25.xml><?xml version="1.0" encoding="utf-8"?>
<cs:colorStyle xmlns:cs="http://schemas.microsoft.com/office/drawing/2012/chartStyle" xmlns:a="http://schemas.openxmlformats.org/drawingml/2006/main" meth="withinLinear" id="15">
  <a:schemeClr val="accent2"/>
</cs:colorStyle>
</file>

<file path=ppt/charts/colors26.xml><?xml version="1.0" encoding="utf-8"?>
<cs:colorStyle xmlns:cs="http://schemas.microsoft.com/office/drawing/2012/chartStyle" xmlns:a="http://schemas.openxmlformats.org/drawingml/2006/main" meth="withinLinear" id="15">
  <a:schemeClr val="accent2"/>
</cs:colorStyle>
</file>

<file path=ppt/charts/colors27.xml><?xml version="1.0" encoding="utf-8"?>
<cs:colorStyle xmlns:cs="http://schemas.microsoft.com/office/drawing/2012/chartStyle" xmlns:a="http://schemas.openxmlformats.org/drawingml/2006/main" meth="withinLinear" id="15">
  <a:schemeClr val="accent2"/>
</cs:colorStyle>
</file>

<file path=ppt/charts/colors28.xml><?xml version="1.0" encoding="utf-8"?>
<cs:colorStyle xmlns:cs="http://schemas.microsoft.com/office/drawing/2012/chartStyle" xmlns:a="http://schemas.openxmlformats.org/drawingml/2006/main" meth="withinLinear" id="15">
  <a:schemeClr val="accent2"/>
</cs:colorStyle>
</file>

<file path=ppt/charts/colors29.xml><?xml version="1.0" encoding="utf-8"?>
<cs:colorStyle xmlns:cs="http://schemas.microsoft.com/office/drawing/2012/chartStyle" xmlns:a="http://schemas.openxmlformats.org/drawingml/2006/main" meth="withinLinear" id="15">
  <a:schemeClr val="accent2"/>
</cs:colorStyle>
</file>

<file path=ppt/charts/colors30.xml><?xml version="1.0" encoding="utf-8"?>
<cs:colorStyle xmlns:cs="http://schemas.microsoft.com/office/drawing/2012/chartStyle" xmlns:a="http://schemas.openxmlformats.org/drawingml/2006/main" meth="withinLinear" id="15">
  <a:schemeClr val="accent2"/>
</cs:colorStyle>
</file>

<file path=ppt/charts/colors31.xml><?xml version="1.0" encoding="utf-8"?>
<cs:colorStyle xmlns:cs="http://schemas.microsoft.com/office/drawing/2012/chartStyle" xmlns:a="http://schemas.openxmlformats.org/drawingml/2006/main" meth="withinLinear" id="15">
  <a:schemeClr val="accent2"/>
</cs:colorStyle>
</file>

<file path=ppt/charts/colors32.xml><?xml version="1.0" encoding="utf-8"?>
<cs:colorStyle xmlns:cs="http://schemas.microsoft.com/office/drawing/2012/chartStyle" xmlns:a="http://schemas.openxmlformats.org/drawingml/2006/main" meth="withinLinear" id="15">
  <a:schemeClr val="accent2"/>
</cs:colorStyle>
</file>

<file path=ppt/charts/colors33.xml><?xml version="1.0" encoding="utf-8"?>
<cs:colorStyle xmlns:cs="http://schemas.microsoft.com/office/drawing/2012/chartStyle" xmlns:a="http://schemas.openxmlformats.org/drawingml/2006/main" meth="withinLinear" id="15">
  <a:schemeClr val="accent2"/>
</cs:colorStyle>
</file>

<file path=ppt/charts/colors34.xml><?xml version="1.0" encoding="utf-8"?>
<cs:colorStyle xmlns:cs="http://schemas.microsoft.com/office/drawing/2012/chartStyle" xmlns:a="http://schemas.openxmlformats.org/drawingml/2006/main" meth="withinLinear" id="15">
  <a:schemeClr val="accent2"/>
</cs:colorStyle>
</file>

<file path=ppt/charts/colors35.xml><?xml version="1.0" encoding="utf-8"?>
<cs:colorStyle xmlns:cs="http://schemas.microsoft.com/office/drawing/2012/chartStyle" xmlns:a="http://schemas.openxmlformats.org/drawingml/2006/main" meth="withinLinear" id="15">
  <a:schemeClr val="accent2"/>
</cs:colorStyle>
</file>

<file path=ppt/charts/colors36.xml><?xml version="1.0" encoding="utf-8"?>
<cs:colorStyle xmlns:cs="http://schemas.microsoft.com/office/drawing/2012/chartStyle" xmlns:a="http://schemas.openxmlformats.org/drawingml/2006/main" meth="withinLinear" id="15">
  <a:schemeClr val="accent2"/>
</cs:colorStyle>
</file>

<file path=ppt/charts/colors37.xml><?xml version="1.0" encoding="utf-8"?>
<cs:colorStyle xmlns:cs="http://schemas.microsoft.com/office/drawing/2012/chartStyle" xmlns:a="http://schemas.openxmlformats.org/drawingml/2006/main" meth="withinLinear" id="15">
  <a:schemeClr val="accent2"/>
</cs:colorStyle>
</file>

<file path=ppt/charts/colors38.xml><?xml version="1.0" encoding="utf-8"?>
<cs:colorStyle xmlns:cs="http://schemas.microsoft.com/office/drawing/2012/chartStyle" xmlns:a="http://schemas.openxmlformats.org/drawingml/2006/main" meth="withinLinear" id="15">
  <a:schemeClr val="accent2"/>
</cs:colorStyle>
</file>

<file path=ppt/charts/colors39.xml><?xml version="1.0" encoding="utf-8"?>
<cs:colorStyle xmlns:cs="http://schemas.microsoft.com/office/drawing/2012/chartStyle" xmlns:a="http://schemas.openxmlformats.org/drawingml/2006/main" meth="withinLinear" id="15">
  <a:schemeClr val="accent2"/>
</cs:colorStyle>
</file>

<file path=ppt/charts/colors40.xml><?xml version="1.0" encoding="utf-8"?>
<cs:colorStyle xmlns:cs="http://schemas.microsoft.com/office/drawing/2012/chartStyle" xmlns:a="http://schemas.openxmlformats.org/drawingml/2006/main" meth="withinLinear" id="15">
  <a:schemeClr val="accent2"/>
</cs:colorStyle>
</file>

<file path=ppt/charts/colors41.xml><?xml version="1.0" encoding="utf-8"?>
<cs:colorStyle xmlns:cs="http://schemas.microsoft.com/office/drawing/2012/chartStyle" xmlns:a="http://schemas.openxmlformats.org/drawingml/2006/main" meth="withinLinear" id="15">
  <a:schemeClr val="accent2"/>
</cs:colorStyle>
</file>

<file path=ppt/charts/colors42.xml><?xml version="1.0" encoding="utf-8"?>
<cs:colorStyle xmlns:cs="http://schemas.microsoft.com/office/drawing/2012/chartStyle" xmlns:a="http://schemas.openxmlformats.org/drawingml/2006/main" meth="withinLinear" id="15">
  <a:schemeClr val="accent2"/>
</cs:colorStyle>
</file>

<file path=ppt/charts/colors43.xml><?xml version="1.0" encoding="utf-8"?>
<cs:colorStyle xmlns:cs="http://schemas.microsoft.com/office/drawing/2012/chartStyle" xmlns:a="http://schemas.openxmlformats.org/drawingml/2006/main" meth="withinLinear" id="15">
  <a:schemeClr val="accent2"/>
</cs:colorStyle>
</file>

<file path=ppt/charts/colors44.xml><?xml version="1.0" encoding="utf-8"?>
<cs:colorStyle xmlns:cs="http://schemas.microsoft.com/office/drawing/2012/chartStyle" xmlns:a="http://schemas.openxmlformats.org/drawingml/2006/main" meth="withinLinear" id="15">
  <a:schemeClr val="accent2"/>
</cs:colorStyle>
</file>

<file path=ppt/charts/colors45.xml><?xml version="1.0" encoding="utf-8"?>
<cs:colorStyle xmlns:cs="http://schemas.microsoft.com/office/drawing/2012/chartStyle" xmlns:a="http://schemas.openxmlformats.org/drawingml/2006/main" meth="withinLinear" id="15">
  <a:schemeClr val="accent2"/>
</cs:colorStyle>
</file>

<file path=ppt/charts/colors46.xml><?xml version="1.0" encoding="utf-8"?>
<cs:colorStyle xmlns:cs="http://schemas.microsoft.com/office/drawing/2012/chartStyle" xmlns:a="http://schemas.openxmlformats.org/drawingml/2006/main" meth="withinLinear" id="15">
  <a:schemeClr val="accent2"/>
</cs:colorStyle>
</file>

<file path=ppt/charts/colors47.xml><?xml version="1.0" encoding="utf-8"?>
<cs:colorStyle xmlns:cs="http://schemas.microsoft.com/office/drawing/2012/chartStyle" xmlns:a="http://schemas.openxmlformats.org/drawingml/2006/main" meth="withinLinear" id="15">
  <a:schemeClr val="accent2"/>
</cs:colorStyle>
</file>

<file path=ppt/charts/colors48.xml><?xml version="1.0" encoding="utf-8"?>
<cs:colorStyle xmlns:cs="http://schemas.microsoft.com/office/drawing/2012/chartStyle" xmlns:a="http://schemas.openxmlformats.org/drawingml/2006/main" meth="withinLinear" id="15">
  <a:schemeClr val="accent2"/>
</cs:colorStyle>
</file>

<file path=ppt/charts/colors49.xml><?xml version="1.0" encoding="utf-8"?>
<cs:colorStyle xmlns:cs="http://schemas.microsoft.com/office/drawing/2012/chartStyle" xmlns:a="http://schemas.openxmlformats.org/drawingml/2006/main" meth="withinLinear" id="15">
  <a:schemeClr val="accent2"/>
</cs:colorStyle>
</file>

<file path=ppt/charts/colors50.xml><?xml version="1.0" encoding="utf-8"?>
<cs:colorStyle xmlns:cs="http://schemas.microsoft.com/office/drawing/2012/chartStyle" xmlns:a="http://schemas.openxmlformats.org/drawingml/2006/main" meth="withinLinear" id="15">
  <a:schemeClr val="accent2"/>
</cs:colorStyle>
</file>

<file path=ppt/charts/colors51.xml><?xml version="1.0" encoding="utf-8"?>
<cs:colorStyle xmlns:cs="http://schemas.microsoft.com/office/drawing/2012/chartStyle" xmlns:a="http://schemas.openxmlformats.org/drawingml/2006/main" meth="withinLinear" id="15">
  <a:schemeClr val="accent2"/>
</cs:colorStyle>
</file>

<file path=ppt/charts/colors52.xml><?xml version="1.0" encoding="utf-8"?>
<cs:colorStyle xmlns:cs="http://schemas.microsoft.com/office/drawing/2012/chartStyle" xmlns:a="http://schemas.openxmlformats.org/drawingml/2006/main" meth="withinLinear" id="15">
  <a:schemeClr val="accent2"/>
</cs:colorStyle>
</file>

<file path=ppt/charts/colors53.xml><?xml version="1.0" encoding="utf-8"?>
<cs:colorStyle xmlns:cs="http://schemas.microsoft.com/office/drawing/2012/chartStyle" xmlns:a="http://schemas.openxmlformats.org/drawingml/2006/main" meth="withinLinear" id="15">
  <a:schemeClr val="accent2"/>
</cs:colorStyle>
</file>

<file path=ppt/charts/colors54.xml><?xml version="1.0" encoding="utf-8"?>
<cs:colorStyle xmlns:cs="http://schemas.microsoft.com/office/drawing/2012/chartStyle" xmlns:a="http://schemas.openxmlformats.org/drawingml/2006/main" meth="withinLinear" id="15">
  <a:schemeClr val="accent2"/>
</cs:colorStyle>
</file>

<file path=ppt/charts/colors55.xml><?xml version="1.0" encoding="utf-8"?>
<cs:colorStyle xmlns:cs="http://schemas.microsoft.com/office/drawing/2012/chartStyle" xmlns:a="http://schemas.openxmlformats.org/drawingml/2006/main" meth="withinLinear" id="15">
  <a:schemeClr val="accent2"/>
</cs:colorStyle>
</file>

<file path=ppt/charts/colors56.xml><?xml version="1.0" encoding="utf-8"?>
<cs:colorStyle xmlns:cs="http://schemas.microsoft.com/office/drawing/2012/chartStyle" xmlns:a="http://schemas.openxmlformats.org/drawingml/2006/main" meth="withinLinear" id="15">
  <a:schemeClr val="accent2"/>
</cs:colorStyle>
</file>

<file path=ppt/charts/colors57.xml><?xml version="1.0" encoding="utf-8"?>
<cs:colorStyle xmlns:cs="http://schemas.microsoft.com/office/drawing/2012/chartStyle" xmlns:a="http://schemas.openxmlformats.org/drawingml/2006/main" meth="withinLinear" id="15">
  <a:schemeClr val="accent2"/>
</cs:colorStyle>
</file>

<file path=ppt/charts/colors58.xml><?xml version="1.0" encoding="utf-8"?>
<cs:colorStyle xmlns:cs="http://schemas.microsoft.com/office/drawing/2012/chartStyle" xmlns:a="http://schemas.openxmlformats.org/drawingml/2006/main" meth="withinLinear" id="15">
  <a:schemeClr val="accent2"/>
</cs:colorStyle>
</file>

<file path=ppt/charts/colors59.xml><?xml version="1.0" encoding="utf-8"?>
<cs:colorStyle xmlns:cs="http://schemas.microsoft.com/office/drawing/2012/chartStyle" xmlns:a="http://schemas.openxmlformats.org/drawingml/2006/main" meth="withinLinear" id="15">
  <a:schemeClr val="accent2"/>
</cs:colorStyle>
</file>

<file path=ppt/charts/colors60.xml><?xml version="1.0" encoding="utf-8"?>
<cs:colorStyle xmlns:cs="http://schemas.microsoft.com/office/drawing/2012/chartStyle" xmlns:a="http://schemas.openxmlformats.org/drawingml/2006/main" meth="withinLinear" id="15">
  <a:schemeClr val="accent2"/>
</cs:colorStyle>
</file>

<file path=ppt/charts/colors61.xml><?xml version="1.0" encoding="utf-8"?>
<cs:colorStyle xmlns:cs="http://schemas.microsoft.com/office/drawing/2012/chartStyle" xmlns:a="http://schemas.openxmlformats.org/drawingml/2006/main" meth="withinLinear" id="15">
  <a:schemeClr val="accent2"/>
</cs:colorStyle>
</file>

<file path=ppt/charts/colors62.xml><?xml version="1.0" encoding="utf-8"?>
<cs:colorStyle xmlns:cs="http://schemas.microsoft.com/office/drawing/2012/chartStyle" xmlns:a="http://schemas.openxmlformats.org/drawingml/2006/main" meth="withinLinear" id="15">
  <a:schemeClr val="accent2"/>
</cs:colorStyle>
</file>

<file path=ppt/charts/colors63.xml><?xml version="1.0" encoding="utf-8"?>
<cs:colorStyle xmlns:cs="http://schemas.microsoft.com/office/drawing/2012/chartStyle" xmlns:a="http://schemas.openxmlformats.org/drawingml/2006/main" meth="withinLinear" id="15">
  <a:schemeClr val="accent2"/>
</cs:colorStyle>
</file>

<file path=ppt/charts/colors64.xml><?xml version="1.0" encoding="utf-8"?>
<cs:colorStyle xmlns:cs="http://schemas.microsoft.com/office/drawing/2012/chartStyle" xmlns:a="http://schemas.openxmlformats.org/drawingml/2006/main" meth="withinLinear" id="15">
  <a:schemeClr val="accent2"/>
</cs:colorStyle>
</file>

<file path=ppt/charts/colors65.xml><?xml version="1.0" encoding="utf-8"?>
<cs:colorStyle xmlns:cs="http://schemas.microsoft.com/office/drawing/2012/chartStyle" xmlns:a="http://schemas.openxmlformats.org/drawingml/2006/main" meth="withinLinear" id="15">
  <a:schemeClr val="accent2"/>
</cs:colorStyle>
</file>

<file path=ppt/charts/colors66.xml><?xml version="1.0" encoding="utf-8"?>
<cs:colorStyle xmlns:cs="http://schemas.microsoft.com/office/drawing/2012/chartStyle" xmlns:a="http://schemas.openxmlformats.org/drawingml/2006/main" meth="withinLinear" id="15">
  <a:schemeClr val="accent2"/>
</cs:colorStyle>
</file>

<file path=ppt/charts/colors67.xml><?xml version="1.0" encoding="utf-8"?>
<cs:colorStyle xmlns:cs="http://schemas.microsoft.com/office/drawing/2012/chartStyle" xmlns:a="http://schemas.openxmlformats.org/drawingml/2006/main" meth="withinLinear" id="15">
  <a:schemeClr val="accent2"/>
</cs:colorStyle>
</file>

<file path=ppt/charts/colors68.xml><?xml version="1.0" encoding="utf-8"?>
<cs:colorStyle xmlns:cs="http://schemas.microsoft.com/office/drawing/2012/chartStyle" xmlns:a="http://schemas.openxmlformats.org/drawingml/2006/main" meth="withinLinear" id="15">
  <a:schemeClr val="accent2"/>
</cs:colorStyle>
</file>

<file path=ppt/charts/colors69.xml><?xml version="1.0" encoding="utf-8"?>
<cs:colorStyle xmlns:cs="http://schemas.microsoft.com/office/drawing/2012/chartStyle" xmlns:a="http://schemas.openxmlformats.org/drawingml/2006/main" meth="withinLinear" id="15">
  <a:schemeClr val="accent2"/>
</cs:colorStyle>
</file>

<file path=ppt/charts/colors70.xml><?xml version="1.0" encoding="utf-8"?>
<cs:colorStyle xmlns:cs="http://schemas.microsoft.com/office/drawing/2012/chartStyle" xmlns:a="http://schemas.openxmlformats.org/drawingml/2006/main" meth="withinLinear" id="15">
  <a:schemeClr val="accent2"/>
</cs:colorStyle>
</file>

<file path=ppt/charts/colors71.xml><?xml version="1.0" encoding="utf-8"?>
<cs:colorStyle xmlns:cs="http://schemas.microsoft.com/office/drawing/2012/chartStyle" xmlns:a="http://schemas.openxmlformats.org/drawingml/2006/main" meth="withinLinear" id="15">
  <a:schemeClr val="accent2"/>
</cs:colorStyle>
</file>

<file path=ppt/charts/colors72.xml><?xml version="1.0" encoding="utf-8"?>
<cs:colorStyle xmlns:cs="http://schemas.microsoft.com/office/drawing/2012/chartStyle" xmlns:a="http://schemas.openxmlformats.org/drawingml/2006/main" meth="withinLinear" id="15">
  <a:schemeClr val="accent2"/>
</cs:colorStyle>
</file>

<file path=ppt/charts/colors73.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306">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7.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CCFB7-54A0-457D-B07A-9E15DC028ECA}" type="datetimeFigureOut">
              <a:rPr lang="en-IN" smtClean="0"/>
              <a:t>20-02-2025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5FA5F-178E-469E-9F04-70DE588FA892}" type="slidenum">
              <a:rPr lang="en-IN" smtClean="0"/>
              <a:t>‹#›</a:t>
            </a:fld>
            <a:endParaRPr lang="en-IN"/>
          </a:p>
        </p:txBody>
      </p:sp>
    </p:spTree>
    <p:extLst>
      <p:ext uri="{BB962C8B-B14F-4D97-AF65-F5344CB8AC3E}">
        <p14:creationId xmlns:p14="http://schemas.microsoft.com/office/powerpoint/2010/main" val="1832371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Content items hidden – Service Recovery, Perceived Friction, Suggested Implementation</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5B87AE4-F067-450C-A473-8098A5E31CB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4719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9989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Context is key,</a:t>
            </a:r>
          </a:p>
          <a:p>
            <a:r>
              <a:rPr lang="en-GB" dirty="0"/>
              <a:t>Example – A young entrepreneur vs. youngster second gen managing family business – Could be the same business, same RV; but their decision making &amp; approach to finances will be different</a:t>
            </a:r>
          </a:p>
          <a:p>
            <a:r>
              <a:rPr lang="en-GB" dirty="0"/>
              <a:t>Consequently the experiences they seek will be different</a:t>
            </a:r>
          </a:p>
          <a:p>
            <a:r>
              <a:rPr lang="en-GB" dirty="0"/>
              <a:t>Autonomy in decision making, decision influencers, experiences – own as well as observed will all impact how they approach finance an</a:t>
            </a:r>
          </a:p>
        </p:txBody>
      </p:sp>
      <p:sp>
        <p:nvSpPr>
          <p:cNvPr id="4" name="Slide Number Placeholder 3"/>
          <p:cNvSpPr>
            <a:spLocks noGrp="1"/>
          </p:cNvSpPr>
          <p:nvPr>
            <p:ph type="sldNum" sz="quarter" idx="5"/>
          </p:nvPr>
        </p:nvSpPr>
        <p:spPr/>
        <p:txBody>
          <a:bodyPr/>
          <a:lstStyle/>
          <a:p>
            <a:pPr marL="0" marR="0" lvl="0" indent="0" algn="r" defTabSz="1371600" rtl="0" eaLnBrk="1" fontAlgn="auto" latinLnBrk="0" hangingPunct="1">
              <a:lnSpc>
                <a:spcPct val="100000"/>
              </a:lnSpc>
              <a:spcBef>
                <a:spcPts val="0"/>
              </a:spcBef>
              <a:spcAft>
                <a:spcPts val="0"/>
              </a:spcAft>
              <a:buClrTx/>
              <a:buSzTx/>
              <a:buFontTx/>
              <a:buNone/>
              <a:tabLst/>
              <a:defRPr/>
            </a:pPr>
            <a:fld id="{E5B87AE4-F067-450C-A473-8098A5E31CB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716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2076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B5FA5F-178E-469E-9F04-70DE588FA89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4033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C8B46-56AE-4650-B1A0-ACF4EBFEF41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5055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Functional</a:t>
            </a:r>
          </a:p>
          <a:p>
            <a:r>
              <a:rPr lang="en-GB" dirty="0"/>
              <a:t>Saves Time, Reduces Cost – Removed</a:t>
            </a:r>
          </a:p>
          <a:p>
            <a:endParaRPr lang="en-GB" dirty="0"/>
          </a:p>
          <a:p>
            <a:r>
              <a:rPr lang="en-GB" dirty="0"/>
              <a:t>Emotional</a:t>
            </a:r>
          </a:p>
          <a:p>
            <a:r>
              <a:rPr lang="en-GB" dirty="0"/>
              <a:t>Invested – in 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5B87AE4-F067-450C-A473-8098A5E31CB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2216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Functional</a:t>
            </a:r>
          </a:p>
          <a:p>
            <a:r>
              <a:rPr lang="en-GB" dirty="0"/>
              <a:t>Saves Time, Reduces Cost – Removed</a:t>
            </a:r>
          </a:p>
          <a:p>
            <a:endParaRPr lang="en-GB" dirty="0"/>
          </a:p>
          <a:p>
            <a:r>
              <a:rPr lang="en-GB" dirty="0"/>
              <a:t>Emotional</a:t>
            </a:r>
          </a:p>
          <a:p>
            <a:r>
              <a:rPr lang="en-GB" dirty="0"/>
              <a:t>Invested – in 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5B87AE4-F067-450C-A473-8098A5E31CB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8950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1269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endParaRPr lang="en-US" sz="2000"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6195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1B3B1-11DB-3A09-59A9-0C9E8B49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BC6FA-2F91-6CE7-EC93-6BC684157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6D29E-D985-CF05-3E6C-6B5A72D7DD1B}"/>
              </a:ext>
            </a:extLst>
          </p:cNvPr>
          <p:cNvSpPr>
            <a:spLocks noGrp="1"/>
          </p:cNvSpPr>
          <p:nvPr>
            <p:ph type="body" idx="1"/>
          </p:nvPr>
        </p:nvSpPr>
        <p:spPr/>
        <p:txBody>
          <a:bodyPr/>
          <a:lstStyle/>
          <a:p>
            <a:pPr rtl="0">
              <a:spcBef>
                <a:spcPts val="0"/>
              </a:spcBef>
              <a:spcAft>
                <a:spcPts val="0"/>
              </a:spcAft>
            </a:pPr>
            <a:endParaRPr lang="en-IN" dirty="0"/>
          </a:p>
        </p:txBody>
      </p:sp>
      <p:sp>
        <p:nvSpPr>
          <p:cNvPr id="4" name="Slide Number Placeholder 3">
            <a:extLst>
              <a:ext uri="{FF2B5EF4-FFF2-40B4-BE49-F238E27FC236}">
                <a16:creationId xmlns:a16="http://schemas.microsoft.com/office/drawing/2014/main" id="{378A2FF0-6111-EE25-FF8F-ED69572445A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280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26AF7A-43AD-4463-BF1A-F91465FB3261}" type="slidenum">
              <a:rPr lang="en-IN" smtClean="0"/>
              <a:t>13</a:t>
            </a:fld>
            <a:endParaRPr lang="en-IN"/>
          </a:p>
        </p:txBody>
      </p:sp>
    </p:spTree>
    <p:extLst>
      <p:ext uri="{BB962C8B-B14F-4D97-AF65-F5344CB8AC3E}">
        <p14:creationId xmlns:p14="http://schemas.microsoft.com/office/powerpoint/2010/main" val="2503996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705AA-1B21-88B0-34DA-1B8976E9B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A033B-2DC0-AA5C-4917-55A164BFE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09C1A-B2FC-F4C6-8D8D-F43C3CEEB95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66E9676-A013-F5E8-73EC-0AD4EB7735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C8B46-56AE-4650-B1A0-ACF4EBFEF41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5747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EEE57-FE17-AE9B-7261-4812E662F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A6EF4-B7C6-4A83-3B5D-F1B529BAC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0D9CF2-81AC-8E84-7E8A-E3EF695864A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AFC669-8889-4D4F-4203-ECE3FA4BA60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8784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E3394-46D4-8858-9E34-E73EC6DAF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05DEE-6081-DA7A-4B49-738D5E026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50BE0-EB4F-202E-0E1D-A6796773125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7444B7E-406E-BA7E-5E51-47E7E717C14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7200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br>
              <a:rPr lang="en-GB" dirty="0"/>
            </a:br>
            <a:r>
              <a:rPr lang="en-GB" sz="1800" b="1" i="1" u="none" strike="noStrike" dirty="0">
                <a:solidFill>
                  <a:srgbClr val="FF0000"/>
                </a:solidFill>
                <a:effectLst/>
                <a:latin typeface="Calibri" panose="020F0502020204030204" pitchFamily="34" charset="0"/>
              </a:rPr>
              <a:t>Dedicated Relationship Manager + Advanced Digital Banking Solutions+ Streamlined Banking Services + Enhanced Security Features+ Family Banking Services = Quick hassle-free banking -39%</a:t>
            </a:r>
          </a:p>
          <a:p>
            <a:pPr rtl="0">
              <a:spcBef>
                <a:spcPts val="0"/>
              </a:spcBef>
              <a:spcAft>
                <a:spcPts val="0"/>
              </a:spcAft>
            </a:pPr>
            <a:endParaRPr lang="en-GB" sz="1800" b="1" i="1" u="none" strike="noStrike" dirty="0">
              <a:solidFill>
                <a:srgbClr val="FF0000"/>
              </a:solidFill>
              <a:effectLst/>
              <a:latin typeface="Calibri" panose="020F0502020204030204" pitchFamily="34" charset="0"/>
            </a:endParaRPr>
          </a:p>
          <a:p>
            <a:pPr rtl="0">
              <a:spcBef>
                <a:spcPts val="0"/>
              </a:spcBef>
              <a:spcAft>
                <a:spcPts val="0"/>
              </a:spcAft>
            </a:pPr>
            <a:r>
              <a:rPr lang="en-GB" sz="1800" b="1" i="1" u="none" strike="noStrike" dirty="0">
                <a:solidFill>
                  <a:srgbClr val="FF0000"/>
                </a:solidFill>
                <a:effectLst/>
                <a:latin typeface="Calibri" panose="020F0502020204030204" pitchFamily="34" charset="0"/>
              </a:rPr>
              <a:t>Goal-Oriented Investment Management + Tailored Wealth Management Solutions + Personalized Financial Wellness Coaching + Exclusive Access to Financial Workshops +  Tax Advisory and Planning + Tailored Estate Management Services= Financial well-being guidance and advice- 46%</a:t>
            </a:r>
          </a:p>
          <a:p>
            <a:pPr rtl="0">
              <a:spcBef>
                <a:spcPts val="0"/>
              </a:spcBef>
              <a:spcAft>
                <a:spcPts val="0"/>
              </a:spcAft>
            </a:pPr>
            <a:endParaRPr lang="en-GB" b="1" i="1" u="none" dirty="0">
              <a:solidFill>
                <a:srgbClr val="FF0000"/>
              </a:solidFill>
              <a:effectLst/>
            </a:endParaRPr>
          </a:p>
          <a:p>
            <a:pPr rtl="0">
              <a:spcBef>
                <a:spcPts val="0"/>
              </a:spcBef>
              <a:spcAft>
                <a:spcPts val="0"/>
              </a:spcAft>
            </a:pPr>
            <a:r>
              <a:rPr lang="en-GB" sz="1800" b="1" i="1" u="none" strike="noStrike" dirty="0">
                <a:solidFill>
                  <a:srgbClr val="FF0000"/>
                </a:solidFill>
                <a:effectLst/>
                <a:latin typeface="Calibri" panose="020F0502020204030204" pitchFamily="34" charset="0"/>
              </a:rPr>
              <a:t>Business Financial Advisory Services++ Philanthropic Financial Planning = Financial planning for business- 14%</a:t>
            </a:r>
            <a:endParaRPr lang="en-GB" b="1" i="1" u="none" dirty="0">
              <a:solidFill>
                <a:srgbClr val="FF0000"/>
              </a:solidFill>
              <a:effectLst/>
            </a:endParaRPr>
          </a:p>
          <a:p>
            <a:r>
              <a:rPr lang="en-GB" dirty="0"/>
              <a:t>All data around 622 respondent.</a:t>
            </a:r>
            <a:br>
              <a:rPr lang="en-GB" dirty="0"/>
            </a:b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6498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41250-754C-5510-09B3-0FA1B02E3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9CA052-1AC3-17EF-322F-DD542C602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71DCB-CCF6-7781-FD26-620AB466A5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22222"/>
              </a:solidFill>
              <a:latin typeface="Montserrat" pitchFamily="2" charset="0"/>
            </a:endParaRPr>
          </a:p>
        </p:txBody>
      </p:sp>
      <p:sp>
        <p:nvSpPr>
          <p:cNvPr id="4" name="Slide Number Placeholder 3">
            <a:extLst>
              <a:ext uri="{FF2B5EF4-FFF2-40B4-BE49-F238E27FC236}">
                <a16:creationId xmlns:a16="http://schemas.microsoft.com/office/drawing/2014/main" id="{10350589-580E-C73E-FE12-3E60B5B96D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C8B46-56AE-4650-B1A0-ACF4EBFEF41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5360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042A1-9128-311B-581F-547D8100B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FF9B9-C7D7-5643-7490-04656DB1B1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94350-53FA-B652-1BF9-6DC641120435}"/>
              </a:ext>
            </a:extLst>
          </p:cNvPr>
          <p:cNvSpPr>
            <a:spLocks noGrp="1"/>
          </p:cNvSpPr>
          <p:nvPr>
            <p:ph type="body" idx="1"/>
          </p:nvPr>
        </p:nvSpPr>
        <p:spPr/>
        <p:txBody>
          <a:bodyPr/>
          <a:lstStyle/>
          <a:p>
            <a:endParaRPr lang="en-IN" dirty="0"/>
          </a:p>
          <a:p>
            <a:pPr rtl="0">
              <a:spcBef>
                <a:spcPts val="0"/>
              </a:spcBef>
              <a:spcAft>
                <a:spcPts val="0"/>
              </a:spcAft>
            </a:pPr>
            <a:r>
              <a:rPr lang="en-GB" sz="1800" b="0" i="0" u="none" strike="noStrike" dirty="0">
                <a:solidFill>
                  <a:srgbClr val="000000"/>
                </a:solidFill>
                <a:effectLst/>
                <a:latin typeface="Calibri" panose="020F0502020204030204" pitchFamily="34" charset="0"/>
              </a:rPr>
              <a:t>This is same matrix question Who would you consider as the best performing premium banking program on the following parameters? for premium banking services</a:t>
            </a:r>
            <a:endParaRPr lang="en-GB" dirty="0">
              <a:effectLst/>
            </a:endParaRPr>
          </a:p>
          <a:p>
            <a:r>
              <a:rPr lang="en-GB" sz="1800" b="0" i="0" u="none" strike="noStrike" dirty="0">
                <a:solidFill>
                  <a:srgbClr val="000000"/>
                </a:solidFill>
                <a:effectLst/>
                <a:latin typeface="Calibri" panose="020F0502020204030204" pitchFamily="34" charset="0"/>
              </a:rPr>
              <a:t>All data from</a:t>
            </a:r>
            <a:r>
              <a:rPr lang="en-GB" sz="1800" b="1" i="0" u="none" strike="noStrike" dirty="0">
                <a:solidFill>
                  <a:srgbClr val="000000"/>
                </a:solidFill>
                <a:effectLst/>
                <a:latin typeface="Calibri" panose="020F0502020204030204" pitchFamily="34" charset="0"/>
              </a:rPr>
              <a:t> federal competitor brands(Kotak= 125,HDFC=125,AXIS=125) and federal customer + fed competitors addition </a:t>
            </a:r>
            <a:r>
              <a:rPr lang="en-GB" sz="1800" b="1" i="0" u="none" strike="noStrike" dirty="0" err="1">
                <a:solidFill>
                  <a:srgbClr val="000000"/>
                </a:solidFill>
                <a:effectLst/>
                <a:latin typeface="Calibri" panose="020F0502020204030204" pitchFamily="34" charset="0"/>
              </a:rPr>
              <a:t>i.e</a:t>
            </a:r>
            <a:r>
              <a:rPr lang="en-GB" sz="1800" b="1" i="0" u="none" strike="noStrike" dirty="0">
                <a:solidFill>
                  <a:srgbClr val="000000"/>
                </a:solidFill>
                <a:effectLst/>
                <a:latin typeface="Calibri" panose="020F0502020204030204" pitchFamily="34" charset="0"/>
              </a:rPr>
              <a:t>= (165) respondent.</a:t>
            </a:r>
            <a:endParaRPr lang="en-IN"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6CC545C6-C7F7-FFCF-68EC-860AF97349F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483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C984-70F1-AF9E-E5A9-047AA8E05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16F19-F9A2-440C-6058-2F645E389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70A65-0D0A-1A66-949E-0791991DE8C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22222"/>
                </a:solidFill>
                <a:latin typeface="Montserrat" pitchFamily="2" charset="0"/>
              </a:rPr>
              <a:t>Convert this to vertical graph-Done</a:t>
            </a:r>
            <a:endParaRPr lang="en-US" sz="1200" dirty="0">
              <a:solidFill>
                <a:srgbClr val="222222"/>
              </a:solidFill>
              <a:latin typeface="Montserrat" pitchFamily="2" charset="0"/>
            </a:endParaRPr>
          </a:p>
        </p:txBody>
      </p:sp>
      <p:sp>
        <p:nvSpPr>
          <p:cNvPr id="4" name="Slide Number Placeholder 3">
            <a:extLst>
              <a:ext uri="{FF2B5EF4-FFF2-40B4-BE49-F238E27FC236}">
                <a16:creationId xmlns:a16="http://schemas.microsoft.com/office/drawing/2014/main" id="{69F50C1E-86DB-5DF7-9678-EF9B8BA46B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C8B46-56AE-4650-B1A0-ACF4EBFEF41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5703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7F828-3868-DF02-783F-295F10FA4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4AF79-A42B-083D-1856-30275E47C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B3B53-AB04-8A52-D027-A84E4BABAEA8}"/>
              </a:ext>
            </a:extLst>
          </p:cNvPr>
          <p:cNvSpPr>
            <a:spLocks noGrp="1"/>
          </p:cNvSpPr>
          <p:nvPr>
            <p:ph type="body" idx="1"/>
          </p:nvPr>
        </p:nvSpPr>
        <p:spPr/>
        <p:txBody>
          <a:bodyPr/>
          <a:lstStyle/>
          <a:p>
            <a:r>
              <a:rPr lang="en-IN" dirty="0"/>
              <a:t>Put a brain</a:t>
            </a:r>
          </a:p>
          <a:p>
            <a:endParaRPr lang="en-IN" dirty="0"/>
          </a:p>
          <a:p>
            <a:pPr>
              <a:spcAft>
                <a:spcPts val="1200"/>
              </a:spcAft>
            </a:pPr>
            <a:r>
              <a:rPr lang="en-IN" sz="1200" dirty="0">
                <a:solidFill>
                  <a:srgbClr val="A9734C"/>
                </a:solidFill>
                <a:latin typeface="Montserrat Medium" panose="00000600000000000000" pitchFamily="2" charset="0"/>
              </a:rPr>
              <a:t>Long standing history &amp; the personal connect drive a strong sense of </a:t>
            </a:r>
            <a:r>
              <a:rPr lang="en-IN" sz="1200" dirty="0">
                <a:solidFill>
                  <a:srgbClr val="3C2472"/>
                </a:solidFill>
                <a:latin typeface="Montserrat Medium" panose="00000600000000000000" pitchFamily="2" charset="0"/>
              </a:rPr>
              <a:t>Assurance</a:t>
            </a:r>
            <a:r>
              <a:rPr lang="en-IN" sz="1200" dirty="0">
                <a:solidFill>
                  <a:srgbClr val="A9734C"/>
                </a:solidFill>
                <a:latin typeface="Montserrat Medium" panose="00000600000000000000" pitchFamily="2" charset="0"/>
              </a:rPr>
              <a:t> </a:t>
            </a:r>
          </a:p>
          <a:p>
            <a:pPr>
              <a:spcAft>
                <a:spcPts val="1200"/>
              </a:spcAft>
            </a:pPr>
            <a:r>
              <a:rPr lang="en-IN" sz="1200" dirty="0">
                <a:solidFill>
                  <a:srgbClr val="A9734C"/>
                </a:solidFill>
                <a:latin typeface="Montserrat Medium" panose="00000600000000000000" pitchFamily="2" charset="0"/>
              </a:rPr>
              <a:t>“Relative” affluence drives a sense of </a:t>
            </a:r>
            <a:r>
              <a:rPr lang="en-IN" sz="1200" dirty="0">
                <a:solidFill>
                  <a:srgbClr val="3C2472"/>
                </a:solidFill>
                <a:latin typeface="Montserrat Medium" panose="00000600000000000000" pitchFamily="2" charset="0"/>
              </a:rPr>
              <a:t>prestige</a:t>
            </a:r>
          </a:p>
          <a:p>
            <a:pPr>
              <a:spcAft>
                <a:spcPts val="1200"/>
              </a:spcAft>
            </a:pPr>
            <a:r>
              <a:rPr lang="en-IN" sz="1200" dirty="0">
                <a:solidFill>
                  <a:srgbClr val="A9734C"/>
                </a:solidFill>
                <a:latin typeface="Montserrat Medium" panose="00000600000000000000" pitchFamily="2" charset="0"/>
              </a:rPr>
              <a:t>Digital forwardness of touchpoints &amp; process drives a perception of </a:t>
            </a:r>
            <a:r>
              <a:rPr lang="en-IN" sz="1200" dirty="0">
                <a:solidFill>
                  <a:srgbClr val="3C2472"/>
                </a:solidFill>
                <a:latin typeface="Montserrat Medium" panose="00000600000000000000" pitchFamily="2" charset="0"/>
              </a:rPr>
              <a:t>Innovation</a:t>
            </a:r>
            <a:r>
              <a:rPr lang="en-IN" sz="1200" dirty="0">
                <a:solidFill>
                  <a:srgbClr val="A9734C"/>
                </a:solidFill>
                <a:latin typeface="Montserrat Medium" panose="00000600000000000000" pitchFamily="2" charset="0"/>
              </a:rPr>
              <a:t> &amp; also builds higher </a:t>
            </a:r>
            <a:r>
              <a:rPr lang="en-IN" sz="1200" dirty="0">
                <a:solidFill>
                  <a:srgbClr val="3C2472"/>
                </a:solidFill>
                <a:latin typeface="Montserrat Medium" panose="00000600000000000000" pitchFamily="2" charset="0"/>
              </a:rPr>
              <a:t>relevance</a:t>
            </a:r>
            <a:r>
              <a:rPr lang="en-IN" sz="1200" dirty="0">
                <a:solidFill>
                  <a:srgbClr val="A9734C"/>
                </a:solidFill>
                <a:latin typeface="Montserrat Medium" panose="00000600000000000000" pitchFamily="2" charset="0"/>
              </a:rPr>
              <a:t> for the current customer</a:t>
            </a:r>
          </a:p>
          <a:p>
            <a:pPr>
              <a:spcAft>
                <a:spcPts val="1200"/>
              </a:spcAft>
            </a:pPr>
            <a:r>
              <a:rPr lang="en-IN" sz="1200" dirty="0">
                <a:solidFill>
                  <a:srgbClr val="A9734C"/>
                </a:solidFill>
                <a:latin typeface="Montserrat SemiBold" panose="00000700000000000000" pitchFamily="2" charset="0"/>
              </a:rPr>
              <a:t>Perceived</a:t>
            </a:r>
            <a:r>
              <a:rPr lang="en-IN" sz="1200" dirty="0">
                <a:solidFill>
                  <a:srgbClr val="A9734C"/>
                </a:solidFill>
                <a:latin typeface="Montserrat Medium" panose="00000600000000000000" pitchFamily="2" charset="0"/>
              </a:rPr>
              <a:t> </a:t>
            </a:r>
            <a:r>
              <a:rPr lang="en-IN" sz="1200" dirty="0">
                <a:solidFill>
                  <a:srgbClr val="A9734C"/>
                </a:solidFill>
                <a:latin typeface="Montserrat SemiBold" panose="00000700000000000000" pitchFamily="2" charset="0"/>
              </a:rPr>
              <a:t>lack</a:t>
            </a:r>
            <a:r>
              <a:rPr lang="en-IN" sz="1200" dirty="0">
                <a:solidFill>
                  <a:srgbClr val="A9734C"/>
                </a:solidFill>
                <a:latin typeface="Montserrat Medium" panose="00000600000000000000" pitchFamily="2" charset="0"/>
              </a:rPr>
              <a:t> of alignment with customers’ contexts , high </a:t>
            </a:r>
            <a:r>
              <a:rPr lang="en-IN" sz="1200" dirty="0">
                <a:solidFill>
                  <a:srgbClr val="A9734C"/>
                </a:solidFill>
                <a:latin typeface="Montserrat SemiBold" panose="00000700000000000000" pitchFamily="2" charset="0"/>
              </a:rPr>
              <a:t>perceived &amp; cognitive friction </a:t>
            </a:r>
            <a:r>
              <a:rPr lang="en-IN" sz="1200" dirty="0">
                <a:solidFill>
                  <a:srgbClr val="A9734C"/>
                </a:solidFill>
                <a:latin typeface="Montserrat Medium" panose="00000600000000000000" pitchFamily="2" charset="0"/>
              </a:rPr>
              <a:t>of engaging with “wealth management” and lifestyle benefits drives the </a:t>
            </a:r>
            <a:r>
              <a:rPr lang="en-IN" sz="1200" dirty="0">
                <a:solidFill>
                  <a:srgbClr val="A9734C"/>
                </a:solidFill>
                <a:latin typeface="Montserrat SemiBold" panose="00000700000000000000" pitchFamily="2" charset="0"/>
              </a:rPr>
              <a:t>weak associations with “Exclusivity”, “confidence”   </a:t>
            </a:r>
          </a:p>
          <a:p>
            <a:endParaRPr lang="en-IN" dirty="0"/>
          </a:p>
        </p:txBody>
      </p:sp>
      <p:sp>
        <p:nvSpPr>
          <p:cNvPr id="4" name="Slide Number Placeholder 3">
            <a:extLst>
              <a:ext uri="{FF2B5EF4-FFF2-40B4-BE49-F238E27FC236}">
                <a16:creationId xmlns:a16="http://schemas.microsoft.com/office/drawing/2014/main" id="{87587489-6E80-246C-B0BE-278A86220A8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3627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7469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32033-8A62-8146-6CC6-3512305ED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86128-A09A-B46E-ABD7-F0185AB87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4428D-717E-021B-E412-EA414D362F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98B267-BA63-8F30-7289-F8954C3B39A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7440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C1867-9A9A-8EC4-3699-6B21F49ED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DD27F-A530-95D4-79F0-0DA9CD226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7678F-C876-741D-3C03-BAD9687E5B10}"/>
              </a:ext>
            </a:extLst>
          </p:cNvPr>
          <p:cNvSpPr>
            <a:spLocks noGrp="1"/>
          </p:cNvSpPr>
          <p:nvPr>
            <p:ph type="body" idx="1"/>
          </p:nvPr>
        </p:nvSpPr>
        <p:spPr/>
        <p:txBody>
          <a:bodyPr/>
          <a:lstStyle/>
          <a:p>
            <a:r>
              <a:rPr lang="en-US" dirty="0"/>
              <a:t>This slide is based on how celesta team has rated them selves</a:t>
            </a:r>
          </a:p>
          <a:p>
            <a:r>
              <a:rPr lang="en-US" dirty="0"/>
              <a:t>Can you create a “Customer” version of this, based on assessment responses?</a:t>
            </a:r>
            <a:endParaRPr lang="en-IN" dirty="0"/>
          </a:p>
        </p:txBody>
      </p:sp>
      <p:sp>
        <p:nvSpPr>
          <p:cNvPr id="4" name="Slide Number Placeholder 3">
            <a:extLst>
              <a:ext uri="{FF2B5EF4-FFF2-40B4-BE49-F238E27FC236}">
                <a16:creationId xmlns:a16="http://schemas.microsoft.com/office/drawing/2014/main" id="{579A31E9-209D-7089-17B8-787761144B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B5FA5F-178E-469E-9F04-70DE588FA89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3902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DE9CE-A187-A3D6-86C5-F95541FEB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9BBB05-6769-5ABE-7FC9-4F6DFBA1E5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A1E80-15CA-9260-4DE2-FE2CC84A4319}"/>
              </a:ext>
            </a:extLst>
          </p:cNvPr>
          <p:cNvSpPr>
            <a:spLocks noGrp="1"/>
          </p:cNvSpPr>
          <p:nvPr>
            <p:ph type="body" idx="1"/>
          </p:nvPr>
        </p:nvSpPr>
        <p:spPr/>
        <p:txBody>
          <a:bodyPr/>
          <a:lstStyle/>
          <a:p>
            <a:r>
              <a:rPr lang="en-US" dirty="0"/>
              <a:t>This slide is based on how  “Customer” </a:t>
            </a:r>
            <a:r>
              <a:rPr lang="en-US"/>
              <a:t>perceives celesta</a:t>
            </a:r>
            <a:endParaRPr lang="en-IN" dirty="0"/>
          </a:p>
        </p:txBody>
      </p:sp>
      <p:sp>
        <p:nvSpPr>
          <p:cNvPr id="4" name="Slide Number Placeholder 3">
            <a:extLst>
              <a:ext uri="{FF2B5EF4-FFF2-40B4-BE49-F238E27FC236}">
                <a16:creationId xmlns:a16="http://schemas.microsoft.com/office/drawing/2014/main" id="{0B57E394-63E7-D610-55E1-5A8D6D8B5B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B5FA5F-178E-469E-9F04-70DE588FA89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812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2270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62375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359A7-3B93-EF98-759D-9E6A496F7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E20AD-EF24-97E9-5DE1-EA36139FF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A24F5-4CCA-4C72-BB5E-65B25A7546A6}"/>
              </a:ext>
            </a:extLst>
          </p:cNvPr>
          <p:cNvSpPr>
            <a:spLocks noGrp="1"/>
          </p:cNvSpPr>
          <p:nvPr>
            <p:ph type="body" idx="1"/>
          </p:nvPr>
        </p:nvSpPr>
        <p:spPr/>
        <p:txBody>
          <a:bodyPr/>
          <a:lstStyle/>
          <a:p>
            <a:r>
              <a:rPr lang="en-US" dirty="0"/>
              <a:t>Removed content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734C"/>
                </a:solidFill>
                <a:effectLst/>
                <a:uLnTx/>
                <a:uFillTx/>
                <a:latin typeface="Hepta Slab Regular" pitchFamily="2" charset="0"/>
                <a:ea typeface="Hepta Slab Regular" pitchFamily="34" charset="-122"/>
                <a:cs typeface="Hepta Slab Regular" pitchFamily="2" charset="0"/>
              </a:rPr>
              <a:t>A breakdown on the basic expectation of friction free financial transactions disengages the customer from the entire program</a:t>
            </a:r>
          </a:p>
          <a:p>
            <a:endParaRPr lang="en-IN" dirty="0"/>
          </a:p>
        </p:txBody>
      </p:sp>
      <p:sp>
        <p:nvSpPr>
          <p:cNvPr id="4" name="Slide Number Placeholder 3">
            <a:extLst>
              <a:ext uri="{FF2B5EF4-FFF2-40B4-BE49-F238E27FC236}">
                <a16:creationId xmlns:a16="http://schemas.microsoft.com/office/drawing/2014/main" id="{559B7650-AD65-EC86-1B19-DA26CA0D35C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5001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33871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GB" sz="1800" b="0" i="0" u="none" strike="noStrike" dirty="0">
                <a:solidFill>
                  <a:srgbClr val="000000"/>
                </a:solidFill>
                <a:effectLst/>
                <a:latin typeface="Calibri" panose="020F0502020204030204" pitchFamily="34" charset="0"/>
              </a:rPr>
              <a:t>For this slide I took options from Who would you consider as the best performing premium banking program on the following parameters? </a:t>
            </a:r>
            <a:r>
              <a:rPr lang="en-GB" sz="1800" b="1" i="0" u="none" strike="noStrike" dirty="0">
                <a:solidFill>
                  <a:srgbClr val="000000"/>
                </a:solidFill>
                <a:effectLst/>
                <a:latin typeface="Calibri" panose="020F0502020204030204" pitchFamily="34" charset="0"/>
              </a:rPr>
              <a:t>Transaction ease, support </a:t>
            </a:r>
            <a:r>
              <a:rPr lang="en-GB" sz="1800" b="0" i="0" u="none" strike="noStrike" dirty="0">
                <a:solidFill>
                  <a:srgbClr val="000000"/>
                </a:solidFill>
                <a:effectLst/>
                <a:latin typeface="Calibri" panose="020F0502020204030204" pitchFamily="34" charset="0"/>
              </a:rPr>
              <a:t>questions and combine there options as below:</a:t>
            </a:r>
            <a:endParaRPr lang="en-GB" dirty="0">
              <a:effectLst/>
            </a:endParaRPr>
          </a:p>
          <a:p>
            <a:pPr rtl="0">
              <a:spcBef>
                <a:spcPts val="0"/>
              </a:spcBef>
              <a:spcAft>
                <a:spcPts val="0"/>
              </a:spcAft>
            </a:pPr>
            <a:r>
              <a:rPr lang="en-GB" sz="1800" b="1" i="0" u="none" strike="noStrike" dirty="0">
                <a:solidFill>
                  <a:srgbClr val="000000"/>
                </a:solidFill>
                <a:effectLst/>
                <a:latin typeface="Calibri" panose="020F0502020204030204" pitchFamily="34" charset="0"/>
              </a:rPr>
              <a:t>For Branch= Ease of interaction/transaction &amp; Ability to provide relevant support.</a:t>
            </a:r>
            <a:endParaRPr lang="en-GB" dirty="0">
              <a:effectLst/>
            </a:endParaRPr>
          </a:p>
          <a:p>
            <a:pPr rtl="0">
              <a:spcBef>
                <a:spcPts val="0"/>
              </a:spcBef>
              <a:spcAft>
                <a:spcPts val="0"/>
              </a:spcAft>
            </a:pPr>
            <a:r>
              <a:rPr lang="en-GB" sz="1800" b="1" i="0" u="none" strike="noStrike" dirty="0">
                <a:solidFill>
                  <a:srgbClr val="000000"/>
                </a:solidFill>
                <a:effectLst/>
                <a:latin typeface="Calibri" panose="020F0502020204030204" pitchFamily="34" charset="0"/>
              </a:rPr>
              <a:t>For RM= Ease of interaction &amp; Availability &amp; Ability to sort most issues.</a:t>
            </a:r>
            <a:endParaRPr lang="en-GB" dirty="0">
              <a:effectLst/>
            </a:endParaRPr>
          </a:p>
          <a:p>
            <a:pPr rtl="0">
              <a:spcBef>
                <a:spcPts val="0"/>
              </a:spcBef>
              <a:spcAft>
                <a:spcPts val="0"/>
              </a:spcAft>
            </a:pPr>
            <a:r>
              <a:rPr lang="en-GB" sz="1800" b="1" i="0" u="none" strike="noStrike" dirty="0">
                <a:solidFill>
                  <a:srgbClr val="000000"/>
                </a:solidFill>
                <a:effectLst/>
                <a:latin typeface="Calibri" panose="020F0502020204030204" pitchFamily="34" charset="0"/>
              </a:rPr>
              <a:t>For service recovery= Resolving queries and doubts &amp; Support from call centre &amp; Correcting </a:t>
            </a:r>
            <a:r>
              <a:rPr lang="en-GB" sz="1800" b="1" i="0" u="none" strike="noStrike" dirty="0" err="1">
                <a:solidFill>
                  <a:srgbClr val="000000"/>
                </a:solidFill>
                <a:effectLst/>
                <a:latin typeface="Calibri" panose="020F0502020204030204" pitchFamily="34" charset="0"/>
              </a:rPr>
              <a:t>errors,mistakes</a:t>
            </a:r>
            <a:r>
              <a:rPr lang="en-GB" sz="1800" b="1" i="0" u="none" strike="noStrike" dirty="0">
                <a:solidFill>
                  <a:srgbClr val="000000"/>
                </a:solidFill>
                <a:effectLst/>
                <a:latin typeface="Calibri" panose="020F0502020204030204" pitchFamily="34" charset="0"/>
              </a:rPr>
              <a:t> &amp; delays.</a:t>
            </a:r>
            <a:endParaRPr lang="en-GB" dirty="0">
              <a:effectLst/>
            </a:endParaRPr>
          </a:p>
          <a:p>
            <a:pPr rtl="0">
              <a:spcBef>
                <a:spcPts val="0"/>
              </a:spcBef>
              <a:spcAft>
                <a:spcPts val="0"/>
              </a:spcAft>
            </a:pPr>
            <a:r>
              <a:rPr lang="en-GB" sz="1800" b="1" i="0" u="none" strike="noStrike" dirty="0">
                <a:solidFill>
                  <a:srgbClr val="000000"/>
                </a:solidFill>
                <a:effectLst/>
                <a:latin typeface="Calibri" panose="020F0502020204030204" pitchFamily="34" charset="0"/>
              </a:rPr>
              <a:t>This is matrix questions &amp; data for Federal is from fed customer + fed competitors</a:t>
            </a:r>
            <a:endParaRPr lang="en-GB" dirty="0">
              <a:effectLst/>
            </a:endParaRPr>
          </a:p>
          <a:p>
            <a:endParaRPr lang="en-IN" dirty="0"/>
          </a:p>
          <a:p>
            <a:r>
              <a:rPr lang="en-IN" dirty="0"/>
              <a:t>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018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dirty="0"/>
              <a:t>Need verbatims here that talk about customer service issues via contact centre. Ask Hrishikesh to support-</a:t>
            </a:r>
          </a:p>
          <a:p>
            <a:pPr rtl="0">
              <a:spcBef>
                <a:spcPts val="0"/>
              </a:spcBef>
              <a:spcAft>
                <a:spcPts val="0"/>
              </a:spcAft>
            </a:pPr>
            <a:r>
              <a:rPr lang="en-US" dirty="0">
                <a:solidFill>
                  <a:schemeClr val="accent2"/>
                </a:solidFill>
                <a:highlight>
                  <a:srgbClr val="FFFF00"/>
                </a:highlight>
              </a:rPr>
              <a:t>I have added verbatims as per his insights file &amp; as per my understanding, please check.</a:t>
            </a:r>
            <a:endParaRPr lang="en-IN" dirty="0">
              <a:solidFill>
                <a:schemeClr val="accent2"/>
              </a:solidFill>
              <a:highlight>
                <a:srgbClr val="FFFF00"/>
              </a:highlight>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04856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71689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D010-3B50-9454-B805-6DCFB2757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0F8BC-0F6C-BB70-BF2D-AE27496AA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2F4BC-3502-AC43-A7BE-E1A6D962B42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25765EA-D477-B31C-6523-764991B1E13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96561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BCC3D-94B2-0372-1774-F97A228B6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66BE2-3140-9878-FDF5-52A5C1827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E79C6-F2F3-1148-2F08-E1B06FB1C62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129219-D6D9-0A4C-43C3-2DF09CF16BD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33266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AFE97-6A52-B820-C5C8-7FD98898E7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50FD9-7E62-44BE-C664-A9FD83ABF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3C065-BDDA-C79B-9811-39495DBDA4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FB89BC-0FA0-080D-338F-25954027ABA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2329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EF151-688D-4E6B-6757-9C47CE622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A88B5-D806-0C42-191A-C26E02950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3B593-99AD-9F17-A27D-B7EA7830A7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B3DFE12-50AD-E4DA-6192-86BBBBCB6D7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1057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042A1-9128-311B-581F-547D8100B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FF9B9-C7D7-5643-7490-04656DB1B1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94350-53FA-B652-1BF9-6DC641120435}"/>
              </a:ext>
            </a:extLst>
          </p:cNvPr>
          <p:cNvSpPr>
            <a:spLocks noGrp="1"/>
          </p:cNvSpPr>
          <p:nvPr>
            <p:ph type="body" idx="1"/>
          </p:nvPr>
        </p:nvSpPr>
        <p:spPr/>
        <p:txBody>
          <a:bodyPr/>
          <a:lstStyle/>
          <a:p>
            <a:endParaRPr lang="en-IN" dirty="0"/>
          </a:p>
          <a:p>
            <a:pPr rtl="0">
              <a:spcBef>
                <a:spcPts val="0"/>
              </a:spcBef>
              <a:spcAft>
                <a:spcPts val="0"/>
              </a:spcAft>
            </a:pPr>
            <a:r>
              <a:rPr lang="en-GB" sz="1800" b="0" i="0" u="none" strike="noStrike" dirty="0">
                <a:solidFill>
                  <a:srgbClr val="000000"/>
                </a:solidFill>
                <a:effectLst/>
                <a:latin typeface="Calibri" panose="020F0502020204030204" pitchFamily="34" charset="0"/>
              </a:rPr>
              <a:t>This is same matrix question Who would you consider as the best performing premium banking program on the following parameters? for premium banking services</a:t>
            </a:r>
            <a:endParaRPr lang="en-GB" dirty="0">
              <a:effectLst/>
            </a:endParaRPr>
          </a:p>
          <a:p>
            <a:r>
              <a:rPr lang="en-GB" sz="1800" b="0" i="0" u="none" strike="noStrike" dirty="0">
                <a:solidFill>
                  <a:srgbClr val="000000"/>
                </a:solidFill>
                <a:effectLst/>
                <a:latin typeface="Calibri" panose="020F0502020204030204" pitchFamily="34" charset="0"/>
              </a:rPr>
              <a:t>All data from</a:t>
            </a:r>
            <a:r>
              <a:rPr lang="en-GB" sz="1800" b="1" i="0" u="none" strike="noStrike" dirty="0">
                <a:solidFill>
                  <a:srgbClr val="000000"/>
                </a:solidFill>
                <a:effectLst/>
                <a:latin typeface="Calibri" panose="020F0502020204030204" pitchFamily="34" charset="0"/>
              </a:rPr>
              <a:t> federal competitor brands(Kotak= 125,HDFC=125,AXIS=125) and federal customer + fed competitors addition </a:t>
            </a:r>
            <a:r>
              <a:rPr lang="en-GB" sz="1800" b="1" i="0" u="none" strike="noStrike" dirty="0" err="1">
                <a:solidFill>
                  <a:srgbClr val="000000"/>
                </a:solidFill>
                <a:effectLst/>
                <a:latin typeface="Calibri" panose="020F0502020204030204" pitchFamily="34" charset="0"/>
              </a:rPr>
              <a:t>i.e</a:t>
            </a:r>
            <a:r>
              <a:rPr lang="en-GB" sz="1800" b="1" i="0" u="none" strike="noStrike" dirty="0">
                <a:solidFill>
                  <a:srgbClr val="000000"/>
                </a:solidFill>
                <a:effectLst/>
                <a:latin typeface="Calibri" panose="020F0502020204030204" pitchFamily="34" charset="0"/>
              </a:rPr>
              <a:t>= (165) respondent.</a:t>
            </a:r>
            <a:endParaRPr lang="en-IN"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6CC545C6-C7F7-FFCF-68EC-860AF97349F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4417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pPr rtl="0">
              <a:spcBef>
                <a:spcPts val="0"/>
              </a:spcBef>
              <a:spcAft>
                <a:spcPts val="0"/>
              </a:spcAft>
            </a:pPr>
            <a:r>
              <a:rPr lang="en-GB" sz="1800" b="0" i="0" u="none" strike="noStrike" dirty="0">
                <a:solidFill>
                  <a:srgbClr val="000000"/>
                </a:solidFill>
                <a:effectLst/>
                <a:latin typeface="Calibri" panose="020F0502020204030204" pitchFamily="34" charset="0"/>
              </a:rPr>
              <a:t>This is same matrix question Who would you consider as the best performing premium banking program on the following parameters? for premium banking services</a:t>
            </a:r>
            <a:endParaRPr lang="en-GB" dirty="0">
              <a:effectLst/>
            </a:endParaRPr>
          </a:p>
          <a:p>
            <a:r>
              <a:rPr lang="en-GB" sz="1800" b="0" i="0" u="none" strike="noStrike" dirty="0">
                <a:solidFill>
                  <a:srgbClr val="000000"/>
                </a:solidFill>
                <a:effectLst/>
                <a:latin typeface="Calibri" panose="020F0502020204030204" pitchFamily="34" charset="0"/>
              </a:rPr>
              <a:t>All data from</a:t>
            </a:r>
            <a:r>
              <a:rPr lang="en-GB" sz="1800" b="1" i="0" u="none" strike="noStrike" dirty="0">
                <a:solidFill>
                  <a:srgbClr val="000000"/>
                </a:solidFill>
                <a:effectLst/>
                <a:latin typeface="Calibri" panose="020F0502020204030204" pitchFamily="34" charset="0"/>
              </a:rPr>
              <a:t> federal competitor brands(Kotak= 125,HDFC=125,AXIS=125) and federal customer + fed competitors addition </a:t>
            </a:r>
            <a:r>
              <a:rPr lang="en-GB" sz="1800" b="1" i="0" u="none" strike="noStrike" dirty="0" err="1">
                <a:solidFill>
                  <a:srgbClr val="000000"/>
                </a:solidFill>
                <a:effectLst/>
                <a:latin typeface="Calibri" panose="020F0502020204030204" pitchFamily="34" charset="0"/>
              </a:rPr>
              <a:t>i.e</a:t>
            </a:r>
            <a:r>
              <a:rPr lang="en-GB" sz="1800" b="1" i="0" u="none" strike="noStrike" dirty="0">
                <a:solidFill>
                  <a:srgbClr val="000000"/>
                </a:solidFill>
                <a:effectLst/>
                <a:latin typeface="Calibri" panose="020F0502020204030204" pitchFamily="34" charset="0"/>
              </a:rPr>
              <a:t>= (165) respondent.</a:t>
            </a:r>
            <a:endParaRPr lang="en-IN" dirty="0"/>
          </a:p>
          <a:p>
            <a:endParaRPr lang="en-IN" dirty="0"/>
          </a:p>
          <a:p>
            <a:endParaRPr lang="en-IN" dirty="0"/>
          </a:p>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00251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GB" sz="1800" b="0" i="0" u="none" strike="noStrike" dirty="0">
                <a:solidFill>
                  <a:srgbClr val="000000"/>
                </a:solidFill>
                <a:effectLst/>
                <a:latin typeface="Calibri" panose="020F0502020204030204" pitchFamily="34" charset="0"/>
              </a:rPr>
              <a:t>For all respondent graph I took </a:t>
            </a:r>
            <a:r>
              <a:rPr lang="en-GB" sz="1800" b="0" i="0" u="none" strike="noStrike" dirty="0">
                <a:solidFill>
                  <a:srgbClr val="1F4E79"/>
                </a:solidFill>
                <a:effectLst/>
                <a:latin typeface="Arial" panose="020B0604020202020204" pitchFamily="34" charset="0"/>
              </a:rPr>
              <a:t>What challenges do you face while banking with Federal Bank? Only male federal customers from Fed customer fed competitors , this is multi select question so count is around 262 for (Advisory, service, &amp; offers)  for 165 unique respondent.</a:t>
            </a:r>
            <a:endParaRPr lang="en-GB" dirty="0">
              <a:effectLst/>
            </a:endParaRPr>
          </a:p>
          <a:p>
            <a:r>
              <a:rPr lang="en-GB" sz="1800" b="0" i="0" u="none" strike="noStrike" dirty="0">
                <a:solidFill>
                  <a:srgbClr val="1F4E79"/>
                </a:solidFill>
                <a:effectLst/>
                <a:latin typeface="Arial" panose="020B0604020202020204" pitchFamily="34" charset="0"/>
              </a:rPr>
              <a:t>As a successful woman, what problems do you face with your premium banking at Federal Bank? around 80 federal women respondent-</a:t>
            </a:r>
          </a:p>
          <a:p>
            <a:endParaRPr lang="en-GB" sz="1800" b="0" i="0" u="none" strike="noStrike" dirty="0">
              <a:solidFill>
                <a:srgbClr val="1F4E79"/>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8934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Hrishikesh to give you verbatims around the hesitation to use the </a:t>
            </a:r>
            <a:r>
              <a:rPr lang="en-US" dirty="0" err="1"/>
              <a:t>equirus</a:t>
            </a:r>
            <a:r>
              <a:rPr lang="en-US" dirty="0"/>
              <a:t> Investment manager services- I have added as per my understanding.</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71697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99973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EFC9C-7C6D-9F1D-0F64-DF3E179FD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917D5-7F0D-7D3E-72EC-AC6D776C2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C97CF-F4B3-2897-FA37-EBCF0DF2CB0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1C620FC-AE48-815F-DD23-2B48190F593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3866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76782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23721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4B5FA5F-178E-469E-9F04-70DE588FA892}" type="slidenum">
              <a:rPr lang="en-IN" smtClean="0"/>
              <a:t>52</a:t>
            </a:fld>
            <a:endParaRPr lang="en-IN"/>
          </a:p>
        </p:txBody>
      </p:sp>
    </p:spTree>
    <p:extLst>
      <p:ext uri="{BB962C8B-B14F-4D97-AF65-F5344CB8AC3E}">
        <p14:creationId xmlns:p14="http://schemas.microsoft.com/office/powerpoint/2010/main" val="13596475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FDDC3-AB00-6579-6CA1-560B64ADD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B1356-28BC-9FC3-F613-1E7DCE552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C7C57-3148-1D76-34C3-D16991C4C837}"/>
              </a:ext>
            </a:extLst>
          </p:cNvPr>
          <p:cNvSpPr>
            <a:spLocks noGrp="1"/>
          </p:cNvSpPr>
          <p:nvPr>
            <p:ph type="body" idx="1"/>
          </p:nvPr>
        </p:nvSpPr>
        <p:spPr/>
        <p:txBody>
          <a:bodyPr/>
          <a:lstStyle/>
          <a:p>
            <a:pPr rtl="0">
              <a:spcBef>
                <a:spcPts val="0"/>
              </a:spcBef>
              <a:spcAft>
                <a:spcPts val="0"/>
              </a:spcAft>
            </a:pPr>
            <a:r>
              <a:rPr lang="en-GB" sz="1200" b="0" i="0" u="none" strike="noStrike" dirty="0">
                <a:solidFill>
                  <a:srgbClr val="002060"/>
                </a:solidFill>
                <a:effectLst/>
                <a:latin typeface="Montserrat" panose="00000500000000000000" pitchFamily="2" charset="0"/>
              </a:rPr>
              <a:t>Q-Federal customer who said Celesta card is relevant &amp; use it + Benefits &amp; Privileges-(Who do they rate best)</a:t>
            </a:r>
            <a:endParaRPr lang="en-GB" sz="1200" dirty="0">
              <a:effectLst/>
              <a:latin typeface="Montserrat" panose="00000500000000000000" pitchFamily="2" charset="0"/>
            </a:endParaRPr>
          </a:p>
        </p:txBody>
      </p:sp>
      <p:sp>
        <p:nvSpPr>
          <p:cNvPr id="4" name="Slide Number Placeholder 3">
            <a:extLst>
              <a:ext uri="{FF2B5EF4-FFF2-40B4-BE49-F238E27FC236}">
                <a16:creationId xmlns:a16="http://schemas.microsoft.com/office/drawing/2014/main" id="{49D314F8-3E83-AB93-CE36-28B8FF33E69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9534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60118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27804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55778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4B5FA5F-178E-469E-9F04-70DE588FA892}" type="slidenum">
              <a:rPr lang="en-IN" smtClean="0"/>
              <a:t>57</a:t>
            </a:fld>
            <a:endParaRPr lang="en-IN"/>
          </a:p>
        </p:txBody>
      </p:sp>
    </p:spTree>
    <p:extLst>
      <p:ext uri="{BB962C8B-B14F-4D97-AF65-F5344CB8AC3E}">
        <p14:creationId xmlns:p14="http://schemas.microsoft.com/office/powerpoint/2010/main" val="7382012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BF102-9C47-439C-23C9-395D3BA1A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4948B-C906-670D-A97B-916F66713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DBAB81-4D03-7990-1635-49329EB143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30202DE-41F4-8E9B-A7EC-EF3ACED3B2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38257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96077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RM role for all brand wise</a:t>
            </a:r>
          </a:p>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03285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182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56705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D1BF4-FB21-48CD-66C9-8EB10D812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1517C-D307-33D4-77FE-75B3FAE43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671D4-756C-9DD5-599C-2AE6AF2D6D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22222"/>
              </a:solidFill>
              <a:latin typeface="Montserrat" pitchFamily="2" charset="0"/>
            </a:endParaRPr>
          </a:p>
        </p:txBody>
      </p:sp>
      <p:sp>
        <p:nvSpPr>
          <p:cNvPr id="4" name="Slide Number Placeholder 3">
            <a:extLst>
              <a:ext uri="{FF2B5EF4-FFF2-40B4-BE49-F238E27FC236}">
                <a16:creationId xmlns:a16="http://schemas.microsoft.com/office/drawing/2014/main" id="{FAA13F80-71CA-6007-91D8-10FF41B8A0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C8B46-56AE-4650-B1A0-ACF4EBFEF41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98456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E9289-A245-D1BB-DC86-7A44FBCE1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DA311-E8F6-4951-215D-FA71C19EE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CC242-0F17-8A90-743C-CA0A2B791D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22222"/>
              </a:solidFill>
              <a:latin typeface="Montserrat" pitchFamily="2" charset="0"/>
            </a:endParaRPr>
          </a:p>
        </p:txBody>
      </p:sp>
      <p:sp>
        <p:nvSpPr>
          <p:cNvPr id="4" name="Slide Number Placeholder 3">
            <a:extLst>
              <a:ext uri="{FF2B5EF4-FFF2-40B4-BE49-F238E27FC236}">
                <a16:creationId xmlns:a16="http://schemas.microsoft.com/office/drawing/2014/main" id="{1EF59EEB-5059-4BA3-7C40-4898F3A851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C8B46-56AE-4650-B1A0-ACF4EBFEF41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57873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7F10F-F221-F0EC-5CBE-72A96CE04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07AD4-E866-F10E-5AFB-5BC232172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384CD9-1F01-2262-0EEA-04A0E66B40B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FBE3F11-2E37-0438-B437-3E5D0A4DD55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85103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6CC15-AAFC-F062-80DE-1166C02F3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97AAB-0EB4-C617-8F8B-05734C55D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B2F3F-6AFD-C678-487C-A273D1FF1E9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C80507-2040-9FFF-D873-F0259878D30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46330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93C76-94B1-813F-8CFD-91EFF2379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E0741-E295-6F37-D4C7-3601DD4AEC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03AB8-5AB6-9BD0-CD0E-93A3A9E2F6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8FFD40-22A7-CBF7-14B1-5DFFAEC5B28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24349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74C74-E93C-05E1-64F4-C7FE96529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84066-8AAF-C908-D1C2-7C11D47F9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F712C-11C1-A15D-057D-3647F46225AC}"/>
              </a:ext>
            </a:extLst>
          </p:cNvPr>
          <p:cNvSpPr>
            <a:spLocks noGrp="1"/>
          </p:cNvSpPr>
          <p:nvPr>
            <p:ph type="body" idx="1"/>
          </p:nvPr>
        </p:nvSpPr>
        <p:spPr/>
        <p:txBody>
          <a:bodyPr/>
          <a:lstStyle/>
          <a:p>
            <a:r>
              <a:rPr lang="en-GB" sz="1800" b="0" i="0" kern="1200" dirty="0">
                <a:solidFill>
                  <a:schemeClr val="tx1"/>
                </a:solidFill>
                <a:effectLst/>
                <a:latin typeface="+mn-lt"/>
                <a:ea typeface="+mn-ea"/>
                <a:cs typeface="+mn-cs"/>
              </a:rPr>
              <a:t>Key Solution Pillars</a:t>
            </a:r>
          </a:p>
          <a:p>
            <a:r>
              <a:rPr lang="en-GB" sz="1800" b="0" i="0" kern="1200" dirty="0">
                <a:solidFill>
                  <a:schemeClr val="tx1"/>
                </a:solidFill>
                <a:effectLst/>
                <a:latin typeface="+mn-lt"/>
                <a:ea typeface="+mn-ea"/>
                <a:cs typeface="+mn-cs"/>
              </a:rPr>
              <a:t>ES</a:t>
            </a:r>
          </a:p>
          <a:p>
            <a:r>
              <a:rPr lang="en-GB" sz="1800" b="0" i="0" kern="1200" dirty="0">
                <a:solidFill>
                  <a:schemeClr val="tx1"/>
                </a:solidFill>
                <a:effectLst/>
                <a:latin typeface="+mn-lt"/>
                <a:ea typeface="+mn-ea"/>
                <a:cs typeface="+mn-cs"/>
              </a:rPr>
              <a:t>RC</a:t>
            </a:r>
          </a:p>
          <a:p>
            <a:r>
              <a:rPr lang="en-GB" sz="1800" b="0" i="0" kern="1200" dirty="0">
                <a:solidFill>
                  <a:schemeClr val="tx1"/>
                </a:solidFill>
                <a:effectLst/>
                <a:latin typeface="+mn-lt"/>
                <a:ea typeface="+mn-ea"/>
                <a:cs typeface="+mn-cs"/>
              </a:rPr>
              <a:t>WGS</a:t>
            </a:r>
          </a:p>
          <a:p>
            <a:r>
              <a:rPr lang="en-GB" sz="1800" b="0" i="0" kern="1200" dirty="0">
                <a:solidFill>
                  <a:schemeClr val="tx1"/>
                </a:solidFill>
                <a:effectLst/>
                <a:latin typeface="+mn-lt"/>
                <a:ea typeface="+mn-ea"/>
                <a:cs typeface="+mn-cs"/>
              </a:rPr>
              <a:t>SR</a:t>
            </a:r>
            <a:endParaRPr lang="en-IN" dirty="0"/>
          </a:p>
        </p:txBody>
      </p:sp>
      <p:sp>
        <p:nvSpPr>
          <p:cNvPr id="4" name="Slide Number Placeholder 3">
            <a:extLst>
              <a:ext uri="{FF2B5EF4-FFF2-40B4-BE49-F238E27FC236}">
                <a16:creationId xmlns:a16="http://schemas.microsoft.com/office/drawing/2014/main" id="{4C8326E2-C941-FBC0-D37E-2B026568E05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22932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1176D-9818-83B2-6A51-2F1263569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1B5C8-9AD0-48F3-7964-12D744622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2A110F-4B63-7F21-B6E7-9A331AA4EB61}"/>
              </a:ext>
            </a:extLst>
          </p:cNvPr>
          <p:cNvSpPr>
            <a:spLocks noGrp="1"/>
          </p:cNvSpPr>
          <p:nvPr>
            <p:ph type="body" idx="1"/>
          </p:nvPr>
        </p:nvSpPr>
        <p:spPr/>
        <p:txBody>
          <a:bodyPr/>
          <a:lstStyle/>
          <a:p>
            <a:r>
              <a:rPr lang="en-GB" sz="1800" b="0" i="0" kern="1200" dirty="0">
                <a:solidFill>
                  <a:schemeClr val="tx1"/>
                </a:solidFill>
                <a:effectLst/>
                <a:latin typeface="+mn-lt"/>
                <a:ea typeface="+mn-ea"/>
                <a:cs typeface="+mn-cs"/>
              </a:rPr>
              <a:t>Key Solution Pillars</a:t>
            </a:r>
          </a:p>
          <a:p>
            <a:r>
              <a:rPr lang="en-GB" sz="1800" b="0" i="0" kern="1200" dirty="0">
                <a:solidFill>
                  <a:schemeClr val="tx1"/>
                </a:solidFill>
                <a:effectLst/>
                <a:latin typeface="+mn-lt"/>
                <a:ea typeface="+mn-ea"/>
                <a:cs typeface="+mn-cs"/>
              </a:rPr>
              <a:t>ES</a:t>
            </a:r>
          </a:p>
          <a:p>
            <a:r>
              <a:rPr lang="en-GB" sz="1800" b="0" i="0" kern="1200" dirty="0">
                <a:solidFill>
                  <a:schemeClr val="tx1"/>
                </a:solidFill>
                <a:effectLst/>
                <a:latin typeface="+mn-lt"/>
                <a:ea typeface="+mn-ea"/>
                <a:cs typeface="+mn-cs"/>
              </a:rPr>
              <a:t>RC</a:t>
            </a:r>
          </a:p>
          <a:p>
            <a:r>
              <a:rPr lang="en-GB" sz="1800" b="0" i="0" kern="1200" dirty="0">
                <a:solidFill>
                  <a:schemeClr val="tx1"/>
                </a:solidFill>
                <a:effectLst/>
                <a:latin typeface="+mn-lt"/>
                <a:ea typeface="+mn-ea"/>
                <a:cs typeface="+mn-cs"/>
              </a:rPr>
              <a:t>WGS</a:t>
            </a:r>
          </a:p>
          <a:p>
            <a:r>
              <a:rPr lang="en-GB" sz="1800" b="0" i="0" kern="1200" dirty="0">
                <a:solidFill>
                  <a:schemeClr val="tx1"/>
                </a:solidFill>
                <a:effectLst/>
                <a:latin typeface="+mn-lt"/>
                <a:ea typeface="+mn-ea"/>
                <a:cs typeface="+mn-cs"/>
              </a:rPr>
              <a:t>SR</a:t>
            </a:r>
            <a:endParaRPr lang="en-IN" dirty="0"/>
          </a:p>
        </p:txBody>
      </p:sp>
      <p:sp>
        <p:nvSpPr>
          <p:cNvPr id="4" name="Slide Number Placeholder 3">
            <a:extLst>
              <a:ext uri="{FF2B5EF4-FFF2-40B4-BE49-F238E27FC236}">
                <a16:creationId xmlns:a16="http://schemas.microsoft.com/office/drawing/2014/main" id="{BD6C3177-E450-AE9B-0E96-BE28856715D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17011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64BF7-1608-8C78-91CD-9FE5024F0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BBFB5-240D-D246-FD97-9DB5D7454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C0A52-92F3-62EC-D611-2873C36F5B58}"/>
              </a:ext>
            </a:extLst>
          </p:cNvPr>
          <p:cNvSpPr>
            <a:spLocks noGrp="1"/>
          </p:cNvSpPr>
          <p:nvPr>
            <p:ph type="body" idx="1"/>
          </p:nvPr>
        </p:nvSpPr>
        <p:spPr/>
        <p:txBody>
          <a:bodyPr/>
          <a:lstStyle/>
          <a:p>
            <a:pPr marL="228600" indent="-228600">
              <a:buAutoNum type="arabicPeriod"/>
            </a:pPr>
            <a:r>
              <a:rPr lang="en-US" sz="1800" dirty="0"/>
              <a:t>"Pravasi" is instantly recognizable to the target segment, as it's commonly used in Malayalam and official Indian government communications (like Pravasi </a:t>
            </a:r>
            <a:r>
              <a:rPr lang="en-US" sz="1800" dirty="0" err="1"/>
              <a:t>Bharatiya</a:t>
            </a:r>
            <a:r>
              <a:rPr lang="en-US" sz="1800" dirty="0"/>
              <a:t> Divas)2. "Pioneers" gives them the respect they deserve as the first generation that really established the India-Gulf connection and built successful careers there3. The alliteration makes it memorable4. It has positive connotations - acknowledging their role as pathfinders who paved the way for future generations of Indian professionals in the Gulf</a:t>
            </a:r>
          </a:p>
          <a:p>
            <a:r>
              <a:rPr lang="en-US" sz="1800" dirty="0"/>
              <a:t>"Anchor Alliance" works really well! Here's why it's particularly fitting:</a:t>
            </a:r>
          </a:p>
          <a:p>
            <a:pPr>
              <a:buFont typeface="+mj-lt"/>
              <a:buAutoNum type="arabicPeriod"/>
            </a:pPr>
            <a:r>
              <a:rPr lang="en-US" sz="1800" dirty="0"/>
              <a:t>"Anchor" suggests:</a:t>
            </a:r>
          </a:p>
          <a:p>
            <a:pPr>
              <a:buFont typeface="Arial" panose="020B0604020202020204" pitchFamily="34" charset="0"/>
              <a:buChar char="•"/>
            </a:pPr>
            <a:r>
              <a:rPr lang="en-US" sz="1800" dirty="0"/>
              <a:t>Stability (they're often the stable connection between India and Gulf)</a:t>
            </a:r>
          </a:p>
          <a:p>
            <a:pPr>
              <a:buFont typeface="Arial" panose="020B0604020202020204" pitchFamily="34" charset="0"/>
              <a:buChar char="•"/>
            </a:pPr>
            <a:r>
              <a:rPr lang="en-US" sz="1800" dirty="0"/>
              <a:t>Reliability (they handle responsibilities for the Pravasi Pioneers)</a:t>
            </a:r>
          </a:p>
          <a:p>
            <a:pPr>
              <a:buFont typeface="Arial" panose="020B0604020202020204" pitchFamily="34" charset="0"/>
              <a:buChar char="•"/>
            </a:pPr>
            <a:r>
              <a:rPr lang="en-US" sz="1800" dirty="0"/>
              <a:t>Grounding (they keep family ties strong)</a:t>
            </a:r>
          </a:p>
          <a:p>
            <a:pPr>
              <a:buFont typeface="+mj-lt"/>
              <a:buAutoNum type="arabicPeriod" startAt="2"/>
            </a:pPr>
            <a:r>
              <a:rPr lang="en-US" sz="1800" dirty="0"/>
              <a:t>"Alliance" captures:</a:t>
            </a:r>
          </a:p>
          <a:p>
            <a:pPr>
              <a:buFont typeface="Arial" panose="020B0604020202020204" pitchFamily="34" charset="0"/>
              <a:buChar char="•"/>
            </a:pPr>
            <a:r>
              <a:rPr lang="en-US" sz="1800" dirty="0"/>
              <a:t>The network aspect (family, friends, business connections)</a:t>
            </a:r>
          </a:p>
          <a:p>
            <a:pPr>
              <a:buFont typeface="Arial" panose="020B0604020202020204" pitchFamily="34" charset="0"/>
              <a:buChar char="•"/>
            </a:pPr>
            <a:r>
              <a:rPr lang="en-US" sz="1800" dirty="0"/>
              <a:t>Collaborative nature of their relationships</a:t>
            </a:r>
          </a:p>
          <a:p>
            <a:pPr>
              <a:buFont typeface="Arial" panose="020B0604020202020204" pitchFamily="34" charset="0"/>
              <a:buChar char="•"/>
            </a:pPr>
            <a:r>
              <a:rPr lang="en-US" sz="1800" dirty="0"/>
              <a:t>Formal and informal support systems</a:t>
            </a:r>
          </a:p>
          <a:p>
            <a:r>
              <a:rPr lang="en-US" sz="1800" dirty="0"/>
              <a:t>Together, "Anchor Alliance" and "Pravasi Pioneers" make a strong, complementary pair of segment names that tell a story about the interconnected nature of these two groups.</a:t>
            </a:r>
          </a:p>
          <a:p>
            <a:pPr marL="228600" indent="-228600">
              <a:buAutoNum type="arabicPeriod"/>
            </a:pPr>
            <a:endParaRPr lang="en-US" sz="1800" dirty="0"/>
          </a:p>
          <a:p>
            <a:pPr marL="228600" indent="-228600">
              <a:buAutoNum type="arabicPeriod"/>
            </a:pPr>
            <a:endParaRPr lang="en-IN" sz="1800" dirty="0"/>
          </a:p>
          <a:p>
            <a:endParaRPr lang="en-GB" sz="1800" b="0" i="0" kern="1200" dirty="0">
              <a:solidFill>
                <a:schemeClr val="tx1"/>
              </a:solidFill>
              <a:effectLst/>
              <a:latin typeface="+mn-lt"/>
              <a:ea typeface="+mn-ea"/>
              <a:cs typeface="+mn-cs"/>
            </a:endParaRPr>
          </a:p>
          <a:p>
            <a:r>
              <a:rPr lang="en-GB" sz="1800" b="0" i="0" kern="1200" dirty="0">
                <a:solidFill>
                  <a:schemeClr val="tx1"/>
                </a:solidFill>
                <a:effectLst/>
                <a:latin typeface="+mn-lt"/>
                <a:ea typeface="+mn-ea"/>
                <a:cs typeface="+mn-cs"/>
              </a:rPr>
              <a:t>Examples – Contextualised White Glove Service</a:t>
            </a:r>
            <a:endParaRPr lang="en-IN" dirty="0"/>
          </a:p>
        </p:txBody>
      </p:sp>
      <p:sp>
        <p:nvSpPr>
          <p:cNvPr id="4" name="Slide Number Placeholder 3">
            <a:extLst>
              <a:ext uri="{FF2B5EF4-FFF2-40B4-BE49-F238E27FC236}">
                <a16:creationId xmlns:a16="http://schemas.microsoft.com/office/drawing/2014/main" id="{FFE56E33-E14D-2C89-DC41-E44B3DD63D7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16133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F950-4361-6621-77BE-E716F7C53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19486-DF91-6348-C63F-C191DB71B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89268-65BB-923A-27D4-AA689966E691}"/>
              </a:ext>
            </a:extLst>
          </p:cNvPr>
          <p:cNvSpPr>
            <a:spLocks noGrp="1"/>
          </p:cNvSpPr>
          <p:nvPr>
            <p:ph type="body" idx="1"/>
          </p:nvPr>
        </p:nvSpPr>
        <p:spPr/>
        <p:txBody>
          <a:bodyPr/>
          <a:lstStyle/>
          <a:p>
            <a:pPr marL="228600" indent="-228600">
              <a:buAutoNum type="arabicPeriod"/>
            </a:pPr>
            <a:r>
              <a:rPr lang="en-US" sz="1800" dirty="0"/>
              <a:t>"Pravasi" is instantly recognizable to the target segment, as it's commonly used in Malayalam and official Indian government communications (like Pravasi </a:t>
            </a:r>
            <a:r>
              <a:rPr lang="en-US" sz="1800" dirty="0" err="1"/>
              <a:t>Bharatiya</a:t>
            </a:r>
            <a:r>
              <a:rPr lang="en-US" sz="1800" dirty="0"/>
              <a:t> Divas)2. "Pioneers" gives them the respect they deserve as the first generation that really established the India-Gulf connection and built successful careers there3. The alliteration makes it memorable4. It has positive connotations - acknowledging their role as pathfinders who paved the way for future generations of Indian professionals in the Gulf</a:t>
            </a:r>
          </a:p>
          <a:p>
            <a:r>
              <a:rPr lang="en-US" sz="1800" dirty="0"/>
              <a:t>"Anchor Alliance" works really well! Here's why it's particularly fitting:</a:t>
            </a:r>
          </a:p>
          <a:p>
            <a:pPr>
              <a:buFont typeface="+mj-lt"/>
              <a:buAutoNum type="arabicPeriod"/>
            </a:pPr>
            <a:r>
              <a:rPr lang="en-US" sz="1800" dirty="0"/>
              <a:t>"Anchor" suggests:</a:t>
            </a:r>
          </a:p>
          <a:p>
            <a:pPr>
              <a:buFont typeface="Arial" panose="020B0604020202020204" pitchFamily="34" charset="0"/>
              <a:buChar char="•"/>
            </a:pPr>
            <a:r>
              <a:rPr lang="en-US" sz="1800" dirty="0"/>
              <a:t>Stability (they're often the stable connection between India and Gulf)</a:t>
            </a:r>
          </a:p>
          <a:p>
            <a:pPr>
              <a:buFont typeface="Arial" panose="020B0604020202020204" pitchFamily="34" charset="0"/>
              <a:buChar char="•"/>
            </a:pPr>
            <a:r>
              <a:rPr lang="en-US" sz="1800" dirty="0"/>
              <a:t>Reliability (they handle responsibilities for the Pravasi Pioneers)</a:t>
            </a:r>
          </a:p>
          <a:p>
            <a:pPr>
              <a:buFont typeface="Arial" panose="020B0604020202020204" pitchFamily="34" charset="0"/>
              <a:buChar char="•"/>
            </a:pPr>
            <a:r>
              <a:rPr lang="en-US" sz="1800" dirty="0"/>
              <a:t>Grounding (they keep family ties strong)</a:t>
            </a:r>
          </a:p>
          <a:p>
            <a:pPr>
              <a:buFont typeface="+mj-lt"/>
              <a:buAutoNum type="arabicPeriod" startAt="2"/>
            </a:pPr>
            <a:r>
              <a:rPr lang="en-US" sz="1800" dirty="0"/>
              <a:t>"Alliance" captures:</a:t>
            </a:r>
          </a:p>
          <a:p>
            <a:pPr>
              <a:buFont typeface="Arial" panose="020B0604020202020204" pitchFamily="34" charset="0"/>
              <a:buChar char="•"/>
            </a:pPr>
            <a:r>
              <a:rPr lang="en-US" sz="1800" dirty="0"/>
              <a:t>The network aspect (family, friends, business connections)</a:t>
            </a:r>
          </a:p>
          <a:p>
            <a:pPr>
              <a:buFont typeface="Arial" panose="020B0604020202020204" pitchFamily="34" charset="0"/>
              <a:buChar char="•"/>
            </a:pPr>
            <a:r>
              <a:rPr lang="en-US" sz="1800" dirty="0"/>
              <a:t>Collaborative nature of their relationships</a:t>
            </a:r>
          </a:p>
          <a:p>
            <a:pPr>
              <a:buFont typeface="Arial" panose="020B0604020202020204" pitchFamily="34" charset="0"/>
              <a:buChar char="•"/>
            </a:pPr>
            <a:r>
              <a:rPr lang="en-US" sz="1800" dirty="0"/>
              <a:t>Formal and informal support systems</a:t>
            </a:r>
          </a:p>
          <a:p>
            <a:r>
              <a:rPr lang="en-US" sz="1800" dirty="0"/>
              <a:t>Together, "Anchor Alliance" and "Pravasi Pioneers" make a strong, complementary pair of segment names that tell a story about the interconnected nature of these two groups.</a:t>
            </a:r>
          </a:p>
          <a:p>
            <a:pPr marL="228600" indent="-228600">
              <a:buAutoNum type="arabicPeriod"/>
            </a:pPr>
            <a:endParaRPr lang="en-US" sz="1800" dirty="0"/>
          </a:p>
          <a:p>
            <a:pPr marL="228600" indent="-228600">
              <a:buAutoNum type="arabicPeriod"/>
            </a:pPr>
            <a:endParaRPr lang="en-IN" sz="1800" dirty="0"/>
          </a:p>
          <a:p>
            <a:endParaRPr lang="en-GB" sz="1800" b="0" i="0" kern="1200" dirty="0">
              <a:solidFill>
                <a:schemeClr val="tx1"/>
              </a:solidFill>
              <a:effectLst/>
              <a:latin typeface="+mn-lt"/>
              <a:ea typeface="+mn-ea"/>
              <a:cs typeface="+mn-cs"/>
            </a:endParaRPr>
          </a:p>
          <a:p>
            <a:r>
              <a:rPr lang="en-GB" sz="1800" b="0" i="0" kern="1200" dirty="0">
                <a:solidFill>
                  <a:schemeClr val="tx1"/>
                </a:solidFill>
                <a:effectLst/>
                <a:latin typeface="+mn-lt"/>
                <a:ea typeface="+mn-ea"/>
                <a:cs typeface="+mn-cs"/>
              </a:rPr>
              <a:t>Examples – Contextualised White Glove Service</a:t>
            </a:r>
            <a:endParaRPr lang="en-IN" dirty="0"/>
          </a:p>
        </p:txBody>
      </p:sp>
      <p:sp>
        <p:nvSpPr>
          <p:cNvPr id="4" name="Slide Number Placeholder 3">
            <a:extLst>
              <a:ext uri="{FF2B5EF4-FFF2-40B4-BE49-F238E27FC236}">
                <a16:creationId xmlns:a16="http://schemas.microsoft.com/office/drawing/2014/main" id="{4E012629-ED68-07C4-D757-3EAFC5B79E0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27839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34B84-06CF-773F-3692-174221D7B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D7EF6-4E95-5C48-6A97-D0D82A598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1D17ED-AF0A-6B35-5CF3-13724FFD4EF9}"/>
              </a:ext>
            </a:extLst>
          </p:cNvPr>
          <p:cNvSpPr>
            <a:spLocks noGrp="1"/>
          </p:cNvSpPr>
          <p:nvPr>
            <p:ph type="body" idx="1"/>
          </p:nvPr>
        </p:nvSpPr>
        <p:spPr/>
        <p:txBody>
          <a:bodyPr/>
          <a:lstStyle/>
          <a:p>
            <a:pPr marL="228600" indent="-228600">
              <a:buAutoNum type="arabicPeriod"/>
            </a:pPr>
            <a:r>
              <a:rPr lang="en-US" sz="1800" dirty="0"/>
              <a:t>"Pravasi" is instantly recognizable to the target segment, as it's commonly used in Malayalam and official Indian government communications (like Pravasi </a:t>
            </a:r>
            <a:r>
              <a:rPr lang="en-US" sz="1800" dirty="0" err="1"/>
              <a:t>Bharatiya</a:t>
            </a:r>
            <a:r>
              <a:rPr lang="en-US" sz="1800" dirty="0"/>
              <a:t> Divas)2. "Pioneers" gives them the respect they deserve as the first generation that really established the India-Gulf connection and built successful careers there3. The alliteration makes it memorable4. It has positive connotations - acknowledging their role as pathfinders who paved the way for future generations of Indian professionals in the Gulf</a:t>
            </a:r>
          </a:p>
          <a:p>
            <a:r>
              <a:rPr lang="en-US" sz="1800" dirty="0"/>
              <a:t>"Anchor Alliance" works really well! Here's why it's particularly fitting:</a:t>
            </a:r>
          </a:p>
          <a:p>
            <a:pPr>
              <a:buFont typeface="+mj-lt"/>
              <a:buAutoNum type="arabicPeriod"/>
            </a:pPr>
            <a:r>
              <a:rPr lang="en-US" sz="1800" dirty="0"/>
              <a:t>"Anchor" suggests:</a:t>
            </a:r>
          </a:p>
          <a:p>
            <a:pPr>
              <a:buFont typeface="Arial" panose="020B0604020202020204" pitchFamily="34" charset="0"/>
              <a:buChar char="•"/>
            </a:pPr>
            <a:r>
              <a:rPr lang="en-US" sz="1800" dirty="0"/>
              <a:t>Stability (they're often the stable connection between India and Gulf)</a:t>
            </a:r>
          </a:p>
          <a:p>
            <a:pPr>
              <a:buFont typeface="Arial" panose="020B0604020202020204" pitchFamily="34" charset="0"/>
              <a:buChar char="•"/>
            </a:pPr>
            <a:r>
              <a:rPr lang="en-US" sz="1800" dirty="0"/>
              <a:t>Reliability (they handle responsibilities for the Pravasi Pioneers)</a:t>
            </a:r>
          </a:p>
          <a:p>
            <a:pPr>
              <a:buFont typeface="Arial" panose="020B0604020202020204" pitchFamily="34" charset="0"/>
              <a:buChar char="•"/>
            </a:pPr>
            <a:r>
              <a:rPr lang="en-US" sz="1800" dirty="0"/>
              <a:t>Grounding (they keep family ties strong)</a:t>
            </a:r>
          </a:p>
          <a:p>
            <a:pPr>
              <a:buFont typeface="+mj-lt"/>
              <a:buAutoNum type="arabicPeriod" startAt="2"/>
            </a:pPr>
            <a:r>
              <a:rPr lang="en-US" sz="1800" dirty="0"/>
              <a:t>"Alliance" captures:</a:t>
            </a:r>
          </a:p>
          <a:p>
            <a:pPr>
              <a:buFont typeface="Arial" panose="020B0604020202020204" pitchFamily="34" charset="0"/>
              <a:buChar char="•"/>
            </a:pPr>
            <a:r>
              <a:rPr lang="en-US" sz="1800" dirty="0"/>
              <a:t>The network aspect (family, friends, business connections)</a:t>
            </a:r>
          </a:p>
          <a:p>
            <a:pPr>
              <a:buFont typeface="Arial" panose="020B0604020202020204" pitchFamily="34" charset="0"/>
              <a:buChar char="•"/>
            </a:pPr>
            <a:r>
              <a:rPr lang="en-US" sz="1800" dirty="0"/>
              <a:t>Collaborative nature of their relationships</a:t>
            </a:r>
          </a:p>
          <a:p>
            <a:pPr>
              <a:buFont typeface="Arial" panose="020B0604020202020204" pitchFamily="34" charset="0"/>
              <a:buChar char="•"/>
            </a:pPr>
            <a:r>
              <a:rPr lang="en-US" sz="1800" dirty="0"/>
              <a:t>Formal and informal support systems</a:t>
            </a:r>
          </a:p>
          <a:p>
            <a:r>
              <a:rPr lang="en-US" sz="1800" dirty="0"/>
              <a:t>Together, "Anchor Alliance" and "Pravasi Pioneers" make a strong, complementary pair of segment names that tell a story about the interconnected nature of these two groups.</a:t>
            </a:r>
          </a:p>
          <a:p>
            <a:pPr marL="228600" indent="-228600">
              <a:buAutoNum type="arabicPeriod"/>
            </a:pPr>
            <a:endParaRPr lang="en-US" sz="1800" dirty="0"/>
          </a:p>
          <a:p>
            <a:pPr marL="228600" indent="-228600">
              <a:buAutoNum type="arabicPeriod"/>
            </a:pPr>
            <a:endParaRPr lang="en-IN" sz="1800" dirty="0"/>
          </a:p>
          <a:p>
            <a:endParaRPr lang="en-GB" sz="1800" b="0" i="0" kern="1200" dirty="0">
              <a:solidFill>
                <a:schemeClr val="tx1"/>
              </a:solidFill>
              <a:effectLst/>
              <a:latin typeface="+mn-lt"/>
              <a:ea typeface="+mn-ea"/>
              <a:cs typeface="+mn-cs"/>
            </a:endParaRPr>
          </a:p>
          <a:p>
            <a:r>
              <a:rPr lang="en-GB" sz="1800" b="0" i="0" kern="1200" dirty="0">
                <a:solidFill>
                  <a:schemeClr val="tx1"/>
                </a:solidFill>
                <a:effectLst/>
                <a:latin typeface="+mn-lt"/>
                <a:ea typeface="+mn-ea"/>
                <a:cs typeface="+mn-cs"/>
              </a:rPr>
              <a:t>Examples – Contextualised White Glove Service</a:t>
            </a:r>
            <a:endParaRPr lang="en-IN" dirty="0"/>
          </a:p>
        </p:txBody>
      </p:sp>
      <p:sp>
        <p:nvSpPr>
          <p:cNvPr id="4" name="Slide Number Placeholder 3">
            <a:extLst>
              <a:ext uri="{FF2B5EF4-FFF2-40B4-BE49-F238E27FC236}">
                <a16:creationId xmlns:a16="http://schemas.microsoft.com/office/drawing/2014/main" id="{58D03CA5-F326-10C5-D4F8-2C452FAC005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52636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2C755-CE42-6603-ED29-4B678C87F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A2BCF-4D7B-2CCF-509E-AD57F8B10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1025B-FAF4-A468-1561-F6E692F6668F}"/>
              </a:ext>
            </a:extLst>
          </p:cNvPr>
          <p:cNvSpPr>
            <a:spLocks noGrp="1"/>
          </p:cNvSpPr>
          <p:nvPr>
            <p:ph type="body" idx="1"/>
          </p:nvPr>
        </p:nvSpPr>
        <p:spPr/>
        <p:txBody>
          <a:bodyPr/>
          <a:lstStyle/>
          <a:p>
            <a:r>
              <a:rPr lang="en-US" dirty="0"/>
              <a:t>Four slides</a:t>
            </a:r>
          </a:p>
          <a:p>
            <a:pPr marL="0" marR="0" lvl="0" indent="0" algn="l" defTabSz="1371600" rtl="0" eaLnBrk="1" fontAlgn="auto" latinLnBrk="0" hangingPunct="1">
              <a:lnSpc>
                <a:spcPct val="100000"/>
              </a:lnSpc>
              <a:spcBef>
                <a:spcPts val="0"/>
              </a:spcBef>
              <a:spcAft>
                <a:spcPts val="0"/>
              </a:spcAft>
              <a:buClrTx/>
              <a:buSzTx/>
              <a:buFontTx/>
              <a:buNone/>
              <a:tabLst/>
              <a:defRPr/>
            </a:pPr>
            <a:r>
              <a:rPr lang="en-IN" dirty="0"/>
              <a:t>Content more for each</a:t>
            </a:r>
            <a:r>
              <a:rPr kumimoji="0" lang="en-US" sz="1800" b="0" i="0" u="none" strike="noStrike" kern="1200" cap="none" spc="0" normalizeH="0" baseline="0" noProof="0" dirty="0">
                <a:ln>
                  <a:noFill/>
                </a:ln>
                <a:solidFill>
                  <a:schemeClr val="bg2">
                    <a:lumMod val="50000"/>
                  </a:schemeClr>
                </a:solidFill>
                <a:effectLst/>
                <a:uLnTx/>
                <a:uFillTx/>
                <a:latin typeface="Hepta Slab Medium" pitchFamily="2" charset="0"/>
                <a:cs typeface="Hepta Slab Medium" pitchFamily="2" charset="0"/>
              </a:rPr>
              <a:t>Kotak certified premium influencers community that Privy League can tap into for verified curated content &amp; recommendations </a:t>
            </a:r>
          </a:p>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Hepta Slab Medium" pitchFamily="2" charset="0"/>
                <a:cs typeface="Hepta Slab Medium" pitchFamily="2" charset="0"/>
              </a:rPr>
              <a:t>– “Perceived Friction”</a:t>
            </a:r>
          </a:p>
          <a:p>
            <a:endParaRPr lang="en-IN" dirty="0"/>
          </a:p>
        </p:txBody>
      </p:sp>
      <p:sp>
        <p:nvSpPr>
          <p:cNvPr id="4" name="Slide Number Placeholder 3">
            <a:extLst>
              <a:ext uri="{FF2B5EF4-FFF2-40B4-BE49-F238E27FC236}">
                <a16:creationId xmlns:a16="http://schemas.microsoft.com/office/drawing/2014/main" id="{BFC00982-4C3D-3CB6-9ADB-1FF9E8DF267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72571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the best laid processes and journeys will fail</a:t>
            </a:r>
          </a:p>
          <a:p>
            <a:endParaRPr lang="en-US" dirty="0"/>
          </a:p>
          <a:p>
            <a:r>
              <a:rPr lang="en-US" dirty="0"/>
              <a:t>Not to </a:t>
            </a:r>
            <a:r>
              <a:rPr lang="en-US" dirty="0" err="1"/>
              <a:t>looase</a:t>
            </a:r>
            <a:r>
              <a:rPr lang="en-US" dirty="0"/>
              <a:t> </a:t>
            </a:r>
            <a:r>
              <a:rPr lang="en-US" dirty="0" err="1"/>
              <a:t>cistome</a:t>
            </a:r>
            <a:endParaRPr lang="en-US" dirty="0"/>
          </a:p>
          <a:p>
            <a:r>
              <a:rPr lang="en-US" dirty="0"/>
              <a:t>Positive word of mouth</a:t>
            </a:r>
          </a:p>
          <a:p>
            <a:r>
              <a:rPr lang="en-US" dirty="0"/>
              <a:t>Not loose </a:t>
            </a:r>
            <a:r>
              <a:rPr lang="en-US" dirty="0" err="1"/>
              <a:t>monet</a:t>
            </a:r>
            <a:endParaRPr lang="en-US" dirty="0"/>
          </a:p>
          <a:p>
            <a:r>
              <a:rPr lang="en-US" dirty="0"/>
              <a:t>Focusing on points of emotional arousal</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59143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24279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0A276-A6A1-A05E-C781-48D2CC60E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F30DC-DDF2-01FB-0251-7D5B07E45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C782A-173B-BC87-5788-7E50D4AC71B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DEF950-EBC3-85B6-468C-911C0E56E4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45DB18-7F1F-4988-B3DB-A1FCE00D4AD1}" type="slidenum">
              <a:rPr kumimoji="0" lang="en-IN" sz="1200" b="0" i="0" u="none" strike="noStrike" kern="1200" cap="none" spc="0" normalizeH="0" baseline="0" noProof="0" smtClean="0">
                <a:ln>
                  <a:noFill/>
                </a:ln>
                <a:solidFill>
                  <a:prstClr val="black"/>
                </a:solidFill>
                <a:effectLst/>
                <a:uLnTx/>
                <a:uFillTx/>
                <a:latin typeface="Montserrat Medium" panose="000006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IN" sz="1200" b="0" i="0" u="none" strike="noStrike" kern="1200" cap="none" spc="0" normalizeH="0" baseline="0" noProof="0">
              <a:ln>
                <a:noFill/>
              </a:ln>
              <a:solidFill>
                <a:prstClr val="black"/>
              </a:solidFill>
              <a:effectLst/>
              <a:uLnTx/>
              <a:uFillTx/>
              <a:latin typeface="Montserrat Medium" panose="00000600000000000000" pitchFamily="2" charset="0"/>
              <a:ea typeface="+mn-ea"/>
              <a:cs typeface="+mn-cs"/>
            </a:endParaRPr>
          </a:p>
        </p:txBody>
      </p:sp>
    </p:spTree>
    <p:extLst>
      <p:ext uri="{BB962C8B-B14F-4D97-AF65-F5344CB8AC3E}">
        <p14:creationId xmlns:p14="http://schemas.microsoft.com/office/powerpoint/2010/main" val="17180586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22C6C-AC46-9FA6-7B08-031529990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540FC-44A2-DD1F-37D0-5D87C8A7D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6B4E4-4063-B01E-1065-82B417975D0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817B65-DE5A-15D5-62B9-A289E530CC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45DB18-7F1F-4988-B3DB-A1FCE00D4AD1}" type="slidenum">
              <a:rPr kumimoji="0" lang="en-IN" sz="1200" b="0" i="0" u="none" strike="noStrike" kern="1200" cap="none" spc="0" normalizeH="0" baseline="0" noProof="0" smtClean="0">
                <a:ln>
                  <a:noFill/>
                </a:ln>
                <a:solidFill>
                  <a:prstClr val="black"/>
                </a:solidFill>
                <a:effectLst/>
                <a:uLnTx/>
                <a:uFillTx/>
                <a:latin typeface="Montserrat Medium" panose="000006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IN" sz="1200" b="0" i="0" u="none" strike="noStrike" kern="1200" cap="none" spc="0" normalizeH="0" baseline="0" noProof="0">
              <a:ln>
                <a:noFill/>
              </a:ln>
              <a:solidFill>
                <a:prstClr val="black"/>
              </a:solidFill>
              <a:effectLst/>
              <a:uLnTx/>
              <a:uFillTx/>
              <a:latin typeface="Montserrat Medium" panose="00000600000000000000" pitchFamily="2" charset="0"/>
              <a:ea typeface="+mn-ea"/>
              <a:cs typeface="+mn-cs"/>
            </a:endParaRPr>
          </a:p>
        </p:txBody>
      </p:sp>
    </p:spTree>
    <p:extLst>
      <p:ext uri="{BB962C8B-B14F-4D97-AF65-F5344CB8AC3E}">
        <p14:creationId xmlns:p14="http://schemas.microsoft.com/office/powerpoint/2010/main" val="4557054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B94B4-176A-A90B-F961-8E71B0E2E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504C0-ED69-58A6-7EAA-429534EFD9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682B9-92F6-0FDB-EE43-DDAD9E9027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C25A4F5-F7B7-DA62-6F74-29D43E159D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45DB18-7F1F-4988-B3DB-A1FCE00D4AD1}" type="slidenum">
              <a:rPr kumimoji="0" lang="en-IN" sz="1200" b="0" i="0" u="none" strike="noStrike" kern="1200" cap="none" spc="0" normalizeH="0" baseline="0" noProof="0" smtClean="0">
                <a:ln>
                  <a:noFill/>
                </a:ln>
                <a:solidFill>
                  <a:prstClr val="black"/>
                </a:solidFill>
                <a:effectLst/>
                <a:uLnTx/>
                <a:uFillTx/>
                <a:latin typeface="Montserrat Medium" panose="000006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IN" sz="1200" b="0" i="0" u="none" strike="noStrike" kern="1200" cap="none" spc="0" normalizeH="0" baseline="0" noProof="0">
              <a:ln>
                <a:noFill/>
              </a:ln>
              <a:solidFill>
                <a:prstClr val="black"/>
              </a:solidFill>
              <a:effectLst/>
              <a:uLnTx/>
              <a:uFillTx/>
              <a:latin typeface="Montserrat Medium" panose="00000600000000000000" pitchFamily="2" charset="0"/>
              <a:ea typeface="+mn-ea"/>
              <a:cs typeface="+mn-cs"/>
            </a:endParaRPr>
          </a:p>
        </p:txBody>
      </p:sp>
    </p:spTree>
    <p:extLst>
      <p:ext uri="{BB962C8B-B14F-4D97-AF65-F5344CB8AC3E}">
        <p14:creationId xmlns:p14="http://schemas.microsoft.com/office/powerpoint/2010/main" val="33159231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Context is key,</a:t>
            </a:r>
          </a:p>
          <a:p>
            <a:r>
              <a:rPr lang="en-GB" dirty="0"/>
              <a:t>Example – A young entrepreneur vs. youngster second gen managing family business – Could be the same business, same RV; but their decision making &amp; approach to finances will be different</a:t>
            </a:r>
          </a:p>
          <a:p>
            <a:r>
              <a:rPr lang="en-GB" dirty="0"/>
              <a:t>Consequently the experiences they seek will be different</a:t>
            </a:r>
          </a:p>
          <a:p>
            <a:r>
              <a:rPr lang="en-GB" dirty="0"/>
              <a:t>Autonomy in decision making, decision influencers, experiences – own as well as observed will all impact how they approach finance an</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5B87AE4-F067-450C-A473-8098A5E31CB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86</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94294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C6B69-705F-E348-4162-03AF86447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A2145-B96B-AB39-1B0B-2C5F583BC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1347E-85E9-F3FC-7992-6DBB39689ED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2B59725-4A46-4A5A-8004-C98FBF4B672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5B87AE4-F067-450C-A473-8098A5E31CB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87</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76021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8A1AD-148F-61AB-505A-5DA76404A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5F415-79CB-84DB-64A7-9080B2672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4C0EF-EB8D-8598-E98C-9D795BCB69C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107AFCC-C29D-9E04-5224-E77DBC0BADD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5B87AE4-F067-450C-A473-8098A5E31CB6}"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88</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34614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003D4-6A85-DA20-20AC-901B38BD1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2EAA5-CEB4-33CC-1DA8-FB84129B6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1BAD6-8A25-5123-EA45-B210FB0043B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5499E7-6937-19AF-4442-2100924AD5F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40090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EAC93-5E3B-4998-6EA3-AB20855A3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978C3-A0D2-E90E-73EE-BE9C853B2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E1C29-CF42-8853-15C3-73ABE65B5F50}"/>
              </a:ext>
            </a:extLst>
          </p:cNvPr>
          <p:cNvSpPr>
            <a:spLocks noGrp="1"/>
          </p:cNvSpPr>
          <p:nvPr>
            <p:ph type="body" idx="1"/>
          </p:nvPr>
        </p:nvSpPr>
        <p:spPr/>
        <p:txBody>
          <a:bodyPr/>
          <a:lstStyle/>
          <a:p>
            <a:endParaRPr lang="en-IN" dirty="0"/>
          </a:p>
          <a:p>
            <a:pPr>
              <a:spcAft>
                <a:spcPts val="1200"/>
              </a:spcAft>
            </a:pPr>
            <a:r>
              <a:rPr lang="en-IN" sz="1200" dirty="0">
                <a:solidFill>
                  <a:srgbClr val="A9734C"/>
                </a:solidFill>
                <a:latin typeface="Montserrat Medium" panose="00000600000000000000" pitchFamily="2" charset="0"/>
              </a:rPr>
              <a:t>Long standing history &amp; the personal connect drive a strong sense of </a:t>
            </a:r>
            <a:r>
              <a:rPr lang="en-IN" sz="1200" dirty="0">
                <a:solidFill>
                  <a:srgbClr val="3C2472"/>
                </a:solidFill>
                <a:latin typeface="Montserrat Medium" panose="00000600000000000000" pitchFamily="2" charset="0"/>
              </a:rPr>
              <a:t>Assurance</a:t>
            </a:r>
            <a:r>
              <a:rPr lang="en-IN" sz="1200" dirty="0">
                <a:solidFill>
                  <a:srgbClr val="A9734C"/>
                </a:solidFill>
                <a:latin typeface="Montserrat Medium" panose="00000600000000000000" pitchFamily="2" charset="0"/>
              </a:rPr>
              <a:t> </a:t>
            </a:r>
          </a:p>
          <a:p>
            <a:pPr>
              <a:spcAft>
                <a:spcPts val="1200"/>
              </a:spcAft>
            </a:pPr>
            <a:r>
              <a:rPr lang="en-IN" sz="1200" dirty="0">
                <a:solidFill>
                  <a:srgbClr val="A9734C"/>
                </a:solidFill>
                <a:latin typeface="Montserrat Medium" panose="00000600000000000000" pitchFamily="2" charset="0"/>
              </a:rPr>
              <a:t>“Relative” affluence drives a sense of </a:t>
            </a:r>
            <a:r>
              <a:rPr lang="en-IN" sz="1200" dirty="0">
                <a:solidFill>
                  <a:srgbClr val="3C2472"/>
                </a:solidFill>
                <a:latin typeface="Montserrat Medium" panose="00000600000000000000" pitchFamily="2" charset="0"/>
              </a:rPr>
              <a:t>prestige</a:t>
            </a:r>
          </a:p>
          <a:p>
            <a:pPr>
              <a:spcAft>
                <a:spcPts val="1200"/>
              </a:spcAft>
            </a:pPr>
            <a:r>
              <a:rPr lang="en-IN" sz="1200" dirty="0">
                <a:solidFill>
                  <a:srgbClr val="A9734C"/>
                </a:solidFill>
                <a:latin typeface="Montserrat Medium" panose="00000600000000000000" pitchFamily="2" charset="0"/>
              </a:rPr>
              <a:t>Digital forwardness of touchpoints &amp; process drives a perception of </a:t>
            </a:r>
            <a:r>
              <a:rPr lang="en-IN" sz="1200" dirty="0">
                <a:solidFill>
                  <a:srgbClr val="3C2472"/>
                </a:solidFill>
                <a:latin typeface="Montserrat Medium" panose="00000600000000000000" pitchFamily="2" charset="0"/>
              </a:rPr>
              <a:t>Innovation</a:t>
            </a:r>
            <a:r>
              <a:rPr lang="en-IN" sz="1200" dirty="0">
                <a:solidFill>
                  <a:srgbClr val="A9734C"/>
                </a:solidFill>
                <a:latin typeface="Montserrat Medium" panose="00000600000000000000" pitchFamily="2" charset="0"/>
              </a:rPr>
              <a:t> &amp; also builds higher </a:t>
            </a:r>
            <a:r>
              <a:rPr lang="en-IN" sz="1200" dirty="0">
                <a:solidFill>
                  <a:srgbClr val="3C2472"/>
                </a:solidFill>
                <a:latin typeface="Montserrat Medium" panose="00000600000000000000" pitchFamily="2" charset="0"/>
              </a:rPr>
              <a:t>relevance</a:t>
            </a:r>
            <a:r>
              <a:rPr lang="en-IN" sz="1200" dirty="0">
                <a:solidFill>
                  <a:srgbClr val="A9734C"/>
                </a:solidFill>
                <a:latin typeface="Montserrat Medium" panose="00000600000000000000" pitchFamily="2" charset="0"/>
              </a:rPr>
              <a:t> for the current customer</a:t>
            </a:r>
          </a:p>
          <a:p>
            <a:pPr>
              <a:spcAft>
                <a:spcPts val="1200"/>
              </a:spcAft>
            </a:pPr>
            <a:r>
              <a:rPr lang="en-IN" sz="1200" dirty="0">
                <a:solidFill>
                  <a:srgbClr val="A9734C"/>
                </a:solidFill>
                <a:latin typeface="Montserrat SemiBold" panose="00000700000000000000" pitchFamily="2" charset="0"/>
              </a:rPr>
              <a:t>Perceived</a:t>
            </a:r>
            <a:r>
              <a:rPr lang="en-IN" sz="1200" dirty="0">
                <a:solidFill>
                  <a:srgbClr val="A9734C"/>
                </a:solidFill>
                <a:latin typeface="Montserrat Medium" panose="00000600000000000000" pitchFamily="2" charset="0"/>
              </a:rPr>
              <a:t> </a:t>
            </a:r>
            <a:r>
              <a:rPr lang="en-IN" sz="1200" dirty="0">
                <a:solidFill>
                  <a:srgbClr val="A9734C"/>
                </a:solidFill>
                <a:latin typeface="Montserrat SemiBold" panose="00000700000000000000" pitchFamily="2" charset="0"/>
              </a:rPr>
              <a:t>lack</a:t>
            </a:r>
            <a:r>
              <a:rPr lang="en-IN" sz="1200" dirty="0">
                <a:solidFill>
                  <a:srgbClr val="A9734C"/>
                </a:solidFill>
                <a:latin typeface="Montserrat Medium" panose="00000600000000000000" pitchFamily="2" charset="0"/>
              </a:rPr>
              <a:t> of alignment with customers’ contexts , high </a:t>
            </a:r>
            <a:r>
              <a:rPr lang="en-IN" sz="1200" dirty="0">
                <a:solidFill>
                  <a:srgbClr val="A9734C"/>
                </a:solidFill>
                <a:latin typeface="Montserrat SemiBold" panose="00000700000000000000" pitchFamily="2" charset="0"/>
              </a:rPr>
              <a:t>perceived &amp; cognitive friction </a:t>
            </a:r>
            <a:r>
              <a:rPr lang="en-IN" sz="1200" dirty="0">
                <a:solidFill>
                  <a:srgbClr val="A9734C"/>
                </a:solidFill>
                <a:latin typeface="Montserrat Medium" panose="00000600000000000000" pitchFamily="2" charset="0"/>
              </a:rPr>
              <a:t>of engaging with “wealth management” and lifestyle benefits drives the </a:t>
            </a:r>
            <a:r>
              <a:rPr lang="en-IN" sz="1200" dirty="0">
                <a:solidFill>
                  <a:srgbClr val="A9734C"/>
                </a:solidFill>
                <a:latin typeface="Montserrat SemiBold" panose="00000700000000000000" pitchFamily="2" charset="0"/>
              </a:rPr>
              <a:t>weak associations with “Exclusivity”, “confidence”   </a:t>
            </a:r>
          </a:p>
          <a:p>
            <a:endParaRPr lang="en-IN" dirty="0"/>
          </a:p>
        </p:txBody>
      </p:sp>
      <p:sp>
        <p:nvSpPr>
          <p:cNvPr id="4" name="Slide Number Placeholder 3">
            <a:extLst>
              <a:ext uri="{FF2B5EF4-FFF2-40B4-BE49-F238E27FC236}">
                <a16:creationId xmlns:a16="http://schemas.microsoft.com/office/drawing/2014/main" id="{69D2E5EB-FC26-21F3-F99F-81006E4C89D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720850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2ED14-D9E7-81F2-3491-381D2FFD3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6A27D-3040-3409-D00E-4B64A7BBC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F764D-FE82-5F36-D6C0-A2F43406A839}"/>
              </a:ext>
            </a:extLst>
          </p:cNvPr>
          <p:cNvSpPr>
            <a:spLocks noGrp="1"/>
          </p:cNvSpPr>
          <p:nvPr>
            <p:ph type="body" idx="1"/>
          </p:nvPr>
        </p:nvSpPr>
        <p:spPr/>
        <p:txBody>
          <a:bodyPr/>
          <a:lstStyle/>
          <a:p>
            <a:r>
              <a:rPr lang="en-IN" dirty="0"/>
              <a:t>Put a brain</a:t>
            </a:r>
          </a:p>
          <a:p>
            <a:endParaRPr lang="en-IN" dirty="0"/>
          </a:p>
          <a:p>
            <a:pPr>
              <a:spcAft>
                <a:spcPts val="1200"/>
              </a:spcAft>
            </a:pPr>
            <a:r>
              <a:rPr lang="en-IN" sz="1200" dirty="0">
                <a:solidFill>
                  <a:srgbClr val="A9734C"/>
                </a:solidFill>
                <a:latin typeface="Montserrat Medium" panose="00000600000000000000" pitchFamily="2" charset="0"/>
              </a:rPr>
              <a:t>Long standing history &amp; the personal connect drive a strong sense of </a:t>
            </a:r>
            <a:r>
              <a:rPr lang="en-IN" sz="1200" dirty="0">
                <a:solidFill>
                  <a:srgbClr val="3C2472"/>
                </a:solidFill>
                <a:latin typeface="Montserrat Medium" panose="00000600000000000000" pitchFamily="2" charset="0"/>
              </a:rPr>
              <a:t>Assurance</a:t>
            </a:r>
            <a:r>
              <a:rPr lang="en-IN" sz="1200" dirty="0">
                <a:solidFill>
                  <a:srgbClr val="A9734C"/>
                </a:solidFill>
                <a:latin typeface="Montserrat Medium" panose="00000600000000000000" pitchFamily="2" charset="0"/>
              </a:rPr>
              <a:t> </a:t>
            </a:r>
          </a:p>
          <a:p>
            <a:pPr>
              <a:spcAft>
                <a:spcPts val="1200"/>
              </a:spcAft>
            </a:pPr>
            <a:r>
              <a:rPr lang="en-IN" sz="1200" dirty="0">
                <a:solidFill>
                  <a:srgbClr val="A9734C"/>
                </a:solidFill>
                <a:latin typeface="Montserrat Medium" panose="00000600000000000000" pitchFamily="2" charset="0"/>
              </a:rPr>
              <a:t>“Relative” affluence drives a sense of </a:t>
            </a:r>
            <a:r>
              <a:rPr lang="en-IN" sz="1200" dirty="0">
                <a:solidFill>
                  <a:srgbClr val="3C2472"/>
                </a:solidFill>
                <a:latin typeface="Montserrat Medium" panose="00000600000000000000" pitchFamily="2" charset="0"/>
              </a:rPr>
              <a:t>prestige</a:t>
            </a:r>
          </a:p>
          <a:p>
            <a:pPr>
              <a:spcAft>
                <a:spcPts val="1200"/>
              </a:spcAft>
            </a:pPr>
            <a:r>
              <a:rPr lang="en-IN" sz="1200" dirty="0">
                <a:solidFill>
                  <a:srgbClr val="A9734C"/>
                </a:solidFill>
                <a:latin typeface="Montserrat Medium" panose="00000600000000000000" pitchFamily="2" charset="0"/>
              </a:rPr>
              <a:t>Digital forwardness of touchpoints &amp; process drives a perception of </a:t>
            </a:r>
            <a:r>
              <a:rPr lang="en-IN" sz="1200" dirty="0">
                <a:solidFill>
                  <a:srgbClr val="3C2472"/>
                </a:solidFill>
                <a:latin typeface="Montserrat Medium" panose="00000600000000000000" pitchFamily="2" charset="0"/>
              </a:rPr>
              <a:t>Innovation</a:t>
            </a:r>
            <a:r>
              <a:rPr lang="en-IN" sz="1200" dirty="0">
                <a:solidFill>
                  <a:srgbClr val="A9734C"/>
                </a:solidFill>
                <a:latin typeface="Montserrat Medium" panose="00000600000000000000" pitchFamily="2" charset="0"/>
              </a:rPr>
              <a:t> &amp; also builds higher </a:t>
            </a:r>
            <a:r>
              <a:rPr lang="en-IN" sz="1200" dirty="0">
                <a:solidFill>
                  <a:srgbClr val="3C2472"/>
                </a:solidFill>
                <a:latin typeface="Montserrat Medium" panose="00000600000000000000" pitchFamily="2" charset="0"/>
              </a:rPr>
              <a:t>relevance</a:t>
            </a:r>
            <a:r>
              <a:rPr lang="en-IN" sz="1200" dirty="0">
                <a:solidFill>
                  <a:srgbClr val="A9734C"/>
                </a:solidFill>
                <a:latin typeface="Montserrat Medium" panose="00000600000000000000" pitchFamily="2" charset="0"/>
              </a:rPr>
              <a:t> for the current customer</a:t>
            </a:r>
          </a:p>
          <a:p>
            <a:pPr>
              <a:spcAft>
                <a:spcPts val="1200"/>
              </a:spcAft>
            </a:pPr>
            <a:r>
              <a:rPr lang="en-IN" sz="1200" dirty="0">
                <a:solidFill>
                  <a:srgbClr val="A9734C"/>
                </a:solidFill>
                <a:latin typeface="Montserrat SemiBold" panose="00000700000000000000" pitchFamily="2" charset="0"/>
              </a:rPr>
              <a:t>Perceived</a:t>
            </a:r>
            <a:r>
              <a:rPr lang="en-IN" sz="1200" dirty="0">
                <a:solidFill>
                  <a:srgbClr val="A9734C"/>
                </a:solidFill>
                <a:latin typeface="Montserrat Medium" panose="00000600000000000000" pitchFamily="2" charset="0"/>
              </a:rPr>
              <a:t> </a:t>
            </a:r>
            <a:r>
              <a:rPr lang="en-IN" sz="1200" dirty="0">
                <a:solidFill>
                  <a:srgbClr val="A9734C"/>
                </a:solidFill>
                <a:latin typeface="Montserrat SemiBold" panose="00000700000000000000" pitchFamily="2" charset="0"/>
              </a:rPr>
              <a:t>lack</a:t>
            </a:r>
            <a:r>
              <a:rPr lang="en-IN" sz="1200" dirty="0">
                <a:solidFill>
                  <a:srgbClr val="A9734C"/>
                </a:solidFill>
                <a:latin typeface="Montserrat Medium" panose="00000600000000000000" pitchFamily="2" charset="0"/>
              </a:rPr>
              <a:t> of alignment with customers’ contexts , high </a:t>
            </a:r>
            <a:r>
              <a:rPr lang="en-IN" sz="1200" dirty="0">
                <a:solidFill>
                  <a:srgbClr val="A9734C"/>
                </a:solidFill>
                <a:latin typeface="Montserrat SemiBold" panose="00000700000000000000" pitchFamily="2" charset="0"/>
              </a:rPr>
              <a:t>perceived &amp; cognitive friction </a:t>
            </a:r>
            <a:r>
              <a:rPr lang="en-IN" sz="1200" dirty="0">
                <a:solidFill>
                  <a:srgbClr val="A9734C"/>
                </a:solidFill>
                <a:latin typeface="Montserrat Medium" panose="00000600000000000000" pitchFamily="2" charset="0"/>
              </a:rPr>
              <a:t>of engaging with “wealth management” and lifestyle benefits drives the </a:t>
            </a:r>
            <a:r>
              <a:rPr lang="en-IN" sz="1200" dirty="0">
                <a:solidFill>
                  <a:srgbClr val="A9734C"/>
                </a:solidFill>
                <a:latin typeface="Montserrat SemiBold" panose="00000700000000000000" pitchFamily="2" charset="0"/>
              </a:rPr>
              <a:t>weak associations with “Exclusivity”, “confidence”   </a:t>
            </a:r>
          </a:p>
          <a:p>
            <a:endParaRPr lang="en-IN" dirty="0"/>
          </a:p>
        </p:txBody>
      </p:sp>
      <p:sp>
        <p:nvSpPr>
          <p:cNvPr id="4" name="Slide Number Placeholder 3">
            <a:extLst>
              <a:ext uri="{FF2B5EF4-FFF2-40B4-BE49-F238E27FC236}">
                <a16:creationId xmlns:a16="http://schemas.microsoft.com/office/drawing/2014/main" id="{4FC4C2B9-EB42-5F4F-B435-CBFACFA9A73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932632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87CB1-0F23-56E1-CE7E-A8D4AFFBC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30C69-02A8-11AE-D5AD-71DBF7267D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76B8C-5039-428A-9532-A6DEC1818F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3A88AA-35A2-A5AA-CBB8-E9188BD9E5F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2768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02D50-762C-A28A-F084-81535F7E7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9E7011-9F2B-9386-801F-D16DD28BD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BCD17-2FFB-9D23-9070-455F98C328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F73199C-A977-B089-0D97-AE8FC101EDE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186576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D828D-831C-1B96-2143-FB7C835B2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69D2A-E7D9-5941-D7ED-2EAFC5919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1DF6A-C303-8D17-0336-6D2627AA8D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93D2A3-5430-588E-0F49-49BD2B0ED03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65458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203A5-9807-757B-1F81-4C53BEA88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2885F-4C51-5435-12BA-67F7DCB4C7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FB298-EC79-7124-C647-182F297BD9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D66D60-D589-F8B9-7307-3EEAD679B4D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52719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615798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Federal Customer + Federal competitors data=165</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03262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one line descriptions from Hrishikesh’s file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09119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748736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 “Account Statements &amp; Reports” from this graph</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584710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 Account statement and reports from here</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637338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73857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one line descriptions from Hrishikesh’s file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754981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one line descriptions from Hrishikesh’s file </a:t>
            </a:r>
            <a:endParaRPr lang="en-IN" dirty="0"/>
          </a:p>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87856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694049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one line descriptions from Hrishikesh’s file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328838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one line descriptions from Hrishikesh’s file </a:t>
            </a:r>
            <a:endParaRPr lang="en-IN" dirty="0"/>
          </a:p>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730350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208180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one line descriptions from Hrishikesh’s file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348923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one line descriptions from Hrishikesh’s file </a:t>
            </a:r>
            <a:endParaRPr lang="en-IN" dirty="0"/>
          </a:p>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6AF7A-43AD-4463-BF1A-F91465FB326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06883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3716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1371600" rtl="0" eaLnBrk="1" fontAlgn="auto" latinLnBrk="0" hangingPunct="1">
                <a:lnSpc>
                  <a:spcPct val="100000"/>
                </a:lnSpc>
                <a:spcBef>
                  <a:spcPts val="0"/>
                </a:spcBef>
                <a:spcAft>
                  <a:spcPts val="0"/>
                </a:spcAft>
                <a:buClrTx/>
                <a:buSzTx/>
                <a:buFontTx/>
                <a:buNone/>
                <a:tabLst/>
                <a:defRPr/>
              </a:pPr>
              <a:t>112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FB3CE2-D897-46E6-A659-AEF98231FDD0}"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51344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06C9C4-A477-48D3-B864-8F01BEE544C9}"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507377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23" indent="0">
              <a:buNone/>
              <a:defRPr sz="2000">
                <a:solidFill>
                  <a:schemeClr val="tx1">
                    <a:tint val="75000"/>
                  </a:schemeClr>
                </a:solidFill>
              </a:defRPr>
            </a:lvl2pPr>
            <a:lvl3pPr marL="914446" indent="0">
              <a:buNone/>
              <a:defRPr sz="1800">
                <a:solidFill>
                  <a:schemeClr val="tx1">
                    <a:tint val="75000"/>
                  </a:schemeClr>
                </a:solidFill>
              </a:defRPr>
            </a:lvl3pPr>
            <a:lvl4pPr marL="1371669" indent="0">
              <a:buNone/>
              <a:defRPr sz="1600">
                <a:solidFill>
                  <a:schemeClr val="tx1">
                    <a:tint val="75000"/>
                  </a:schemeClr>
                </a:solidFill>
              </a:defRPr>
            </a:lvl4pPr>
            <a:lvl5pPr marL="1828891" indent="0">
              <a:buNone/>
              <a:defRPr sz="1600">
                <a:solidFill>
                  <a:schemeClr val="tx1">
                    <a:tint val="75000"/>
                  </a:schemeClr>
                </a:solidFill>
              </a:defRPr>
            </a:lvl5pPr>
            <a:lvl6pPr marL="2286114" indent="0">
              <a:buNone/>
              <a:defRPr sz="1600">
                <a:solidFill>
                  <a:schemeClr val="tx1">
                    <a:tint val="75000"/>
                  </a:schemeClr>
                </a:solidFill>
              </a:defRPr>
            </a:lvl6pPr>
            <a:lvl7pPr marL="2743337" indent="0">
              <a:buNone/>
              <a:defRPr sz="1600">
                <a:solidFill>
                  <a:schemeClr val="tx1">
                    <a:tint val="75000"/>
                  </a:schemeClr>
                </a:solidFill>
              </a:defRPr>
            </a:lvl7pPr>
            <a:lvl8pPr marL="3200560" indent="0">
              <a:buNone/>
              <a:defRPr sz="1600">
                <a:solidFill>
                  <a:schemeClr val="tx1">
                    <a:tint val="75000"/>
                  </a:schemeClr>
                </a:solidFill>
              </a:defRPr>
            </a:lvl8pPr>
            <a:lvl9pPr marL="365778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446FA4-86B2-4A2A-BE83-253EEE2EA43B}"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3560264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E4762-D3A3-4374-8FFA-D81F250E86E1}" type="datetime1">
              <a:rPr lang="en-IN" smtClean="0"/>
              <a:t>20-02-2025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095139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23" indent="0">
              <a:buNone/>
              <a:defRPr sz="2000" b="1"/>
            </a:lvl2pPr>
            <a:lvl3pPr marL="914446" indent="0">
              <a:buNone/>
              <a:defRPr sz="1800" b="1"/>
            </a:lvl3pPr>
            <a:lvl4pPr marL="1371669" indent="0">
              <a:buNone/>
              <a:defRPr sz="1600" b="1"/>
            </a:lvl4pPr>
            <a:lvl5pPr marL="1828891" indent="0">
              <a:buNone/>
              <a:defRPr sz="1600" b="1"/>
            </a:lvl5pPr>
            <a:lvl6pPr marL="2286114" indent="0">
              <a:buNone/>
              <a:defRPr sz="1600" b="1"/>
            </a:lvl6pPr>
            <a:lvl7pPr marL="2743337" indent="0">
              <a:buNone/>
              <a:defRPr sz="1600" b="1"/>
            </a:lvl7pPr>
            <a:lvl8pPr marL="3200560" indent="0">
              <a:buNone/>
              <a:defRPr sz="1600" b="1"/>
            </a:lvl8pPr>
            <a:lvl9pPr marL="3657783"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23" indent="0">
              <a:buNone/>
              <a:defRPr sz="2000" b="1"/>
            </a:lvl2pPr>
            <a:lvl3pPr marL="914446" indent="0">
              <a:buNone/>
              <a:defRPr sz="1800" b="1"/>
            </a:lvl3pPr>
            <a:lvl4pPr marL="1371669" indent="0">
              <a:buNone/>
              <a:defRPr sz="1600" b="1"/>
            </a:lvl4pPr>
            <a:lvl5pPr marL="1828891" indent="0">
              <a:buNone/>
              <a:defRPr sz="1600" b="1"/>
            </a:lvl5pPr>
            <a:lvl6pPr marL="2286114" indent="0">
              <a:buNone/>
              <a:defRPr sz="1600" b="1"/>
            </a:lvl6pPr>
            <a:lvl7pPr marL="2743337" indent="0">
              <a:buNone/>
              <a:defRPr sz="1600" b="1"/>
            </a:lvl7pPr>
            <a:lvl8pPr marL="3200560" indent="0">
              <a:buNone/>
              <a:defRPr sz="1600" b="1"/>
            </a:lvl8pPr>
            <a:lvl9pPr marL="365778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235F2D-CDF2-444F-921C-CA96C69FA742}" type="datetime1">
              <a:rPr lang="en-IN" smtClean="0"/>
              <a:t>20-02-2025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3944259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8B4C23-21B1-4A9A-9374-C0B9CC1E6585}" type="datetime1">
              <a:rPr lang="en-IN" smtClean="0"/>
              <a:t>20-02-2025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047685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76A1B5-14A5-4995-89B9-8DFBBF626487}" type="datetime1">
              <a:rPr lang="en-IN" smtClean="0"/>
              <a:t>20-02-2025</a:t>
            </a:fld>
            <a:endParaRPr lang="en-IN"/>
          </a:p>
        </p:txBody>
      </p:sp>
      <p:sp>
        <p:nvSpPr>
          <p:cNvPr id="3" name="Footer Placeholder 2"/>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05950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23" indent="0">
              <a:buNone/>
              <a:defRPr sz="1400"/>
            </a:lvl2pPr>
            <a:lvl3pPr marL="914446" indent="0">
              <a:buNone/>
              <a:defRPr sz="1200"/>
            </a:lvl3pPr>
            <a:lvl4pPr marL="1371669" indent="0">
              <a:buNone/>
              <a:defRPr sz="1000"/>
            </a:lvl4pPr>
            <a:lvl5pPr marL="1828891" indent="0">
              <a:buNone/>
              <a:defRPr sz="1000"/>
            </a:lvl5pPr>
            <a:lvl6pPr marL="2286114" indent="0">
              <a:buNone/>
              <a:defRPr sz="1000"/>
            </a:lvl6pPr>
            <a:lvl7pPr marL="2743337" indent="0">
              <a:buNone/>
              <a:defRPr sz="1000"/>
            </a:lvl7pPr>
            <a:lvl8pPr marL="3200560" indent="0">
              <a:buNone/>
              <a:defRPr sz="1000"/>
            </a:lvl8pPr>
            <a:lvl9pPr marL="365778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EBF4B67-206B-4EF4-B150-C02B0F38B237}" type="datetime1">
              <a:rPr lang="en-IN" smtClean="0"/>
              <a:t>20-02-2025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396411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23" indent="0">
              <a:buNone/>
              <a:defRPr sz="1400"/>
            </a:lvl2pPr>
            <a:lvl3pPr marL="914446" indent="0">
              <a:buNone/>
              <a:defRPr sz="1200"/>
            </a:lvl3pPr>
            <a:lvl4pPr marL="1371669" indent="0">
              <a:buNone/>
              <a:defRPr sz="1000"/>
            </a:lvl4pPr>
            <a:lvl5pPr marL="1828891" indent="0">
              <a:buNone/>
              <a:defRPr sz="1000"/>
            </a:lvl5pPr>
            <a:lvl6pPr marL="2286114" indent="0">
              <a:buNone/>
              <a:defRPr sz="1000"/>
            </a:lvl6pPr>
            <a:lvl7pPr marL="2743337" indent="0">
              <a:buNone/>
              <a:defRPr sz="1000"/>
            </a:lvl7pPr>
            <a:lvl8pPr marL="3200560" indent="0">
              <a:buNone/>
              <a:defRPr sz="1000"/>
            </a:lvl8pPr>
            <a:lvl9pPr marL="365778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0FDC79-4017-4D16-9028-81EA71D6A9E6}" type="datetime1">
              <a:rPr lang="en-IN" smtClean="0"/>
              <a:t>20-02-2025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3439565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968E6C-3901-4CBC-BCDC-E10F50DFC7D7}"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80945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A670C-5A78-4406-B12A-C2E58E11391C}"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197194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rgbClr val="3C247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352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1772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838200" y="2235200"/>
            <a:ext cx="9144000" cy="2387600"/>
          </a:xfrm>
        </p:spPr>
        <p:txBody>
          <a:bodyPr anchor="b"/>
          <a:lstStyle>
            <a:lvl1pPr algn="l">
              <a:defRPr sz="6000">
                <a:solidFill>
                  <a:srgbClr val="002060"/>
                </a:solidFill>
                <a:latin typeface="Hepta Slab Light" pitchFamily="2" charset="0"/>
                <a:cs typeface="Hepta Slab Light" pitchFamily="2" charset="0"/>
              </a:defRPr>
            </a:lvl1pPr>
          </a:lstStyle>
          <a:p>
            <a:r>
              <a:rPr lang="en-US" dirty="0"/>
              <a:t>Click to edit</a:t>
            </a:r>
            <a:br>
              <a:rPr lang="en-US" dirty="0"/>
            </a:br>
            <a:r>
              <a:rPr lang="en-US" dirty="0"/>
              <a:t>Master title style</a:t>
            </a:r>
          </a:p>
        </p:txBody>
      </p:sp>
      <p:sp>
        <p:nvSpPr>
          <p:cNvPr id="4" name="Date Placeholder 3"/>
          <p:cNvSpPr>
            <a:spLocks noGrp="1"/>
          </p:cNvSpPr>
          <p:nvPr>
            <p:ph type="dt" sz="half" idx="10"/>
          </p:nvPr>
        </p:nvSpPr>
        <p:spPr/>
        <p:txBody>
          <a:bodyPr/>
          <a:lstStyle/>
          <a:p>
            <a:fld id="{92FE26DD-7658-4D85-B4B4-C741F0D02417}"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3556526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p:nvPr>
        </p:nvSpPr>
        <p:spPr/>
        <p:txBody>
          <a:bodyPr/>
          <a:lstStyle>
            <a:lvl1pPr marL="0" indent="0">
              <a:buNone/>
              <a:defRPr sz="1800">
                <a:solidFill>
                  <a:srgbClr val="002060"/>
                </a:solidFill>
                <a:latin typeface="Montserrat Medium" pitchFamily="2" charset="0"/>
                <a:cs typeface="Hepta Slab Regular" pitchFamily="2" charset="0"/>
              </a:defRPr>
            </a:lvl1pPr>
            <a:lvl2pPr marL="457223" indent="0">
              <a:buNone/>
              <a:defRPr sz="1200">
                <a:solidFill>
                  <a:srgbClr val="A9734C"/>
                </a:solidFill>
                <a:latin typeface="Montserrat Medium" pitchFamily="2" charset="0"/>
              </a:defRPr>
            </a:lvl2pPr>
            <a:lvl3pPr>
              <a:defRPr>
                <a:solidFill>
                  <a:srgbClr val="7030A0"/>
                </a:solidFill>
                <a:latin typeface="Montserrat" pitchFamily="2" charset="0"/>
              </a:defRPr>
            </a:lvl3pPr>
            <a:lvl4pPr>
              <a:defRPr>
                <a:solidFill>
                  <a:srgbClr val="7030A0"/>
                </a:solidFill>
                <a:latin typeface="Montserrat" pitchFamily="2" charset="0"/>
              </a:defRPr>
            </a:lvl4pPr>
            <a:lvl5pPr>
              <a:defRPr>
                <a:solidFill>
                  <a:srgbClr val="7030A0"/>
                </a:solidFill>
                <a:latin typeface="Montserrat" pitchFamily="2" charset="0"/>
              </a:defRPr>
            </a:lvl5pPr>
          </a:lstStyle>
          <a:p>
            <a:pPr lvl="0"/>
            <a:r>
              <a:rPr lang="en-US" dirty="0"/>
              <a:t>Click to edit Master text styles</a:t>
            </a:r>
          </a:p>
          <a:p>
            <a:pPr lvl="1"/>
            <a:r>
              <a:rPr lang="en-US" dirty="0"/>
              <a:t>Second level</a:t>
            </a:r>
          </a:p>
        </p:txBody>
      </p:sp>
      <p:sp>
        <p:nvSpPr>
          <p:cNvPr id="4" name="Date Placeholder 3"/>
          <p:cNvSpPr>
            <a:spLocks noGrp="1"/>
          </p:cNvSpPr>
          <p:nvPr>
            <p:ph type="dt" sz="half" idx="10"/>
          </p:nvPr>
        </p:nvSpPr>
        <p:spPr/>
        <p:txBody>
          <a:bodyPr/>
          <a:lstStyle/>
          <a:p>
            <a:fld id="{F85310EF-103C-4ED2-856C-D181BC83B8ED}"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3759355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709739"/>
            <a:ext cx="10515600" cy="2852737"/>
          </a:xfrm>
        </p:spPr>
        <p:txBody>
          <a:bodyPr anchor="b"/>
          <a:lstStyle>
            <a:lvl1pPr>
              <a:defRPr sz="6000"/>
            </a:lvl1pPr>
          </a:lstStyle>
          <a:p>
            <a:r>
              <a:rPr lang="en-US" dirty="0"/>
              <a:t>Click to edit</a:t>
            </a:r>
            <a:br>
              <a:rPr lang="en-US" dirty="0"/>
            </a:br>
            <a:r>
              <a:rPr lang="en-US" dirty="0"/>
              <a:t>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23" indent="0">
              <a:buNone/>
              <a:defRPr sz="2000">
                <a:solidFill>
                  <a:schemeClr val="tx1">
                    <a:tint val="75000"/>
                  </a:schemeClr>
                </a:solidFill>
              </a:defRPr>
            </a:lvl2pPr>
            <a:lvl3pPr marL="914446" indent="0">
              <a:buNone/>
              <a:defRPr sz="1800">
                <a:solidFill>
                  <a:schemeClr val="tx1">
                    <a:tint val="75000"/>
                  </a:schemeClr>
                </a:solidFill>
              </a:defRPr>
            </a:lvl3pPr>
            <a:lvl4pPr marL="1371669" indent="0">
              <a:buNone/>
              <a:defRPr sz="1600">
                <a:solidFill>
                  <a:schemeClr val="tx1">
                    <a:tint val="75000"/>
                  </a:schemeClr>
                </a:solidFill>
              </a:defRPr>
            </a:lvl4pPr>
            <a:lvl5pPr marL="1828891" indent="0">
              <a:buNone/>
              <a:defRPr sz="1600">
                <a:solidFill>
                  <a:schemeClr val="tx1">
                    <a:tint val="75000"/>
                  </a:schemeClr>
                </a:solidFill>
              </a:defRPr>
            </a:lvl5pPr>
            <a:lvl6pPr marL="2286114" indent="0">
              <a:buNone/>
              <a:defRPr sz="1600">
                <a:solidFill>
                  <a:schemeClr val="tx1">
                    <a:tint val="75000"/>
                  </a:schemeClr>
                </a:solidFill>
              </a:defRPr>
            </a:lvl6pPr>
            <a:lvl7pPr marL="2743337" indent="0">
              <a:buNone/>
              <a:defRPr sz="1600">
                <a:solidFill>
                  <a:schemeClr val="tx1">
                    <a:tint val="75000"/>
                  </a:schemeClr>
                </a:solidFill>
              </a:defRPr>
            </a:lvl7pPr>
            <a:lvl8pPr marL="3200560" indent="0">
              <a:buNone/>
              <a:defRPr sz="1600">
                <a:solidFill>
                  <a:schemeClr val="tx1">
                    <a:tint val="75000"/>
                  </a:schemeClr>
                </a:solidFill>
              </a:defRPr>
            </a:lvl8pPr>
            <a:lvl9pPr marL="3657783"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EC46AE-92A4-40BA-81C8-93B6C217867A}"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714584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6"/>
            <a:ext cx="5181600" cy="4351338"/>
          </a:xfrm>
        </p:spPr>
        <p:txBody>
          <a:bodyPr/>
          <a:lstStyle/>
          <a:p>
            <a:pPr lvl="0"/>
            <a:r>
              <a:rPr lang="en-US" dirty="0"/>
              <a:t>Click to edit Master text styles</a:t>
            </a:r>
          </a:p>
          <a:p>
            <a:pPr lvl="1"/>
            <a:r>
              <a:rPr lang="en-US" dirty="0"/>
              <a:t>Second level</a:t>
            </a:r>
          </a:p>
        </p:txBody>
      </p:sp>
      <p:sp>
        <p:nvSpPr>
          <p:cNvPr id="4" name="Content Placeholder 3"/>
          <p:cNvSpPr>
            <a:spLocks noGrp="1"/>
          </p:cNvSpPr>
          <p:nvPr>
            <p:ph sz="half" idx="2"/>
          </p:nvPr>
        </p:nvSpPr>
        <p:spPr>
          <a:xfrm>
            <a:off x="6172200" y="1825626"/>
            <a:ext cx="5181600" cy="4351338"/>
          </a:xfrm>
        </p:spPr>
        <p:txBody>
          <a:bodyPr/>
          <a:lstStyle/>
          <a:p>
            <a:pPr lvl="0"/>
            <a:r>
              <a:rPr lang="en-US" dirty="0"/>
              <a:t>Click to edit Master text styles</a:t>
            </a:r>
          </a:p>
          <a:p>
            <a:pPr lvl="1"/>
            <a:r>
              <a:rPr lang="en-US" dirty="0"/>
              <a:t>Second level</a:t>
            </a:r>
          </a:p>
        </p:txBody>
      </p:sp>
      <p:sp>
        <p:nvSpPr>
          <p:cNvPr id="5" name="Date Placeholder 4"/>
          <p:cNvSpPr>
            <a:spLocks noGrp="1"/>
          </p:cNvSpPr>
          <p:nvPr>
            <p:ph type="dt" sz="half" idx="10"/>
          </p:nvPr>
        </p:nvSpPr>
        <p:spPr/>
        <p:txBody>
          <a:bodyPr/>
          <a:lstStyle/>
          <a:p>
            <a:fld id="{5572EB82-27F1-4AF3-A5D8-846CF1EF5057}" type="datetime1">
              <a:rPr lang="en-IN" smtClean="0"/>
              <a:t>20-02-2025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1112749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23" indent="0">
              <a:buNone/>
              <a:defRPr sz="2000" b="1"/>
            </a:lvl2pPr>
            <a:lvl3pPr marL="914446" indent="0">
              <a:buNone/>
              <a:defRPr sz="1800" b="1"/>
            </a:lvl3pPr>
            <a:lvl4pPr marL="1371669" indent="0">
              <a:buNone/>
              <a:defRPr sz="1600" b="1"/>
            </a:lvl4pPr>
            <a:lvl5pPr marL="1828891" indent="0">
              <a:buNone/>
              <a:defRPr sz="1600" b="1"/>
            </a:lvl5pPr>
            <a:lvl6pPr marL="2286114" indent="0">
              <a:buNone/>
              <a:defRPr sz="1600" b="1"/>
            </a:lvl6pPr>
            <a:lvl7pPr marL="2743337" indent="0">
              <a:buNone/>
              <a:defRPr sz="1600" b="1"/>
            </a:lvl7pPr>
            <a:lvl8pPr marL="3200560" indent="0">
              <a:buNone/>
              <a:defRPr sz="1600" b="1"/>
            </a:lvl8pPr>
            <a:lvl9pPr marL="3657783"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23" indent="0">
              <a:buNone/>
              <a:defRPr sz="2000" b="1"/>
            </a:lvl2pPr>
            <a:lvl3pPr marL="914446" indent="0">
              <a:buNone/>
              <a:defRPr sz="1800" b="1"/>
            </a:lvl3pPr>
            <a:lvl4pPr marL="1371669" indent="0">
              <a:buNone/>
              <a:defRPr sz="1600" b="1"/>
            </a:lvl4pPr>
            <a:lvl5pPr marL="1828891" indent="0">
              <a:buNone/>
              <a:defRPr sz="1600" b="1"/>
            </a:lvl5pPr>
            <a:lvl6pPr marL="2286114" indent="0">
              <a:buNone/>
              <a:defRPr sz="1600" b="1"/>
            </a:lvl6pPr>
            <a:lvl7pPr marL="2743337" indent="0">
              <a:buNone/>
              <a:defRPr sz="1600" b="1"/>
            </a:lvl7pPr>
            <a:lvl8pPr marL="3200560" indent="0">
              <a:buNone/>
              <a:defRPr sz="1600" b="1"/>
            </a:lvl8pPr>
            <a:lvl9pPr marL="365778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BF1CD8-7A35-4020-815A-324414EC0F0A}" type="datetime1">
              <a:rPr lang="en-IN" smtClean="0"/>
              <a:t>20-02-2025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0839666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CE03E1-F0A9-4667-BABF-A01B58296BD4}" type="datetime1">
              <a:rPr lang="en-IN" smtClean="0"/>
              <a:t>20-02-2025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9522094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dirty="0"/>
          </a:p>
        </p:txBody>
      </p:sp>
    </p:spTree>
    <p:extLst>
      <p:ext uri="{BB962C8B-B14F-4D97-AF65-F5344CB8AC3E}">
        <p14:creationId xmlns:p14="http://schemas.microsoft.com/office/powerpoint/2010/main" val="31606901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23" indent="0">
              <a:buNone/>
              <a:defRPr sz="1400"/>
            </a:lvl2pPr>
            <a:lvl3pPr marL="914446" indent="0">
              <a:buNone/>
              <a:defRPr sz="1200"/>
            </a:lvl3pPr>
            <a:lvl4pPr marL="1371669" indent="0">
              <a:buNone/>
              <a:defRPr sz="1000"/>
            </a:lvl4pPr>
            <a:lvl5pPr marL="1828891" indent="0">
              <a:buNone/>
              <a:defRPr sz="1000"/>
            </a:lvl5pPr>
            <a:lvl6pPr marL="2286114" indent="0">
              <a:buNone/>
              <a:defRPr sz="1000"/>
            </a:lvl6pPr>
            <a:lvl7pPr marL="2743337" indent="0">
              <a:buNone/>
              <a:defRPr sz="1000"/>
            </a:lvl7pPr>
            <a:lvl8pPr marL="3200560" indent="0">
              <a:buNone/>
              <a:defRPr sz="1000"/>
            </a:lvl8pPr>
            <a:lvl9pPr marL="365778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BA2BB8-5174-4A4E-A994-67FDB1A72993}" type="datetime1">
              <a:rPr lang="en-IN" smtClean="0"/>
              <a:t>20-02-2025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33936941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23" indent="0">
              <a:buNone/>
              <a:defRPr sz="1400"/>
            </a:lvl2pPr>
            <a:lvl3pPr marL="914446" indent="0">
              <a:buNone/>
              <a:defRPr sz="1200"/>
            </a:lvl3pPr>
            <a:lvl4pPr marL="1371669" indent="0">
              <a:buNone/>
              <a:defRPr sz="1000"/>
            </a:lvl4pPr>
            <a:lvl5pPr marL="1828891" indent="0">
              <a:buNone/>
              <a:defRPr sz="1000"/>
            </a:lvl5pPr>
            <a:lvl6pPr marL="2286114" indent="0">
              <a:buNone/>
              <a:defRPr sz="1000"/>
            </a:lvl6pPr>
            <a:lvl7pPr marL="2743337" indent="0">
              <a:buNone/>
              <a:defRPr sz="1000"/>
            </a:lvl7pPr>
            <a:lvl8pPr marL="3200560" indent="0">
              <a:buNone/>
              <a:defRPr sz="1000"/>
            </a:lvl8pPr>
            <a:lvl9pPr marL="365778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DC68F8-ABD5-41F8-96F7-929DAE6291B7}" type="datetime1">
              <a:rPr lang="en-IN" smtClean="0"/>
              <a:t>20-02-2025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4262414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3pPr marL="914446" indent="0">
              <a:buNone/>
              <a:defRPr/>
            </a:lvl3pPr>
          </a:lstStyle>
          <a:p>
            <a:pPr lvl="0"/>
            <a:r>
              <a:rPr lang="en-US" dirty="0"/>
              <a:t>Click to edit Master text styles</a:t>
            </a:r>
          </a:p>
          <a:p>
            <a:pPr lvl="1"/>
            <a:r>
              <a:rPr lang="en-US" dirty="0"/>
              <a:t>Second level</a:t>
            </a:r>
          </a:p>
        </p:txBody>
      </p:sp>
      <p:sp>
        <p:nvSpPr>
          <p:cNvPr id="4" name="Date Placeholder 3"/>
          <p:cNvSpPr>
            <a:spLocks noGrp="1"/>
          </p:cNvSpPr>
          <p:nvPr>
            <p:ph type="dt" sz="half" idx="10"/>
          </p:nvPr>
        </p:nvSpPr>
        <p:spPr/>
        <p:txBody>
          <a:bodyPr/>
          <a:lstStyle/>
          <a:p>
            <a:fld id="{9AC8126B-B844-45F6-B93B-59C580C9257F}"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650822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6"/>
            <a:ext cx="7734300" cy="5811838"/>
          </a:xfrm>
        </p:spPr>
        <p:txBody>
          <a:bodyPr vert="eaVert"/>
          <a:lstStyle>
            <a:lvl2pPr>
              <a:defRPr/>
            </a:lvl2pPr>
          </a:lstStyle>
          <a:p>
            <a:pPr lvl="0"/>
            <a:r>
              <a:rPr lang="en-US" dirty="0"/>
              <a:t>Click to edit Master text styles</a:t>
            </a:r>
          </a:p>
          <a:p>
            <a:pPr lvl="1"/>
            <a:r>
              <a:rPr lang="en-US" dirty="0"/>
              <a:t>Second level</a:t>
            </a:r>
          </a:p>
        </p:txBody>
      </p:sp>
      <p:sp>
        <p:nvSpPr>
          <p:cNvPr id="4" name="Date Placeholder 3"/>
          <p:cNvSpPr>
            <a:spLocks noGrp="1"/>
          </p:cNvSpPr>
          <p:nvPr>
            <p:ph type="dt" sz="half" idx="10"/>
          </p:nvPr>
        </p:nvSpPr>
        <p:spPr/>
        <p:txBody>
          <a:bodyPr/>
          <a:lstStyle/>
          <a:p>
            <a:fld id="{EB3F06B9-D496-4858-883B-DCCDD167E879}" type="datetime1">
              <a:rPr lang="en-IN" smtClean="0"/>
              <a:t>20-02-2025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5811838"/>
            <a:ext cx="2743200" cy="365125"/>
          </a:xfrm>
          <a:prstGeom prst="rect">
            <a:avLst/>
          </a:prstGeom>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046156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980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512C49-692E-4AE2-8A87-440608DC28E7}" type="datetime1">
              <a:rPr lang="en-IN" smtClean="0"/>
              <a:t>20-02-2025</a:t>
            </a:fld>
            <a:endParaRPr lang="en-IN"/>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704C8A-2079-32B1-1D94-572F35E31B0D}"/>
              </a:ext>
            </a:extLst>
          </p:cNvPr>
          <p:cNvSpPr>
            <a:spLocks noGrp="1"/>
          </p:cNvSpPr>
          <p:nvPr>
            <p:ph type="sldNum" sz="quarter" idx="4"/>
          </p:nvPr>
        </p:nvSpPr>
        <p:spPr>
          <a:xfrm>
            <a:off x="9112800" y="5811838"/>
            <a:ext cx="2743200" cy="365125"/>
          </a:xfrm>
          <a:prstGeom prst="rect">
            <a:avLst/>
          </a:prstGeom>
        </p:spPr>
        <p:txBody>
          <a:bodyPr vert="horz" lIns="91440" tIns="45720" rIns="91440" bIns="45720" rtlCol="0" anchor="ctr"/>
          <a:lstStyle>
            <a:lvl1pPr algn="r">
              <a:defRPr sz="1067">
                <a:solidFill>
                  <a:schemeClr val="bg1">
                    <a:lumMod val="65000"/>
                  </a:schemeClr>
                </a:solidFill>
                <a:latin typeface="Montserrat Medium" pitchFamily="2" charset="0"/>
              </a:defRPr>
            </a:lvl1pPr>
          </a:lstStyle>
          <a:p>
            <a:fld id="{2E77FD56-9AB9-469B-B0A0-842CB0926B3C}" type="slidenum">
              <a:rPr lang="en-IN" smtClean="0"/>
              <a:pPr/>
              <a:t>‹#›</a:t>
            </a:fld>
            <a:endParaRPr lang="en-IN" dirty="0"/>
          </a:p>
        </p:txBody>
      </p:sp>
      <p:pic>
        <p:nvPicPr>
          <p:cNvPr id="8" name="Picture 7">
            <a:extLst>
              <a:ext uri="{FF2B5EF4-FFF2-40B4-BE49-F238E27FC236}">
                <a16:creationId xmlns:a16="http://schemas.microsoft.com/office/drawing/2014/main" id="{18E86DB7-C1B3-0717-7B40-428C11669D30}"/>
              </a:ext>
            </a:extLst>
          </p:cNvPr>
          <p:cNvPicPr>
            <a:picLocks noChangeAspect="1"/>
          </p:cNvPicPr>
          <p:nvPr userDrawn="1"/>
        </p:nvPicPr>
        <p:blipFill>
          <a:blip r:embed="rId15"/>
          <a:stretch>
            <a:fillRect/>
          </a:stretch>
        </p:blipFill>
        <p:spPr>
          <a:xfrm>
            <a:off x="2531856" y="6346872"/>
            <a:ext cx="371888" cy="384081"/>
          </a:xfrm>
          <a:prstGeom prst="rect">
            <a:avLst/>
          </a:prstGeom>
        </p:spPr>
      </p:pic>
    </p:spTree>
    <p:extLst>
      <p:ext uri="{BB962C8B-B14F-4D97-AF65-F5344CB8AC3E}">
        <p14:creationId xmlns:p14="http://schemas.microsoft.com/office/powerpoint/2010/main" val="571262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745" r:id="rId12"/>
    <p:sldLayoutId id="2147483746" r:id="rId13"/>
  </p:sldLayoutIdLst>
  <p:hf hdr="0" ftr="0" dt="0"/>
  <p:txStyles>
    <p:titleStyle>
      <a:lvl1pPr algn="l" defTabSz="914446" rtl="0" eaLnBrk="1" latinLnBrk="0" hangingPunct="1">
        <a:lnSpc>
          <a:spcPct val="90000"/>
        </a:lnSpc>
        <a:spcBef>
          <a:spcPct val="0"/>
        </a:spcBef>
        <a:buNone/>
        <a:defRPr sz="4400" kern="1200">
          <a:solidFill>
            <a:schemeClr val="tx1"/>
          </a:solidFill>
          <a:latin typeface="Hepta Slab Bold" pitchFamily="2" charset="0"/>
          <a:ea typeface="+mj-ea"/>
          <a:cs typeface="Hepta Slab Bold" pitchFamily="2" charset="0"/>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ontserrat SemiBold" panose="00000700000000000000" pitchFamily="2" charset="0"/>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ontserrat Medium" panose="00000600000000000000" pitchFamily="2" charset="0"/>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ontserrat Medium" panose="00000600000000000000" pitchFamily="2" charset="0"/>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ontserrat Medium" panose="00000600000000000000" pitchFamily="2" charset="0"/>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ontserrat Medium" panose="00000600000000000000" pitchFamily="2" charset="0"/>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3E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Heading</a:t>
            </a:r>
          </a:p>
        </p:txBody>
      </p:sp>
      <p:sp>
        <p:nvSpPr>
          <p:cNvPr id="3" name="Text Placeholder 2"/>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3CC45B-F9D1-428E-A349-CB6F205AA1EC}" type="datetime1">
              <a:rPr lang="en-IN" smtClean="0"/>
              <a:t>20-02-2025</a:t>
            </a:fld>
            <a:endParaRPr lang="en-IN"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Tree>
    <p:extLst>
      <p:ext uri="{BB962C8B-B14F-4D97-AF65-F5344CB8AC3E}">
        <p14:creationId xmlns:p14="http://schemas.microsoft.com/office/powerpoint/2010/main" val="312202222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46" rtl="0" eaLnBrk="1" latinLnBrk="0" hangingPunct="1">
        <a:lnSpc>
          <a:spcPct val="90000"/>
        </a:lnSpc>
        <a:spcBef>
          <a:spcPct val="0"/>
        </a:spcBef>
        <a:buNone/>
        <a:defRPr sz="4400" kern="1200">
          <a:solidFill>
            <a:srgbClr val="002060"/>
          </a:solidFill>
          <a:latin typeface="Hepta Slab Bold" pitchFamily="2" charset="0"/>
          <a:ea typeface="+mj-ea"/>
          <a:cs typeface="Hepta Slab Bold" pitchFamily="2" charset="0"/>
        </a:defRPr>
      </a:lvl1pPr>
    </p:titleStyle>
    <p:bodyStyle>
      <a:lvl1pPr marL="0" indent="0" algn="l" defTabSz="914446" rtl="0" eaLnBrk="1" latinLnBrk="0" hangingPunct="1">
        <a:lnSpc>
          <a:spcPct val="90000"/>
        </a:lnSpc>
        <a:spcBef>
          <a:spcPts val="1000"/>
        </a:spcBef>
        <a:buFont typeface="Arial" panose="020B0604020202020204" pitchFamily="34" charset="0"/>
        <a:buNone/>
        <a:defRPr sz="1800" kern="1200">
          <a:solidFill>
            <a:srgbClr val="002060"/>
          </a:solidFill>
          <a:latin typeface="Montserrat Medium" pitchFamily="2" charset="0"/>
          <a:ea typeface="+mn-ea"/>
          <a:cs typeface="+mn-cs"/>
        </a:defRPr>
      </a:lvl1pPr>
      <a:lvl2pPr marL="457223" indent="0" algn="l" defTabSz="914446" rtl="0" eaLnBrk="1" latinLnBrk="0" hangingPunct="1">
        <a:lnSpc>
          <a:spcPct val="90000"/>
        </a:lnSpc>
        <a:spcBef>
          <a:spcPts val="500"/>
        </a:spcBef>
        <a:buFont typeface="Arial" panose="020B0604020202020204" pitchFamily="34" charset="0"/>
        <a:buNone/>
        <a:defRPr sz="1200" kern="1200">
          <a:solidFill>
            <a:srgbClr val="A9734C"/>
          </a:solidFill>
          <a:latin typeface="Montserrat Medium" pitchFamily="2" charset="0"/>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chart" Target="../charts/chart1.xml"/><Relationship Id="rId11" Type="http://schemas.openxmlformats.org/officeDocument/2006/relationships/chart" Target="../charts/chart2.xml"/><Relationship Id="rId5" Type="http://schemas.openxmlformats.org/officeDocument/2006/relationships/image" Target="../media/image10.png"/><Relationship Id="rId10" Type="http://schemas.openxmlformats.org/officeDocument/2006/relationships/image" Target="../media/image19.svg"/><Relationship Id="rId4" Type="http://schemas.openxmlformats.org/officeDocument/2006/relationships/image" Target="../media/image3.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chart" Target="../charts/chart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chart" Target="../charts/chart4.xml"/><Relationship Id="rId7"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chart" Target="../charts/chart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chart" Target="../charts/chart1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2.jp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chart" Target="../charts/chart14.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chart" Target="../charts/chart15.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chart" Target="../charts/chart16.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jp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3.wdp"/><Relationship Id="rId7" Type="http://schemas.openxmlformats.org/officeDocument/2006/relationships/image" Target="../media/image27.svg"/><Relationship Id="rId2" Type="http://schemas.openxmlformats.org/officeDocument/2006/relationships/image" Target="../media/image25.png"/><Relationship Id="rId1" Type="http://schemas.openxmlformats.org/officeDocument/2006/relationships/slideLayout" Target="../slideLayouts/slideLayout20.xml"/><Relationship Id="rId6" Type="http://schemas.openxmlformats.org/officeDocument/2006/relationships/image" Target="../media/image26.png"/><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17.xm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80.png"/><Relationship Id="rId5" Type="http://schemas.microsoft.com/office/2014/relationships/chartEx" Target="../charts/chartEx1.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chart" Target="../charts/chart19.xml"/><Relationship Id="rId5" Type="http://schemas.openxmlformats.org/officeDocument/2006/relationships/chart" Target="../charts/chart18.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chart" Target="../charts/chart20.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jpg"/><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22.jp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chart" Target="../charts/chart21.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chart" Target="../charts/chart2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chart" Target="../charts/chart23.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0.png"/><Relationship Id="rId2" Type="http://schemas.openxmlformats.org/officeDocument/2006/relationships/slideLayout" Target="../slideLayouts/slideLayout20.xml"/><Relationship Id="rId1" Type="http://schemas.openxmlformats.org/officeDocument/2006/relationships/themeOverride" Target="../theme/themeOverride17.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4.wdp"/></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22.jp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chart" Target="../charts/chart24.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8" Type="http://schemas.openxmlformats.org/officeDocument/2006/relationships/chart" Target="../charts/chart25.xml"/><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20.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chart" Target="../charts/chart26.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chart" Target="../charts/chart27.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48.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28.xml"/><Relationship Id="rId2" Type="http://schemas.openxmlformats.org/officeDocument/2006/relationships/notesSlide" Target="../notesSlides/notesSlide50.xml"/><Relationship Id="rId1" Type="http://schemas.openxmlformats.org/officeDocument/2006/relationships/slideLayout" Target="../slideLayouts/slideLayout20.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0.xml"/><Relationship Id="rId6" Type="http://schemas.openxmlformats.org/officeDocument/2006/relationships/chart" Target="../charts/chart29.xml"/><Relationship Id="rId5" Type="http://schemas.openxmlformats.org/officeDocument/2006/relationships/image" Target="../media/image10.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53.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18" Type="http://schemas.openxmlformats.org/officeDocument/2006/relationships/image" Target="../media/image48.svg"/><Relationship Id="rId3" Type="http://schemas.openxmlformats.org/officeDocument/2006/relationships/image" Target="../media/image2.png"/><Relationship Id="rId7" Type="http://schemas.openxmlformats.org/officeDocument/2006/relationships/image" Target="../media/image37.png"/><Relationship Id="rId12" Type="http://schemas.openxmlformats.org/officeDocument/2006/relationships/image" Target="../media/image42.svg"/><Relationship Id="rId17" Type="http://schemas.openxmlformats.org/officeDocument/2006/relationships/image" Target="../media/image47.png"/><Relationship Id="rId2" Type="http://schemas.openxmlformats.org/officeDocument/2006/relationships/notesSlide" Target="../notesSlides/notesSlide57.xml"/><Relationship Id="rId16" Type="http://schemas.openxmlformats.org/officeDocument/2006/relationships/image" Target="../media/image46.svg"/><Relationship Id="rId1" Type="http://schemas.openxmlformats.org/officeDocument/2006/relationships/slideLayout" Target="../slideLayouts/slideLayout20.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svg"/><Relationship Id="rId19"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39.png"/><Relationship Id="rId14" Type="http://schemas.openxmlformats.org/officeDocument/2006/relationships/image" Target="../media/image44.svg"/></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3.png"/><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3.jp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7.xml"/><Relationship Id="rId6" Type="http://schemas.microsoft.com/office/2007/relationships/hdphoto" Target="../media/hdphoto6.wdp"/><Relationship Id="rId5" Type="http://schemas.openxmlformats.org/officeDocument/2006/relationships/image" Target="../media/image54.pn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6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9.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10.png"/><Relationship Id="rId2" Type="http://schemas.openxmlformats.org/officeDocument/2006/relationships/notesSlide" Target="../notesSlides/notesSlide73.xml"/><Relationship Id="rId1" Type="http://schemas.openxmlformats.org/officeDocument/2006/relationships/slideLayout" Target="../slideLayouts/slideLayout20.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8.wdp"/></Relationships>
</file>

<file path=ppt/slides/_rels/slide9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58.png"/><Relationship Id="rId1" Type="http://schemas.openxmlformats.org/officeDocument/2006/relationships/slideLayout" Target="../slideLayouts/slideLayout20.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7.xml"/><Relationship Id="rId6" Type="http://schemas.openxmlformats.org/officeDocument/2006/relationships/image" Target="../media/image22.jpg"/><Relationship Id="rId5" Type="http://schemas.openxmlformats.org/officeDocument/2006/relationships/image" Target="../media/image10.png"/><Relationship Id="rId4" Type="http://schemas.openxmlformats.org/officeDocument/2006/relationships/image" Target="../media/image15.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7.xml"/><Relationship Id="rId5" Type="http://schemas.openxmlformats.org/officeDocument/2006/relationships/image" Target="../media/image22.jpg"/><Relationship Id="rId4" Type="http://schemas.openxmlformats.org/officeDocument/2006/relationships/image" Target="../media/image15.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7.xml"/><Relationship Id="rId5" Type="http://schemas.openxmlformats.org/officeDocument/2006/relationships/image" Target="../media/image22.jpg"/><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7.xml"/><Relationship Id="rId5" Type="http://schemas.openxmlformats.org/officeDocument/2006/relationships/image" Target="../media/image22.jpg"/><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78.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64.png"/><Relationship Id="rId3" Type="http://schemas.openxmlformats.org/officeDocument/2006/relationships/image" Target="../media/image34.jpg"/><Relationship Id="rId7" Type="http://schemas.openxmlformats.org/officeDocument/2006/relationships/image" Target="../media/image26.png"/><Relationship Id="rId12" Type="http://schemas.openxmlformats.org/officeDocument/2006/relationships/image" Target="../media/image63.svg"/><Relationship Id="rId17" Type="http://schemas.openxmlformats.org/officeDocument/2006/relationships/image" Target="../media/image10.png"/><Relationship Id="rId2" Type="http://schemas.openxmlformats.org/officeDocument/2006/relationships/notesSlide" Target="../notesSlides/notesSlide79.xml"/><Relationship Id="rId16" Type="http://schemas.openxmlformats.org/officeDocument/2006/relationships/image" Target="../media/image67.svg"/><Relationship Id="rId1" Type="http://schemas.openxmlformats.org/officeDocument/2006/relationships/slideLayout" Target="../slideLayouts/slideLayout20.xml"/><Relationship Id="rId6" Type="http://schemas.openxmlformats.org/officeDocument/2006/relationships/image" Target="../media/image59.jpg"/><Relationship Id="rId11" Type="http://schemas.openxmlformats.org/officeDocument/2006/relationships/image" Target="../media/image62.png"/><Relationship Id="rId5" Type="http://schemas.openxmlformats.org/officeDocument/2006/relationships/image" Target="../media/image5.png"/><Relationship Id="rId15" Type="http://schemas.openxmlformats.org/officeDocument/2006/relationships/image" Target="../media/image66.png"/><Relationship Id="rId10" Type="http://schemas.openxmlformats.org/officeDocument/2006/relationships/image" Target="../media/image61.svg"/><Relationship Id="rId4" Type="http://schemas.openxmlformats.org/officeDocument/2006/relationships/image" Target="../media/image4.png"/><Relationship Id="rId9" Type="http://schemas.openxmlformats.org/officeDocument/2006/relationships/image" Target="../media/image60.png"/><Relationship Id="rId14" Type="http://schemas.openxmlformats.org/officeDocument/2006/relationships/image" Target="../media/image65.svg"/></Relationships>
</file>

<file path=ppt/slides/_rels/slide9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4.jpg"/><Relationship Id="rId7" Type="http://schemas.openxmlformats.org/officeDocument/2006/relationships/image" Target="../media/image27.svg"/><Relationship Id="rId2" Type="http://schemas.openxmlformats.org/officeDocument/2006/relationships/notesSlide" Target="../notesSlides/notesSlide80.xml"/><Relationship Id="rId1" Type="http://schemas.openxmlformats.org/officeDocument/2006/relationships/slideLayout" Target="../slideLayouts/slideLayout20.xml"/><Relationship Id="rId6" Type="http://schemas.openxmlformats.org/officeDocument/2006/relationships/image" Target="../media/image26.png"/><Relationship Id="rId5" Type="http://schemas.openxmlformats.org/officeDocument/2006/relationships/image" Target="../media/image5.png"/><Relationship Id="rId4" Type="http://schemas.openxmlformats.org/officeDocument/2006/relationships/image" Target="../media/image4.png"/></Relationships>
</file>

<file path=ppt/slides/_rels/slide98.xml.rels><?xml version="1.0" encoding="UTF-8" standalone="yes"?>
<Relationships xmlns="http://schemas.openxmlformats.org/package/2006/relationships"><Relationship Id="rId8" Type="http://schemas.openxmlformats.org/officeDocument/2006/relationships/chart" Target="../charts/chart33.xml"/><Relationship Id="rId3" Type="http://schemas.openxmlformats.org/officeDocument/2006/relationships/image" Target="../media/image2.png"/><Relationship Id="rId7" Type="http://schemas.openxmlformats.org/officeDocument/2006/relationships/chart" Target="../charts/chart32.xml"/><Relationship Id="rId12" Type="http://schemas.openxmlformats.org/officeDocument/2006/relationships/image" Target="../media/image68.png"/><Relationship Id="rId2" Type="http://schemas.openxmlformats.org/officeDocument/2006/relationships/notesSlide" Target="../notesSlides/notesSlide81.xml"/><Relationship Id="rId1" Type="http://schemas.openxmlformats.org/officeDocument/2006/relationships/slideLayout" Target="../slideLayouts/slideLayout20.xml"/><Relationship Id="rId6" Type="http://schemas.openxmlformats.org/officeDocument/2006/relationships/image" Target="../media/image17.svg"/><Relationship Id="rId11" Type="http://schemas.openxmlformats.org/officeDocument/2006/relationships/image" Target="../media/image10.png"/><Relationship Id="rId5" Type="http://schemas.openxmlformats.org/officeDocument/2006/relationships/image" Target="../media/image16.png"/><Relationship Id="rId10" Type="http://schemas.openxmlformats.org/officeDocument/2006/relationships/chart" Target="../charts/chart35.xml"/><Relationship Id="rId4" Type="http://schemas.openxmlformats.org/officeDocument/2006/relationships/image" Target="../media/image3.png"/><Relationship Id="rId9" Type="http://schemas.openxmlformats.org/officeDocument/2006/relationships/chart" Target="../charts/chart34.xml"/></Relationships>
</file>

<file path=ppt/slides/_rels/slide99.xml.rels><?xml version="1.0" encoding="UTF-8" standalone="yes"?>
<Relationships xmlns="http://schemas.openxmlformats.org/package/2006/relationships"><Relationship Id="rId8" Type="http://schemas.openxmlformats.org/officeDocument/2006/relationships/chart" Target="../charts/chart37.xml"/><Relationship Id="rId13" Type="http://schemas.openxmlformats.org/officeDocument/2006/relationships/chart" Target="../charts/chart40.xml"/><Relationship Id="rId3" Type="http://schemas.openxmlformats.org/officeDocument/2006/relationships/image" Target="../media/image2.png"/><Relationship Id="rId7" Type="http://schemas.openxmlformats.org/officeDocument/2006/relationships/chart" Target="../charts/chart36.xml"/><Relationship Id="rId12" Type="http://schemas.openxmlformats.org/officeDocument/2006/relationships/image" Target="../media/image69.png"/><Relationship Id="rId2" Type="http://schemas.openxmlformats.org/officeDocument/2006/relationships/notesSlide" Target="../notesSlides/notesSlide82.xml"/><Relationship Id="rId1" Type="http://schemas.openxmlformats.org/officeDocument/2006/relationships/slideLayout" Target="../slideLayouts/slideLayout20.xml"/><Relationship Id="rId6" Type="http://schemas.openxmlformats.org/officeDocument/2006/relationships/image" Target="../media/image17.svg"/><Relationship Id="rId11" Type="http://schemas.openxmlformats.org/officeDocument/2006/relationships/image" Target="../media/image10.png"/><Relationship Id="rId5" Type="http://schemas.openxmlformats.org/officeDocument/2006/relationships/image" Target="../media/image16.png"/><Relationship Id="rId10" Type="http://schemas.openxmlformats.org/officeDocument/2006/relationships/chart" Target="../charts/chart39.xml"/><Relationship Id="rId4" Type="http://schemas.openxmlformats.org/officeDocument/2006/relationships/image" Target="../media/image3.png"/><Relationship Id="rId9" Type="http://schemas.openxmlformats.org/officeDocument/2006/relationships/chart" Target="../charts/chart38.xml"/></Relationships>
</file>

<file path=ppt/slides/_rels/slide100.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34.jpg"/><Relationship Id="rId7" Type="http://schemas.openxmlformats.org/officeDocument/2006/relationships/image" Target="../media/image60.png"/><Relationship Id="rId2" Type="http://schemas.openxmlformats.org/officeDocument/2006/relationships/notesSlide" Target="../notesSlides/notesSlide83.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8" Type="http://schemas.openxmlformats.org/officeDocument/2006/relationships/chart" Target="../charts/chart42.xml"/><Relationship Id="rId3" Type="http://schemas.openxmlformats.org/officeDocument/2006/relationships/image" Target="../media/image2.png"/><Relationship Id="rId7" Type="http://schemas.openxmlformats.org/officeDocument/2006/relationships/chart" Target="../charts/chart41.xml"/><Relationship Id="rId12" Type="http://schemas.openxmlformats.org/officeDocument/2006/relationships/image" Target="../media/image68.png"/><Relationship Id="rId2" Type="http://schemas.openxmlformats.org/officeDocument/2006/relationships/notesSlide" Target="../notesSlides/notesSlide84.xml"/><Relationship Id="rId1" Type="http://schemas.openxmlformats.org/officeDocument/2006/relationships/slideLayout" Target="../slideLayouts/slideLayout20.xml"/><Relationship Id="rId6" Type="http://schemas.openxmlformats.org/officeDocument/2006/relationships/image" Target="../media/image42.svg"/><Relationship Id="rId11" Type="http://schemas.openxmlformats.org/officeDocument/2006/relationships/image" Target="../media/image10.png"/><Relationship Id="rId5" Type="http://schemas.openxmlformats.org/officeDocument/2006/relationships/image" Target="../media/image41.png"/><Relationship Id="rId10" Type="http://schemas.openxmlformats.org/officeDocument/2006/relationships/chart" Target="../charts/chart44.xml"/><Relationship Id="rId4" Type="http://schemas.openxmlformats.org/officeDocument/2006/relationships/image" Target="../media/image3.png"/><Relationship Id="rId9" Type="http://schemas.openxmlformats.org/officeDocument/2006/relationships/chart" Target="../charts/chart43.xml"/></Relationships>
</file>

<file path=ppt/slides/_rels/slide102.xml.rels><?xml version="1.0" encoding="UTF-8" standalone="yes"?>
<Relationships xmlns="http://schemas.openxmlformats.org/package/2006/relationships"><Relationship Id="rId8" Type="http://schemas.openxmlformats.org/officeDocument/2006/relationships/chart" Target="../charts/chart46.xml"/><Relationship Id="rId3" Type="http://schemas.openxmlformats.org/officeDocument/2006/relationships/image" Target="../media/image2.png"/><Relationship Id="rId7" Type="http://schemas.openxmlformats.org/officeDocument/2006/relationships/chart" Target="../charts/chart45.xml"/><Relationship Id="rId12" Type="http://schemas.openxmlformats.org/officeDocument/2006/relationships/image" Target="../media/image69.png"/><Relationship Id="rId2" Type="http://schemas.openxmlformats.org/officeDocument/2006/relationships/notesSlide" Target="../notesSlides/notesSlide85.xml"/><Relationship Id="rId1" Type="http://schemas.openxmlformats.org/officeDocument/2006/relationships/slideLayout" Target="../slideLayouts/slideLayout20.xml"/><Relationship Id="rId6" Type="http://schemas.openxmlformats.org/officeDocument/2006/relationships/image" Target="../media/image42.svg"/><Relationship Id="rId11" Type="http://schemas.openxmlformats.org/officeDocument/2006/relationships/image" Target="../media/image10.png"/><Relationship Id="rId5" Type="http://schemas.openxmlformats.org/officeDocument/2006/relationships/image" Target="../media/image41.png"/><Relationship Id="rId10" Type="http://schemas.openxmlformats.org/officeDocument/2006/relationships/chart" Target="../charts/chart48.xml"/><Relationship Id="rId4" Type="http://schemas.openxmlformats.org/officeDocument/2006/relationships/image" Target="../media/image3.png"/><Relationship Id="rId9" Type="http://schemas.openxmlformats.org/officeDocument/2006/relationships/chart" Target="../charts/chart47.xml"/></Relationships>
</file>

<file path=ppt/slides/_rels/slide103.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34.jpg"/><Relationship Id="rId7" Type="http://schemas.openxmlformats.org/officeDocument/2006/relationships/image" Target="../media/image62.png"/><Relationship Id="rId2" Type="http://schemas.openxmlformats.org/officeDocument/2006/relationships/notesSlide" Target="../notesSlides/notesSlide86.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04.xml.rels><?xml version="1.0" encoding="UTF-8" standalone="yes"?>
<Relationships xmlns="http://schemas.openxmlformats.org/package/2006/relationships"><Relationship Id="rId8" Type="http://schemas.openxmlformats.org/officeDocument/2006/relationships/chart" Target="../charts/chart50.xml"/><Relationship Id="rId3" Type="http://schemas.openxmlformats.org/officeDocument/2006/relationships/image" Target="../media/image2.png"/><Relationship Id="rId7" Type="http://schemas.openxmlformats.org/officeDocument/2006/relationships/chart" Target="../charts/chart49.xml"/><Relationship Id="rId12" Type="http://schemas.openxmlformats.org/officeDocument/2006/relationships/image" Target="../media/image68.png"/><Relationship Id="rId2" Type="http://schemas.openxmlformats.org/officeDocument/2006/relationships/notesSlide" Target="../notesSlides/notesSlide87.xml"/><Relationship Id="rId1" Type="http://schemas.openxmlformats.org/officeDocument/2006/relationships/slideLayout" Target="../slideLayouts/slideLayout20.xml"/><Relationship Id="rId6" Type="http://schemas.openxmlformats.org/officeDocument/2006/relationships/image" Target="../media/image21.svg"/><Relationship Id="rId11" Type="http://schemas.openxmlformats.org/officeDocument/2006/relationships/image" Target="../media/image10.png"/><Relationship Id="rId5" Type="http://schemas.openxmlformats.org/officeDocument/2006/relationships/image" Target="../media/image20.png"/><Relationship Id="rId10" Type="http://schemas.openxmlformats.org/officeDocument/2006/relationships/chart" Target="../charts/chart52.xml"/><Relationship Id="rId4" Type="http://schemas.openxmlformats.org/officeDocument/2006/relationships/image" Target="../media/image3.png"/><Relationship Id="rId9" Type="http://schemas.openxmlformats.org/officeDocument/2006/relationships/chart" Target="../charts/chart51.xml"/></Relationships>
</file>

<file path=ppt/slides/_rels/slide105.xml.rels><?xml version="1.0" encoding="UTF-8" standalone="yes"?>
<Relationships xmlns="http://schemas.openxmlformats.org/package/2006/relationships"><Relationship Id="rId8" Type="http://schemas.openxmlformats.org/officeDocument/2006/relationships/chart" Target="../charts/chart54.xml"/><Relationship Id="rId3" Type="http://schemas.openxmlformats.org/officeDocument/2006/relationships/image" Target="../media/image2.png"/><Relationship Id="rId7" Type="http://schemas.openxmlformats.org/officeDocument/2006/relationships/chart" Target="../charts/chart53.xml"/><Relationship Id="rId12" Type="http://schemas.openxmlformats.org/officeDocument/2006/relationships/image" Target="../media/image69.png"/><Relationship Id="rId2" Type="http://schemas.openxmlformats.org/officeDocument/2006/relationships/notesSlide" Target="../notesSlides/notesSlide88.xml"/><Relationship Id="rId1" Type="http://schemas.openxmlformats.org/officeDocument/2006/relationships/slideLayout" Target="../slideLayouts/slideLayout20.xml"/><Relationship Id="rId6" Type="http://schemas.openxmlformats.org/officeDocument/2006/relationships/image" Target="../media/image21.svg"/><Relationship Id="rId11" Type="http://schemas.openxmlformats.org/officeDocument/2006/relationships/image" Target="../media/image10.png"/><Relationship Id="rId5" Type="http://schemas.openxmlformats.org/officeDocument/2006/relationships/image" Target="../media/image20.png"/><Relationship Id="rId10" Type="http://schemas.openxmlformats.org/officeDocument/2006/relationships/chart" Target="../charts/chart56.xml"/><Relationship Id="rId4" Type="http://schemas.openxmlformats.org/officeDocument/2006/relationships/image" Target="../media/image3.png"/><Relationship Id="rId9" Type="http://schemas.openxmlformats.org/officeDocument/2006/relationships/chart" Target="../charts/chart55.xml"/></Relationships>
</file>

<file path=ppt/slides/_rels/slide106.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34.jpg"/><Relationship Id="rId7" Type="http://schemas.openxmlformats.org/officeDocument/2006/relationships/image" Target="../media/image64.png"/><Relationship Id="rId2" Type="http://schemas.openxmlformats.org/officeDocument/2006/relationships/notesSlide" Target="../notesSlides/notesSlide89.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07.xml.rels><?xml version="1.0" encoding="UTF-8" standalone="yes"?>
<Relationships xmlns="http://schemas.openxmlformats.org/package/2006/relationships"><Relationship Id="rId8" Type="http://schemas.openxmlformats.org/officeDocument/2006/relationships/chart" Target="../charts/chart58.xml"/><Relationship Id="rId3" Type="http://schemas.openxmlformats.org/officeDocument/2006/relationships/image" Target="../media/image2.png"/><Relationship Id="rId7" Type="http://schemas.openxmlformats.org/officeDocument/2006/relationships/chart" Target="../charts/chart57.xml"/><Relationship Id="rId12" Type="http://schemas.openxmlformats.org/officeDocument/2006/relationships/image" Target="../media/image68.png"/><Relationship Id="rId2" Type="http://schemas.openxmlformats.org/officeDocument/2006/relationships/notesSlide" Target="../notesSlides/notesSlide90.xml"/><Relationship Id="rId1" Type="http://schemas.openxmlformats.org/officeDocument/2006/relationships/slideLayout" Target="../slideLayouts/slideLayout20.xml"/><Relationship Id="rId6" Type="http://schemas.openxmlformats.org/officeDocument/2006/relationships/image" Target="../media/image70.svg"/><Relationship Id="rId11" Type="http://schemas.openxmlformats.org/officeDocument/2006/relationships/image" Target="../media/image10.png"/><Relationship Id="rId5" Type="http://schemas.openxmlformats.org/officeDocument/2006/relationships/image" Target="../media/image45.png"/><Relationship Id="rId10" Type="http://schemas.openxmlformats.org/officeDocument/2006/relationships/chart" Target="../charts/chart60.xml"/><Relationship Id="rId4" Type="http://schemas.openxmlformats.org/officeDocument/2006/relationships/image" Target="../media/image3.png"/><Relationship Id="rId9" Type="http://schemas.openxmlformats.org/officeDocument/2006/relationships/chart" Target="../charts/chart59.xml"/></Relationships>
</file>

<file path=ppt/slides/_rels/slide108.xml.rels><?xml version="1.0" encoding="UTF-8" standalone="yes"?>
<Relationships xmlns="http://schemas.openxmlformats.org/package/2006/relationships"><Relationship Id="rId8" Type="http://schemas.openxmlformats.org/officeDocument/2006/relationships/chart" Target="../charts/chart61.xml"/><Relationship Id="rId13" Type="http://schemas.openxmlformats.org/officeDocument/2006/relationships/image" Target="../media/image69.png"/><Relationship Id="rId3" Type="http://schemas.openxmlformats.org/officeDocument/2006/relationships/notesSlide" Target="../notesSlides/notesSlide91.xml"/><Relationship Id="rId7" Type="http://schemas.openxmlformats.org/officeDocument/2006/relationships/image" Target="../media/image70.svg"/><Relationship Id="rId12" Type="http://schemas.openxmlformats.org/officeDocument/2006/relationships/image" Target="../media/image10.png"/><Relationship Id="rId2" Type="http://schemas.openxmlformats.org/officeDocument/2006/relationships/slideLayout" Target="../slideLayouts/slideLayout20.xml"/><Relationship Id="rId1" Type="http://schemas.openxmlformats.org/officeDocument/2006/relationships/themeOverride" Target="../theme/themeOverride55.xml"/><Relationship Id="rId6" Type="http://schemas.openxmlformats.org/officeDocument/2006/relationships/image" Target="../media/image45.png"/><Relationship Id="rId11" Type="http://schemas.openxmlformats.org/officeDocument/2006/relationships/chart" Target="../charts/chart64.xml"/><Relationship Id="rId5" Type="http://schemas.openxmlformats.org/officeDocument/2006/relationships/image" Target="../media/image3.png"/><Relationship Id="rId10" Type="http://schemas.openxmlformats.org/officeDocument/2006/relationships/chart" Target="../charts/chart63.xml"/><Relationship Id="rId4" Type="http://schemas.openxmlformats.org/officeDocument/2006/relationships/image" Target="../media/image2.png"/><Relationship Id="rId9" Type="http://schemas.openxmlformats.org/officeDocument/2006/relationships/chart" Target="../charts/chart62.xml"/></Relationships>
</file>

<file path=ppt/slides/_rels/slide109.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34.jpg"/><Relationship Id="rId7" Type="http://schemas.openxmlformats.org/officeDocument/2006/relationships/image" Target="../media/image66.png"/><Relationship Id="rId2" Type="http://schemas.openxmlformats.org/officeDocument/2006/relationships/notesSlide" Target="../notesSlides/notesSlide92.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10.xml.rels><?xml version="1.0" encoding="UTF-8" standalone="yes"?>
<Relationships xmlns="http://schemas.openxmlformats.org/package/2006/relationships"><Relationship Id="rId8" Type="http://schemas.openxmlformats.org/officeDocument/2006/relationships/chart" Target="../charts/chart65.xml"/><Relationship Id="rId13" Type="http://schemas.openxmlformats.org/officeDocument/2006/relationships/image" Target="../media/image68.png"/><Relationship Id="rId3" Type="http://schemas.openxmlformats.org/officeDocument/2006/relationships/notesSlide" Target="../notesSlides/notesSlide93.xml"/><Relationship Id="rId7" Type="http://schemas.openxmlformats.org/officeDocument/2006/relationships/image" Target="../media/image71.svg"/><Relationship Id="rId12" Type="http://schemas.openxmlformats.org/officeDocument/2006/relationships/image" Target="../media/image10.png"/><Relationship Id="rId2" Type="http://schemas.openxmlformats.org/officeDocument/2006/relationships/slideLayout" Target="../slideLayouts/slideLayout20.xml"/><Relationship Id="rId1" Type="http://schemas.openxmlformats.org/officeDocument/2006/relationships/themeOverride" Target="../theme/themeOverride60.xml"/><Relationship Id="rId6" Type="http://schemas.openxmlformats.org/officeDocument/2006/relationships/image" Target="../media/image47.png"/><Relationship Id="rId11" Type="http://schemas.openxmlformats.org/officeDocument/2006/relationships/chart" Target="../charts/chart68.xml"/><Relationship Id="rId5" Type="http://schemas.openxmlformats.org/officeDocument/2006/relationships/image" Target="../media/image3.png"/><Relationship Id="rId10" Type="http://schemas.openxmlformats.org/officeDocument/2006/relationships/chart" Target="../charts/chart67.xml"/><Relationship Id="rId4" Type="http://schemas.openxmlformats.org/officeDocument/2006/relationships/image" Target="../media/image2.png"/><Relationship Id="rId9" Type="http://schemas.openxmlformats.org/officeDocument/2006/relationships/chart" Target="../charts/chart66.xml"/></Relationships>
</file>

<file path=ppt/slides/_rels/slide111.xml.rels><?xml version="1.0" encoding="UTF-8" standalone="yes"?>
<Relationships xmlns="http://schemas.openxmlformats.org/package/2006/relationships"><Relationship Id="rId8" Type="http://schemas.openxmlformats.org/officeDocument/2006/relationships/chart" Target="../charts/chart70.xml"/><Relationship Id="rId3" Type="http://schemas.openxmlformats.org/officeDocument/2006/relationships/image" Target="../media/image2.png"/><Relationship Id="rId7" Type="http://schemas.openxmlformats.org/officeDocument/2006/relationships/chart" Target="../charts/chart69.xml"/><Relationship Id="rId12" Type="http://schemas.openxmlformats.org/officeDocument/2006/relationships/image" Target="../media/image69.png"/><Relationship Id="rId2" Type="http://schemas.openxmlformats.org/officeDocument/2006/relationships/notesSlide" Target="../notesSlides/notesSlide94.xml"/><Relationship Id="rId1" Type="http://schemas.openxmlformats.org/officeDocument/2006/relationships/slideLayout" Target="../slideLayouts/slideLayout20.xml"/><Relationship Id="rId6" Type="http://schemas.openxmlformats.org/officeDocument/2006/relationships/image" Target="../media/image71.svg"/><Relationship Id="rId11" Type="http://schemas.openxmlformats.org/officeDocument/2006/relationships/image" Target="../media/image10.png"/><Relationship Id="rId5" Type="http://schemas.openxmlformats.org/officeDocument/2006/relationships/image" Target="../media/image47.png"/><Relationship Id="rId10" Type="http://schemas.openxmlformats.org/officeDocument/2006/relationships/chart" Target="../charts/chart72.xml"/><Relationship Id="rId4" Type="http://schemas.openxmlformats.org/officeDocument/2006/relationships/image" Target="../media/image3.png"/><Relationship Id="rId9" Type="http://schemas.openxmlformats.org/officeDocument/2006/relationships/chart" Target="../charts/chart71.xml"/></Relationships>
</file>

<file path=ppt/slides/_rels/slide112.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10.png"/><Relationship Id="rId2" Type="http://schemas.openxmlformats.org/officeDocument/2006/relationships/notesSlide" Target="../notesSlides/notesSlide95.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7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475E0D-6A69-DF46-0959-B2E40202A0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632" y="6069000"/>
            <a:ext cx="1881639" cy="929149"/>
          </a:xfrm>
          <a:prstGeom prst="rect">
            <a:avLst/>
          </a:prstGeom>
        </p:spPr>
      </p:pic>
      <p:pic>
        <p:nvPicPr>
          <p:cNvPr id="6" name="Picture 5">
            <a:extLst>
              <a:ext uri="{FF2B5EF4-FFF2-40B4-BE49-F238E27FC236}">
                <a16:creationId xmlns:a16="http://schemas.microsoft.com/office/drawing/2014/main" id="{EC25DC00-03C0-E149-C1D4-ABFB1657C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8452" y="6110479"/>
            <a:ext cx="1843549" cy="914508"/>
          </a:xfrm>
          <a:prstGeom prst="rect">
            <a:avLst/>
          </a:prstGeom>
        </p:spPr>
      </p:pic>
      <p:grpSp>
        <p:nvGrpSpPr>
          <p:cNvPr id="13" name="Group 12">
            <a:extLst>
              <a:ext uri="{FF2B5EF4-FFF2-40B4-BE49-F238E27FC236}">
                <a16:creationId xmlns:a16="http://schemas.microsoft.com/office/drawing/2014/main" id="{AA973D07-9F22-2238-5016-D4AD5A28C95F}"/>
              </a:ext>
            </a:extLst>
          </p:cNvPr>
          <p:cNvGrpSpPr/>
          <p:nvPr/>
        </p:nvGrpSpPr>
        <p:grpSpPr>
          <a:xfrm>
            <a:off x="1" y="6042107"/>
            <a:ext cx="11864037" cy="911852"/>
            <a:chOff x="579560" y="9184073"/>
            <a:chExt cx="18133625" cy="1393723"/>
          </a:xfrm>
        </p:grpSpPr>
        <p:sp>
          <p:nvSpPr>
            <p:cNvPr id="17" name="Title 1">
              <a:extLst>
                <a:ext uri="{FF2B5EF4-FFF2-40B4-BE49-F238E27FC236}">
                  <a16:creationId xmlns:a16="http://schemas.microsoft.com/office/drawing/2014/main" id="{1BCC9939-CCE9-80DC-EB99-7CAB094A87A8}"/>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8" name="Picture 17">
              <a:extLst>
                <a:ext uri="{FF2B5EF4-FFF2-40B4-BE49-F238E27FC236}">
                  <a16:creationId xmlns:a16="http://schemas.microsoft.com/office/drawing/2014/main" id="{9C292B02-6712-C043-AC99-A4E250A66C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9" name="Picture 18">
              <a:extLst>
                <a:ext uri="{FF2B5EF4-FFF2-40B4-BE49-F238E27FC236}">
                  <a16:creationId xmlns:a16="http://schemas.microsoft.com/office/drawing/2014/main" id="{FD195906-A1B0-3097-A7C6-F3582FA481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pic>
        <p:nvPicPr>
          <p:cNvPr id="9" name="Picture 8">
            <a:extLst>
              <a:ext uri="{FF2B5EF4-FFF2-40B4-BE49-F238E27FC236}">
                <a16:creationId xmlns:a16="http://schemas.microsoft.com/office/drawing/2014/main" id="{2C1C5E96-092C-5AF8-8A91-63B2BE83F0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57215" y="2471230"/>
            <a:ext cx="5477570" cy="1915540"/>
          </a:xfrm>
          <a:prstGeom prst="rect">
            <a:avLst/>
          </a:prstGeom>
        </p:spPr>
      </p:pic>
    </p:spTree>
    <p:extLst>
      <p:ext uri="{BB962C8B-B14F-4D97-AF65-F5344CB8AC3E}">
        <p14:creationId xmlns:p14="http://schemas.microsoft.com/office/powerpoint/2010/main" val="3898658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475E0D-6A69-DF46-0959-B2E40202A0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632" y="6069000"/>
            <a:ext cx="1881639" cy="929149"/>
          </a:xfrm>
          <a:prstGeom prst="rect">
            <a:avLst/>
          </a:prstGeom>
        </p:spPr>
      </p:pic>
      <p:pic>
        <p:nvPicPr>
          <p:cNvPr id="6" name="Picture 5">
            <a:extLst>
              <a:ext uri="{FF2B5EF4-FFF2-40B4-BE49-F238E27FC236}">
                <a16:creationId xmlns:a16="http://schemas.microsoft.com/office/drawing/2014/main" id="{EC25DC00-03C0-E149-C1D4-ABFB1657C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8452" y="6110479"/>
            <a:ext cx="1843549" cy="914508"/>
          </a:xfrm>
          <a:prstGeom prst="rect">
            <a:avLst/>
          </a:prstGeom>
        </p:spPr>
      </p:pic>
      <p:sp>
        <p:nvSpPr>
          <p:cNvPr id="14" name="TextBox 13">
            <a:extLst>
              <a:ext uri="{FF2B5EF4-FFF2-40B4-BE49-F238E27FC236}">
                <a16:creationId xmlns:a16="http://schemas.microsoft.com/office/drawing/2014/main" id="{D2EED434-6A53-354F-19C0-5E721EE7A788}"/>
              </a:ext>
            </a:extLst>
          </p:cNvPr>
          <p:cNvSpPr txBox="1"/>
          <p:nvPr/>
        </p:nvSpPr>
        <p:spPr>
          <a:xfrm>
            <a:off x="3239300" y="1269000"/>
            <a:ext cx="5713401" cy="748795"/>
          </a:xfrm>
          <a:prstGeom prst="rect">
            <a:avLst/>
          </a:prstGeom>
          <a:noFill/>
        </p:spPr>
        <p:txBody>
          <a:bodyPr wrap="square">
            <a:spAutoFit/>
          </a:bodyPr>
          <a:lstStyle/>
          <a:p>
            <a:pPr algn="ctr" defTabSz="914446">
              <a:defRPr/>
            </a:pPr>
            <a:r>
              <a:rPr lang="en-US" sz="2133" dirty="0">
                <a:solidFill>
                  <a:prstClr val="white"/>
                </a:solidFill>
                <a:latin typeface="Hepta Slab Medium" pitchFamily="2" charset="0"/>
              </a:rPr>
              <a:t>Premium Banking </a:t>
            </a:r>
          </a:p>
          <a:p>
            <a:pPr algn="ctr" defTabSz="914446">
              <a:defRPr/>
            </a:pPr>
            <a:r>
              <a:rPr lang="en-US" sz="2133" dirty="0">
                <a:solidFill>
                  <a:prstClr val="white"/>
                </a:solidFill>
                <a:latin typeface="Hepta Slab Medium" pitchFamily="2" charset="0"/>
              </a:rPr>
              <a:t>Customer Engagement For</a:t>
            </a:r>
          </a:p>
        </p:txBody>
      </p:sp>
      <p:sp>
        <p:nvSpPr>
          <p:cNvPr id="16" name="Rectangle 15">
            <a:extLst>
              <a:ext uri="{FF2B5EF4-FFF2-40B4-BE49-F238E27FC236}">
                <a16:creationId xmlns:a16="http://schemas.microsoft.com/office/drawing/2014/main" id="{FBDAB4E6-9611-3B85-682C-EEE87376CB3E}"/>
              </a:ext>
            </a:extLst>
          </p:cNvPr>
          <p:cNvSpPr/>
          <p:nvPr/>
        </p:nvSpPr>
        <p:spPr>
          <a:xfrm>
            <a:off x="348997" y="5101426"/>
            <a:ext cx="11590499" cy="1061829"/>
          </a:xfrm>
          <a:prstGeom prst="rect">
            <a:avLst/>
          </a:prstGeom>
        </p:spPr>
        <p:txBody>
          <a:bodyPr wrap="square">
            <a:spAutoFit/>
          </a:bodyPr>
          <a:lstStyle/>
          <a:p>
            <a:pPr defTabSz="914446">
              <a:defRPr/>
            </a:pPr>
            <a:r>
              <a:rPr lang="en-IN" sz="700" dirty="0">
                <a:solidFill>
                  <a:prstClr val="white"/>
                </a:solidFill>
                <a:latin typeface="Montserrat ExtraBold" pitchFamily="2" charset="0"/>
              </a:rPr>
              <a:t>Confidentiality</a:t>
            </a:r>
          </a:p>
          <a:p>
            <a:pPr defTabSz="914446">
              <a:defRPr/>
            </a:pPr>
            <a:r>
              <a:rPr lang="en-IN" sz="700" dirty="0">
                <a:solidFill>
                  <a:prstClr val="white"/>
                </a:solidFill>
                <a:latin typeface="Montserrat" pitchFamily="2" charset="0"/>
              </a:rPr>
              <a:t>All of the information included in the Approach Note/Proposal (herein referred to as “Proposal ”) has been prepared for your sole, confidential and exclusive benefit and use.</a:t>
            </a:r>
          </a:p>
          <a:p>
            <a:pPr defTabSz="914446">
              <a:defRPr/>
            </a:pPr>
            <a:r>
              <a:rPr lang="en-IN" sz="700" dirty="0">
                <a:solidFill>
                  <a:prstClr val="white"/>
                </a:solidFill>
                <a:latin typeface="Montserrat" pitchFamily="2" charset="0"/>
              </a:rPr>
              <a:t>The Proposal, nor any portion or portions thereof, are intended to benefit any other person. If you directly or indirectly allow or cause the Proposal or any portion or portions thereof to be disclosed to any third party, or providing a copy or any portion or portions of any document or documents, you agree to indemnify, defend, and hold Terragni Consulting (p) Ltd. harmless for any claims or actions based on the Proposal or any information contained therein, brought by the third party and/or any other party.</a:t>
            </a:r>
          </a:p>
          <a:p>
            <a:pPr defTabSz="914446">
              <a:defRPr/>
            </a:pPr>
            <a:endParaRPr lang="en-IN" sz="700" dirty="0">
              <a:solidFill>
                <a:prstClr val="white"/>
              </a:solidFill>
              <a:latin typeface="Montserrat" pitchFamily="2" charset="0"/>
            </a:endParaRPr>
          </a:p>
          <a:p>
            <a:pPr defTabSz="914446">
              <a:defRPr/>
            </a:pPr>
            <a:r>
              <a:rPr lang="en-IN" sz="700" dirty="0">
                <a:solidFill>
                  <a:prstClr val="white"/>
                </a:solidFill>
                <a:latin typeface="Montserrat ExtraBold" pitchFamily="2" charset="0"/>
              </a:rPr>
              <a:t>Copyright</a:t>
            </a:r>
          </a:p>
          <a:p>
            <a:pPr defTabSz="914446">
              <a:defRPr/>
            </a:pPr>
            <a:r>
              <a:rPr lang="en-IN" sz="700" dirty="0">
                <a:solidFill>
                  <a:prstClr val="white"/>
                </a:solidFill>
                <a:latin typeface="Montserrat" pitchFamily="2" charset="0"/>
              </a:rPr>
              <a:t>All content included in this document, including the text, graphics, PDF files, links, logos, button icons, images, digital downloads, data compilations, and software is the property of Terragni Consulting (p) Ltd. and is protected by India’s copyright laws. </a:t>
            </a:r>
            <a:br>
              <a:rPr lang="en-IN" sz="700" dirty="0">
                <a:solidFill>
                  <a:prstClr val="white"/>
                </a:solidFill>
                <a:latin typeface="Montserrat" pitchFamily="2" charset="0"/>
              </a:rPr>
            </a:br>
            <a:r>
              <a:rPr lang="en-IN" sz="700" dirty="0">
                <a:solidFill>
                  <a:prstClr val="white"/>
                </a:solidFill>
                <a:latin typeface="Montserrat" pitchFamily="2" charset="0"/>
              </a:rPr>
              <a:t>The compilation of all content in this document is the exclusive property of Terragni Consulting (p) Ltd.</a:t>
            </a:r>
          </a:p>
        </p:txBody>
      </p:sp>
      <p:grpSp>
        <p:nvGrpSpPr>
          <p:cNvPr id="13" name="Group 12">
            <a:extLst>
              <a:ext uri="{FF2B5EF4-FFF2-40B4-BE49-F238E27FC236}">
                <a16:creationId xmlns:a16="http://schemas.microsoft.com/office/drawing/2014/main" id="{AA973D07-9F22-2238-5016-D4AD5A28C95F}"/>
              </a:ext>
            </a:extLst>
          </p:cNvPr>
          <p:cNvGrpSpPr/>
          <p:nvPr/>
        </p:nvGrpSpPr>
        <p:grpSpPr>
          <a:xfrm>
            <a:off x="1" y="6042107"/>
            <a:ext cx="11864037" cy="911852"/>
            <a:chOff x="579560" y="9184073"/>
            <a:chExt cx="18133625" cy="1393723"/>
          </a:xfrm>
        </p:grpSpPr>
        <p:sp>
          <p:nvSpPr>
            <p:cNvPr id="17" name="Title 1">
              <a:extLst>
                <a:ext uri="{FF2B5EF4-FFF2-40B4-BE49-F238E27FC236}">
                  <a16:creationId xmlns:a16="http://schemas.microsoft.com/office/drawing/2014/main" id="{1BCC9939-CCE9-80DC-EB99-7CAB094A87A8}"/>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8" name="Picture 17">
              <a:extLst>
                <a:ext uri="{FF2B5EF4-FFF2-40B4-BE49-F238E27FC236}">
                  <a16:creationId xmlns:a16="http://schemas.microsoft.com/office/drawing/2014/main" id="{9C292B02-6712-C043-AC99-A4E250A66C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9" name="Picture 18">
              <a:extLst>
                <a:ext uri="{FF2B5EF4-FFF2-40B4-BE49-F238E27FC236}">
                  <a16:creationId xmlns:a16="http://schemas.microsoft.com/office/drawing/2014/main" id="{FD195906-A1B0-3097-A7C6-F3582FA481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pic>
        <p:nvPicPr>
          <p:cNvPr id="2" name="Picture 6" descr="logo">
            <a:extLst>
              <a:ext uri="{FF2B5EF4-FFF2-40B4-BE49-F238E27FC236}">
                <a16:creationId xmlns:a16="http://schemas.microsoft.com/office/drawing/2014/main" id="{246C04BE-A374-B31E-9701-A01C3468FE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43899" y="2709505"/>
            <a:ext cx="3304553" cy="102105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C1C5E96-092C-5AF8-8A91-63B2BE83F0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0271" y="2472966"/>
            <a:ext cx="3445155" cy="1204792"/>
          </a:xfrm>
          <a:prstGeom prst="rect">
            <a:avLst/>
          </a:prstGeom>
        </p:spPr>
      </p:pic>
      <p:cxnSp>
        <p:nvCxnSpPr>
          <p:cNvPr id="11" name="Straight Connector 10">
            <a:extLst>
              <a:ext uri="{FF2B5EF4-FFF2-40B4-BE49-F238E27FC236}">
                <a16:creationId xmlns:a16="http://schemas.microsoft.com/office/drawing/2014/main" id="{56101FE5-85C6-333A-A916-B68F135FFDA0}"/>
              </a:ext>
            </a:extLst>
          </p:cNvPr>
          <p:cNvCxnSpPr/>
          <p:nvPr/>
        </p:nvCxnSpPr>
        <p:spPr>
          <a:xfrm>
            <a:off x="6096000" y="2709505"/>
            <a:ext cx="0" cy="1021055"/>
          </a:xfrm>
          <a:prstGeom prst="line">
            <a:avLst/>
          </a:prstGeom>
          <a:ln>
            <a:solidFill>
              <a:srgbClr val="D8A86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92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E7C1099-3901-41F5-943E-794F8C1D2C53}"/>
              </a:ext>
            </a:extLst>
          </p:cNvPr>
          <p:cNvSpPr txBox="1"/>
          <p:nvPr/>
        </p:nvSpPr>
        <p:spPr>
          <a:xfrm>
            <a:off x="336000" y="549000"/>
            <a:ext cx="2462534" cy="584775"/>
          </a:xfrm>
          <a:prstGeom prst="rect">
            <a:avLst/>
          </a:prstGeom>
          <a:noFill/>
        </p:spPr>
        <p:txBody>
          <a:bodyPr wrap="none" rtlCol="0">
            <a:spAutoFit/>
          </a:bodyPr>
          <a:lstStyle/>
          <a:p>
            <a:pPr defTabSz="304815">
              <a:defRPr/>
            </a:pPr>
            <a:r>
              <a:rPr lang="en-IN" sz="3200" dirty="0">
                <a:solidFill>
                  <a:prstClr val="white"/>
                </a:solidFill>
                <a:latin typeface="Hepta Slab Bold" pitchFamily="2" charset="0"/>
                <a:cs typeface="Hepta Slab Bold" pitchFamily="2" charset="0"/>
              </a:rPr>
              <a:t>Contents</a:t>
            </a:r>
            <a:r>
              <a:rPr lang="en-IN" sz="3200" dirty="0">
                <a:solidFill>
                  <a:srgbClr val="FFDE00"/>
                </a:solidFill>
                <a:latin typeface="Hepta Slab Bold" pitchFamily="2" charset="0"/>
                <a:cs typeface="Hepta Slab Bold" pitchFamily="2" charset="0"/>
              </a:rPr>
              <a:t>.</a:t>
            </a:r>
          </a:p>
        </p:txBody>
      </p:sp>
      <p:sp>
        <p:nvSpPr>
          <p:cNvPr id="9" name="TextBox 8">
            <a:extLst>
              <a:ext uri="{FF2B5EF4-FFF2-40B4-BE49-F238E27FC236}">
                <a16:creationId xmlns:a16="http://schemas.microsoft.com/office/drawing/2014/main" id="{D6F60D02-44E1-4519-A870-A21AE68577EC}"/>
              </a:ext>
            </a:extLst>
          </p:cNvPr>
          <p:cNvSpPr txBox="1"/>
          <p:nvPr/>
        </p:nvSpPr>
        <p:spPr>
          <a:xfrm>
            <a:off x="336000" y="1989000"/>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Objective</a:t>
            </a:r>
            <a:endParaRPr lang="en-US" sz="1867" dirty="0">
              <a:solidFill>
                <a:prstClr val="white"/>
              </a:solidFill>
              <a:latin typeface="Hepta Slab Medium" pitchFamily="2" charset="0"/>
              <a:cs typeface="Hepta Slab Medium" pitchFamily="2" charset="0"/>
            </a:endParaRPr>
          </a:p>
        </p:txBody>
      </p:sp>
      <p:grpSp>
        <p:nvGrpSpPr>
          <p:cNvPr id="10" name="Group 9">
            <a:extLst>
              <a:ext uri="{FF2B5EF4-FFF2-40B4-BE49-F238E27FC236}">
                <a16:creationId xmlns:a16="http://schemas.microsoft.com/office/drawing/2014/main" id="{C91C5EA5-9587-78CC-3026-589EACF343A5}"/>
              </a:ext>
            </a:extLst>
          </p:cNvPr>
          <p:cNvGrpSpPr/>
          <p:nvPr/>
        </p:nvGrpSpPr>
        <p:grpSpPr>
          <a:xfrm>
            <a:off x="1" y="6042107"/>
            <a:ext cx="11864037" cy="911852"/>
            <a:chOff x="579560" y="9184073"/>
            <a:chExt cx="18133625" cy="1393723"/>
          </a:xfrm>
        </p:grpSpPr>
        <p:sp>
          <p:nvSpPr>
            <p:cNvPr id="17" name="Title 1">
              <a:extLst>
                <a:ext uri="{FF2B5EF4-FFF2-40B4-BE49-F238E27FC236}">
                  <a16:creationId xmlns:a16="http://schemas.microsoft.com/office/drawing/2014/main" id="{B3609B4C-0C57-4779-05DA-ED30E7E66D3C}"/>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defRPr/>
              </a:pPr>
              <a:r>
                <a:rPr lang="en-IN" sz="800" dirty="0">
                  <a:solidFill>
                    <a:prstClr val="white"/>
                  </a:solidFill>
                  <a:latin typeface="Montserrat Medium" pitchFamily="2" charset="0"/>
                  <a:cs typeface="Hepta Slab" pitchFamily="2" charset="0"/>
                </a:rPr>
                <a:t>TERRAGNI CONSULTING (P) LTD PRIVATE AND CONFIDENTIAL</a:t>
              </a:r>
            </a:p>
          </p:txBody>
        </p:sp>
        <p:pic>
          <p:nvPicPr>
            <p:cNvPr id="18" name="Picture 17">
              <a:extLst>
                <a:ext uri="{FF2B5EF4-FFF2-40B4-BE49-F238E27FC236}">
                  <a16:creationId xmlns:a16="http://schemas.microsoft.com/office/drawing/2014/main" id="{3E7A2AE5-3370-1578-D172-3D68F90D95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9" name="Picture 18">
              <a:extLst>
                <a:ext uri="{FF2B5EF4-FFF2-40B4-BE49-F238E27FC236}">
                  <a16:creationId xmlns:a16="http://schemas.microsoft.com/office/drawing/2014/main" id="{FE3E6CD0-C4DE-4D9A-6644-FF4A540529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2" name="TextBox 11">
            <a:extLst>
              <a:ext uri="{FF2B5EF4-FFF2-40B4-BE49-F238E27FC236}">
                <a16:creationId xmlns:a16="http://schemas.microsoft.com/office/drawing/2014/main" id="{4559ADDC-CCD2-4954-C2EF-65AAD23D0288}"/>
              </a:ext>
            </a:extLst>
          </p:cNvPr>
          <p:cNvSpPr txBox="1"/>
          <p:nvPr/>
        </p:nvSpPr>
        <p:spPr>
          <a:xfrm>
            <a:off x="4176000" y="1989000"/>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04</a:t>
            </a:r>
            <a:endParaRPr lang="en-US" sz="1867" dirty="0">
              <a:solidFill>
                <a:srgbClr val="FFDE00"/>
              </a:solidFill>
              <a:latin typeface="Hepta Slab Medium" pitchFamily="2" charset="0"/>
              <a:cs typeface="Hepta Slab Medium" pitchFamily="2" charset="0"/>
            </a:endParaRPr>
          </a:p>
        </p:txBody>
      </p:sp>
      <p:sp>
        <p:nvSpPr>
          <p:cNvPr id="29" name="TextBox 28">
            <a:extLst>
              <a:ext uri="{FF2B5EF4-FFF2-40B4-BE49-F238E27FC236}">
                <a16:creationId xmlns:a16="http://schemas.microsoft.com/office/drawing/2014/main" id="{108F16E1-7B07-2467-816D-EC173F5C3992}"/>
              </a:ext>
            </a:extLst>
          </p:cNvPr>
          <p:cNvSpPr txBox="1"/>
          <p:nvPr/>
        </p:nvSpPr>
        <p:spPr>
          <a:xfrm>
            <a:off x="336000" y="2296777"/>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Scope</a:t>
            </a:r>
            <a:endParaRPr lang="en-US" sz="1867" dirty="0">
              <a:solidFill>
                <a:prstClr val="white"/>
              </a:solidFill>
              <a:latin typeface="Hepta Slab Medium" pitchFamily="2" charset="0"/>
              <a:cs typeface="Hepta Slab Medium" pitchFamily="2" charset="0"/>
            </a:endParaRPr>
          </a:p>
        </p:txBody>
      </p:sp>
      <p:sp>
        <p:nvSpPr>
          <p:cNvPr id="30" name="TextBox 29">
            <a:extLst>
              <a:ext uri="{FF2B5EF4-FFF2-40B4-BE49-F238E27FC236}">
                <a16:creationId xmlns:a16="http://schemas.microsoft.com/office/drawing/2014/main" id="{26F78241-170D-E9B5-51ED-A365A880B7A2}"/>
              </a:ext>
            </a:extLst>
          </p:cNvPr>
          <p:cNvSpPr txBox="1"/>
          <p:nvPr/>
        </p:nvSpPr>
        <p:spPr>
          <a:xfrm>
            <a:off x="4176000" y="2296777"/>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06</a:t>
            </a:r>
            <a:endParaRPr lang="en-US" sz="1867" dirty="0">
              <a:solidFill>
                <a:srgbClr val="FFDE00"/>
              </a:solidFill>
              <a:latin typeface="Hepta Slab Medium" pitchFamily="2" charset="0"/>
              <a:cs typeface="Hepta Slab Medium" pitchFamily="2" charset="0"/>
            </a:endParaRPr>
          </a:p>
        </p:txBody>
      </p:sp>
      <p:sp>
        <p:nvSpPr>
          <p:cNvPr id="33" name="TextBox 32">
            <a:extLst>
              <a:ext uri="{FF2B5EF4-FFF2-40B4-BE49-F238E27FC236}">
                <a16:creationId xmlns:a16="http://schemas.microsoft.com/office/drawing/2014/main" id="{7BDB0A20-CDCF-19A7-6915-0A7B556E4A4B}"/>
              </a:ext>
            </a:extLst>
          </p:cNvPr>
          <p:cNvSpPr txBox="1"/>
          <p:nvPr/>
        </p:nvSpPr>
        <p:spPr>
          <a:xfrm>
            <a:off x="336000" y="2604553"/>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The Context</a:t>
            </a:r>
            <a:endParaRPr lang="en-US" sz="1867" dirty="0">
              <a:solidFill>
                <a:prstClr val="white"/>
              </a:solidFill>
              <a:latin typeface="Hepta Slab Medium" pitchFamily="2" charset="0"/>
              <a:cs typeface="Hepta Slab Medium" pitchFamily="2" charset="0"/>
            </a:endParaRPr>
          </a:p>
        </p:txBody>
      </p:sp>
      <p:sp>
        <p:nvSpPr>
          <p:cNvPr id="34" name="TextBox 33">
            <a:extLst>
              <a:ext uri="{FF2B5EF4-FFF2-40B4-BE49-F238E27FC236}">
                <a16:creationId xmlns:a16="http://schemas.microsoft.com/office/drawing/2014/main" id="{883150EF-B1BE-2B51-D835-EEACD066DEE0}"/>
              </a:ext>
            </a:extLst>
          </p:cNvPr>
          <p:cNvSpPr txBox="1"/>
          <p:nvPr/>
        </p:nvSpPr>
        <p:spPr>
          <a:xfrm>
            <a:off x="4176000" y="2604553"/>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13</a:t>
            </a:r>
            <a:endParaRPr lang="en-US" sz="1867" dirty="0">
              <a:solidFill>
                <a:srgbClr val="FFDE00"/>
              </a:solidFill>
              <a:latin typeface="Hepta Slab Medium" pitchFamily="2" charset="0"/>
              <a:cs typeface="Hepta Slab Medium" pitchFamily="2" charset="0"/>
            </a:endParaRPr>
          </a:p>
        </p:txBody>
      </p:sp>
      <p:sp>
        <p:nvSpPr>
          <p:cNvPr id="35" name="TextBox 34">
            <a:extLst>
              <a:ext uri="{FF2B5EF4-FFF2-40B4-BE49-F238E27FC236}">
                <a16:creationId xmlns:a16="http://schemas.microsoft.com/office/drawing/2014/main" id="{6D2F19C9-D407-E185-CE40-32A8D1B81FE7}"/>
              </a:ext>
            </a:extLst>
          </p:cNvPr>
          <p:cNvSpPr txBox="1"/>
          <p:nvPr/>
        </p:nvSpPr>
        <p:spPr>
          <a:xfrm>
            <a:off x="336000" y="2912330"/>
            <a:ext cx="372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Insights - Headlines</a:t>
            </a:r>
            <a:endParaRPr lang="en-US" sz="1867" dirty="0">
              <a:solidFill>
                <a:prstClr val="white"/>
              </a:solidFill>
              <a:latin typeface="Hepta Slab Medium" pitchFamily="2" charset="0"/>
              <a:cs typeface="Hepta Slab Medium" pitchFamily="2" charset="0"/>
            </a:endParaRPr>
          </a:p>
        </p:txBody>
      </p:sp>
      <p:sp>
        <p:nvSpPr>
          <p:cNvPr id="36" name="TextBox 35">
            <a:extLst>
              <a:ext uri="{FF2B5EF4-FFF2-40B4-BE49-F238E27FC236}">
                <a16:creationId xmlns:a16="http://schemas.microsoft.com/office/drawing/2014/main" id="{A030B694-D80E-4F2E-A40E-14C58BF9DF24}"/>
              </a:ext>
            </a:extLst>
          </p:cNvPr>
          <p:cNvSpPr txBox="1"/>
          <p:nvPr/>
        </p:nvSpPr>
        <p:spPr>
          <a:xfrm>
            <a:off x="4176000" y="2912330"/>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14</a:t>
            </a:r>
            <a:endParaRPr lang="en-US" sz="1867" dirty="0">
              <a:solidFill>
                <a:srgbClr val="FFDE00"/>
              </a:solidFill>
              <a:latin typeface="Hepta Slab Medium" pitchFamily="2" charset="0"/>
              <a:cs typeface="Hepta Slab Medium" pitchFamily="2" charset="0"/>
            </a:endParaRPr>
          </a:p>
        </p:txBody>
      </p:sp>
      <p:sp>
        <p:nvSpPr>
          <p:cNvPr id="42" name="TextBox 41">
            <a:extLst>
              <a:ext uri="{FF2B5EF4-FFF2-40B4-BE49-F238E27FC236}">
                <a16:creationId xmlns:a16="http://schemas.microsoft.com/office/drawing/2014/main" id="{1C2CD892-B83B-81C0-47D9-4097965F5EEE}"/>
              </a:ext>
            </a:extLst>
          </p:cNvPr>
          <p:cNvSpPr txBox="1"/>
          <p:nvPr/>
        </p:nvSpPr>
        <p:spPr>
          <a:xfrm>
            <a:off x="336000" y="3220108"/>
            <a:ext cx="372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Expectation – Experience Gap</a:t>
            </a:r>
          </a:p>
        </p:txBody>
      </p:sp>
      <p:sp>
        <p:nvSpPr>
          <p:cNvPr id="43" name="TextBox 42">
            <a:extLst>
              <a:ext uri="{FF2B5EF4-FFF2-40B4-BE49-F238E27FC236}">
                <a16:creationId xmlns:a16="http://schemas.microsoft.com/office/drawing/2014/main" id="{D238565E-70A1-9507-26E0-D7EEBA98176E}"/>
              </a:ext>
            </a:extLst>
          </p:cNvPr>
          <p:cNvSpPr txBox="1"/>
          <p:nvPr/>
        </p:nvSpPr>
        <p:spPr>
          <a:xfrm>
            <a:off x="4176000" y="3220107"/>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24</a:t>
            </a:r>
            <a:endParaRPr lang="en-US" sz="1867" dirty="0">
              <a:solidFill>
                <a:srgbClr val="FFDE00"/>
              </a:solidFill>
              <a:latin typeface="Hepta Slab Medium" pitchFamily="2" charset="0"/>
              <a:cs typeface="Hepta Slab Medium" pitchFamily="2" charset="0"/>
            </a:endParaRPr>
          </a:p>
        </p:txBody>
      </p:sp>
      <p:sp>
        <p:nvSpPr>
          <p:cNvPr id="44" name="TextBox 43">
            <a:extLst>
              <a:ext uri="{FF2B5EF4-FFF2-40B4-BE49-F238E27FC236}">
                <a16:creationId xmlns:a16="http://schemas.microsoft.com/office/drawing/2014/main" id="{6019E5BC-0AE2-6982-54CA-08F2F700F494}"/>
              </a:ext>
            </a:extLst>
          </p:cNvPr>
          <p:cNvSpPr txBox="1"/>
          <p:nvPr/>
        </p:nvSpPr>
        <p:spPr>
          <a:xfrm>
            <a:off x="336000" y="3523009"/>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Financial Transactions</a:t>
            </a:r>
            <a:endParaRPr lang="en-US" sz="1867" dirty="0">
              <a:solidFill>
                <a:prstClr val="white"/>
              </a:solidFill>
              <a:latin typeface="Hepta Slab Medium" pitchFamily="2" charset="0"/>
              <a:cs typeface="Hepta Slab Medium" pitchFamily="2" charset="0"/>
            </a:endParaRPr>
          </a:p>
        </p:txBody>
      </p:sp>
      <p:sp>
        <p:nvSpPr>
          <p:cNvPr id="45" name="TextBox 44">
            <a:extLst>
              <a:ext uri="{FF2B5EF4-FFF2-40B4-BE49-F238E27FC236}">
                <a16:creationId xmlns:a16="http://schemas.microsoft.com/office/drawing/2014/main" id="{6DD24FFB-B55B-0A08-98F6-B9F2DDDCF962}"/>
              </a:ext>
            </a:extLst>
          </p:cNvPr>
          <p:cNvSpPr txBox="1"/>
          <p:nvPr/>
        </p:nvSpPr>
        <p:spPr>
          <a:xfrm>
            <a:off x="4176000" y="3523009"/>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29</a:t>
            </a:r>
            <a:endParaRPr lang="en-US" sz="1867" dirty="0">
              <a:solidFill>
                <a:srgbClr val="FFDE00"/>
              </a:solidFill>
              <a:latin typeface="Hepta Slab Medium" pitchFamily="2" charset="0"/>
              <a:cs typeface="Hepta Slab Medium" pitchFamily="2" charset="0"/>
            </a:endParaRPr>
          </a:p>
        </p:txBody>
      </p:sp>
      <p:sp>
        <p:nvSpPr>
          <p:cNvPr id="46" name="TextBox 45">
            <a:extLst>
              <a:ext uri="{FF2B5EF4-FFF2-40B4-BE49-F238E27FC236}">
                <a16:creationId xmlns:a16="http://schemas.microsoft.com/office/drawing/2014/main" id="{2A18699C-1499-8CC2-3A1D-370BAB7DC777}"/>
              </a:ext>
            </a:extLst>
          </p:cNvPr>
          <p:cNvSpPr txBox="1"/>
          <p:nvPr/>
        </p:nvSpPr>
        <p:spPr>
          <a:xfrm>
            <a:off x="336000" y="3825912"/>
            <a:ext cx="336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Helps Me Grow My Money</a:t>
            </a:r>
            <a:endParaRPr lang="en-US" sz="1867" dirty="0">
              <a:solidFill>
                <a:prstClr val="white"/>
              </a:solidFill>
              <a:latin typeface="Hepta Slab Medium" pitchFamily="2" charset="0"/>
              <a:cs typeface="Hepta Slab Medium" pitchFamily="2" charset="0"/>
            </a:endParaRPr>
          </a:p>
        </p:txBody>
      </p:sp>
      <p:sp>
        <p:nvSpPr>
          <p:cNvPr id="47" name="TextBox 46">
            <a:extLst>
              <a:ext uri="{FF2B5EF4-FFF2-40B4-BE49-F238E27FC236}">
                <a16:creationId xmlns:a16="http://schemas.microsoft.com/office/drawing/2014/main" id="{65B86DE1-2B93-BA78-FCB6-BD24B900DC26}"/>
              </a:ext>
            </a:extLst>
          </p:cNvPr>
          <p:cNvSpPr txBox="1"/>
          <p:nvPr/>
        </p:nvSpPr>
        <p:spPr>
          <a:xfrm>
            <a:off x="4176000" y="3825912"/>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36</a:t>
            </a:r>
            <a:endParaRPr lang="en-US" sz="1867" dirty="0">
              <a:solidFill>
                <a:srgbClr val="FFDE00"/>
              </a:solidFill>
              <a:latin typeface="Hepta Slab Medium" pitchFamily="2" charset="0"/>
              <a:cs typeface="Hepta Slab Medium" pitchFamily="2" charset="0"/>
            </a:endParaRPr>
          </a:p>
        </p:txBody>
      </p:sp>
      <p:sp>
        <p:nvSpPr>
          <p:cNvPr id="51" name="TextBox 50">
            <a:extLst>
              <a:ext uri="{FF2B5EF4-FFF2-40B4-BE49-F238E27FC236}">
                <a16:creationId xmlns:a16="http://schemas.microsoft.com/office/drawing/2014/main" id="{1D0A56DD-97A0-3F98-4313-E2801E15D3EB}"/>
              </a:ext>
            </a:extLst>
          </p:cNvPr>
          <p:cNvSpPr txBox="1"/>
          <p:nvPr/>
        </p:nvSpPr>
        <p:spPr>
          <a:xfrm>
            <a:off x="336000" y="4133689"/>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Enhance My Lifestyle</a:t>
            </a:r>
            <a:endParaRPr lang="en-US" sz="1867" dirty="0">
              <a:solidFill>
                <a:prstClr val="white"/>
              </a:solidFill>
              <a:latin typeface="Hepta Slab Medium" pitchFamily="2" charset="0"/>
              <a:cs typeface="Hepta Slab Medium" pitchFamily="2" charset="0"/>
            </a:endParaRPr>
          </a:p>
        </p:txBody>
      </p:sp>
      <p:sp>
        <p:nvSpPr>
          <p:cNvPr id="52" name="TextBox 51">
            <a:extLst>
              <a:ext uri="{FF2B5EF4-FFF2-40B4-BE49-F238E27FC236}">
                <a16:creationId xmlns:a16="http://schemas.microsoft.com/office/drawing/2014/main" id="{0071FD41-30F2-40C7-B2A0-412C7F21B5D9}"/>
              </a:ext>
            </a:extLst>
          </p:cNvPr>
          <p:cNvSpPr txBox="1"/>
          <p:nvPr/>
        </p:nvSpPr>
        <p:spPr>
          <a:xfrm>
            <a:off x="4176000" y="4133689"/>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45</a:t>
            </a:r>
            <a:endParaRPr lang="en-US" sz="1867" dirty="0">
              <a:solidFill>
                <a:srgbClr val="FFDE00"/>
              </a:solidFill>
              <a:latin typeface="Hepta Slab Medium" pitchFamily="2" charset="0"/>
              <a:cs typeface="Hepta Slab Medium" pitchFamily="2" charset="0"/>
            </a:endParaRPr>
          </a:p>
        </p:txBody>
      </p:sp>
      <p:sp>
        <p:nvSpPr>
          <p:cNvPr id="53" name="TextBox 52">
            <a:extLst>
              <a:ext uri="{FF2B5EF4-FFF2-40B4-BE49-F238E27FC236}">
                <a16:creationId xmlns:a16="http://schemas.microsoft.com/office/drawing/2014/main" id="{8C8BBDCA-39B3-17D4-2335-04DF1F8EEF79}"/>
              </a:ext>
            </a:extLst>
          </p:cNvPr>
          <p:cNvSpPr txBox="1"/>
          <p:nvPr/>
        </p:nvSpPr>
        <p:spPr>
          <a:xfrm>
            <a:off x="336000" y="4431717"/>
            <a:ext cx="3359999"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The Relationship Manager</a:t>
            </a:r>
            <a:endParaRPr lang="en-US" sz="1867" dirty="0">
              <a:solidFill>
                <a:prstClr val="white"/>
              </a:solidFill>
              <a:latin typeface="Hepta Slab Medium" pitchFamily="2" charset="0"/>
              <a:cs typeface="Hepta Slab Medium" pitchFamily="2" charset="0"/>
            </a:endParaRPr>
          </a:p>
        </p:txBody>
      </p:sp>
      <p:sp>
        <p:nvSpPr>
          <p:cNvPr id="54" name="TextBox 53">
            <a:extLst>
              <a:ext uri="{FF2B5EF4-FFF2-40B4-BE49-F238E27FC236}">
                <a16:creationId xmlns:a16="http://schemas.microsoft.com/office/drawing/2014/main" id="{C8F8F871-EADA-16C3-CAE9-189C4A8A8F50}"/>
              </a:ext>
            </a:extLst>
          </p:cNvPr>
          <p:cNvSpPr txBox="1"/>
          <p:nvPr/>
        </p:nvSpPr>
        <p:spPr>
          <a:xfrm>
            <a:off x="4176000" y="4431717"/>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55</a:t>
            </a:r>
            <a:endParaRPr lang="en-US" sz="1867" dirty="0">
              <a:solidFill>
                <a:srgbClr val="FFDE00"/>
              </a:solidFill>
              <a:latin typeface="Hepta Slab Medium" pitchFamily="2" charset="0"/>
              <a:cs typeface="Hepta Slab Medium" pitchFamily="2" charset="0"/>
            </a:endParaRPr>
          </a:p>
        </p:txBody>
      </p:sp>
      <p:sp>
        <p:nvSpPr>
          <p:cNvPr id="55" name="TextBox 54">
            <a:extLst>
              <a:ext uri="{FF2B5EF4-FFF2-40B4-BE49-F238E27FC236}">
                <a16:creationId xmlns:a16="http://schemas.microsoft.com/office/drawing/2014/main" id="{D0562D53-5DD0-F068-CFCE-74481EC054B7}"/>
              </a:ext>
            </a:extLst>
          </p:cNvPr>
          <p:cNvSpPr txBox="1"/>
          <p:nvPr/>
        </p:nvSpPr>
        <p:spPr>
          <a:xfrm>
            <a:off x="5616000" y="2307494"/>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The Competition</a:t>
            </a:r>
            <a:endParaRPr lang="en-US" sz="1867" dirty="0">
              <a:solidFill>
                <a:prstClr val="white"/>
              </a:solidFill>
              <a:latin typeface="Hepta Slab Medium" pitchFamily="2" charset="0"/>
              <a:cs typeface="Hepta Slab Medium" pitchFamily="2" charset="0"/>
            </a:endParaRPr>
          </a:p>
        </p:txBody>
      </p:sp>
      <p:sp>
        <p:nvSpPr>
          <p:cNvPr id="56" name="TextBox 55">
            <a:extLst>
              <a:ext uri="{FF2B5EF4-FFF2-40B4-BE49-F238E27FC236}">
                <a16:creationId xmlns:a16="http://schemas.microsoft.com/office/drawing/2014/main" id="{12D27AD9-10F8-9F55-B832-1BFADC2FE407}"/>
              </a:ext>
            </a:extLst>
          </p:cNvPr>
          <p:cNvSpPr txBox="1"/>
          <p:nvPr/>
        </p:nvSpPr>
        <p:spPr>
          <a:xfrm>
            <a:off x="9936000" y="2307494"/>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62</a:t>
            </a:r>
            <a:endParaRPr lang="en-US" sz="1867" dirty="0">
              <a:solidFill>
                <a:srgbClr val="FFDE00"/>
              </a:solidFill>
              <a:latin typeface="Hepta Slab Medium" pitchFamily="2" charset="0"/>
              <a:cs typeface="Hepta Slab Medium" pitchFamily="2" charset="0"/>
            </a:endParaRPr>
          </a:p>
        </p:txBody>
      </p:sp>
      <p:sp>
        <p:nvSpPr>
          <p:cNvPr id="62" name="TextBox 61">
            <a:extLst>
              <a:ext uri="{FF2B5EF4-FFF2-40B4-BE49-F238E27FC236}">
                <a16:creationId xmlns:a16="http://schemas.microsoft.com/office/drawing/2014/main" id="{39C6AFC4-3C8D-C295-B0F7-37965886BC6E}"/>
              </a:ext>
            </a:extLst>
          </p:cNvPr>
          <p:cNvSpPr txBox="1"/>
          <p:nvPr/>
        </p:nvSpPr>
        <p:spPr>
          <a:xfrm>
            <a:off x="5615999" y="2660819"/>
            <a:ext cx="372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Experiential Segmentation</a:t>
            </a:r>
            <a:endParaRPr lang="en-US" sz="1867" dirty="0">
              <a:solidFill>
                <a:prstClr val="white"/>
              </a:solidFill>
              <a:latin typeface="Hepta Slab Medium" pitchFamily="2" charset="0"/>
              <a:cs typeface="Hepta Slab Medium" pitchFamily="2" charset="0"/>
            </a:endParaRPr>
          </a:p>
        </p:txBody>
      </p:sp>
      <p:sp>
        <p:nvSpPr>
          <p:cNvPr id="63" name="TextBox 62">
            <a:extLst>
              <a:ext uri="{FF2B5EF4-FFF2-40B4-BE49-F238E27FC236}">
                <a16:creationId xmlns:a16="http://schemas.microsoft.com/office/drawing/2014/main" id="{DE152A3F-1C69-BE42-C6FE-CEB114BCB1D0}"/>
              </a:ext>
            </a:extLst>
          </p:cNvPr>
          <p:cNvSpPr txBox="1"/>
          <p:nvPr/>
        </p:nvSpPr>
        <p:spPr>
          <a:xfrm>
            <a:off x="9935999" y="2660819"/>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89</a:t>
            </a:r>
            <a:endParaRPr lang="en-US" sz="1867" dirty="0">
              <a:solidFill>
                <a:srgbClr val="FFDE00"/>
              </a:solidFill>
              <a:latin typeface="Hepta Slab Medium" pitchFamily="2" charset="0"/>
              <a:cs typeface="Hepta Slab Medium" pitchFamily="2" charset="0"/>
            </a:endParaRPr>
          </a:p>
        </p:txBody>
      </p:sp>
      <p:sp>
        <p:nvSpPr>
          <p:cNvPr id="91" name="TextBox 90">
            <a:extLst>
              <a:ext uri="{FF2B5EF4-FFF2-40B4-BE49-F238E27FC236}">
                <a16:creationId xmlns:a16="http://schemas.microsoft.com/office/drawing/2014/main" id="{85B5C562-D58C-E63B-8FB1-679427DFB3C1}"/>
              </a:ext>
            </a:extLst>
          </p:cNvPr>
          <p:cNvSpPr txBox="1"/>
          <p:nvPr/>
        </p:nvSpPr>
        <p:spPr>
          <a:xfrm>
            <a:off x="5616000" y="2957877"/>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Relationship Custodian</a:t>
            </a:r>
            <a:endParaRPr lang="en-US" sz="1867" dirty="0">
              <a:solidFill>
                <a:prstClr val="white"/>
              </a:solidFill>
              <a:latin typeface="Hepta Slab Medium" pitchFamily="2" charset="0"/>
              <a:cs typeface="Hepta Slab Medium" pitchFamily="2" charset="0"/>
            </a:endParaRPr>
          </a:p>
        </p:txBody>
      </p:sp>
      <p:sp>
        <p:nvSpPr>
          <p:cNvPr id="93" name="TextBox 92">
            <a:extLst>
              <a:ext uri="{FF2B5EF4-FFF2-40B4-BE49-F238E27FC236}">
                <a16:creationId xmlns:a16="http://schemas.microsoft.com/office/drawing/2014/main" id="{DE67DA71-AEA2-D394-8224-2AC772DDEC42}"/>
              </a:ext>
            </a:extLst>
          </p:cNvPr>
          <p:cNvSpPr txBox="1"/>
          <p:nvPr/>
        </p:nvSpPr>
        <p:spPr>
          <a:xfrm>
            <a:off x="5616000" y="3265653"/>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prstClr val="white"/>
                </a:solidFill>
                <a:latin typeface="Hepta Slab Medium" pitchFamily="2" charset="0"/>
                <a:cs typeface="Hepta Slab Medium" pitchFamily="2" charset="0"/>
              </a:rPr>
              <a:t>The White Glove</a:t>
            </a:r>
            <a:endParaRPr lang="en-US" sz="1867" dirty="0">
              <a:solidFill>
                <a:prstClr val="white"/>
              </a:solidFill>
              <a:latin typeface="Hepta Slab Medium" pitchFamily="2" charset="0"/>
              <a:cs typeface="Hepta Slab Medium" pitchFamily="2" charset="0"/>
            </a:endParaRPr>
          </a:p>
        </p:txBody>
      </p:sp>
      <p:sp>
        <p:nvSpPr>
          <p:cNvPr id="94" name="TextBox 93">
            <a:extLst>
              <a:ext uri="{FF2B5EF4-FFF2-40B4-BE49-F238E27FC236}">
                <a16:creationId xmlns:a16="http://schemas.microsoft.com/office/drawing/2014/main" id="{8ECF61FF-6FEE-629A-4F47-FEB67AB33417}"/>
              </a:ext>
            </a:extLst>
          </p:cNvPr>
          <p:cNvSpPr txBox="1"/>
          <p:nvPr/>
        </p:nvSpPr>
        <p:spPr>
          <a:xfrm>
            <a:off x="9935998" y="2982257"/>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94</a:t>
            </a:r>
            <a:endParaRPr lang="en-US" sz="1867" dirty="0">
              <a:solidFill>
                <a:srgbClr val="FFDE00"/>
              </a:solidFill>
              <a:latin typeface="Hepta Slab Medium" pitchFamily="2" charset="0"/>
              <a:cs typeface="Hepta Slab Medium" pitchFamily="2" charset="0"/>
            </a:endParaRPr>
          </a:p>
        </p:txBody>
      </p:sp>
      <p:sp>
        <p:nvSpPr>
          <p:cNvPr id="95" name="TextBox 94">
            <a:extLst>
              <a:ext uri="{FF2B5EF4-FFF2-40B4-BE49-F238E27FC236}">
                <a16:creationId xmlns:a16="http://schemas.microsoft.com/office/drawing/2014/main" id="{5096CA94-D8EC-22BC-D5A5-3B84F112DD00}"/>
              </a:ext>
            </a:extLst>
          </p:cNvPr>
          <p:cNvSpPr txBox="1"/>
          <p:nvPr/>
        </p:nvSpPr>
        <p:spPr>
          <a:xfrm>
            <a:off x="5616000" y="3573430"/>
            <a:ext cx="28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7030A0"/>
                </a:solidFill>
                <a:latin typeface="Hepta Slab Medium" pitchFamily="2" charset="0"/>
                <a:cs typeface="Hepta Slab Medium" pitchFamily="2" charset="0"/>
              </a:rPr>
              <a:t>Service Recovery</a:t>
            </a:r>
            <a:endParaRPr lang="en-US" sz="1867" dirty="0">
              <a:solidFill>
                <a:srgbClr val="7030A0"/>
              </a:solidFill>
              <a:latin typeface="Hepta Slab Medium" pitchFamily="2" charset="0"/>
              <a:cs typeface="Hepta Slab Medium" pitchFamily="2" charset="0"/>
            </a:endParaRPr>
          </a:p>
        </p:txBody>
      </p:sp>
      <p:sp>
        <p:nvSpPr>
          <p:cNvPr id="97" name="TextBox 96">
            <a:extLst>
              <a:ext uri="{FF2B5EF4-FFF2-40B4-BE49-F238E27FC236}">
                <a16:creationId xmlns:a16="http://schemas.microsoft.com/office/drawing/2014/main" id="{91020E06-FFD9-CCC0-F8D3-B5DAFF0FA245}"/>
              </a:ext>
            </a:extLst>
          </p:cNvPr>
          <p:cNvSpPr txBox="1"/>
          <p:nvPr/>
        </p:nvSpPr>
        <p:spPr>
          <a:xfrm>
            <a:off x="5616000" y="3881207"/>
            <a:ext cx="372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7030A0"/>
                </a:solidFill>
                <a:latin typeface="Hepta Slab Medium" pitchFamily="2" charset="0"/>
                <a:cs typeface="Hepta Slab Medium" pitchFamily="2" charset="0"/>
              </a:rPr>
              <a:t>Perceived Friction</a:t>
            </a:r>
            <a:endParaRPr lang="en-US" sz="1867" dirty="0">
              <a:solidFill>
                <a:srgbClr val="7030A0"/>
              </a:solidFill>
              <a:latin typeface="Hepta Slab Medium" pitchFamily="2" charset="0"/>
              <a:cs typeface="Hepta Slab Medium" pitchFamily="2" charset="0"/>
            </a:endParaRPr>
          </a:p>
        </p:txBody>
      </p:sp>
      <p:sp>
        <p:nvSpPr>
          <p:cNvPr id="48" name="TextBox 47">
            <a:extLst>
              <a:ext uri="{FF2B5EF4-FFF2-40B4-BE49-F238E27FC236}">
                <a16:creationId xmlns:a16="http://schemas.microsoft.com/office/drawing/2014/main" id="{73815CC8-5B69-27EE-7E98-BBC0211C1719}"/>
              </a:ext>
            </a:extLst>
          </p:cNvPr>
          <p:cNvSpPr txBox="1"/>
          <p:nvPr/>
        </p:nvSpPr>
        <p:spPr>
          <a:xfrm>
            <a:off x="5615999" y="4139329"/>
            <a:ext cx="4319999" cy="584775"/>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7030A0"/>
                </a:solidFill>
                <a:latin typeface="Hepta Slab Medium" pitchFamily="2" charset="0"/>
                <a:cs typeface="Hepta Slab Medium" pitchFamily="2" charset="0"/>
              </a:rPr>
              <a:t>Suggested Implementation Approach</a:t>
            </a:r>
            <a:endParaRPr lang="en-US" sz="1867" dirty="0">
              <a:solidFill>
                <a:srgbClr val="7030A0"/>
              </a:solidFill>
              <a:latin typeface="Hepta Slab Medium" pitchFamily="2" charset="0"/>
              <a:cs typeface="Hepta Slab Medium" pitchFamily="2" charset="0"/>
            </a:endParaRPr>
          </a:p>
        </p:txBody>
      </p:sp>
      <p:sp>
        <p:nvSpPr>
          <p:cNvPr id="2" name="TextBox 1">
            <a:extLst>
              <a:ext uri="{FF2B5EF4-FFF2-40B4-BE49-F238E27FC236}">
                <a16:creationId xmlns:a16="http://schemas.microsoft.com/office/drawing/2014/main" id="{32DE3666-33CF-2B67-6B24-8F88E53088E2}"/>
              </a:ext>
            </a:extLst>
          </p:cNvPr>
          <p:cNvSpPr txBox="1"/>
          <p:nvPr/>
        </p:nvSpPr>
        <p:spPr>
          <a:xfrm>
            <a:off x="9935998" y="3315818"/>
            <a:ext cx="480000" cy="338554"/>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FDE00"/>
                </a:solidFill>
                <a:latin typeface="Hepta Slab Medium" pitchFamily="2" charset="0"/>
                <a:cs typeface="Hepta Slab Medium" pitchFamily="2" charset="0"/>
              </a:rPr>
              <a:t>95</a:t>
            </a:r>
            <a:endParaRPr lang="en-US" sz="1867" dirty="0">
              <a:solidFill>
                <a:srgbClr val="FFDE00"/>
              </a:solidFill>
              <a:latin typeface="Hepta Slab Medium" pitchFamily="2" charset="0"/>
              <a:cs typeface="Hepta Slab Medium" pitchFamily="2" charset="0"/>
            </a:endParaRPr>
          </a:p>
        </p:txBody>
      </p:sp>
    </p:spTree>
    <p:extLst>
      <p:ext uri="{BB962C8B-B14F-4D97-AF65-F5344CB8AC3E}">
        <p14:creationId xmlns:p14="http://schemas.microsoft.com/office/powerpoint/2010/main" val="2492982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C2472"/>
        </a:solidFill>
        <a:effectLst/>
      </p:bgPr>
    </p:bg>
    <p:spTree>
      <p:nvGrpSpPr>
        <p:cNvPr id="1" name=""/>
        <p:cNvGrpSpPr/>
        <p:nvPr/>
      </p:nvGrpSpPr>
      <p:grpSpPr>
        <a:xfrm>
          <a:off x="0" y="0"/>
          <a:ext cx="0" cy="0"/>
          <a:chOff x="0" y="0"/>
          <a:chExt cx="0" cy="0"/>
        </a:xfrm>
      </p:grpSpPr>
      <p:sp>
        <p:nvSpPr>
          <p:cNvPr id="19" name="Object5">
            <a:extLst>
              <a:ext uri="{FF2B5EF4-FFF2-40B4-BE49-F238E27FC236}">
                <a16:creationId xmlns:a16="http://schemas.microsoft.com/office/drawing/2014/main" id="{A0F99477-C5D6-0452-07F2-AC3B186E7605}"/>
              </a:ext>
            </a:extLst>
          </p:cNvPr>
          <p:cNvSpPr/>
          <p:nvPr/>
        </p:nvSpPr>
        <p:spPr>
          <a:xfrm>
            <a:off x="1416000" y="2109000"/>
            <a:ext cx="8305193" cy="1920000"/>
          </a:xfrm>
          <a:prstGeom prst="rect">
            <a:avLst/>
          </a:prstGeom>
          <a:noFill/>
          <a:ln/>
        </p:spPr>
        <p:txBody>
          <a:bodyPr wrap="square" lIns="0" tIns="0" rIns="0" bIns="0" rtlCol="0" anchor="t"/>
          <a:lstStyle/>
          <a:p>
            <a:pPr marL="0" marR="0" lvl="0" indent="0" algn="l" defTabSz="406410" rtl="0" eaLnBrk="1" fontAlgn="auto" latinLnBrk="0" hangingPunct="1">
              <a:lnSpc>
                <a:spcPct val="100000"/>
              </a:lnSpc>
              <a:spcBef>
                <a:spcPts val="0"/>
              </a:spcBef>
              <a:spcAft>
                <a:spcPts val="1600"/>
              </a:spcAft>
              <a:buClrTx/>
              <a:buSzTx/>
              <a:buFontTx/>
              <a:buNone/>
              <a:tabLst/>
              <a:defRPr/>
            </a:pPr>
            <a:endParaRPr kumimoji="0" lang="en-IN" sz="2667" b="0" i="0" u="none" strike="noStrike" kern="1200" cap="none" spc="0" normalizeH="0" baseline="0" noProof="0" dirty="0">
              <a:ln>
                <a:noFill/>
              </a:ln>
              <a:solidFill>
                <a:srgbClr val="C57C5C"/>
              </a:solidFill>
              <a:effectLst/>
              <a:uLnTx/>
              <a:uFillTx/>
              <a:latin typeface="Montserrat SemiBold" panose="00000700000000000000" pitchFamily="2" charset="0"/>
              <a:ea typeface="+mn-ea"/>
              <a:cs typeface="+mn-cs"/>
            </a:endParaRPr>
          </a:p>
        </p:txBody>
      </p:sp>
      <p:sp>
        <p:nvSpPr>
          <p:cNvPr id="2" name="Object5">
            <a:extLst>
              <a:ext uri="{FF2B5EF4-FFF2-40B4-BE49-F238E27FC236}">
                <a16:creationId xmlns:a16="http://schemas.microsoft.com/office/drawing/2014/main" id="{B5470B5D-F5DC-3520-207E-9F8027B509DA}"/>
              </a:ext>
            </a:extLst>
          </p:cNvPr>
          <p:cNvSpPr/>
          <p:nvPr/>
        </p:nvSpPr>
        <p:spPr>
          <a:xfrm>
            <a:off x="609600" y="463499"/>
            <a:ext cx="3842462" cy="524246"/>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5F3E4"/>
                </a:solidFill>
                <a:effectLst/>
                <a:uLnTx/>
                <a:uFillTx/>
                <a:latin typeface="Hepta Slab Bold" pitchFamily="2" charset="0"/>
                <a:ea typeface="Hepta Slab Regular" pitchFamily="34" charset="-122"/>
                <a:cs typeface="Hepta Slab Bold" pitchFamily="2" charset="0"/>
              </a:rPr>
              <a:t>Objective</a:t>
            </a:r>
          </a:p>
        </p:txBody>
      </p:sp>
      <p:grpSp>
        <p:nvGrpSpPr>
          <p:cNvPr id="20" name="Group 19">
            <a:extLst>
              <a:ext uri="{FF2B5EF4-FFF2-40B4-BE49-F238E27FC236}">
                <a16:creationId xmlns:a16="http://schemas.microsoft.com/office/drawing/2014/main" id="{D142C342-3068-655B-29C4-FCDDBBBE99A5}"/>
              </a:ext>
            </a:extLst>
          </p:cNvPr>
          <p:cNvGrpSpPr/>
          <p:nvPr/>
        </p:nvGrpSpPr>
        <p:grpSpPr>
          <a:xfrm>
            <a:off x="152400" y="5943600"/>
            <a:ext cx="11582400" cy="762000"/>
            <a:chOff x="5535913" y="9283499"/>
            <a:chExt cx="10913683" cy="720001"/>
          </a:xfrm>
        </p:grpSpPr>
        <p:pic>
          <p:nvPicPr>
            <p:cNvPr id="21" name="Picture 20">
              <a:extLst>
                <a:ext uri="{FF2B5EF4-FFF2-40B4-BE49-F238E27FC236}">
                  <a16:creationId xmlns:a16="http://schemas.microsoft.com/office/drawing/2014/main" id="{1FAB311B-BF74-797A-9BCF-48FDD4C94C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2" name="Picture 21">
              <a:extLst>
                <a:ext uri="{FF2B5EF4-FFF2-40B4-BE49-F238E27FC236}">
                  <a16:creationId xmlns:a16="http://schemas.microsoft.com/office/drawing/2014/main" id="{B771F76B-0E22-321F-A122-73CE97E4933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23" name="Title 1">
              <a:extLst>
                <a:ext uri="{FF2B5EF4-FFF2-40B4-BE49-F238E27FC236}">
                  <a16:creationId xmlns:a16="http://schemas.microsoft.com/office/drawing/2014/main" id="{0037CBA2-F7A3-EA85-B119-2621B62415ED}"/>
                </a:ext>
              </a:extLst>
            </p:cNvPr>
            <p:cNvSpPr txBox="1">
              <a:spLocks/>
            </p:cNvSpPr>
            <p:nvPr/>
          </p:nvSpPr>
          <p:spPr>
            <a:xfrm>
              <a:off x="7993069" y="9519798"/>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12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grpSp>
      <p:sp>
        <p:nvSpPr>
          <p:cNvPr id="3" name="TextBox 2">
            <a:extLst>
              <a:ext uri="{FF2B5EF4-FFF2-40B4-BE49-F238E27FC236}">
                <a16:creationId xmlns:a16="http://schemas.microsoft.com/office/drawing/2014/main" id="{2FEBFADC-9F08-1F4C-9EF1-F4101731BC1D}"/>
              </a:ext>
            </a:extLst>
          </p:cNvPr>
          <p:cNvSpPr txBox="1"/>
          <p:nvPr/>
        </p:nvSpPr>
        <p:spPr>
          <a:xfrm>
            <a:off x="609600" y="1248415"/>
            <a:ext cx="115200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800"/>
              </a:spcBef>
              <a:spcAft>
                <a:spcPts val="1800"/>
              </a:spcAft>
              <a:buClr>
                <a:srgbClr val="FFC000"/>
              </a:buClr>
              <a:buSzTx/>
              <a:buFontTx/>
              <a:buNone/>
              <a:tabLst/>
              <a:defRPr/>
            </a:pPr>
            <a:r>
              <a:rPr kumimoji="0" lang="en-US" sz="24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Drive higher customer engagement for Celesta customers and potential customers through</a:t>
            </a:r>
          </a:p>
        </p:txBody>
      </p:sp>
      <p:sp>
        <p:nvSpPr>
          <p:cNvPr id="4" name="TextBox 3">
            <a:extLst>
              <a:ext uri="{FF2B5EF4-FFF2-40B4-BE49-F238E27FC236}">
                <a16:creationId xmlns:a16="http://schemas.microsoft.com/office/drawing/2014/main" id="{131C8BCF-5B6F-A856-8C58-643470B7EE0E}"/>
              </a:ext>
            </a:extLst>
          </p:cNvPr>
          <p:cNvSpPr txBox="1"/>
          <p:nvPr/>
        </p:nvSpPr>
        <p:spPr>
          <a:xfrm>
            <a:off x="609600" y="3630836"/>
            <a:ext cx="10845597" cy="461665"/>
          </a:xfrm>
          <a:prstGeom prst="rect">
            <a:avLst/>
          </a:prstGeom>
          <a:noFill/>
        </p:spPr>
        <p:txBody>
          <a:bodyPr wrap="square">
            <a:spAutoFit/>
          </a:bodyPr>
          <a:lstStyle/>
          <a:p>
            <a:pPr marL="0" marR="0" lvl="0" indent="0" algn="l" defTabSz="1371600" rtl="0" eaLnBrk="1" fontAlgn="auto" latinLnBrk="0" hangingPunct="1">
              <a:lnSpc>
                <a:spcPct val="100000"/>
              </a:lnSpc>
              <a:spcBef>
                <a:spcPts val="1800"/>
              </a:spcBef>
              <a:spcAft>
                <a:spcPts val="1800"/>
              </a:spcAft>
              <a:buClr>
                <a:srgbClr val="FFC000"/>
              </a:buClr>
              <a:buSzTx/>
              <a:buFontTx/>
              <a:buNone/>
              <a:tabLst/>
              <a:defRPr/>
            </a:pPr>
            <a:r>
              <a:rPr kumimoji="0" lang="en-US" sz="2400"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rPr>
              <a:t>Using signature differentiated experiences</a:t>
            </a:r>
          </a:p>
        </p:txBody>
      </p:sp>
      <p:sp>
        <p:nvSpPr>
          <p:cNvPr id="5" name="TextBox 4">
            <a:extLst>
              <a:ext uri="{FF2B5EF4-FFF2-40B4-BE49-F238E27FC236}">
                <a16:creationId xmlns:a16="http://schemas.microsoft.com/office/drawing/2014/main" id="{AFAD70BC-F1D5-76CD-C149-F8FD104F58AB}"/>
              </a:ext>
            </a:extLst>
          </p:cNvPr>
          <p:cNvSpPr txBox="1"/>
          <p:nvPr/>
        </p:nvSpPr>
        <p:spPr>
          <a:xfrm>
            <a:off x="609600" y="2504053"/>
            <a:ext cx="1036320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1800"/>
              </a:spcBef>
              <a:spcAft>
                <a:spcPts val="900"/>
              </a:spcAft>
              <a:buClr>
                <a:srgbClr val="FFC000"/>
              </a:buClr>
              <a:buSzTx/>
              <a:buFontTx/>
              <a:buNone/>
              <a:tabLst/>
              <a:defRPr/>
            </a:pPr>
            <a:r>
              <a:rPr kumimoji="0" lang="en-US" sz="2400"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rPr>
              <a:t>Contextual differentiation from</a:t>
            </a:r>
            <a:br>
              <a:rPr kumimoji="0" lang="en-US" sz="24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br>
            <a:r>
              <a:rPr kumimoji="0" lang="en-US" sz="24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	</a:t>
            </a:r>
            <a:r>
              <a:rPr kumimoji="0" lang="en-US" sz="18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rPr>
              <a:t>the competition and within the existing overall customer segment</a:t>
            </a:r>
            <a:endParaRPr kumimoji="0" lang="en-US" sz="24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endParaRPr>
          </a:p>
        </p:txBody>
      </p:sp>
      <p:pic>
        <p:nvPicPr>
          <p:cNvPr id="6" name="Picture 5">
            <a:extLst>
              <a:ext uri="{FF2B5EF4-FFF2-40B4-BE49-F238E27FC236}">
                <a16:creationId xmlns:a16="http://schemas.microsoft.com/office/drawing/2014/main" id="{D02B7300-E270-959A-9537-657F4B04ED2D}"/>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Tree>
    <p:extLst>
      <p:ext uri="{BB962C8B-B14F-4D97-AF65-F5344CB8AC3E}">
        <p14:creationId xmlns:p14="http://schemas.microsoft.com/office/powerpoint/2010/main" val="2568654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A60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7F0F66C-DDCD-69EA-D6E1-2609B0B2F4F5}"/>
              </a:ext>
            </a:extLst>
          </p:cNvPr>
          <p:cNvSpPr/>
          <p:nvPr/>
        </p:nvSpPr>
        <p:spPr>
          <a:xfrm>
            <a:off x="6096000" y="0"/>
            <a:ext cx="6096000"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D6F60D02-44E1-4519-A870-A21AE68577EC}"/>
              </a:ext>
            </a:extLst>
          </p:cNvPr>
          <p:cNvSpPr txBox="1"/>
          <p:nvPr/>
        </p:nvSpPr>
        <p:spPr>
          <a:xfrm>
            <a:off x="336000" y="2396292"/>
            <a:ext cx="3778800" cy="1918346"/>
          </a:xfrm>
          <a:prstGeom prst="rect">
            <a:avLst/>
          </a:prstGeom>
          <a:noFill/>
        </p:spPr>
        <p:txBody>
          <a:bodyPr wrap="square" rtlCol="0">
            <a:spAutoFit/>
          </a:bodyPr>
          <a:lstStyle/>
          <a:p>
            <a:pPr marL="0" marR="0" lvl="0" indent="0" algn="l" defTabSz="914446" rtl="0" eaLnBrk="1" fontAlgn="auto" latinLnBrk="0" hangingPunct="1">
              <a:lnSpc>
                <a:spcPct val="100000"/>
              </a:lnSpc>
              <a:spcBef>
                <a:spcPts val="1200"/>
              </a:spcBef>
              <a:spcAft>
                <a:spcPts val="1200"/>
              </a:spcAft>
              <a:buClr>
                <a:srgbClr val="FFC000"/>
              </a:buClr>
              <a:buSzTx/>
              <a:buFontTx/>
              <a:buNone/>
              <a:tabLst/>
              <a:defRPr/>
            </a:pPr>
            <a:r>
              <a:rPr kumimoji="0" lang="en-US" sz="2133"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To be perceived as a </a:t>
            </a:r>
            <a:r>
              <a:rPr kumimoji="0" lang="en-US" sz="2133"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rPr>
              <a:t>“</a:t>
            </a:r>
            <a:r>
              <a:rPr kumimoji="0" lang="en-US" sz="2133" b="0" i="0" u="none" strike="noStrike" kern="1200" cap="none" spc="0" normalizeH="0" baseline="0" noProof="0" dirty="0">
                <a:ln>
                  <a:noFill/>
                </a:ln>
                <a:solidFill>
                  <a:srgbClr val="3C2472"/>
                </a:solidFill>
                <a:effectLst/>
                <a:uLnTx/>
                <a:uFillTx/>
                <a:latin typeface="Hepta Slab Medium" pitchFamily="2" charset="0"/>
                <a:ea typeface="+mn-ea"/>
                <a:cs typeface="Hepta Slab Medium" pitchFamily="2" charset="0"/>
              </a:rPr>
              <a:t>Uniquely Different</a:t>
            </a:r>
            <a:r>
              <a:rPr kumimoji="0" lang="en-US" sz="2133"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rPr>
              <a:t>”</a:t>
            </a:r>
          </a:p>
          <a:p>
            <a:pPr marL="0" marR="0" lvl="0" indent="0" algn="l" defTabSz="914446" rtl="0" eaLnBrk="1" fontAlgn="auto" latinLnBrk="0" hangingPunct="1">
              <a:lnSpc>
                <a:spcPct val="100000"/>
              </a:lnSpc>
              <a:spcBef>
                <a:spcPts val="1200"/>
              </a:spcBef>
              <a:spcAft>
                <a:spcPts val="1200"/>
              </a:spcAft>
              <a:buClr>
                <a:srgbClr val="FFC000"/>
              </a:buClr>
              <a:buSzTx/>
              <a:buFontTx/>
              <a:buNone/>
              <a:tabLst/>
              <a:defRPr/>
            </a:pPr>
            <a:br>
              <a:rPr kumimoji="0" lang="en-US" sz="2400"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rPr>
            </a:br>
            <a:r>
              <a:rPr kumimoji="0" lang="en-US" sz="16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rPr>
              <a:t>By existing customers</a:t>
            </a:r>
            <a:br>
              <a:rPr kumimoji="0" lang="en-US" sz="16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rPr>
            </a:br>
            <a:r>
              <a:rPr kumimoji="0" lang="en-US" sz="16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rPr>
              <a:t>By potential customers</a:t>
            </a:r>
            <a:endParaRPr kumimoji="0" lang="en-US" sz="24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endParaRPr>
          </a:p>
        </p:txBody>
      </p:sp>
      <p:grpSp>
        <p:nvGrpSpPr>
          <p:cNvPr id="10" name="Group 9">
            <a:extLst>
              <a:ext uri="{FF2B5EF4-FFF2-40B4-BE49-F238E27FC236}">
                <a16:creationId xmlns:a16="http://schemas.microsoft.com/office/drawing/2014/main" id="{EBE26E8F-EA6C-2499-6F2A-D76B803DCF84}"/>
              </a:ext>
            </a:extLst>
          </p:cNvPr>
          <p:cNvGrpSpPr/>
          <p:nvPr/>
        </p:nvGrpSpPr>
        <p:grpSpPr>
          <a:xfrm>
            <a:off x="1" y="6042107"/>
            <a:ext cx="11864037" cy="911852"/>
            <a:chOff x="579560" y="9184073"/>
            <a:chExt cx="18133625" cy="1393723"/>
          </a:xfrm>
        </p:grpSpPr>
        <p:sp>
          <p:nvSpPr>
            <p:cNvPr id="11" name="Title 1">
              <a:extLst>
                <a:ext uri="{FF2B5EF4-FFF2-40B4-BE49-F238E27FC236}">
                  <a16:creationId xmlns:a16="http://schemas.microsoft.com/office/drawing/2014/main" id="{E1E4107F-D5CA-EB45-DD08-FD309BB5A472}"/>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6" name="Picture 15">
              <a:extLst>
                <a:ext uri="{FF2B5EF4-FFF2-40B4-BE49-F238E27FC236}">
                  <a16:creationId xmlns:a16="http://schemas.microsoft.com/office/drawing/2014/main" id="{5CB4669B-28CE-D132-6B90-A7EA29CF96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541A17FD-9E35-C88C-8F0C-48D8A41046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4" name="TextBox 13">
            <a:extLst>
              <a:ext uri="{FF2B5EF4-FFF2-40B4-BE49-F238E27FC236}">
                <a16:creationId xmlns:a16="http://schemas.microsoft.com/office/drawing/2014/main" id="{0FE6FEE5-35C5-A63A-EA86-5D2EB6D2CD2D}"/>
              </a:ext>
            </a:extLst>
          </p:cNvPr>
          <p:cNvSpPr txBox="1"/>
          <p:nvPr/>
        </p:nvSpPr>
        <p:spPr>
          <a:xfrm>
            <a:off x="6591341" y="471891"/>
            <a:ext cx="4961615" cy="707886"/>
          </a:xfrm>
          <a:prstGeom prst="rect">
            <a:avLst/>
          </a:prstGeom>
          <a:noFill/>
        </p:spPr>
        <p:txBody>
          <a:bodyPr wrap="non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rPr>
              <a:t>The Behaviour Shift</a:t>
            </a:r>
            <a:r>
              <a:rPr kumimoji="0" lang="en-IN" sz="4000" b="0" i="0" u="none" strike="noStrike" kern="1200" cap="none" spc="0" normalizeH="0" baseline="0" noProof="0" dirty="0">
                <a:ln>
                  <a:noFill/>
                </a:ln>
                <a:solidFill>
                  <a:srgbClr val="FFDE00"/>
                </a:solidFill>
                <a:effectLst/>
                <a:uLnTx/>
                <a:uFillTx/>
                <a:latin typeface="Hepta Slab SemiBold" pitchFamily="2" charset="0"/>
                <a:ea typeface="+mn-ea"/>
                <a:cs typeface="Hepta Slab SemiBold" pitchFamily="2" charset="0"/>
              </a:rPr>
              <a:t>.</a:t>
            </a:r>
          </a:p>
        </p:txBody>
      </p:sp>
      <p:sp>
        <p:nvSpPr>
          <p:cNvPr id="15" name="TextBox 14">
            <a:extLst>
              <a:ext uri="{FF2B5EF4-FFF2-40B4-BE49-F238E27FC236}">
                <a16:creationId xmlns:a16="http://schemas.microsoft.com/office/drawing/2014/main" id="{4EF3930F-2089-617B-A703-3DD589071EE5}"/>
              </a:ext>
            </a:extLst>
          </p:cNvPr>
          <p:cNvSpPr txBox="1"/>
          <p:nvPr/>
        </p:nvSpPr>
        <p:spPr>
          <a:xfrm>
            <a:off x="6591341" y="2396292"/>
            <a:ext cx="3464660" cy="236949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1200"/>
              </a:spcBef>
              <a:spcAft>
                <a:spcPts val="1200"/>
              </a:spcAft>
              <a:buClr>
                <a:srgbClr val="FFC000"/>
              </a:buClr>
              <a:buSzTx/>
              <a:buFontTx/>
              <a:buNone/>
              <a:tabLst/>
              <a:defRPr/>
            </a:pPr>
            <a:r>
              <a:rPr kumimoji="0" lang="en-US" sz="2133"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Higher </a:t>
            </a:r>
            <a:r>
              <a:rPr kumimoji="0" lang="en-US" sz="2133"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rPr>
              <a:t>word-of-mouth</a:t>
            </a:r>
            <a:r>
              <a:rPr kumimoji="0" lang="en-US" sz="2133"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 (to influence potential customers)</a:t>
            </a:r>
          </a:p>
          <a:p>
            <a:pPr marL="0" marR="0" lvl="0" indent="0" algn="l" defTabSz="914446" rtl="0" eaLnBrk="1" fontAlgn="auto" latinLnBrk="0" hangingPunct="1">
              <a:lnSpc>
                <a:spcPct val="100000"/>
              </a:lnSpc>
              <a:spcBef>
                <a:spcPts val="1200"/>
              </a:spcBef>
              <a:spcAft>
                <a:spcPts val="1200"/>
              </a:spcAft>
              <a:buClr>
                <a:srgbClr val="FFC000"/>
              </a:buClr>
              <a:buSzTx/>
              <a:buFontTx/>
              <a:buNone/>
              <a:tabLst/>
              <a:defRPr/>
            </a:pPr>
            <a:r>
              <a:rPr kumimoji="0" lang="en-US" sz="2133"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Higher </a:t>
            </a:r>
            <a:r>
              <a:rPr kumimoji="0" lang="en-US" sz="2133"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rPr>
              <a:t>program utilization</a:t>
            </a:r>
            <a:r>
              <a:rPr kumimoji="0" lang="en-US" sz="2133"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 by existing customers</a:t>
            </a:r>
          </a:p>
        </p:txBody>
      </p:sp>
      <p:sp>
        <p:nvSpPr>
          <p:cNvPr id="19" name="TextBox 18">
            <a:extLst>
              <a:ext uri="{FF2B5EF4-FFF2-40B4-BE49-F238E27FC236}">
                <a16:creationId xmlns:a16="http://schemas.microsoft.com/office/drawing/2014/main" id="{66C869FA-1B5F-CE28-3B02-D603BEB13368}"/>
              </a:ext>
            </a:extLst>
          </p:cNvPr>
          <p:cNvSpPr txBox="1"/>
          <p:nvPr/>
        </p:nvSpPr>
        <p:spPr>
          <a:xfrm>
            <a:off x="336000" y="549000"/>
            <a:ext cx="4657044" cy="584775"/>
          </a:xfrm>
          <a:prstGeom prst="rect">
            <a:avLst/>
          </a:prstGeom>
          <a:noFill/>
        </p:spPr>
        <p:txBody>
          <a:bodyPr wrap="non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rPr>
              <a:t>The Business Shift</a:t>
            </a:r>
            <a:r>
              <a:rPr kumimoji="0" lang="en-IN" sz="3200" b="0" i="0" u="none" strike="noStrike" kern="1200" cap="none" spc="0" normalizeH="0" baseline="0" noProof="0" dirty="0">
                <a:ln>
                  <a:noFill/>
                </a:ln>
                <a:solidFill>
                  <a:srgbClr val="FFDE00"/>
                </a:solidFill>
                <a:effectLst/>
                <a:uLnTx/>
                <a:uFillTx/>
                <a:latin typeface="Hepta Slab Bold" pitchFamily="2" charset="0"/>
                <a:ea typeface="+mn-ea"/>
                <a:cs typeface="Hepta Slab Bold" pitchFamily="2" charset="0"/>
              </a:rPr>
              <a:t>.</a:t>
            </a:r>
          </a:p>
        </p:txBody>
      </p:sp>
      <p:pic>
        <p:nvPicPr>
          <p:cNvPr id="2" name="Picture 1">
            <a:extLst>
              <a:ext uri="{FF2B5EF4-FFF2-40B4-BE49-F238E27FC236}">
                <a16:creationId xmlns:a16="http://schemas.microsoft.com/office/drawing/2014/main" id="{6F28044C-D64B-0EFA-C588-0DBC98257560}"/>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156882" y="6318411"/>
            <a:ext cx="373693" cy="383995"/>
          </a:xfrm>
          <a:prstGeom prst="rect">
            <a:avLst/>
          </a:prstGeom>
        </p:spPr>
      </p:pic>
    </p:spTree>
    <p:extLst>
      <p:ext uri="{BB962C8B-B14F-4D97-AF65-F5344CB8AC3E}">
        <p14:creationId xmlns:p14="http://schemas.microsoft.com/office/powerpoint/2010/main" val="2159387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BF81FA-5C69-FC28-5A38-F67FA3CE05B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040CD20-D566-9904-0C82-51E73C7D1C5A}"/>
              </a:ext>
            </a:extLst>
          </p:cNvPr>
          <p:cNvSpPr txBox="1"/>
          <p:nvPr/>
        </p:nvSpPr>
        <p:spPr>
          <a:xfrm>
            <a:off x="4943280" y="737011"/>
            <a:ext cx="2305439" cy="830997"/>
          </a:xfrm>
          <a:prstGeom prst="rect">
            <a:avLst/>
          </a:prstGeom>
          <a:noFill/>
        </p:spPr>
        <p:txBody>
          <a:bodyPr wrap="none" rtlCol="0">
            <a:spAutoFit/>
          </a:bodyP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rPr>
              <a:t>Scope</a:t>
            </a:r>
            <a:endParaRPr kumimoji="0" lang="en-IN" sz="48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grpSp>
        <p:nvGrpSpPr>
          <p:cNvPr id="23" name="Group 22">
            <a:extLst>
              <a:ext uri="{FF2B5EF4-FFF2-40B4-BE49-F238E27FC236}">
                <a16:creationId xmlns:a16="http://schemas.microsoft.com/office/drawing/2014/main" id="{F8FB4ACA-9B1E-8D0D-980B-4D5F1A92B63E}"/>
              </a:ext>
            </a:extLst>
          </p:cNvPr>
          <p:cNvGrpSpPr/>
          <p:nvPr/>
        </p:nvGrpSpPr>
        <p:grpSpPr>
          <a:xfrm>
            <a:off x="1" y="6042107"/>
            <a:ext cx="11864037" cy="911852"/>
            <a:chOff x="579560" y="9184073"/>
            <a:chExt cx="18133625" cy="1393723"/>
          </a:xfrm>
        </p:grpSpPr>
        <p:sp>
          <p:nvSpPr>
            <p:cNvPr id="24" name="Title 1">
              <a:extLst>
                <a:ext uri="{FF2B5EF4-FFF2-40B4-BE49-F238E27FC236}">
                  <a16:creationId xmlns:a16="http://schemas.microsoft.com/office/drawing/2014/main" id="{7E9B1FB3-FEFE-27B4-2635-2B17BC3B859B}"/>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25" name="Picture 24">
              <a:extLst>
                <a:ext uri="{FF2B5EF4-FFF2-40B4-BE49-F238E27FC236}">
                  <a16:creationId xmlns:a16="http://schemas.microsoft.com/office/drawing/2014/main" id="{87C3CAE9-8AD6-E6F2-42D4-A236DD9150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26" name="Picture 25">
              <a:extLst>
                <a:ext uri="{FF2B5EF4-FFF2-40B4-BE49-F238E27FC236}">
                  <a16:creationId xmlns:a16="http://schemas.microsoft.com/office/drawing/2014/main" id="{011A66AC-E67C-5AA9-24D3-0717F2BF5D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9" name="TextBox 8">
            <a:extLst>
              <a:ext uri="{FF2B5EF4-FFF2-40B4-BE49-F238E27FC236}">
                <a16:creationId xmlns:a16="http://schemas.microsoft.com/office/drawing/2014/main" id="{68752F33-594D-446E-F6F9-989219591AA0}"/>
              </a:ext>
            </a:extLst>
          </p:cNvPr>
          <p:cNvSpPr txBox="1"/>
          <p:nvPr/>
        </p:nvSpPr>
        <p:spPr>
          <a:xfrm>
            <a:off x="11384038" y="60627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3B352BCF-8908-47FE-865D-C1DC0BCCFA42}" type="slidenum">
              <a:rPr kumimoji="0" lang="en-US" sz="1200" b="0" i="0" u="none" strike="noStrike" kern="1200" cap="none" spc="0" normalizeH="0" baseline="0" noProof="0">
                <a:ln>
                  <a:noFill/>
                </a:ln>
                <a:solidFill>
                  <a:srgbClr val="FFDE00"/>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6</a:t>
            </a:fld>
            <a:endParaRPr kumimoji="0" lang="en-US" sz="1333"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endParaRPr>
          </a:p>
        </p:txBody>
      </p:sp>
      <p:sp>
        <p:nvSpPr>
          <p:cNvPr id="2" name="Object5">
            <a:extLst>
              <a:ext uri="{FF2B5EF4-FFF2-40B4-BE49-F238E27FC236}">
                <a16:creationId xmlns:a16="http://schemas.microsoft.com/office/drawing/2014/main" id="{BAFE3B4A-551C-1302-1784-5A1B3D656756}"/>
              </a:ext>
            </a:extLst>
          </p:cNvPr>
          <p:cNvSpPr/>
          <p:nvPr/>
        </p:nvSpPr>
        <p:spPr>
          <a:xfrm>
            <a:off x="8065160" y="4145651"/>
            <a:ext cx="2351002" cy="394166"/>
          </a:xfrm>
          <a:prstGeom prst="rect">
            <a:avLst/>
          </a:prstGeom>
          <a:noFill/>
          <a:ln/>
        </p:spPr>
        <p:txBody>
          <a:bodyPr wrap="square" lIns="0" tIns="0" rIns="0" bIns="0" rtlCol="0" anchor="t"/>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Montserrat ExtraBold" pitchFamily="2" charset="0"/>
                <a:ea typeface="+mn-ea"/>
                <a:cs typeface="Hepta Slab Regular" pitchFamily="2" charset="0"/>
              </a:rPr>
              <a:t>DEPTH</a:t>
            </a:r>
          </a:p>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Montserrat ExtraBold" pitchFamily="2" charset="0"/>
                <a:ea typeface="+mn-ea"/>
                <a:cs typeface="Hepta Slab Regular" pitchFamily="2" charset="0"/>
              </a:rPr>
              <a:t>CONVERSATIONS</a:t>
            </a:r>
          </a:p>
        </p:txBody>
      </p:sp>
      <p:sp>
        <p:nvSpPr>
          <p:cNvPr id="5" name="Object5">
            <a:extLst>
              <a:ext uri="{FF2B5EF4-FFF2-40B4-BE49-F238E27FC236}">
                <a16:creationId xmlns:a16="http://schemas.microsoft.com/office/drawing/2014/main" id="{44DAE65F-7833-1309-138C-AC5C85F842A0}"/>
              </a:ext>
            </a:extLst>
          </p:cNvPr>
          <p:cNvSpPr/>
          <p:nvPr/>
        </p:nvSpPr>
        <p:spPr>
          <a:xfrm>
            <a:off x="8160661" y="5366057"/>
            <a:ext cx="2160000" cy="702943"/>
          </a:xfrm>
          <a:prstGeom prst="rect">
            <a:avLst/>
          </a:prstGeom>
          <a:noFill/>
          <a:ln/>
        </p:spPr>
        <p:txBody>
          <a:bodyPr wrap="square" lIns="0" tIns="0" rIns="0" bIns="0" rtlCol="0" anchor="t"/>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Montserrat ExtraBold" pitchFamily="2" charset="0"/>
                <a:ea typeface="+mn-ea"/>
                <a:cs typeface="Hepta Slab Regular" pitchFamily="2" charset="0"/>
              </a:rPr>
              <a:t>CONVERSATION</a:t>
            </a:r>
          </a:p>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Montserrat ExtraBold" pitchFamily="2" charset="0"/>
                <a:ea typeface="+mn-ea"/>
                <a:cs typeface="Hepta Slab Regular" pitchFamily="2" charset="0"/>
              </a:rPr>
              <a:t>PURPOSIVELY SAMPLED</a:t>
            </a:r>
          </a:p>
        </p:txBody>
      </p:sp>
      <p:sp>
        <p:nvSpPr>
          <p:cNvPr id="7" name="TextBox 6">
            <a:extLst>
              <a:ext uri="{FF2B5EF4-FFF2-40B4-BE49-F238E27FC236}">
                <a16:creationId xmlns:a16="http://schemas.microsoft.com/office/drawing/2014/main" id="{5089F373-5C5E-6E9F-F491-4C87F8EAC8D5}"/>
              </a:ext>
            </a:extLst>
          </p:cNvPr>
          <p:cNvSpPr txBox="1"/>
          <p:nvPr/>
        </p:nvSpPr>
        <p:spPr>
          <a:xfrm>
            <a:off x="1997745" y="2670731"/>
            <a:ext cx="1435529" cy="338554"/>
          </a:xfrm>
          <a:prstGeom prst="rect">
            <a:avLst/>
          </a:prstGeom>
          <a:noFill/>
        </p:spPr>
        <p:txBody>
          <a:bodyPr wrap="square">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Montserrat ExtraBold" pitchFamily="2" charset="0"/>
                <a:ea typeface="+mn-ea"/>
                <a:cs typeface="Hepta Slab Regular" pitchFamily="2" charset="0"/>
              </a:rPr>
              <a:t>PAN</a:t>
            </a:r>
            <a:r>
              <a:rPr kumimoji="0" lang="en-US" sz="1600" b="0" i="0" u="none" strike="noStrike" kern="1200" cap="none" spc="0" normalizeH="0" baseline="0" noProof="0" dirty="0">
                <a:ln>
                  <a:noFill/>
                </a:ln>
                <a:solidFill>
                  <a:srgbClr val="3C2472"/>
                </a:solidFill>
                <a:effectLst/>
                <a:uLnTx/>
                <a:uFillTx/>
                <a:latin typeface="Montserrat ExtraBold" pitchFamily="2" charset="0"/>
                <a:ea typeface="+mn-ea"/>
                <a:cs typeface="Hepta Slab Regular" pitchFamily="2" charset="0"/>
              </a:rPr>
              <a:t> </a:t>
            </a:r>
            <a:r>
              <a:rPr kumimoji="0" lang="en-US" sz="1600" b="0" i="0" u="none" strike="noStrike" kern="1200" cap="none" spc="0" normalizeH="0" baseline="0" noProof="0" dirty="0">
                <a:ln>
                  <a:noFill/>
                </a:ln>
                <a:solidFill>
                  <a:prstClr val="white"/>
                </a:solidFill>
                <a:effectLst/>
                <a:uLnTx/>
                <a:uFillTx/>
                <a:latin typeface="Montserrat ExtraBold" pitchFamily="2" charset="0"/>
                <a:ea typeface="+mn-ea"/>
                <a:cs typeface="Hepta Slab Regular" pitchFamily="2" charset="0"/>
              </a:rPr>
              <a:t>INDIA</a:t>
            </a:r>
          </a:p>
        </p:txBody>
      </p:sp>
      <p:sp>
        <p:nvSpPr>
          <p:cNvPr id="8" name="Object5">
            <a:extLst>
              <a:ext uri="{FF2B5EF4-FFF2-40B4-BE49-F238E27FC236}">
                <a16:creationId xmlns:a16="http://schemas.microsoft.com/office/drawing/2014/main" id="{73EED138-91E4-B1EE-696D-8BEA50D9425B}"/>
              </a:ext>
            </a:extLst>
          </p:cNvPr>
          <p:cNvSpPr/>
          <p:nvPr/>
        </p:nvSpPr>
        <p:spPr>
          <a:xfrm>
            <a:off x="1540008" y="4045966"/>
            <a:ext cx="2351003" cy="266740"/>
          </a:xfrm>
          <a:prstGeom prst="rect">
            <a:avLst/>
          </a:prstGeom>
          <a:noFill/>
          <a:ln/>
        </p:spPr>
        <p:txBody>
          <a:bodyPr wrap="square" lIns="0" tIns="0" rIns="0" bIns="0" rtlCol="0" anchor="t"/>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Montserrat ExtraBold" pitchFamily="2" charset="0"/>
                <a:ea typeface="Hepta Slab Regular" pitchFamily="34" charset="-122"/>
                <a:cs typeface="Hepta Slab Regular" pitchFamily="2" charset="0"/>
              </a:rPr>
              <a:t>WIDESPAN ASSESSMENT</a:t>
            </a:r>
            <a:endParaRPr kumimoji="0" lang="en-US" sz="1600" b="0" i="0" u="none" strike="noStrike" kern="1200" cap="none" spc="0" normalizeH="0" baseline="0" noProof="0" dirty="0">
              <a:ln>
                <a:noFill/>
              </a:ln>
              <a:solidFill>
                <a:prstClr val="white"/>
              </a:solidFill>
              <a:effectLst/>
              <a:uLnTx/>
              <a:uFillTx/>
              <a:latin typeface="Montserrat ExtraBold" pitchFamily="2" charset="0"/>
              <a:ea typeface="+mn-ea"/>
              <a:cs typeface="Hepta Slab Regular" pitchFamily="2" charset="0"/>
            </a:endParaRPr>
          </a:p>
        </p:txBody>
      </p:sp>
      <p:sp>
        <p:nvSpPr>
          <p:cNvPr id="10" name="TextBox 9">
            <a:extLst>
              <a:ext uri="{FF2B5EF4-FFF2-40B4-BE49-F238E27FC236}">
                <a16:creationId xmlns:a16="http://schemas.microsoft.com/office/drawing/2014/main" id="{6D46522D-5248-59DA-33BA-7670420BFA9A}"/>
              </a:ext>
            </a:extLst>
          </p:cNvPr>
          <p:cNvSpPr txBox="1"/>
          <p:nvPr/>
        </p:nvSpPr>
        <p:spPr>
          <a:xfrm>
            <a:off x="982118" y="4634513"/>
            <a:ext cx="3466783" cy="769441"/>
          </a:xfrm>
          <a:prstGeom prst="rect">
            <a:avLst/>
          </a:prstGeom>
          <a:noFill/>
        </p:spPr>
        <p:txBody>
          <a:bodyPr wrap="square">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Hepta Slab ExtraBold" pitchFamily="2" charset="0"/>
                <a:ea typeface="Hepta Slab Regular" pitchFamily="34" charset="-122"/>
                <a:cs typeface="Hepta Slab ExtraBold" pitchFamily="2" charset="0"/>
              </a:rPr>
              <a:t>43,256</a:t>
            </a:r>
            <a:endParaRPr kumimoji="0" lang="en-IN" sz="4400" b="0" i="0" u="none" strike="noStrike" kern="1200" cap="none" spc="0" normalizeH="0" baseline="0" noProof="0" dirty="0">
              <a:ln>
                <a:noFill/>
              </a:ln>
              <a:solidFill>
                <a:srgbClr val="FF0000"/>
              </a:solidFill>
              <a:effectLst/>
              <a:uLnTx/>
              <a:uFillTx/>
              <a:latin typeface="Hepta Slab ExtraBold" pitchFamily="2" charset="0"/>
              <a:ea typeface="+mn-ea"/>
              <a:cs typeface="Hepta Slab ExtraBold" pitchFamily="2" charset="0"/>
            </a:endParaRPr>
          </a:p>
        </p:txBody>
      </p:sp>
      <p:sp>
        <p:nvSpPr>
          <p:cNvPr id="11" name="TextBox 10">
            <a:extLst>
              <a:ext uri="{FF2B5EF4-FFF2-40B4-BE49-F238E27FC236}">
                <a16:creationId xmlns:a16="http://schemas.microsoft.com/office/drawing/2014/main" id="{DA8B68DD-12C4-4D3D-2E45-F957807FB612}"/>
              </a:ext>
            </a:extLst>
          </p:cNvPr>
          <p:cNvSpPr txBox="1"/>
          <p:nvPr/>
        </p:nvSpPr>
        <p:spPr>
          <a:xfrm>
            <a:off x="8373306" y="1869000"/>
            <a:ext cx="1734710" cy="769441"/>
          </a:xfrm>
          <a:prstGeom prst="rect">
            <a:avLst/>
          </a:prstGeom>
          <a:noFill/>
        </p:spPr>
        <p:txBody>
          <a:bodyPr wrap="square">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Hepta Slab ExtraBold" pitchFamily="2" charset="0"/>
                <a:ea typeface="Hepta Slab Regular" pitchFamily="34" charset="-122"/>
                <a:cs typeface="Hepta Slab ExtraBold" pitchFamily="2" charset="0"/>
              </a:rPr>
              <a:t>165+ </a:t>
            </a:r>
            <a:endParaRPr kumimoji="0" lang="en-IN" sz="4400" b="0" i="0" u="none" strike="noStrike" kern="1200" cap="none" spc="0" normalizeH="0" baseline="0" noProof="0" dirty="0">
              <a:ln>
                <a:noFill/>
              </a:ln>
              <a:solidFill>
                <a:srgbClr val="FF0000"/>
              </a:solidFill>
              <a:effectLst/>
              <a:uLnTx/>
              <a:uFillTx/>
              <a:latin typeface="Hepta Slab ExtraBold" pitchFamily="2" charset="0"/>
              <a:ea typeface="+mn-ea"/>
              <a:cs typeface="Hepta Slab ExtraBold" pitchFamily="2" charset="0"/>
            </a:endParaRPr>
          </a:p>
        </p:txBody>
      </p:sp>
      <p:sp>
        <p:nvSpPr>
          <p:cNvPr id="12" name="TextBox 11">
            <a:extLst>
              <a:ext uri="{FF2B5EF4-FFF2-40B4-BE49-F238E27FC236}">
                <a16:creationId xmlns:a16="http://schemas.microsoft.com/office/drawing/2014/main" id="{65834ECF-7490-CFCE-6F89-6ACBA2463207}"/>
              </a:ext>
            </a:extLst>
          </p:cNvPr>
          <p:cNvSpPr txBox="1"/>
          <p:nvPr/>
        </p:nvSpPr>
        <p:spPr>
          <a:xfrm>
            <a:off x="7523348" y="4629000"/>
            <a:ext cx="3434626" cy="769441"/>
          </a:xfrm>
          <a:prstGeom prst="rect">
            <a:avLst/>
          </a:prstGeom>
          <a:noFill/>
        </p:spPr>
        <p:txBody>
          <a:bodyPr wrap="square">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Hepta Slab ExtraBold" pitchFamily="2" charset="0"/>
                <a:ea typeface="Hepta Slab Regular" pitchFamily="34" charset="-122"/>
                <a:cs typeface="Hepta Slab ExtraBold" pitchFamily="2" charset="0"/>
              </a:rPr>
              <a:t>14~2~5</a:t>
            </a:r>
            <a:endParaRPr kumimoji="0" lang="en-IN" sz="4400" b="0" i="0" u="none" strike="noStrike" kern="1200" cap="none" spc="0" normalizeH="0" baseline="0" noProof="0" dirty="0">
              <a:ln>
                <a:noFill/>
              </a:ln>
              <a:solidFill>
                <a:srgbClr val="FF0000"/>
              </a:solidFill>
              <a:effectLst/>
              <a:uLnTx/>
              <a:uFillTx/>
              <a:latin typeface="Hepta Slab ExtraBold" pitchFamily="2" charset="0"/>
              <a:ea typeface="+mn-ea"/>
              <a:cs typeface="Hepta Slab ExtraBold" pitchFamily="2" charset="0"/>
            </a:endParaRPr>
          </a:p>
        </p:txBody>
      </p:sp>
      <p:pic>
        <p:nvPicPr>
          <p:cNvPr id="13" name="Picture 12">
            <a:extLst>
              <a:ext uri="{FF2B5EF4-FFF2-40B4-BE49-F238E27FC236}">
                <a16:creationId xmlns:a16="http://schemas.microsoft.com/office/drawing/2014/main" id="{CF0DE860-257A-0468-4F5D-31BE0F16EBAB}"/>
              </a:ext>
            </a:extLst>
          </p:cNvPr>
          <p:cNvPicPr>
            <a:picLocks noChangeAspect="1"/>
          </p:cNvPicPr>
          <p:nvPr/>
        </p:nvPicPr>
        <p:blipFill>
          <a:blip r:embed="rId7">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14" name="TextBox 13">
            <a:extLst>
              <a:ext uri="{FF2B5EF4-FFF2-40B4-BE49-F238E27FC236}">
                <a16:creationId xmlns:a16="http://schemas.microsoft.com/office/drawing/2014/main" id="{43112C27-CD41-4E16-BB78-92AC432305AD}"/>
              </a:ext>
            </a:extLst>
          </p:cNvPr>
          <p:cNvSpPr txBox="1"/>
          <p:nvPr/>
        </p:nvSpPr>
        <p:spPr>
          <a:xfrm>
            <a:off x="1038963" y="1866892"/>
            <a:ext cx="3466783" cy="769441"/>
          </a:xfrm>
          <a:prstGeom prst="rect">
            <a:avLst/>
          </a:prstGeom>
          <a:noFill/>
        </p:spPr>
        <p:txBody>
          <a:bodyPr wrap="square">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Hepta Slab ExtraBold" pitchFamily="2" charset="0"/>
                <a:ea typeface="Hepta Slab Regular" pitchFamily="34" charset="-122"/>
                <a:cs typeface="Hepta Slab ExtraBold" pitchFamily="2" charset="0"/>
              </a:rPr>
              <a:t>43,256</a:t>
            </a:r>
            <a:endParaRPr kumimoji="0" lang="en-IN" sz="4400" b="0" i="0" u="none" strike="noStrike" kern="1200" cap="none" spc="0" normalizeH="0" baseline="0" noProof="0" dirty="0">
              <a:ln>
                <a:noFill/>
              </a:ln>
              <a:solidFill>
                <a:srgbClr val="FF0000"/>
              </a:solidFill>
              <a:effectLst/>
              <a:uLnTx/>
              <a:uFillTx/>
              <a:latin typeface="Hepta Slab ExtraBold" pitchFamily="2" charset="0"/>
              <a:ea typeface="+mn-ea"/>
              <a:cs typeface="Hepta Slab ExtraBold" pitchFamily="2" charset="0"/>
            </a:endParaRPr>
          </a:p>
        </p:txBody>
      </p:sp>
    </p:spTree>
    <p:extLst>
      <p:ext uri="{BB962C8B-B14F-4D97-AF65-F5344CB8AC3E}">
        <p14:creationId xmlns:p14="http://schemas.microsoft.com/office/powerpoint/2010/main" val="2749107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computer on a desk with books and a bookcase&#10;&#10;Description automatically generated">
            <a:extLst>
              <a:ext uri="{FF2B5EF4-FFF2-40B4-BE49-F238E27FC236}">
                <a16:creationId xmlns:a16="http://schemas.microsoft.com/office/drawing/2014/main" id="{5FB185B1-AD58-ADB7-86D5-A106B86E887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t="27155" b="16605"/>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5DAF7F24-844C-B421-F549-56940021D81E}"/>
              </a:ext>
            </a:extLst>
          </p:cNvPr>
          <p:cNvSpPr txBox="1"/>
          <p:nvPr/>
        </p:nvSpPr>
        <p:spPr>
          <a:xfrm>
            <a:off x="4648200" y="1033711"/>
            <a:ext cx="3087705" cy="584775"/>
          </a:xfrm>
          <a:prstGeom prst="rect">
            <a:avLst/>
          </a:prstGeom>
          <a:noFill/>
        </p:spPr>
        <p:txBody>
          <a:bodyPr wrap="none" rtlCol="0">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rPr>
              <a:t>The Context</a:t>
            </a:r>
            <a:endParaRPr kumimoji="0" lang="en-IN" sz="32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sp>
        <p:nvSpPr>
          <p:cNvPr id="6" name="Object6">
            <a:extLst>
              <a:ext uri="{FF2B5EF4-FFF2-40B4-BE49-F238E27FC236}">
                <a16:creationId xmlns:a16="http://schemas.microsoft.com/office/drawing/2014/main" id="{84044FED-413E-2560-089E-539C7EB67C58}"/>
              </a:ext>
            </a:extLst>
          </p:cNvPr>
          <p:cNvSpPr/>
          <p:nvPr/>
        </p:nvSpPr>
        <p:spPr>
          <a:xfrm>
            <a:off x="1943100" y="3810000"/>
            <a:ext cx="9169388" cy="2532517"/>
          </a:xfrm>
          <a:prstGeom prst="rect">
            <a:avLst/>
          </a:prstGeom>
          <a:noFill/>
          <a:ln/>
        </p:spPr>
        <p:txBody>
          <a:bodyPr wrap="none" lIns="0" tIns="0" rIns="0" bIns="0" rtlCol="0" anchor="t"/>
          <a:lstStyle/>
          <a:p>
            <a:pPr marL="0" marR="0" lvl="0" indent="-304770" algn="ctr" defTabSz="304815" rtl="0" eaLnBrk="1" fontAlgn="auto" latinLnBrk="0" hangingPunct="1">
              <a:lnSpc>
                <a:spcPct val="100000"/>
              </a:lnSpc>
              <a:spcBef>
                <a:spcPts val="0"/>
              </a:spcBef>
              <a:spcAft>
                <a:spcPts val="0"/>
              </a:spcAft>
              <a:buClrTx/>
              <a:buSzTx/>
              <a:buFontTx/>
              <a:buNone/>
              <a:tabLst/>
              <a:defRPr/>
            </a:pPr>
            <a:r>
              <a:rPr kumimoji="0" lang="en-US" sz="3600" b="0" i="0" u="none" strike="noStrike" kern="1200" cap="all" spc="0" normalizeH="0" baseline="0" noProof="0" dirty="0">
                <a:ln>
                  <a:noFill/>
                </a:ln>
                <a:solidFill>
                  <a:prstClr val="white"/>
                </a:solidFill>
                <a:effectLst/>
                <a:uLnTx/>
                <a:uFillTx/>
                <a:latin typeface="Hepta Slab ExtraBold" pitchFamily="2" charset="0"/>
                <a:ea typeface="Montserrat ExtraBold" pitchFamily="34" charset="-122"/>
                <a:cs typeface="Hepta Slab ExtraBold" pitchFamily="2" charset="0"/>
              </a:rPr>
              <a:t>THE ENGAGEMENT</a:t>
            </a:r>
            <a:br>
              <a:rPr kumimoji="0" lang="en-US" sz="3600" b="0" i="0" u="none" strike="noStrike" kern="1200" cap="all" spc="0" normalizeH="0" baseline="0" noProof="0" dirty="0">
                <a:ln>
                  <a:noFill/>
                </a:ln>
                <a:solidFill>
                  <a:prstClr val="white"/>
                </a:solidFill>
                <a:effectLst/>
                <a:uLnTx/>
                <a:uFillTx/>
                <a:latin typeface="Hepta Slab ExtraBold" pitchFamily="2" charset="0"/>
                <a:ea typeface="Montserrat ExtraBold" pitchFamily="34" charset="-122"/>
                <a:cs typeface="Hepta Slab ExtraBold" pitchFamily="2" charset="0"/>
              </a:rPr>
            </a:br>
            <a:r>
              <a:rPr kumimoji="0" lang="en-US" sz="3600" b="0" i="0" u="none" strike="noStrike" kern="1200" cap="all" spc="0" normalizeH="0" baseline="0" noProof="0" dirty="0">
                <a:ln>
                  <a:noFill/>
                </a:ln>
                <a:solidFill>
                  <a:prstClr val="white"/>
                </a:solidFill>
                <a:effectLst/>
                <a:uLnTx/>
                <a:uFillTx/>
                <a:latin typeface="Hepta Slab ExtraBold" pitchFamily="2" charset="0"/>
                <a:ea typeface="Montserrat ExtraBold" pitchFamily="34" charset="-122"/>
                <a:cs typeface="Hepta Slab ExtraBold" pitchFamily="2" charset="0"/>
              </a:rPr>
              <a:t>PILLARS</a:t>
            </a:r>
          </a:p>
          <a:p>
            <a:pPr marL="0" marR="0" lvl="0" indent="-304770" algn="ctr" defTabSz="304815" rtl="0" eaLnBrk="1" fontAlgn="auto" latinLnBrk="0" hangingPunct="1">
              <a:lnSpc>
                <a:spcPct val="100000"/>
              </a:lnSpc>
              <a:spcBef>
                <a:spcPts val="0"/>
              </a:spcBef>
              <a:spcAft>
                <a:spcPts val="0"/>
              </a:spcAft>
              <a:buClrTx/>
              <a:buSzTx/>
              <a:buFontTx/>
              <a:buNone/>
              <a:tabLst/>
              <a:defRPr/>
            </a:pPr>
            <a:r>
              <a:rPr kumimoji="0" lang="en-US" sz="3600" b="0" i="0" u="none" strike="noStrike" kern="1200" cap="all" spc="0" normalizeH="0" baseline="0" noProof="0" dirty="0">
                <a:ln>
                  <a:noFill/>
                </a:ln>
                <a:solidFill>
                  <a:prstClr val="white"/>
                </a:solidFill>
                <a:effectLst/>
                <a:uLnTx/>
                <a:uFillTx/>
                <a:latin typeface="Hepta Slab ExtraBold" pitchFamily="2" charset="0"/>
                <a:ea typeface="Montserrat ExtraBold" pitchFamily="34" charset="-122"/>
                <a:cs typeface="Hepta Slab ExtraBold" pitchFamily="2" charset="0"/>
              </a:rPr>
              <a:t>&amp;</a:t>
            </a:r>
          </a:p>
          <a:p>
            <a:pPr marL="0" marR="0" lvl="0" indent="-304770" algn="ctr" defTabSz="304815" rtl="0" eaLnBrk="1" fontAlgn="auto" latinLnBrk="0" hangingPunct="1">
              <a:lnSpc>
                <a:spcPct val="100000"/>
              </a:lnSpc>
              <a:spcBef>
                <a:spcPts val="0"/>
              </a:spcBef>
              <a:spcAft>
                <a:spcPts val="0"/>
              </a:spcAft>
              <a:buClrTx/>
              <a:buSzTx/>
              <a:buFontTx/>
              <a:buNone/>
              <a:tabLst/>
              <a:defRPr/>
            </a:pPr>
            <a:r>
              <a:rPr kumimoji="0" lang="en-US" sz="3600" b="0" i="0" u="none" strike="noStrike" kern="1200" cap="all" spc="0" normalizeH="0" baseline="0" noProof="0" dirty="0">
                <a:ln>
                  <a:noFill/>
                </a:ln>
                <a:solidFill>
                  <a:prstClr val="white"/>
                </a:solidFill>
                <a:effectLst/>
                <a:uLnTx/>
                <a:uFillTx/>
                <a:latin typeface="Hepta Slab ExtraBold" pitchFamily="2" charset="0"/>
                <a:ea typeface="+mn-ea"/>
                <a:cs typeface="Hepta Slab ExtraBold" pitchFamily="2" charset="0"/>
              </a:rPr>
              <a:t>HIERARCHY OF EXPECTATIONS</a:t>
            </a:r>
          </a:p>
        </p:txBody>
      </p:sp>
      <p:sp>
        <p:nvSpPr>
          <p:cNvPr id="7" name="TextBox 6">
            <a:extLst>
              <a:ext uri="{FF2B5EF4-FFF2-40B4-BE49-F238E27FC236}">
                <a16:creationId xmlns:a16="http://schemas.microsoft.com/office/drawing/2014/main" id="{352BB513-5696-88FE-A533-A58D3964103F}"/>
              </a:ext>
            </a:extLst>
          </p:cNvPr>
          <p:cNvSpPr txBox="1"/>
          <p:nvPr/>
        </p:nvSpPr>
        <p:spPr>
          <a:xfrm>
            <a:off x="1943100" y="1483731"/>
            <a:ext cx="8091055" cy="434606"/>
          </a:xfrm>
          <a:prstGeom prst="rect">
            <a:avLst/>
          </a:prstGeom>
          <a:noFill/>
        </p:spPr>
        <p:txBody>
          <a:bodyPr wrap="square">
            <a:spAutoFit/>
          </a:bodyPr>
          <a:lstStyle/>
          <a:p>
            <a:pPr marL="0" marR="0" lvl="0" indent="0" algn="ctr" defTabSz="304815" rtl="0" eaLnBrk="1" fontAlgn="auto" latinLnBrk="0" hangingPunct="1">
              <a:lnSpc>
                <a:spcPts val="2925"/>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Hepta Slab Medium" pitchFamily="2" charset="0"/>
              </a:rPr>
              <a:t>Lens through which customers view the engagement</a:t>
            </a:r>
            <a:endParaRPr kumimoji="0" lang="en-US" sz="2000" b="0" i="0" u="none" strike="noStrike" kern="1200" cap="none" spc="0" normalizeH="0" baseline="0" noProof="0" dirty="0">
              <a:ln>
                <a:noFill/>
              </a:ln>
              <a:solidFill>
                <a:prstClr val="white"/>
              </a:solidFill>
              <a:effectLst/>
              <a:uLnTx/>
              <a:uFillTx/>
              <a:latin typeface="Montserrat SemiBold" panose="00000700000000000000" pitchFamily="2" charset="0"/>
              <a:ea typeface="Montserrat ExtraBold" pitchFamily="34" charset="-122"/>
              <a:cs typeface="Hepta Slab Medium" pitchFamily="2" charset="0"/>
            </a:endParaRPr>
          </a:p>
        </p:txBody>
      </p:sp>
    </p:spTree>
    <p:extLst>
      <p:ext uri="{BB962C8B-B14F-4D97-AF65-F5344CB8AC3E}">
        <p14:creationId xmlns:p14="http://schemas.microsoft.com/office/powerpoint/2010/main" val="1776718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E7C1099-3901-41F5-943E-794F8C1D2C53}"/>
              </a:ext>
            </a:extLst>
          </p:cNvPr>
          <p:cNvSpPr txBox="1"/>
          <p:nvPr/>
        </p:nvSpPr>
        <p:spPr>
          <a:xfrm>
            <a:off x="336000" y="546854"/>
            <a:ext cx="574067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rPr>
              <a:t>The Engagement Pillars</a:t>
            </a:r>
          </a:p>
        </p:txBody>
      </p:sp>
      <p:sp>
        <p:nvSpPr>
          <p:cNvPr id="20" name="Object5">
            <a:extLst>
              <a:ext uri="{FF2B5EF4-FFF2-40B4-BE49-F238E27FC236}">
                <a16:creationId xmlns:a16="http://schemas.microsoft.com/office/drawing/2014/main" id="{128B4264-F3B3-9B02-25FF-5A67F846DF63}"/>
              </a:ext>
            </a:extLst>
          </p:cNvPr>
          <p:cNvSpPr/>
          <p:nvPr/>
        </p:nvSpPr>
        <p:spPr>
          <a:xfrm>
            <a:off x="343974" y="3190115"/>
            <a:ext cx="1840990" cy="144000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rPr>
              <a:t>The core offering of banking and financial services </a:t>
            </a:r>
          </a:p>
        </p:txBody>
      </p:sp>
      <p:sp>
        <p:nvSpPr>
          <p:cNvPr id="21" name="Object5">
            <a:extLst>
              <a:ext uri="{FF2B5EF4-FFF2-40B4-BE49-F238E27FC236}">
                <a16:creationId xmlns:a16="http://schemas.microsoft.com/office/drawing/2014/main" id="{23456429-A8F6-05F4-4879-693999236BD4}"/>
              </a:ext>
            </a:extLst>
          </p:cNvPr>
          <p:cNvSpPr/>
          <p:nvPr/>
        </p:nvSpPr>
        <p:spPr>
          <a:xfrm>
            <a:off x="3254020" y="3189000"/>
            <a:ext cx="2001980" cy="16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How do others perceive me when they see me using this brand, how do I feel?</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22" name="Object5">
            <a:extLst>
              <a:ext uri="{FF2B5EF4-FFF2-40B4-BE49-F238E27FC236}">
                <a16:creationId xmlns:a16="http://schemas.microsoft.com/office/drawing/2014/main" id="{6B4A970A-6A41-B24E-EBB4-FF5ED29501BF}"/>
              </a:ext>
            </a:extLst>
          </p:cNvPr>
          <p:cNvSpPr/>
          <p:nvPr/>
        </p:nvSpPr>
        <p:spPr>
          <a:xfrm>
            <a:off x="6136990" y="3189000"/>
            <a:ext cx="1800000" cy="16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Do other people who use this brand belong to the “tribe” I aspire to</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23" name="Object5">
            <a:extLst>
              <a:ext uri="{FF2B5EF4-FFF2-40B4-BE49-F238E27FC236}">
                <a16:creationId xmlns:a16="http://schemas.microsoft.com/office/drawing/2014/main" id="{33257CFA-3B51-5E16-A910-C3BFF753EE10}"/>
              </a:ext>
            </a:extLst>
          </p:cNvPr>
          <p:cNvSpPr/>
          <p:nvPr/>
        </p:nvSpPr>
        <p:spPr>
          <a:xfrm>
            <a:off x="8496000" y="3190115"/>
            <a:ext cx="1800001" cy="120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The core emotions- Valence and Activation</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24" name="Object5">
            <a:extLst>
              <a:ext uri="{FF2B5EF4-FFF2-40B4-BE49-F238E27FC236}">
                <a16:creationId xmlns:a16="http://schemas.microsoft.com/office/drawing/2014/main" id="{2C6C4410-8471-CD9A-8647-67FE64670C5C}"/>
              </a:ext>
            </a:extLst>
          </p:cNvPr>
          <p:cNvSpPr/>
          <p:nvPr/>
        </p:nvSpPr>
        <p:spPr>
          <a:xfrm>
            <a:off x="343974" y="2470115"/>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Bold" pitchFamily="2" charset="0"/>
                <a:ea typeface="Hepta Slab Regular" pitchFamily="34" charset="-122"/>
                <a:cs typeface="Hepta Slab Bold" pitchFamily="2" charset="0"/>
              </a:rPr>
              <a:t>Functional</a:t>
            </a:r>
            <a:endParaRPr kumimoji="0" lang="en-US" sz="1800" b="0" i="0" u="none" strike="noStrike" kern="1200" cap="none" spc="0" normalizeH="0" baseline="0" noProof="0" dirty="0">
              <a:ln>
                <a:noFill/>
              </a:ln>
              <a:solidFill>
                <a:srgbClr val="A9734C"/>
              </a:solidFill>
              <a:effectLst/>
              <a:uLnTx/>
              <a:uFillTx/>
              <a:latin typeface="Hepta Slab Bold" pitchFamily="2" charset="0"/>
              <a:ea typeface="+mn-ea"/>
              <a:cs typeface="Hepta Slab Bold" pitchFamily="2" charset="0"/>
            </a:endParaRPr>
          </a:p>
        </p:txBody>
      </p:sp>
      <p:sp>
        <p:nvSpPr>
          <p:cNvPr id="25" name="Object5">
            <a:extLst>
              <a:ext uri="{FF2B5EF4-FFF2-40B4-BE49-F238E27FC236}">
                <a16:creationId xmlns:a16="http://schemas.microsoft.com/office/drawing/2014/main" id="{1D8459DE-0427-1B7E-7BB8-3AF9AF0A1B2A}"/>
              </a:ext>
            </a:extLst>
          </p:cNvPr>
          <p:cNvSpPr/>
          <p:nvPr/>
        </p:nvSpPr>
        <p:spPr>
          <a:xfrm>
            <a:off x="3254020" y="24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Bold" pitchFamily="2" charset="0"/>
                <a:ea typeface="Hepta Slab Regular" pitchFamily="34" charset="-122"/>
                <a:cs typeface="Hepta Slab Bold" pitchFamily="2" charset="0"/>
              </a:rPr>
              <a:t>Identity</a:t>
            </a:r>
            <a:endParaRPr kumimoji="0" lang="en-US" sz="1800" b="0" i="0" u="none" strike="noStrike" kern="1200" cap="none" spc="0" normalizeH="0" baseline="0" noProof="0" dirty="0">
              <a:ln>
                <a:noFill/>
              </a:ln>
              <a:solidFill>
                <a:srgbClr val="A9734C"/>
              </a:solidFill>
              <a:effectLst/>
              <a:uLnTx/>
              <a:uFillTx/>
              <a:latin typeface="Hepta Slab Bold" pitchFamily="2" charset="0"/>
              <a:ea typeface="+mn-ea"/>
              <a:cs typeface="Hepta Slab Bold" pitchFamily="2" charset="0"/>
            </a:endParaRPr>
          </a:p>
        </p:txBody>
      </p:sp>
      <p:sp>
        <p:nvSpPr>
          <p:cNvPr id="26" name="Object5">
            <a:extLst>
              <a:ext uri="{FF2B5EF4-FFF2-40B4-BE49-F238E27FC236}">
                <a16:creationId xmlns:a16="http://schemas.microsoft.com/office/drawing/2014/main" id="{D81BAFE3-E01D-AF6A-57B4-AE4E31997B6B}"/>
              </a:ext>
            </a:extLst>
          </p:cNvPr>
          <p:cNvSpPr/>
          <p:nvPr/>
        </p:nvSpPr>
        <p:spPr>
          <a:xfrm>
            <a:off x="6096000" y="24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Bold" pitchFamily="2" charset="0"/>
                <a:ea typeface="Hepta Slab Regular" pitchFamily="34" charset="-122"/>
                <a:cs typeface="Hepta Slab Bold" pitchFamily="2" charset="0"/>
              </a:rPr>
              <a:t>Social</a:t>
            </a:r>
            <a:endParaRPr kumimoji="0" lang="en-US" sz="1800" b="0" i="0" u="none" strike="noStrike" kern="1200" cap="none" spc="0" normalizeH="0" baseline="0" noProof="0" dirty="0">
              <a:ln>
                <a:noFill/>
              </a:ln>
              <a:solidFill>
                <a:srgbClr val="A9734C"/>
              </a:solidFill>
              <a:effectLst/>
              <a:uLnTx/>
              <a:uFillTx/>
              <a:latin typeface="Hepta Slab Bold" pitchFamily="2" charset="0"/>
              <a:ea typeface="+mn-ea"/>
              <a:cs typeface="Hepta Slab Bold" pitchFamily="2" charset="0"/>
            </a:endParaRPr>
          </a:p>
        </p:txBody>
      </p:sp>
      <p:sp>
        <p:nvSpPr>
          <p:cNvPr id="27" name="Object5">
            <a:extLst>
              <a:ext uri="{FF2B5EF4-FFF2-40B4-BE49-F238E27FC236}">
                <a16:creationId xmlns:a16="http://schemas.microsoft.com/office/drawing/2014/main" id="{7201E74B-B66D-0F9E-EAB2-5508E1E8F3F9}"/>
              </a:ext>
            </a:extLst>
          </p:cNvPr>
          <p:cNvSpPr/>
          <p:nvPr/>
        </p:nvSpPr>
        <p:spPr>
          <a:xfrm>
            <a:off x="8496000" y="2470115"/>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Bold" pitchFamily="2" charset="0"/>
                <a:ea typeface="Hepta Slab Regular" pitchFamily="34" charset="-122"/>
                <a:cs typeface="Hepta Slab Bold" pitchFamily="2" charset="0"/>
              </a:rPr>
              <a:t>Emotional</a:t>
            </a:r>
            <a:endParaRPr kumimoji="0" lang="en-US" sz="1800" b="0" i="0" u="none" strike="noStrike" kern="1200" cap="none" spc="0" normalizeH="0" baseline="0" noProof="0" dirty="0">
              <a:ln>
                <a:noFill/>
              </a:ln>
              <a:solidFill>
                <a:srgbClr val="A9734C"/>
              </a:solidFill>
              <a:effectLst/>
              <a:uLnTx/>
              <a:uFillTx/>
              <a:latin typeface="Hepta Slab Bold" pitchFamily="2" charset="0"/>
              <a:ea typeface="+mn-ea"/>
              <a:cs typeface="Hepta Slab Bold" pitchFamily="2" charset="0"/>
            </a:endParaRPr>
          </a:p>
        </p:txBody>
      </p:sp>
      <p:sp>
        <p:nvSpPr>
          <p:cNvPr id="31" name="Object5">
            <a:extLst>
              <a:ext uri="{FF2B5EF4-FFF2-40B4-BE49-F238E27FC236}">
                <a16:creationId xmlns:a16="http://schemas.microsoft.com/office/drawing/2014/main" id="{CC5F986F-2F1D-BFF5-5CE6-EEA39A3A9B6D}"/>
              </a:ext>
            </a:extLst>
          </p:cNvPr>
          <p:cNvSpPr/>
          <p:nvPr/>
        </p:nvSpPr>
        <p:spPr>
          <a:xfrm>
            <a:off x="816000" y="654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endParaRPr>
          </a:p>
        </p:txBody>
      </p:sp>
      <p:grpSp>
        <p:nvGrpSpPr>
          <p:cNvPr id="17" name="Group 16">
            <a:extLst>
              <a:ext uri="{FF2B5EF4-FFF2-40B4-BE49-F238E27FC236}">
                <a16:creationId xmlns:a16="http://schemas.microsoft.com/office/drawing/2014/main" id="{6A0CF90C-3AAC-3438-7A95-602E288F4DB6}"/>
              </a:ext>
            </a:extLst>
          </p:cNvPr>
          <p:cNvGrpSpPr/>
          <p:nvPr/>
        </p:nvGrpSpPr>
        <p:grpSpPr>
          <a:xfrm>
            <a:off x="-61290" y="6053155"/>
            <a:ext cx="12253290" cy="971832"/>
            <a:chOff x="-187799" y="8336784"/>
            <a:chExt cx="18379935" cy="1457748"/>
          </a:xfrm>
        </p:grpSpPr>
        <p:pic>
          <p:nvPicPr>
            <p:cNvPr id="18" name="Picture 17">
              <a:extLst>
                <a:ext uri="{FF2B5EF4-FFF2-40B4-BE49-F238E27FC236}">
                  <a16:creationId xmlns:a16="http://schemas.microsoft.com/office/drawing/2014/main" id="{D9850B21-AFA0-1B4B-C9D3-51CC09EFFA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9" name="Title 1">
              <a:extLst>
                <a:ext uri="{FF2B5EF4-FFF2-40B4-BE49-F238E27FC236}">
                  <a16:creationId xmlns:a16="http://schemas.microsoft.com/office/drawing/2014/main" id="{3EEDB9B1-3E7A-0EDC-A9A6-26089803A851}"/>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8" name="Picture 27">
              <a:extLst>
                <a:ext uri="{FF2B5EF4-FFF2-40B4-BE49-F238E27FC236}">
                  <a16:creationId xmlns:a16="http://schemas.microsoft.com/office/drawing/2014/main" id="{12294704-F09E-E44C-47C9-79B54FC7B9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4" name="Picture 3">
            <a:extLst>
              <a:ext uri="{FF2B5EF4-FFF2-40B4-BE49-F238E27FC236}">
                <a16:creationId xmlns:a16="http://schemas.microsoft.com/office/drawing/2014/main" id="{0F1012B2-2294-5CAB-67FE-160BB7CCAEFB}"/>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5" name="Slide Number Placeholder 4">
            <a:extLst>
              <a:ext uri="{FF2B5EF4-FFF2-40B4-BE49-F238E27FC236}">
                <a16:creationId xmlns:a16="http://schemas.microsoft.com/office/drawing/2014/main" id="{D664B422-1678-8295-E0DB-8E7370E72E08}"/>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
        <p:nvSpPr>
          <p:cNvPr id="2" name="TextBox 1">
            <a:extLst>
              <a:ext uri="{FF2B5EF4-FFF2-40B4-BE49-F238E27FC236}">
                <a16:creationId xmlns:a16="http://schemas.microsoft.com/office/drawing/2014/main" id="{21E7A255-098E-C46C-17E4-21BC32B6932C}"/>
              </a:ext>
            </a:extLst>
          </p:cNvPr>
          <p:cNvSpPr txBox="1"/>
          <p:nvPr/>
        </p:nvSpPr>
        <p:spPr>
          <a:xfrm>
            <a:off x="336000" y="1258142"/>
            <a:ext cx="11537133" cy="338554"/>
          </a:xfrm>
          <a:prstGeom prst="rect">
            <a:avLst/>
          </a:prstGeom>
          <a:noFill/>
        </p:spPr>
        <p:txBody>
          <a:bodyPr wrap="none" rtlCol="0">
            <a:spAutoFit/>
          </a:bodyPr>
          <a:lstStyle/>
          <a:p>
            <a:r>
              <a:rPr lang="en-US" sz="1600" dirty="0">
                <a:solidFill>
                  <a:srgbClr val="264161"/>
                </a:solidFill>
                <a:latin typeface="Montserrat Medium" panose="00000600000000000000" pitchFamily="2" charset="0"/>
              </a:rPr>
              <a:t>These are the dimensions of customer engagement in the context of Premium Banking &amp; affluent customers</a:t>
            </a:r>
            <a:endParaRPr lang="en-IN" sz="1600" dirty="0">
              <a:solidFill>
                <a:srgbClr val="264161"/>
              </a:solidFill>
              <a:latin typeface="Montserrat Medium" panose="00000600000000000000" pitchFamily="2" charset="0"/>
            </a:endParaRPr>
          </a:p>
        </p:txBody>
      </p:sp>
    </p:spTree>
    <p:extLst>
      <p:ext uri="{BB962C8B-B14F-4D97-AF65-F5344CB8AC3E}">
        <p14:creationId xmlns:p14="http://schemas.microsoft.com/office/powerpoint/2010/main" val="168040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20" name="Object5">
            <a:extLst>
              <a:ext uri="{FF2B5EF4-FFF2-40B4-BE49-F238E27FC236}">
                <a16:creationId xmlns:a16="http://schemas.microsoft.com/office/drawing/2014/main" id="{128B4264-F3B3-9B02-25FF-5A67F846DF63}"/>
              </a:ext>
            </a:extLst>
          </p:cNvPr>
          <p:cNvSpPr/>
          <p:nvPr/>
        </p:nvSpPr>
        <p:spPr>
          <a:xfrm>
            <a:off x="367419" y="318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rPr>
              <a:t>Friction Free</a:t>
            </a:r>
          </a:p>
        </p:txBody>
      </p:sp>
      <p:sp>
        <p:nvSpPr>
          <p:cNvPr id="21" name="Object5">
            <a:extLst>
              <a:ext uri="{FF2B5EF4-FFF2-40B4-BE49-F238E27FC236}">
                <a16:creationId xmlns:a16="http://schemas.microsoft.com/office/drawing/2014/main" id="{23456429-A8F6-05F4-4879-693999236BD4}"/>
              </a:ext>
            </a:extLst>
          </p:cNvPr>
          <p:cNvSpPr/>
          <p:nvPr/>
        </p:nvSpPr>
        <p:spPr>
          <a:xfrm>
            <a:off x="3254020" y="318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Badge Value</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22" name="Object5">
            <a:extLst>
              <a:ext uri="{FF2B5EF4-FFF2-40B4-BE49-F238E27FC236}">
                <a16:creationId xmlns:a16="http://schemas.microsoft.com/office/drawing/2014/main" id="{6B4A970A-6A41-B24E-EBB4-FF5ED29501BF}"/>
              </a:ext>
            </a:extLst>
          </p:cNvPr>
          <p:cNvSpPr/>
          <p:nvPr/>
        </p:nvSpPr>
        <p:spPr>
          <a:xfrm>
            <a:off x="6096000" y="318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Affiliation</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23" name="Object5">
            <a:extLst>
              <a:ext uri="{FF2B5EF4-FFF2-40B4-BE49-F238E27FC236}">
                <a16:creationId xmlns:a16="http://schemas.microsoft.com/office/drawing/2014/main" id="{33257CFA-3B51-5E16-A910-C3BFF753EE10}"/>
              </a:ext>
            </a:extLst>
          </p:cNvPr>
          <p:cNvSpPr/>
          <p:nvPr/>
        </p:nvSpPr>
        <p:spPr>
          <a:xfrm>
            <a:off x="8496000" y="318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Safe</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24" name="Object5">
            <a:extLst>
              <a:ext uri="{FF2B5EF4-FFF2-40B4-BE49-F238E27FC236}">
                <a16:creationId xmlns:a16="http://schemas.microsoft.com/office/drawing/2014/main" id="{2C6C4410-8471-CD9A-8647-67FE64670C5C}"/>
              </a:ext>
            </a:extLst>
          </p:cNvPr>
          <p:cNvSpPr/>
          <p:nvPr/>
        </p:nvSpPr>
        <p:spPr>
          <a:xfrm>
            <a:off x="367419" y="24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Bold" pitchFamily="2" charset="0"/>
                <a:ea typeface="Hepta Slab Regular" pitchFamily="34" charset="-122"/>
                <a:cs typeface="Hepta Slab Bold" pitchFamily="2" charset="0"/>
              </a:rPr>
              <a:t>Functional</a:t>
            </a:r>
            <a:endParaRPr kumimoji="0" lang="en-US" sz="1800" b="0" i="0" u="none" strike="noStrike" kern="1200" cap="none" spc="0" normalizeH="0" baseline="0" noProof="0" dirty="0">
              <a:ln>
                <a:noFill/>
              </a:ln>
              <a:solidFill>
                <a:srgbClr val="A9734C"/>
              </a:solidFill>
              <a:effectLst/>
              <a:uLnTx/>
              <a:uFillTx/>
              <a:latin typeface="Hepta Slab Bold" pitchFamily="2" charset="0"/>
              <a:ea typeface="+mn-ea"/>
              <a:cs typeface="Hepta Slab Bold" pitchFamily="2" charset="0"/>
            </a:endParaRPr>
          </a:p>
        </p:txBody>
      </p:sp>
      <p:sp>
        <p:nvSpPr>
          <p:cNvPr id="25" name="Object5">
            <a:extLst>
              <a:ext uri="{FF2B5EF4-FFF2-40B4-BE49-F238E27FC236}">
                <a16:creationId xmlns:a16="http://schemas.microsoft.com/office/drawing/2014/main" id="{1D8459DE-0427-1B7E-7BB8-3AF9AF0A1B2A}"/>
              </a:ext>
            </a:extLst>
          </p:cNvPr>
          <p:cNvSpPr/>
          <p:nvPr/>
        </p:nvSpPr>
        <p:spPr>
          <a:xfrm>
            <a:off x="3254020" y="24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Bold" pitchFamily="2" charset="0"/>
                <a:ea typeface="Hepta Slab Regular" pitchFamily="34" charset="-122"/>
                <a:cs typeface="Hepta Slab Bold" pitchFamily="2" charset="0"/>
              </a:rPr>
              <a:t>Identity</a:t>
            </a:r>
            <a:endParaRPr kumimoji="0" lang="en-US" sz="1800" b="0" i="0" u="none" strike="noStrike" kern="1200" cap="none" spc="0" normalizeH="0" baseline="0" noProof="0" dirty="0">
              <a:ln>
                <a:noFill/>
              </a:ln>
              <a:solidFill>
                <a:srgbClr val="A9734C"/>
              </a:solidFill>
              <a:effectLst/>
              <a:uLnTx/>
              <a:uFillTx/>
              <a:latin typeface="Hepta Slab Bold" pitchFamily="2" charset="0"/>
              <a:ea typeface="+mn-ea"/>
              <a:cs typeface="Hepta Slab Bold" pitchFamily="2" charset="0"/>
            </a:endParaRPr>
          </a:p>
        </p:txBody>
      </p:sp>
      <p:sp>
        <p:nvSpPr>
          <p:cNvPr id="26" name="Object5">
            <a:extLst>
              <a:ext uri="{FF2B5EF4-FFF2-40B4-BE49-F238E27FC236}">
                <a16:creationId xmlns:a16="http://schemas.microsoft.com/office/drawing/2014/main" id="{D81BAFE3-E01D-AF6A-57B4-AE4E31997B6B}"/>
              </a:ext>
            </a:extLst>
          </p:cNvPr>
          <p:cNvSpPr/>
          <p:nvPr/>
        </p:nvSpPr>
        <p:spPr>
          <a:xfrm>
            <a:off x="6096000" y="24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Bold" pitchFamily="2" charset="0"/>
                <a:ea typeface="Hepta Slab Regular" pitchFamily="34" charset="-122"/>
                <a:cs typeface="Hepta Slab Bold" pitchFamily="2" charset="0"/>
              </a:rPr>
              <a:t>Social</a:t>
            </a:r>
            <a:endParaRPr kumimoji="0" lang="en-US" sz="1800" b="0" i="0" u="none" strike="noStrike" kern="1200" cap="none" spc="0" normalizeH="0" baseline="0" noProof="0" dirty="0">
              <a:ln>
                <a:noFill/>
              </a:ln>
              <a:solidFill>
                <a:srgbClr val="A9734C"/>
              </a:solidFill>
              <a:effectLst/>
              <a:uLnTx/>
              <a:uFillTx/>
              <a:latin typeface="Hepta Slab Bold" pitchFamily="2" charset="0"/>
              <a:ea typeface="+mn-ea"/>
              <a:cs typeface="Hepta Slab Bold" pitchFamily="2" charset="0"/>
            </a:endParaRPr>
          </a:p>
        </p:txBody>
      </p:sp>
      <p:sp>
        <p:nvSpPr>
          <p:cNvPr id="27" name="Object5">
            <a:extLst>
              <a:ext uri="{FF2B5EF4-FFF2-40B4-BE49-F238E27FC236}">
                <a16:creationId xmlns:a16="http://schemas.microsoft.com/office/drawing/2014/main" id="{7201E74B-B66D-0F9E-EAB2-5508E1E8F3F9}"/>
              </a:ext>
            </a:extLst>
          </p:cNvPr>
          <p:cNvSpPr/>
          <p:nvPr/>
        </p:nvSpPr>
        <p:spPr>
          <a:xfrm>
            <a:off x="8496000" y="24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Bold" pitchFamily="2" charset="0"/>
                <a:ea typeface="Hepta Slab Regular" pitchFamily="34" charset="-122"/>
                <a:cs typeface="Hepta Slab Bold" pitchFamily="2" charset="0"/>
              </a:rPr>
              <a:t>Emotional</a:t>
            </a:r>
            <a:endParaRPr kumimoji="0" lang="en-US" sz="1800" b="0" i="0" u="none" strike="noStrike" kern="1200" cap="none" spc="0" normalizeH="0" baseline="0" noProof="0" dirty="0">
              <a:ln>
                <a:noFill/>
              </a:ln>
              <a:solidFill>
                <a:srgbClr val="A9734C"/>
              </a:solidFill>
              <a:effectLst/>
              <a:uLnTx/>
              <a:uFillTx/>
              <a:latin typeface="Hepta Slab Bold" pitchFamily="2" charset="0"/>
              <a:ea typeface="+mn-ea"/>
              <a:cs typeface="Hepta Slab Bold" pitchFamily="2" charset="0"/>
            </a:endParaRPr>
          </a:p>
        </p:txBody>
      </p:sp>
      <p:sp>
        <p:nvSpPr>
          <p:cNvPr id="28" name="Object5">
            <a:extLst>
              <a:ext uri="{FF2B5EF4-FFF2-40B4-BE49-F238E27FC236}">
                <a16:creationId xmlns:a16="http://schemas.microsoft.com/office/drawing/2014/main" id="{CC76A662-9404-C147-5A8A-1A5FCC5CA71D}"/>
              </a:ext>
            </a:extLst>
          </p:cNvPr>
          <p:cNvSpPr/>
          <p:nvPr/>
        </p:nvSpPr>
        <p:spPr>
          <a:xfrm>
            <a:off x="367419" y="36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Simplifies</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29" name="Object5">
            <a:extLst>
              <a:ext uri="{FF2B5EF4-FFF2-40B4-BE49-F238E27FC236}">
                <a16:creationId xmlns:a16="http://schemas.microsoft.com/office/drawing/2014/main" id="{095538FD-2327-FCD2-F24E-6277EB381FA9}"/>
              </a:ext>
            </a:extLst>
          </p:cNvPr>
          <p:cNvSpPr/>
          <p:nvPr/>
        </p:nvSpPr>
        <p:spPr>
          <a:xfrm>
            <a:off x="367419" y="414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rPr>
              <a:t>Peace of mind</a:t>
            </a:r>
          </a:p>
        </p:txBody>
      </p:sp>
      <p:sp>
        <p:nvSpPr>
          <p:cNvPr id="32" name="Object5">
            <a:extLst>
              <a:ext uri="{FF2B5EF4-FFF2-40B4-BE49-F238E27FC236}">
                <a16:creationId xmlns:a16="http://schemas.microsoft.com/office/drawing/2014/main" id="{1AB3BB5F-277E-E52A-7FDB-E24DB944DE43}"/>
              </a:ext>
            </a:extLst>
          </p:cNvPr>
          <p:cNvSpPr/>
          <p:nvPr/>
        </p:nvSpPr>
        <p:spPr>
          <a:xfrm>
            <a:off x="3254020" y="36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Pride</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33" name="Object5">
            <a:extLst>
              <a:ext uri="{FF2B5EF4-FFF2-40B4-BE49-F238E27FC236}">
                <a16:creationId xmlns:a16="http://schemas.microsoft.com/office/drawing/2014/main" id="{9C71CD82-07CB-5EBF-3A6D-417DD934A5FF}"/>
              </a:ext>
            </a:extLst>
          </p:cNvPr>
          <p:cNvSpPr/>
          <p:nvPr/>
        </p:nvSpPr>
        <p:spPr>
          <a:xfrm>
            <a:off x="3254020" y="414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Helps me enhance my lifestyle</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36" name="Object5">
            <a:extLst>
              <a:ext uri="{FF2B5EF4-FFF2-40B4-BE49-F238E27FC236}">
                <a16:creationId xmlns:a16="http://schemas.microsoft.com/office/drawing/2014/main" id="{291623D3-F7D8-E071-1CFF-F32737A8CACE}"/>
              </a:ext>
            </a:extLst>
          </p:cNvPr>
          <p:cNvSpPr/>
          <p:nvPr/>
        </p:nvSpPr>
        <p:spPr>
          <a:xfrm>
            <a:off x="6084972" y="36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Prestige</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37" name="Object5">
            <a:extLst>
              <a:ext uri="{FF2B5EF4-FFF2-40B4-BE49-F238E27FC236}">
                <a16:creationId xmlns:a16="http://schemas.microsoft.com/office/drawing/2014/main" id="{FAAD9749-5928-D200-FAB2-AEE0FB5EA7B1}"/>
              </a:ext>
            </a:extLst>
          </p:cNvPr>
          <p:cNvSpPr/>
          <p:nvPr/>
        </p:nvSpPr>
        <p:spPr>
          <a:xfrm>
            <a:off x="6096000" y="414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Aspirational</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38" name="Object5">
            <a:extLst>
              <a:ext uri="{FF2B5EF4-FFF2-40B4-BE49-F238E27FC236}">
                <a16:creationId xmlns:a16="http://schemas.microsoft.com/office/drawing/2014/main" id="{655F418B-85D1-E971-2FAB-2D3237D7DEE2}"/>
              </a:ext>
            </a:extLst>
          </p:cNvPr>
          <p:cNvSpPr/>
          <p:nvPr/>
        </p:nvSpPr>
        <p:spPr>
          <a:xfrm>
            <a:off x="6096000" y="462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Exclusive</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40" name="Object5">
            <a:extLst>
              <a:ext uri="{FF2B5EF4-FFF2-40B4-BE49-F238E27FC236}">
                <a16:creationId xmlns:a16="http://schemas.microsoft.com/office/drawing/2014/main" id="{463CD8E9-D4E1-FFEA-AA97-34241D7A2C85}"/>
              </a:ext>
            </a:extLst>
          </p:cNvPr>
          <p:cNvSpPr/>
          <p:nvPr/>
        </p:nvSpPr>
        <p:spPr>
          <a:xfrm>
            <a:off x="8496000" y="366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Control</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41" name="Object5">
            <a:extLst>
              <a:ext uri="{FF2B5EF4-FFF2-40B4-BE49-F238E27FC236}">
                <a16:creationId xmlns:a16="http://schemas.microsoft.com/office/drawing/2014/main" id="{5374D9C7-6E18-829E-BD66-C6C11FA7387A}"/>
              </a:ext>
            </a:extLst>
          </p:cNvPr>
          <p:cNvSpPr/>
          <p:nvPr/>
        </p:nvSpPr>
        <p:spPr>
          <a:xfrm>
            <a:off x="8496000" y="414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Empowered</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42" name="Object5">
            <a:extLst>
              <a:ext uri="{FF2B5EF4-FFF2-40B4-BE49-F238E27FC236}">
                <a16:creationId xmlns:a16="http://schemas.microsoft.com/office/drawing/2014/main" id="{2E0BC3F8-7E54-9C30-1BB0-F8BCFC9F662A}"/>
              </a:ext>
            </a:extLst>
          </p:cNvPr>
          <p:cNvSpPr/>
          <p:nvPr/>
        </p:nvSpPr>
        <p:spPr>
          <a:xfrm>
            <a:off x="8496000" y="462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Valued</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30" name="Object5">
            <a:extLst>
              <a:ext uri="{FF2B5EF4-FFF2-40B4-BE49-F238E27FC236}">
                <a16:creationId xmlns:a16="http://schemas.microsoft.com/office/drawing/2014/main" id="{46E4BC41-34A1-36ED-C551-FBA2F2341A0B}"/>
              </a:ext>
            </a:extLst>
          </p:cNvPr>
          <p:cNvSpPr/>
          <p:nvPr/>
        </p:nvSpPr>
        <p:spPr>
          <a:xfrm>
            <a:off x="367419" y="4629000"/>
            <a:ext cx="1840990" cy="24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Helps me grow my money</a:t>
            </a: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31" name="TextBox 30">
            <a:extLst>
              <a:ext uri="{FF2B5EF4-FFF2-40B4-BE49-F238E27FC236}">
                <a16:creationId xmlns:a16="http://schemas.microsoft.com/office/drawing/2014/main" id="{DB2167E3-2131-62A7-BA76-7A6FB435D07B}"/>
              </a:ext>
            </a:extLst>
          </p:cNvPr>
          <p:cNvSpPr txBox="1"/>
          <p:nvPr/>
        </p:nvSpPr>
        <p:spPr>
          <a:xfrm>
            <a:off x="336000" y="546854"/>
            <a:ext cx="574067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rPr>
              <a:t>The Engagement Pillars</a:t>
            </a:r>
          </a:p>
        </p:txBody>
      </p:sp>
      <p:grpSp>
        <p:nvGrpSpPr>
          <p:cNvPr id="34" name="Group 33">
            <a:extLst>
              <a:ext uri="{FF2B5EF4-FFF2-40B4-BE49-F238E27FC236}">
                <a16:creationId xmlns:a16="http://schemas.microsoft.com/office/drawing/2014/main" id="{D6886F99-696B-ECFB-B603-D475D3694CDD}"/>
              </a:ext>
            </a:extLst>
          </p:cNvPr>
          <p:cNvGrpSpPr/>
          <p:nvPr/>
        </p:nvGrpSpPr>
        <p:grpSpPr>
          <a:xfrm>
            <a:off x="-61290" y="6053155"/>
            <a:ext cx="12253290" cy="971832"/>
            <a:chOff x="-187799" y="8336784"/>
            <a:chExt cx="18379935" cy="1457748"/>
          </a:xfrm>
        </p:grpSpPr>
        <p:pic>
          <p:nvPicPr>
            <p:cNvPr id="35" name="Picture 34">
              <a:extLst>
                <a:ext uri="{FF2B5EF4-FFF2-40B4-BE49-F238E27FC236}">
                  <a16:creationId xmlns:a16="http://schemas.microsoft.com/office/drawing/2014/main" id="{483BEADA-5985-43FA-46B7-2AD246F060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39" name="Title 1">
              <a:extLst>
                <a:ext uri="{FF2B5EF4-FFF2-40B4-BE49-F238E27FC236}">
                  <a16:creationId xmlns:a16="http://schemas.microsoft.com/office/drawing/2014/main" id="{6D554479-60B1-C79E-7E72-01E502E455E4}"/>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43" name="Picture 42">
              <a:extLst>
                <a:ext uri="{FF2B5EF4-FFF2-40B4-BE49-F238E27FC236}">
                  <a16:creationId xmlns:a16="http://schemas.microsoft.com/office/drawing/2014/main" id="{661D52C4-267A-5A1A-C7E1-BA6AC0F351F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2" name="Picture 1">
            <a:extLst>
              <a:ext uri="{FF2B5EF4-FFF2-40B4-BE49-F238E27FC236}">
                <a16:creationId xmlns:a16="http://schemas.microsoft.com/office/drawing/2014/main" id="{52989585-1828-270F-16FD-5082AAFFA629}"/>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3" name="Slide Number Placeholder 4">
            <a:extLst>
              <a:ext uri="{FF2B5EF4-FFF2-40B4-BE49-F238E27FC236}">
                <a16:creationId xmlns:a16="http://schemas.microsoft.com/office/drawing/2014/main" id="{FC1B0E96-2595-E538-3C1C-0CA5CEE1C922}"/>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
        <p:nvSpPr>
          <p:cNvPr id="4" name="TextBox 3">
            <a:extLst>
              <a:ext uri="{FF2B5EF4-FFF2-40B4-BE49-F238E27FC236}">
                <a16:creationId xmlns:a16="http://schemas.microsoft.com/office/drawing/2014/main" id="{35D67398-D083-D721-738A-4171B992B56C}"/>
              </a:ext>
            </a:extLst>
          </p:cNvPr>
          <p:cNvSpPr txBox="1"/>
          <p:nvPr/>
        </p:nvSpPr>
        <p:spPr>
          <a:xfrm>
            <a:off x="336000" y="1258142"/>
            <a:ext cx="10012451" cy="584775"/>
          </a:xfrm>
          <a:prstGeom prst="rect">
            <a:avLst/>
          </a:prstGeom>
          <a:noFill/>
        </p:spPr>
        <p:txBody>
          <a:bodyPr wrap="square" rtlCol="0">
            <a:spAutoFit/>
          </a:bodyPr>
          <a:lstStyle/>
          <a:p>
            <a:r>
              <a:rPr lang="en-US" sz="1600" dirty="0">
                <a:solidFill>
                  <a:srgbClr val="264161"/>
                </a:solidFill>
                <a:latin typeface="Montserrat Medium" panose="00000600000000000000" pitchFamily="2" charset="0"/>
              </a:rPr>
              <a:t>The attributes of the dimensions of customer engagement in the context of Premium Banking &amp; affluent customers</a:t>
            </a:r>
            <a:endParaRPr lang="en-IN" sz="1600" dirty="0">
              <a:solidFill>
                <a:srgbClr val="264161"/>
              </a:solidFill>
              <a:latin typeface="Montserrat Medium" panose="00000600000000000000" pitchFamily="2" charset="0"/>
            </a:endParaRPr>
          </a:p>
        </p:txBody>
      </p:sp>
    </p:spTree>
    <p:extLst>
      <p:ext uri="{BB962C8B-B14F-4D97-AF65-F5344CB8AC3E}">
        <p14:creationId xmlns:p14="http://schemas.microsoft.com/office/powerpoint/2010/main" val="1635222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3" name="Object5">
            <a:extLst>
              <a:ext uri="{FF2B5EF4-FFF2-40B4-BE49-F238E27FC236}">
                <a16:creationId xmlns:a16="http://schemas.microsoft.com/office/drawing/2014/main" id="{00C2F645-8689-42A6-B5DE-4402BAC9C368}"/>
              </a:ext>
            </a:extLst>
          </p:cNvPr>
          <p:cNvSpPr/>
          <p:nvPr/>
        </p:nvSpPr>
        <p:spPr>
          <a:xfrm>
            <a:off x="259031" y="4055971"/>
            <a:ext cx="3799439" cy="542756"/>
          </a:xfrm>
          <a:prstGeom prst="rect">
            <a:avLst/>
          </a:prstGeom>
          <a:noFill/>
          <a:ln/>
        </p:spPr>
        <p:txBody>
          <a:bodyPr wrap="square" lIns="0" tIns="0" rIns="0" bIns="0" rtlCol="0" anchor="t"/>
          <a:lstStyle/>
          <a:p>
            <a:pPr defTabSz="304815"/>
            <a:r>
              <a:rPr lang="en-US" dirty="0">
                <a:solidFill>
                  <a:srgbClr val="A9734C"/>
                </a:solidFill>
                <a:latin typeface="Hepta Slab Medium" pitchFamily="2" charset="0"/>
                <a:ea typeface="Hepta Slab Regular" pitchFamily="34" charset="-122"/>
                <a:cs typeface="Hepta Slab Medium" pitchFamily="2" charset="0"/>
              </a:rPr>
              <a:t>Financial transactions</a:t>
            </a:r>
            <a:br>
              <a:rPr lang="en-US" dirty="0">
                <a:solidFill>
                  <a:srgbClr val="7030A0"/>
                </a:solidFill>
                <a:latin typeface="Hepta Slab Medium" pitchFamily="2" charset="0"/>
                <a:ea typeface="Hepta Slab Regular" pitchFamily="34" charset="-122"/>
                <a:cs typeface="Hepta Slab Medium" pitchFamily="2" charset="0"/>
              </a:rPr>
            </a:br>
            <a:r>
              <a:rPr lang="en-US" dirty="0">
                <a:solidFill>
                  <a:srgbClr val="002060"/>
                </a:solidFill>
                <a:latin typeface="Hepta Slab Medium" pitchFamily="2" charset="0"/>
                <a:ea typeface="Hepta Slab Regular" pitchFamily="34" charset="-122"/>
                <a:cs typeface="Hepta Slab Medium" pitchFamily="2" charset="0"/>
              </a:rPr>
              <a:t>safe. secure. friction-free</a:t>
            </a:r>
            <a:endParaRPr lang="en-US" dirty="0">
              <a:solidFill>
                <a:srgbClr val="002060"/>
              </a:solidFill>
              <a:latin typeface="Hepta Slab Medium" pitchFamily="2" charset="0"/>
              <a:cs typeface="Hepta Slab Medium" pitchFamily="2" charset="0"/>
            </a:endParaRPr>
          </a:p>
        </p:txBody>
      </p:sp>
      <p:sp>
        <p:nvSpPr>
          <p:cNvPr id="10" name="Object5">
            <a:extLst>
              <a:ext uri="{FF2B5EF4-FFF2-40B4-BE49-F238E27FC236}">
                <a16:creationId xmlns:a16="http://schemas.microsoft.com/office/drawing/2014/main" id="{37BEAA9B-8F62-31AA-37EB-9E1F0113903B}"/>
              </a:ext>
            </a:extLst>
          </p:cNvPr>
          <p:cNvSpPr/>
          <p:nvPr/>
        </p:nvSpPr>
        <p:spPr>
          <a:xfrm>
            <a:off x="255105" y="2894221"/>
            <a:ext cx="4616245" cy="534779"/>
          </a:xfrm>
          <a:prstGeom prst="rect">
            <a:avLst/>
          </a:prstGeom>
          <a:noFill/>
          <a:ln/>
        </p:spPr>
        <p:txBody>
          <a:bodyPr wrap="square" lIns="0" tIns="0" rIns="0" bIns="0" rtlCol="0" anchor="t"/>
          <a:lstStyle/>
          <a:p>
            <a:pPr defTabSz="304815"/>
            <a:r>
              <a:rPr lang="en-US" dirty="0">
                <a:solidFill>
                  <a:srgbClr val="A9734C"/>
                </a:solidFill>
                <a:latin typeface="Hepta Slab Medium" pitchFamily="2" charset="0"/>
                <a:cs typeface="Hepta Slab Medium" pitchFamily="2" charset="0"/>
              </a:rPr>
              <a:t>Help me grow my money</a:t>
            </a:r>
            <a:br>
              <a:rPr lang="en-US" dirty="0">
                <a:solidFill>
                  <a:srgbClr val="7030A0"/>
                </a:solidFill>
                <a:latin typeface="Hepta Slab Medium" pitchFamily="2" charset="0"/>
                <a:cs typeface="Hepta Slab Medium" pitchFamily="2" charset="0"/>
              </a:rPr>
            </a:br>
            <a:r>
              <a:rPr lang="en-US" dirty="0">
                <a:solidFill>
                  <a:srgbClr val="002060"/>
                </a:solidFill>
                <a:latin typeface="Hepta Slab Medium" pitchFamily="2" charset="0"/>
                <a:cs typeface="Hepta Slab Medium" pitchFamily="2" charset="0"/>
              </a:rPr>
              <a:t>contextual</a:t>
            </a:r>
            <a:r>
              <a:rPr lang="en-US" dirty="0">
                <a:solidFill>
                  <a:srgbClr val="7030A0"/>
                </a:solidFill>
                <a:latin typeface="Hepta Slab Medium" pitchFamily="2" charset="0"/>
                <a:cs typeface="Hepta Slab Medium" pitchFamily="2" charset="0"/>
              </a:rPr>
              <a:t>. </a:t>
            </a:r>
            <a:r>
              <a:rPr lang="en-US" dirty="0">
                <a:solidFill>
                  <a:srgbClr val="002060"/>
                </a:solidFill>
                <a:latin typeface="Hepta Slab Medium" pitchFamily="2" charset="0"/>
                <a:cs typeface="Hepta Slab Medium" pitchFamily="2" charset="0"/>
              </a:rPr>
              <a:t>consistent. transparent  </a:t>
            </a:r>
          </a:p>
        </p:txBody>
      </p:sp>
      <p:sp>
        <p:nvSpPr>
          <p:cNvPr id="16" name="Object4">
            <a:extLst>
              <a:ext uri="{FF2B5EF4-FFF2-40B4-BE49-F238E27FC236}">
                <a16:creationId xmlns:a16="http://schemas.microsoft.com/office/drawing/2014/main" id="{176A737F-5812-B4BB-A4B4-F5F629B79517}"/>
              </a:ext>
            </a:extLst>
          </p:cNvPr>
          <p:cNvSpPr/>
          <p:nvPr/>
        </p:nvSpPr>
        <p:spPr>
          <a:xfrm>
            <a:off x="191350" y="1122606"/>
            <a:ext cx="9360000" cy="439725"/>
          </a:xfrm>
          <a:prstGeom prst="rect">
            <a:avLst/>
          </a:prstGeom>
          <a:noFill/>
          <a:ln/>
        </p:spPr>
        <p:txBody>
          <a:bodyPr wrap="square" lIns="0" tIns="0" rIns="0" bIns="0" rtlCol="0" anchor="t"/>
          <a:lstStyle/>
          <a:p>
            <a:pPr defTabSz="304815"/>
            <a:r>
              <a:rPr lang="en-US" sz="3200" b="1" dirty="0">
                <a:solidFill>
                  <a:srgbClr val="002060"/>
                </a:solidFill>
                <a:latin typeface="Hepta Slab Bold" pitchFamily="34" charset="0"/>
                <a:ea typeface="Hepta Slab Bold" pitchFamily="34" charset="-122"/>
                <a:cs typeface="Hepta Slab Bold" pitchFamily="34" charset="-120"/>
              </a:rPr>
              <a:t>Hierarchy of Expectations.</a:t>
            </a:r>
            <a:endParaRPr lang="en-US" sz="3200" dirty="0">
              <a:solidFill>
                <a:srgbClr val="002060"/>
              </a:solidFill>
              <a:latin typeface="Calibri" panose="020F0502020204030204"/>
            </a:endParaRPr>
          </a:p>
        </p:txBody>
      </p:sp>
      <p:grpSp>
        <p:nvGrpSpPr>
          <p:cNvPr id="12" name="Group 11">
            <a:extLst>
              <a:ext uri="{FF2B5EF4-FFF2-40B4-BE49-F238E27FC236}">
                <a16:creationId xmlns:a16="http://schemas.microsoft.com/office/drawing/2014/main" id="{E7418CBA-FE77-6555-3541-DB7E1CE7F4E2}"/>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184F3624-C087-E560-79D7-EA12EAB431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5" name="Title 1">
              <a:extLst>
                <a:ext uri="{FF2B5EF4-FFF2-40B4-BE49-F238E27FC236}">
                  <a16:creationId xmlns:a16="http://schemas.microsoft.com/office/drawing/2014/main" id="{CAEA5311-F70F-AD78-2F2D-6070109C3C97}"/>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7FCE305D-7ADE-FE21-D022-9B67113A12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6" name="Object5">
            <a:extLst>
              <a:ext uri="{FF2B5EF4-FFF2-40B4-BE49-F238E27FC236}">
                <a16:creationId xmlns:a16="http://schemas.microsoft.com/office/drawing/2014/main" id="{F6D76BE7-8440-0ABD-9323-5347179FC5D8}"/>
              </a:ext>
            </a:extLst>
          </p:cNvPr>
          <p:cNvSpPr/>
          <p:nvPr/>
        </p:nvSpPr>
        <p:spPr>
          <a:xfrm>
            <a:off x="6412763" y="2875265"/>
            <a:ext cx="3678916" cy="889098"/>
          </a:xfrm>
          <a:prstGeom prst="rect">
            <a:avLst/>
          </a:prstGeom>
          <a:noFill/>
          <a:ln/>
        </p:spPr>
        <p:txBody>
          <a:bodyPr wrap="square" lIns="0" tIns="0" rIns="0" bIns="0" rtlCol="0" anchor="t"/>
          <a:lstStyle/>
          <a:p>
            <a:pPr defTabSz="304815"/>
            <a:r>
              <a:rPr lang="en-US" dirty="0">
                <a:solidFill>
                  <a:srgbClr val="A9734C"/>
                </a:solidFill>
                <a:latin typeface="Hepta Slab Medium" pitchFamily="2" charset="0"/>
                <a:cs typeface="Hepta Slab Medium" pitchFamily="2" charset="0"/>
              </a:rPr>
              <a:t>Enhance my lifestyle</a:t>
            </a:r>
            <a:br>
              <a:rPr lang="en-US" dirty="0">
                <a:solidFill>
                  <a:srgbClr val="7030A0"/>
                </a:solidFill>
                <a:latin typeface="Hepta Slab Medium" pitchFamily="2" charset="0"/>
                <a:ea typeface="Hepta Slab Regular" pitchFamily="34" charset="-122"/>
                <a:cs typeface="Hepta Slab Medium" pitchFamily="2" charset="0"/>
              </a:rPr>
            </a:br>
            <a:r>
              <a:rPr lang="en-US" dirty="0">
                <a:solidFill>
                  <a:srgbClr val="002060"/>
                </a:solidFill>
                <a:latin typeface="Hepta Slab Medium" pitchFamily="2" charset="0"/>
                <a:cs typeface="Hepta Slab Medium" pitchFamily="2" charset="0"/>
              </a:rPr>
              <a:t>Personalized prestige. </a:t>
            </a:r>
            <a:r>
              <a:rPr kumimoji="0" lang="en-US" sz="18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Contextual exclusivity.</a:t>
            </a:r>
            <a:endParaRPr lang="en-US" dirty="0">
              <a:solidFill>
                <a:srgbClr val="002060"/>
              </a:solidFill>
              <a:latin typeface="Hepta Slab Medium" pitchFamily="2" charset="0"/>
              <a:cs typeface="Hepta Slab Medium" pitchFamily="2" charset="0"/>
            </a:endParaRPr>
          </a:p>
        </p:txBody>
      </p:sp>
      <p:sp>
        <p:nvSpPr>
          <p:cNvPr id="8" name="Object6">
            <a:extLst>
              <a:ext uri="{FF2B5EF4-FFF2-40B4-BE49-F238E27FC236}">
                <a16:creationId xmlns:a16="http://schemas.microsoft.com/office/drawing/2014/main" id="{0266CFB2-BDD1-C751-2BFB-7BA4B4F6FA15}"/>
              </a:ext>
            </a:extLst>
          </p:cNvPr>
          <p:cNvSpPr/>
          <p:nvPr/>
        </p:nvSpPr>
        <p:spPr>
          <a:xfrm>
            <a:off x="191350" y="342697"/>
            <a:ext cx="7734240" cy="557213"/>
          </a:xfrm>
          <a:prstGeom prst="rect">
            <a:avLst/>
          </a:prstGeom>
          <a:noFill/>
          <a:ln/>
        </p:spPr>
        <p:txBody>
          <a:bodyPr wrap="square" lIns="0" tIns="0" rIns="0" bIns="0" rtlCol="0" anchor="t"/>
          <a:lstStyle/>
          <a:p>
            <a:pPr marL="0" marR="0" lvl="0" indent="0" algn="l" defTabSz="457200" rtl="0" eaLnBrk="1" fontAlgn="auto" latinLnBrk="0" hangingPunct="1">
              <a:lnSpc>
                <a:spcPts val="4388"/>
              </a:lnSpc>
              <a:spcBef>
                <a:spcPts val="0"/>
              </a:spcBef>
              <a:spcAft>
                <a:spcPts val="0"/>
              </a:spcAft>
              <a:buClrTx/>
              <a:buSzTx/>
              <a:buFontTx/>
              <a:buNone/>
              <a:tabLst/>
              <a:defRPr/>
            </a:pPr>
            <a:r>
              <a:rPr lang="en-US" cap="all" dirty="0">
                <a:solidFill>
                  <a:srgbClr val="002060"/>
                </a:solidFill>
                <a:latin typeface="Montserrat ExtraBold" pitchFamily="34" charset="0"/>
              </a:rPr>
              <a:t>PREMIUM BANKING experience</a:t>
            </a:r>
            <a:endParaRPr kumimoji="0" lang="en-US"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2" name="Object6">
            <a:extLst>
              <a:ext uri="{FF2B5EF4-FFF2-40B4-BE49-F238E27FC236}">
                <a16:creationId xmlns:a16="http://schemas.microsoft.com/office/drawing/2014/main" id="{58BFE732-90DA-C700-5C0F-D26A936CA3BA}"/>
              </a:ext>
            </a:extLst>
          </p:cNvPr>
          <p:cNvSpPr/>
          <p:nvPr/>
        </p:nvSpPr>
        <p:spPr>
          <a:xfrm>
            <a:off x="191350" y="1925117"/>
            <a:ext cx="3982717" cy="557213"/>
          </a:xfrm>
          <a:prstGeom prst="rect">
            <a:avLst/>
          </a:prstGeom>
          <a:noFill/>
          <a:ln/>
        </p:spPr>
        <p:txBody>
          <a:bodyPr wrap="square" lIns="0" tIns="0" rIns="0" bIns="0" rtlCol="0" anchor="t"/>
          <a:lstStyle/>
          <a:p>
            <a:pPr marL="0" marR="0" lvl="0" indent="0" algn="l" defTabSz="457200" rtl="0" eaLnBrk="1" fontAlgn="auto" latinLnBrk="0" hangingPunct="1">
              <a:lnSpc>
                <a:spcPts val="4388"/>
              </a:lnSpc>
              <a:spcBef>
                <a:spcPts val="0"/>
              </a:spcBef>
              <a:spcAft>
                <a:spcPts val="0"/>
              </a:spcAft>
              <a:buClrTx/>
              <a:buSzTx/>
              <a:buFontTx/>
              <a:buNone/>
              <a:tabLst/>
              <a:defRPr/>
            </a:pPr>
            <a:r>
              <a:rPr lang="en-US" cap="all" dirty="0">
                <a:solidFill>
                  <a:srgbClr val="002060"/>
                </a:solidFill>
                <a:latin typeface="Montserrat ExtraBold" pitchFamily="34" charset="0"/>
              </a:rPr>
              <a:t>FUNCTIONAL EXPECTATIONS</a:t>
            </a:r>
            <a:endParaRPr kumimoji="0" lang="en-US"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4" name="Object6">
            <a:extLst>
              <a:ext uri="{FF2B5EF4-FFF2-40B4-BE49-F238E27FC236}">
                <a16:creationId xmlns:a16="http://schemas.microsoft.com/office/drawing/2014/main" id="{EF0EC190-F4FD-2B12-762B-A17727760086}"/>
              </a:ext>
            </a:extLst>
          </p:cNvPr>
          <p:cNvSpPr/>
          <p:nvPr/>
        </p:nvSpPr>
        <p:spPr>
          <a:xfrm>
            <a:off x="6412763" y="1925117"/>
            <a:ext cx="3982717" cy="557213"/>
          </a:xfrm>
          <a:prstGeom prst="rect">
            <a:avLst/>
          </a:prstGeom>
          <a:noFill/>
          <a:ln/>
        </p:spPr>
        <p:txBody>
          <a:bodyPr wrap="square" lIns="0" tIns="0" rIns="0" bIns="0" rtlCol="0" anchor="t"/>
          <a:lstStyle/>
          <a:p>
            <a:pPr marL="0" marR="0" lvl="0" indent="0" algn="l" defTabSz="457200" rtl="0" eaLnBrk="1" fontAlgn="auto" latinLnBrk="0" hangingPunct="1">
              <a:lnSpc>
                <a:spcPts val="4388"/>
              </a:lnSpc>
              <a:spcBef>
                <a:spcPts val="0"/>
              </a:spcBef>
              <a:spcAft>
                <a:spcPts val="0"/>
              </a:spcAft>
              <a:buClrTx/>
              <a:buSzTx/>
              <a:buFontTx/>
              <a:buNone/>
              <a:tabLst/>
              <a:defRPr/>
            </a:pPr>
            <a:r>
              <a:rPr lang="en-US" cap="all" dirty="0">
                <a:solidFill>
                  <a:srgbClr val="002060"/>
                </a:solidFill>
                <a:latin typeface="Montserrat ExtraBold" pitchFamily="34" charset="0"/>
              </a:rPr>
              <a:t>EXPERIENTIAL EXPECTATIONS</a:t>
            </a:r>
            <a:endParaRPr kumimoji="0" lang="en-US"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898F89AB-F0CB-A819-9FE4-29A18BD94553}"/>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1416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8D78FEE-FD12-7BCB-8DEC-B957280B9ED5}"/>
              </a:ext>
            </a:extLst>
          </p:cNvPr>
          <p:cNvSpPr/>
          <p:nvPr/>
        </p:nvSpPr>
        <p:spPr>
          <a:xfrm>
            <a:off x="6394384" y="-4156"/>
            <a:ext cx="5797615" cy="68621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E7418CBA-FE77-6555-3541-DB7E1CE7F4E2}"/>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184F3624-C087-E560-79D7-EA12EAB431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5" name="Title 1">
              <a:extLst>
                <a:ext uri="{FF2B5EF4-FFF2-40B4-BE49-F238E27FC236}">
                  <a16:creationId xmlns:a16="http://schemas.microsoft.com/office/drawing/2014/main" id="{CAEA5311-F70F-AD78-2F2D-6070109C3C97}"/>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7FCE305D-7ADE-FE21-D022-9B67113A12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8" name="TextBox 17">
            <a:extLst>
              <a:ext uri="{FF2B5EF4-FFF2-40B4-BE49-F238E27FC236}">
                <a16:creationId xmlns:a16="http://schemas.microsoft.com/office/drawing/2014/main" id="{F633FFE0-0685-AB1F-A02B-FF587FAF7ADE}"/>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11</a:t>
            </a:fld>
            <a:endParaRPr lang="en-US" sz="1333" dirty="0">
              <a:solidFill>
                <a:srgbClr val="0D0D0D"/>
              </a:solidFill>
              <a:latin typeface="Hepta Slab Medium" pitchFamily="2" charset="0"/>
              <a:cs typeface="Hepta Slab Medium" pitchFamily="2" charset="0"/>
            </a:endParaRPr>
          </a:p>
        </p:txBody>
      </p:sp>
      <p:sp>
        <p:nvSpPr>
          <p:cNvPr id="22" name="Object6">
            <a:extLst>
              <a:ext uri="{FF2B5EF4-FFF2-40B4-BE49-F238E27FC236}">
                <a16:creationId xmlns:a16="http://schemas.microsoft.com/office/drawing/2014/main" id="{8335416D-9DB5-75E4-9E2E-2F7735447C8E}"/>
              </a:ext>
            </a:extLst>
          </p:cNvPr>
          <p:cNvSpPr/>
          <p:nvPr/>
        </p:nvSpPr>
        <p:spPr>
          <a:xfrm>
            <a:off x="8485315" y="142139"/>
            <a:ext cx="3240000" cy="371475"/>
          </a:xfrm>
          <a:prstGeom prst="rect">
            <a:avLst/>
          </a:prstGeom>
          <a:noFill/>
          <a:ln>
            <a:noFill/>
            <a:prstDash val="lgDash"/>
          </a:ln>
        </p:spPr>
        <p:txBody>
          <a:bodyPr wrap="square" lIns="0" tIns="0" rIns="0" bIns="0" rtlCol="0" anchor="t"/>
          <a:lstStyle/>
          <a:p>
            <a:pPr defTabSz="304815">
              <a:lnSpc>
                <a:spcPts val="2400"/>
              </a:lnSpc>
            </a:pPr>
            <a:r>
              <a:rPr lang="en-US" sz="1600" cap="all" dirty="0">
                <a:solidFill>
                  <a:srgbClr val="A9734C"/>
                </a:solidFill>
                <a:latin typeface="Montserrat ExtraBold" pitchFamily="34" charset="0"/>
              </a:rPr>
              <a:t>FUNCTIONAL EXPECTATIONS</a:t>
            </a:r>
          </a:p>
        </p:txBody>
      </p:sp>
      <p:sp>
        <p:nvSpPr>
          <p:cNvPr id="6" name="Object6">
            <a:extLst>
              <a:ext uri="{FF2B5EF4-FFF2-40B4-BE49-F238E27FC236}">
                <a16:creationId xmlns:a16="http://schemas.microsoft.com/office/drawing/2014/main" id="{2520604F-8ED7-D37B-C515-BF4AB8F69CDE}"/>
              </a:ext>
            </a:extLst>
          </p:cNvPr>
          <p:cNvSpPr/>
          <p:nvPr/>
        </p:nvSpPr>
        <p:spPr>
          <a:xfrm>
            <a:off x="466685" y="142139"/>
            <a:ext cx="6953290" cy="341321"/>
          </a:xfrm>
          <a:prstGeom prst="rect">
            <a:avLst/>
          </a:prstGeom>
          <a:noFill/>
          <a:ln/>
        </p:spPr>
        <p:txBody>
          <a:bodyPr wrap="square" lIns="0" tIns="0" rIns="0" bIns="0" rtlCol="0" anchor="t"/>
          <a:lstStyle/>
          <a:p>
            <a:pPr marL="0" marR="0" lvl="0" indent="0" algn="l" defTabSz="457200" rtl="0" eaLnBrk="1" fontAlgn="auto" latinLnBrk="0" hangingPunct="1">
              <a:lnSpc>
                <a:spcPts val="2400"/>
              </a:lnSpc>
              <a:spcBef>
                <a:spcPts val="0"/>
              </a:spcBef>
              <a:spcAft>
                <a:spcPts val="0"/>
              </a:spcAft>
              <a:buClrTx/>
              <a:buSzTx/>
              <a:buFontTx/>
              <a:buNone/>
              <a:tabLst/>
              <a:defRPr/>
            </a:pPr>
            <a:r>
              <a:rPr lang="en-US" cap="all" dirty="0">
                <a:solidFill>
                  <a:srgbClr val="002060"/>
                </a:solidFill>
                <a:latin typeface="Montserrat ExtraBold" pitchFamily="34" charset="0"/>
              </a:rPr>
              <a:t>PREMIUM BANKING experience – CATEGORY LEVEL</a:t>
            </a:r>
            <a:endParaRPr kumimoji="0" lang="en-US"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F82DF821-DBA5-4C78-C342-250455AC8DF2}"/>
              </a:ext>
            </a:extLst>
          </p:cNvPr>
          <p:cNvSpPr txBox="1"/>
          <p:nvPr/>
        </p:nvSpPr>
        <p:spPr>
          <a:xfrm>
            <a:off x="1790700" y="6431369"/>
            <a:ext cx="928914" cy="230832"/>
          </a:xfrm>
          <a:prstGeom prst="rect">
            <a:avLst/>
          </a:prstGeom>
          <a:noFill/>
        </p:spPr>
        <p:txBody>
          <a:bodyPr wrap="square" rtlCol="0">
            <a:spAutoFit/>
          </a:bodyPr>
          <a:lstStyle/>
          <a:p>
            <a:r>
              <a:rPr lang="en-GB" sz="900" dirty="0">
                <a:solidFill>
                  <a:schemeClr val="bg2">
                    <a:lumMod val="75000"/>
                  </a:schemeClr>
                </a:solidFill>
                <a:latin typeface="Montserrat SemiBold" panose="00000700000000000000" pitchFamily="2" charset="0"/>
              </a:rPr>
              <a:t>n= 622</a:t>
            </a:r>
            <a:endParaRPr lang="en-IN" sz="900" dirty="0">
              <a:solidFill>
                <a:schemeClr val="bg2">
                  <a:lumMod val="75000"/>
                </a:schemeClr>
              </a:solidFill>
              <a:latin typeface="Montserrat SemiBold" panose="00000700000000000000" pitchFamily="2" charset="0"/>
            </a:endParaRPr>
          </a:p>
        </p:txBody>
      </p:sp>
      <p:sp>
        <p:nvSpPr>
          <p:cNvPr id="2" name="Object4">
            <a:extLst>
              <a:ext uri="{FF2B5EF4-FFF2-40B4-BE49-F238E27FC236}">
                <a16:creationId xmlns:a16="http://schemas.microsoft.com/office/drawing/2014/main" id="{B0994AC4-3883-E9FB-8A72-B04B419C7F00}"/>
              </a:ext>
            </a:extLst>
          </p:cNvPr>
          <p:cNvSpPr/>
          <p:nvPr/>
        </p:nvSpPr>
        <p:spPr>
          <a:xfrm>
            <a:off x="466685" y="471007"/>
            <a:ext cx="6315115" cy="439725"/>
          </a:xfrm>
          <a:prstGeom prst="rect">
            <a:avLst/>
          </a:prstGeom>
          <a:noFill/>
          <a:ln/>
        </p:spPr>
        <p:txBody>
          <a:bodyPr wrap="square" lIns="0" tIns="0" rIns="0" bIns="0" rtlCol="0" anchor="t"/>
          <a:lstStyle/>
          <a:p>
            <a:pPr defTabSz="304815"/>
            <a:r>
              <a:rPr lang="en-US" sz="3200" b="1" dirty="0">
                <a:solidFill>
                  <a:srgbClr val="002060"/>
                </a:solidFill>
                <a:latin typeface="Hepta Slab Bold" pitchFamily="34" charset="0"/>
                <a:ea typeface="Hepta Slab Bold" pitchFamily="34" charset="-122"/>
                <a:cs typeface="Hepta Slab Bold" pitchFamily="34" charset="-120"/>
              </a:rPr>
              <a:t>Hierarchy of Expectations</a:t>
            </a:r>
            <a:r>
              <a:rPr lang="en-US" sz="3200" b="1" dirty="0">
                <a:solidFill>
                  <a:srgbClr val="FF0000"/>
                </a:solidFill>
                <a:latin typeface="Hepta Slab Bold" pitchFamily="34" charset="0"/>
                <a:ea typeface="Hepta Slab Bold" pitchFamily="34" charset="-122"/>
                <a:cs typeface="Hepta Slab Bold" pitchFamily="34" charset="-120"/>
              </a:rPr>
              <a:t>.</a:t>
            </a:r>
            <a:endParaRPr lang="en-US" sz="3200" dirty="0">
              <a:solidFill>
                <a:srgbClr val="FF0000"/>
              </a:solidFill>
              <a:latin typeface="Calibri" panose="020F0502020204030204"/>
            </a:endParaRPr>
          </a:p>
        </p:txBody>
      </p:sp>
      <p:pic>
        <p:nvPicPr>
          <p:cNvPr id="3" name="Picture 2">
            <a:extLst>
              <a:ext uri="{FF2B5EF4-FFF2-40B4-BE49-F238E27FC236}">
                <a16:creationId xmlns:a16="http://schemas.microsoft.com/office/drawing/2014/main" id="{5C6BE173-980C-478B-2BD6-D67B0FFF66E0}"/>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grpSp>
        <p:nvGrpSpPr>
          <p:cNvPr id="16" name="Group 15">
            <a:extLst>
              <a:ext uri="{FF2B5EF4-FFF2-40B4-BE49-F238E27FC236}">
                <a16:creationId xmlns:a16="http://schemas.microsoft.com/office/drawing/2014/main" id="{11372DF5-F803-F535-D592-372B10AD0F24}"/>
              </a:ext>
            </a:extLst>
          </p:cNvPr>
          <p:cNvGrpSpPr/>
          <p:nvPr/>
        </p:nvGrpSpPr>
        <p:grpSpPr>
          <a:xfrm>
            <a:off x="6595579" y="786266"/>
            <a:ext cx="5284425" cy="2817658"/>
            <a:chOff x="695285" y="1859474"/>
            <a:chExt cx="4981615" cy="2844574"/>
          </a:xfrm>
        </p:grpSpPr>
        <p:graphicFrame>
          <p:nvGraphicFramePr>
            <p:cNvPr id="5" name="Chart 4">
              <a:extLst>
                <a:ext uri="{FF2B5EF4-FFF2-40B4-BE49-F238E27FC236}">
                  <a16:creationId xmlns:a16="http://schemas.microsoft.com/office/drawing/2014/main" id="{CBA8F976-6022-4BB0-818C-A0AF66EB584C}"/>
                </a:ext>
              </a:extLst>
            </p:cNvPr>
            <p:cNvGraphicFramePr>
              <a:graphicFrameLocks/>
            </p:cNvGraphicFramePr>
            <p:nvPr>
              <p:extLst>
                <p:ext uri="{D42A27DB-BD31-4B8C-83A1-F6EECF244321}">
                  <p14:modId xmlns:p14="http://schemas.microsoft.com/office/powerpoint/2010/main" val="1443915043"/>
                </p:ext>
              </p:extLst>
            </p:nvPr>
          </p:nvGraphicFramePr>
          <p:xfrm>
            <a:off x="695285" y="1859474"/>
            <a:ext cx="4981615" cy="2844574"/>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Box 9">
              <a:extLst>
                <a:ext uri="{FF2B5EF4-FFF2-40B4-BE49-F238E27FC236}">
                  <a16:creationId xmlns:a16="http://schemas.microsoft.com/office/drawing/2014/main" id="{8BEE5137-B5F9-CDE6-DD28-605354587C84}"/>
                </a:ext>
              </a:extLst>
            </p:cNvPr>
            <p:cNvSpPr txBox="1"/>
            <p:nvPr/>
          </p:nvSpPr>
          <p:spPr>
            <a:xfrm>
              <a:off x="3682648" y="3097095"/>
              <a:ext cx="1034622" cy="369332"/>
            </a:xfrm>
            <a:prstGeom prst="rect">
              <a:avLst/>
            </a:prstGeom>
            <a:noFill/>
          </p:spPr>
          <p:txBody>
            <a:bodyPr wrap="square"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a:r>
                <a:rPr lang="en-US" dirty="0">
                  <a:latin typeface="Montserrat SemiBold" panose="00000700000000000000" pitchFamily="2" charset="0"/>
                </a:rPr>
                <a:t>Today</a:t>
              </a:r>
              <a:endParaRPr lang="en-IN" dirty="0">
                <a:latin typeface="Montserrat SemiBold" panose="00000700000000000000" pitchFamily="2" charset="0"/>
              </a:endParaRPr>
            </a:p>
          </p:txBody>
        </p:sp>
      </p:grpSp>
      <p:sp>
        <p:nvSpPr>
          <p:cNvPr id="20" name="TextBox 19">
            <a:extLst>
              <a:ext uri="{FF2B5EF4-FFF2-40B4-BE49-F238E27FC236}">
                <a16:creationId xmlns:a16="http://schemas.microsoft.com/office/drawing/2014/main" id="{415D2A89-355D-69CE-5769-24228FC3B0AC}"/>
              </a:ext>
            </a:extLst>
          </p:cNvPr>
          <p:cNvSpPr txBox="1"/>
          <p:nvPr/>
        </p:nvSpPr>
        <p:spPr>
          <a:xfrm>
            <a:off x="468287" y="3925858"/>
            <a:ext cx="5416224" cy="1919115"/>
          </a:xfrm>
          <a:prstGeom prst="rect">
            <a:avLst/>
          </a:prstGeom>
          <a:noFill/>
        </p:spPr>
        <p:txBody>
          <a:bodyPr wrap="square" rtlCol="0">
            <a:spAutoFit/>
          </a:bodyPr>
          <a:lstStyle/>
          <a:p>
            <a:pPr>
              <a:lnSpc>
                <a:spcPts val="2400"/>
              </a:lnSpc>
              <a:spcAft>
                <a:spcPts val="1200"/>
              </a:spcAft>
            </a:pPr>
            <a:r>
              <a:rPr lang="en-US" dirty="0">
                <a:solidFill>
                  <a:srgbClr val="002060"/>
                </a:solidFill>
                <a:latin typeface="Hepta Slab SemiBold" pitchFamily="2" charset="0"/>
                <a:cs typeface="Hepta Slab SemiBold" pitchFamily="2" charset="0"/>
              </a:rPr>
              <a:t>Customer expectations have evolved</a:t>
            </a:r>
          </a:p>
          <a:p>
            <a:pPr>
              <a:lnSpc>
                <a:spcPts val="2400"/>
              </a:lnSpc>
              <a:spcAft>
                <a:spcPts val="1200"/>
              </a:spcAft>
            </a:pPr>
            <a:r>
              <a:rPr lang="en-US" dirty="0">
                <a:solidFill>
                  <a:schemeClr val="accent2">
                    <a:lumMod val="50000"/>
                  </a:schemeClr>
                </a:solidFill>
                <a:latin typeface="Montserrat Medium" panose="00000600000000000000" pitchFamily="2" charset="0"/>
              </a:rPr>
              <a:t>Premium Banking no longer seen merely as a means of “stress-free” banking</a:t>
            </a:r>
          </a:p>
          <a:p>
            <a:pPr>
              <a:lnSpc>
                <a:spcPts val="2400"/>
              </a:lnSpc>
            </a:pPr>
            <a:r>
              <a:rPr lang="en-US" dirty="0">
                <a:solidFill>
                  <a:schemeClr val="accent2">
                    <a:lumMod val="50000"/>
                  </a:schemeClr>
                </a:solidFill>
                <a:latin typeface="Montserrat Medium" panose="00000600000000000000" pitchFamily="2" charset="0"/>
              </a:rPr>
              <a:t>Customers expect a contextual, tangible contribution to their financial goals</a:t>
            </a:r>
            <a:endParaRPr lang="en-IN" dirty="0">
              <a:solidFill>
                <a:schemeClr val="accent2">
                  <a:lumMod val="50000"/>
                </a:schemeClr>
              </a:solidFill>
              <a:latin typeface="Montserrat Medium" panose="00000600000000000000" pitchFamily="2" charset="0"/>
            </a:endParaRPr>
          </a:p>
        </p:txBody>
      </p:sp>
      <p:sp>
        <p:nvSpPr>
          <p:cNvPr id="23" name="Object5">
            <a:extLst>
              <a:ext uri="{FF2B5EF4-FFF2-40B4-BE49-F238E27FC236}">
                <a16:creationId xmlns:a16="http://schemas.microsoft.com/office/drawing/2014/main" id="{C74F193F-DEAF-B006-0162-ED15DFBB5A11}"/>
              </a:ext>
            </a:extLst>
          </p:cNvPr>
          <p:cNvSpPr/>
          <p:nvPr/>
        </p:nvSpPr>
        <p:spPr>
          <a:xfrm>
            <a:off x="1059482" y="2589405"/>
            <a:ext cx="3799439" cy="542756"/>
          </a:xfrm>
          <a:prstGeom prst="rect">
            <a:avLst/>
          </a:prstGeom>
          <a:noFill/>
          <a:ln/>
        </p:spPr>
        <p:txBody>
          <a:bodyPr wrap="square" lIns="0" tIns="0" rIns="0" bIns="0" rtlCol="0" anchor="t"/>
          <a:lstStyle/>
          <a:p>
            <a:pPr defTabSz="304815"/>
            <a:r>
              <a:rPr lang="en-US" dirty="0">
                <a:solidFill>
                  <a:srgbClr val="A9734C"/>
                </a:solidFill>
                <a:latin typeface="Hepta Slab Medium" pitchFamily="2" charset="0"/>
                <a:ea typeface="Hepta Slab Regular" pitchFamily="34" charset="-122"/>
                <a:cs typeface="Hepta Slab Medium" pitchFamily="2" charset="0"/>
              </a:rPr>
              <a:t>Financial transactions</a:t>
            </a:r>
            <a:br>
              <a:rPr lang="en-US" dirty="0">
                <a:solidFill>
                  <a:srgbClr val="7030A0"/>
                </a:solidFill>
                <a:latin typeface="Hepta Slab Medium" pitchFamily="2" charset="0"/>
                <a:ea typeface="Hepta Slab Regular" pitchFamily="34" charset="-122"/>
                <a:cs typeface="Hepta Slab Medium" pitchFamily="2" charset="0"/>
              </a:rPr>
            </a:br>
            <a:r>
              <a:rPr lang="en-US" dirty="0">
                <a:solidFill>
                  <a:srgbClr val="002060"/>
                </a:solidFill>
                <a:latin typeface="Hepta Slab SemiBold" pitchFamily="2" charset="0"/>
                <a:ea typeface="Hepta Slab Regular" pitchFamily="34" charset="-122"/>
                <a:cs typeface="Hepta Slab SemiBold" pitchFamily="2" charset="0"/>
              </a:rPr>
              <a:t>safe. secure. friction-free</a:t>
            </a:r>
            <a:endParaRPr lang="en-US" dirty="0">
              <a:solidFill>
                <a:srgbClr val="002060"/>
              </a:solidFill>
              <a:latin typeface="Hepta Slab SemiBold" pitchFamily="2" charset="0"/>
              <a:cs typeface="Hepta Slab SemiBold" pitchFamily="2" charset="0"/>
            </a:endParaRPr>
          </a:p>
        </p:txBody>
      </p:sp>
      <p:sp>
        <p:nvSpPr>
          <p:cNvPr id="24" name="Object5">
            <a:extLst>
              <a:ext uri="{FF2B5EF4-FFF2-40B4-BE49-F238E27FC236}">
                <a16:creationId xmlns:a16="http://schemas.microsoft.com/office/drawing/2014/main" id="{87518748-C63B-1D91-5174-C8C11348E936}"/>
              </a:ext>
            </a:extLst>
          </p:cNvPr>
          <p:cNvSpPr/>
          <p:nvPr/>
        </p:nvSpPr>
        <p:spPr>
          <a:xfrm>
            <a:off x="1057309" y="1660316"/>
            <a:ext cx="4616245" cy="534779"/>
          </a:xfrm>
          <a:prstGeom prst="rect">
            <a:avLst/>
          </a:prstGeom>
          <a:noFill/>
          <a:ln/>
        </p:spPr>
        <p:txBody>
          <a:bodyPr wrap="square" lIns="0" tIns="0" rIns="0" bIns="0" rtlCol="0" anchor="t"/>
          <a:lstStyle/>
          <a:p>
            <a:pPr defTabSz="304815"/>
            <a:r>
              <a:rPr lang="en-US" dirty="0">
                <a:solidFill>
                  <a:srgbClr val="A9734C"/>
                </a:solidFill>
                <a:latin typeface="Hepta Slab Medium" pitchFamily="2" charset="0"/>
                <a:cs typeface="Hepta Slab Medium" pitchFamily="2" charset="0"/>
              </a:rPr>
              <a:t>Help me grow my money</a:t>
            </a:r>
            <a:br>
              <a:rPr lang="en-US" dirty="0">
                <a:solidFill>
                  <a:srgbClr val="7030A0"/>
                </a:solidFill>
                <a:latin typeface="Hepta Slab Medium" pitchFamily="2" charset="0"/>
                <a:cs typeface="Hepta Slab Medium" pitchFamily="2" charset="0"/>
              </a:rPr>
            </a:br>
            <a:r>
              <a:rPr lang="en-US" dirty="0">
                <a:solidFill>
                  <a:srgbClr val="002060"/>
                </a:solidFill>
                <a:latin typeface="Hepta Slab SemiBold" pitchFamily="2" charset="0"/>
                <a:cs typeface="Hepta Slab SemiBold" pitchFamily="2" charset="0"/>
              </a:rPr>
              <a:t>contextual</a:t>
            </a:r>
            <a:r>
              <a:rPr lang="en-US" dirty="0">
                <a:solidFill>
                  <a:srgbClr val="7030A0"/>
                </a:solidFill>
                <a:latin typeface="Hepta Slab SemiBold" pitchFamily="2" charset="0"/>
                <a:cs typeface="Hepta Slab SemiBold" pitchFamily="2" charset="0"/>
              </a:rPr>
              <a:t>. </a:t>
            </a:r>
            <a:r>
              <a:rPr lang="en-US" dirty="0">
                <a:solidFill>
                  <a:srgbClr val="002060"/>
                </a:solidFill>
                <a:latin typeface="Hepta Slab SemiBold" pitchFamily="2" charset="0"/>
                <a:cs typeface="Hepta Slab SemiBold" pitchFamily="2" charset="0"/>
              </a:rPr>
              <a:t>consistent. transparent  </a:t>
            </a:r>
          </a:p>
        </p:txBody>
      </p:sp>
      <p:pic>
        <p:nvPicPr>
          <p:cNvPr id="25" name="Graphic 24" descr="Lock with solid fill">
            <a:extLst>
              <a:ext uri="{FF2B5EF4-FFF2-40B4-BE49-F238E27FC236}">
                <a16:creationId xmlns:a16="http://schemas.microsoft.com/office/drawing/2014/main" id="{6D9D2D6E-D29F-CE1B-EC3E-12A82BAA105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6685" y="2575442"/>
            <a:ext cx="570683" cy="570683"/>
          </a:xfrm>
          <a:prstGeom prst="rect">
            <a:avLst/>
          </a:prstGeom>
        </p:spPr>
      </p:pic>
      <p:pic>
        <p:nvPicPr>
          <p:cNvPr id="26" name="Graphic 25" descr="Money with solid fill">
            <a:extLst>
              <a:ext uri="{FF2B5EF4-FFF2-40B4-BE49-F238E27FC236}">
                <a16:creationId xmlns:a16="http://schemas.microsoft.com/office/drawing/2014/main" id="{27194243-3059-1659-A209-98C8AD28F44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6685" y="1588600"/>
            <a:ext cx="570683" cy="570683"/>
          </a:xfrm>
          <a:prstGeom prst="rect">
            <a:avLst/>
          </a:prstGeom>
        </p:spPr>
      </p:pic>
      <p:graphicFrame>
        <p:nvGraphicFramePr>
          <p:cNvPr id="7" name="Chart 6">
            <a:extLst>
              <a:ext uri="{FF2B5EF4-FFF2-40B4-BE49-F238E27FC236}">
                <a16:creationId xmlns:a16="http://schemas.microsoft.com/office/drawing/2014/main" id="{50B9F6AE-E309-4E69-8D6B-F9CCE1F38F7B}"/>
              </a:ext>
            </a:extLst>
          </p:cNvPr>
          <p:cNvGraphicFramePr>
            <a:graphicFrameLocks/>
          </p:cNvGraphicFramePr>
          <p:nvPr>
            <p:extLst>
              <p:ext uri="{D42A27DB-BD31-4B8C-83A1-F6EECF244321}">
                <p14:modId xmlns:p14="http://schemas.microsoft.com/office/powerpoint/2010/main" val="3416687696"/>
              </p:ext>
            </p:extLst>
          </p:nvPr>
        </p:nvGraphicFramePr>
        <p:xfrm>
          <a:off x="6418387" y="3770786"/>
          <a:ext cx="5461617" cy="2920351"/>
        </p:xfrm>
        <a:graphic>
          <a:graphicData uri="http://schemas.openxmlformats.org/drawingml/2006/chart">
            <c:chart xmlns:c="http://schemas.openxmlformats.org/drawingml/2006/chart" xmlns:r="http://schemas.openxmlformats.org/officeDocument/2006/relationships" r:id="rId11"/>
          </a:graphicData>
        </a:graphic>
      </p:graphicFrame>
      <p:sp>
        <p:nvSpPr>
          <p:cNvPr id="8" name="TextBox 9">
            <a:extLst>
              <a:ext uri="{FF2B5EF4-FFF2-40B4-BE49-F238E27FC236}">
                <a16:creationId xmlns:a16="http://schemas.microsoft.com/office/drawing/2014/main" id="{E0A9C7D1-3487-3D7A-41A0-1184B32B227A}"/>
              </a:ext>
            </a:extLst>
          </p:cNvPr>
          <p:cNvSpPr txBox="1"/>
          <p:nvPr/>
        </p:nvSpPr>
        <p:spPr>
          <a:xfrm>
            <a:off x="9762390" y="5004827"/>
            <a:ext cx="1451609" cy="354458"/>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800" dirty="0">
                <a:latin typeface="Montserrat SemiBold" panose="00000700000000000000" pitchFamily="2" charset="0"/>
              </a:rPr>
              <a:t>Circa 2020</a:t>
            </a:r>
            <a:endParaRPr lang="en-IN" sz="1800" dirty="0">
              <a:latin typeface="Montserrat SemiBold" panose="00000700000000000000" pitchFamily="2" charset="0"/>
            </a:endParaRPr>
          </a:p>
        </p:txBody>
      </p:sp>
    </p:spTree>
    <p:extLst>
      <p:ext uri="{BB962C8B-B14F-4D97-AF65-F5344CB8AC3E}">
        <p14:creationId xmlns:p14="http://schemas.microsoft.com/office/powerpoint/2010/main" val="335068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1B2793F5-F31B-E825-B926-1ADA3635BCE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032346-ED6F-9E63-444A-14617E7A7925}"/>
              </a:ext>
            </a:extLst>
          </p:cNvPr>
          <p:cNvSpPr/>
          <p:nvPr/>
        </p:nvSpPr>
        <p:spPr>
          <a:xfrm>
            <a:off x="6394384" y="-4156"/>
            <a:ext cx="5797615" cy="68621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A2D3AB87-D211-311F-051C-96755A174C0B}"/>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01DB07D2-E5A0-FFAD-00DF-60B627DB7B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5" name="Title 1">
              <a:extLst>
                <a:ext uri="{FF2B5EF4-FFF2-40B4-BE49-F238E27FC236}">
                  <a16:creationId xmlns:a16="http://schemas.microsoft.com/office/drawing/2014/main" id="{6125F773-E195-4CEE-44B3-34F860A0501A}"/>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0134711D-3747-5497-4D11-E59D9ACFC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8" name="TextBox 17">
            <a:extLst>
              <a:ext uri="{FF2B5EF4-FFF2-40B4-BE49-F238E27FC236}">
                <a16:creationId xmlns:a16="http://schemas.microsoft.com/office/drawing/2014/main" id="{F38F421C-016E-B3DD-C37F-8D87DE7F8755}"/>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12</a:t>
            </a:fld>
            <a:endParaRPr lang="en-US" sz="1333" dirty="0">
              <a:solidFill>
                <a:srgbClr val="0D0D0D"/>
              </a:solidFill>
              <a:latin typeface="Hepta Slab Medium" pitchFamily="2" charset="0"/>
              <a:cs typeface="Hepta Slab Medium" pitchFamily="2" charset="0"/>
            </a:endParaRPr>
          </a:p>
        </p:txBody>
      </p:sp>
      <p:sp>
        <p:nvSpPr>
          <p:cNvPr id="7" name="TextBox 6">
            <a:extLst>
              <a:ext uri="{FF2B5EF4-FFF2-40B4-BE49-F238E27FC236}">
                <a16:creationId xmlns:a16="http://schemas.microsoft.com/office/drawing/2014/main" id="{61F69D39-CCDA-DDFE-4359-FA7861DAF29A}"/>
              </a:ext>
            </a:extLst>
          </p:cNvPr>
          <p:cNvSpPr txBox="1"/>
          <p:nvPr/>
        </p:nvSpPr>
        <p:spPr>
          <a:xfrm>
            <a:off x="8447372" y="6431369"/>
            <a:ext cx="928914" cy="230832"/>
          </a:xfrm>
          <a:prstGeom prst="rect">
            <a:avLst/>
          </a:prstGeom>
          <a:noFill/>
        </p:spPr>
        <p:txBody>
          <a:bodyPr wrap="square" rtlCol="0">
            <a:spAutoFit/>
          </a:bodyPr>
          <a:lstStyle/>
          <a:p>
            <a:r>
              <a:rPr lang="en-GB" sz="900" dirty="0">
                <a:solidFill>
                  <a:schemeClr val="bg2">
                    <a:lumMod val="75000"/>
                  </a:schemeClr>
                </a:solidFill>
                <a:latin typeface="Montserrat SemiBold" panose="00000700000000000000" pitchFamily="2" charset="0"/>
              </a:rPr>
              <a:t>n= 622</a:t>
            </a:r>
            <a:endParaRPr lang="en-IN" sz="900" dirty="0">
              <a:solidFill>
                <a:schemeClr val="bg2">
                  <a:lumMod val="75000"/>
                </a:schemeClr>
              </a:solidFill>
              <a:latin typeface="Montserrat SemiBold" panose="00000700000000000000" pitchFamily="2" charset="0"/>
            </a:endParaRPr>
          </a:p>
        </p:txBody>
      </p:sp>
      <p:graphicFrame>
        <p:nvGraphicFramePr>
          <p:cNvPr id="9" name="Chart 8">
            <a:extLst>
              <a:ext uri="{FF2B5EF4-FFF2-40B4-BE49-F238E27FC236}">
                <a16:creationId xmlns:a16="http://schemas.microsoft.com/office/drawing/2014/main" id="{C74D60A6-FB84-3C8F-CA09-30BF17EB05E2}"/>
              </a:ext>
            </a:extLst>
          </p:cNvPr>
          <p:cNvGraphicFramePr>
            <a:graphicFrameLocks/>
          </p:cNvGraphicFramePr>
          <p:nvPr>
            <p:extLst>
              <p:ext uri="{D42A27DB-BD31-4B8C-83A1-F6EECF244321}">
                <p14:modId xmlns:p14="http://schemas.microsoft.com/office/powerpoint/2010/main" val="1734708096"/>
              </p:ext>
            </p:extLst>
          </p:nvPr>
        </p:nvGraphicFramePr>
        <p:xfrm>
          <a:off x="6394383" y="1684071"/>
          <a:ext cx="5747657" cy="3554844"/>
        </p:xfrm>
        <a:graphic>
          <a:graphicData uri="http://schemas.openxmlformats.org/drawingml/2006/chart">
            <c:chart xmlns:c="http://schemas.openxmlformats.org/drawingml/2006/chart" xmlns:r="http://schemas.openxmlformats.org/officeDocument/2006/relationships" r:id="rId5"/>
          </a:graphicData>
        </a:graphic>
      </p:graphicFrame>
      <p:sp>
        <p:nvSpPr>
          <p:cNvPr id="2" name="Object4">
            <a:extLst>
              <a:ext uri="{FF2B5EF4-FFF2-40B4-BE49-F238E27FC236}">
                <a16:creationId xmlns:a16="http://schemas.microsoft.com/office/drawing/2014/main" id="{EC53C4C8-882B-6098-651E-1A8039C5B64F}"/>
              </a:ext>
            </a:extLst>
          </p:cNvPr>
          <p:cNvSpPr/>
          <p:nvPr/>
        </p:nvSpPr>
        <p:spPr>
          <a:xfrm>
            <a:off x="496561" y="693672"/>
            <a:ext cx="9360000" cy="439725"/>
          </a:xfrm>
          <a:prstGeom prst="rect">
            <a:avLst/>
          </a:prstGeom>
          <a:noFill/>
          <a:ln/>
        </p:spPr>
        <p:txBody>
          <a:bodyPr wrap="square" lIns="0" tIns="0" rIns="0" bIns="0" rtlCol="0" anchor="t"/>
          <a:lstStyle/>
          <a:p>
            <a:pPr defTabSz="304815"/>
            <a:r>
              <a:rPr lang="en-US" sz="3200" b="1" dirty="0">
                <a:solidFill>
                  <a:srgbClr val="002060"/>
                </a:solidFill>
                <a:latin typeface="Hepta Slab Bold" pitchFamily="34" charset="0"/>
                <a:ea typeface="Hepta Slab Bold" pitchFamily="34" charset="-122"/>
                <a:cs typeface="Hepta Slab Bold" pitchFamily="34" charset="-120"/>
              </a:rPr>
              <a:t>Hierarchy of Expectations</a:t>
            </a:r>
            <a:r>
              <a:rPr lang="en-US" sz="3200" b="1" dirty="0">
                <a:solidFill>
                  <a:srgbClr val="FF0000"/>
                </a:solidFill>
                <a:latin typeface="Hepta Slab Bold" pitchFamily="34" charset="0"/>
                <a:ea typeface="Hepta Slab Bold" pitchFamily="34" charset="-122"/>
                <a:cs typeface="Hepta Slab Bold" pitchFamily="34" charset="-120"/>
              </a:rPr>
              <a:t>.</a:t>
            </a:r>
            <a:endParaRPr lang="en-US" sz="3200" dirty="0">
              <a:solidFill>
                <a:srgbClr val="FF0000"/>
              </a:solidFill>
              <a:latin typeface="Calibri" panose="020F0502020204030204"/>
            </a:endParaRPr>
          </a:p>
        </p:txBody>
      </p:sp>
      <p:pic>
        <p:nvPicPr>
          <p:cNvPr id="3" name="Picture 2">
            <a:extLst>
              <a:ext uri="{FF2B5EF4-FFF2-40B4-BE49-F238E27FC236}">
                <a16:creationId xmlns:a16="http://schemas.microsoft.com/office/drawing/2014/main" id="{67E5A60D-D20D-608B-1A5D-3C8A093CAF48}"/>
              </a:ext>
            </a:extLst>
          </p:cNvPr>
          <p:cNvPicPr>
            <a:picLocks noChangeAspect="1"/>
          </p:cNvPicPr>
          <p:nvPr/>
        </p:nvPicPr>
        <p:blipFill>
          <a:blip r:embed="rId6">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10" name="Object6">
            <a:extLst>
              <a:ext uri="{FF2B5EF4-FFF2-40B4-BE49-F238E27FC236}">
                <a16:creationId xmlns:a16="http://schemas.microsoft.com/office/drawing/2014/main" id="{905A04B5-B32B-871E-7C7A-F7CE1F200240}"/>
              </a:ext>
            </a:extLst>
          </p:cNvPr>
          <p:cNvSpPr/>
          <p:nvPr/>
        </p:nvSpPr>
        <p:spPr>
          <a:xfrm>
            <a:off x="8485315" y="142139"/>
            <a:ext cx="3468560" cy="371475"/>
          </a:xfrm>
          <a:prstGeom prst="rect">
            <a:avLst/>
          </a:prstGeom>
          <a:noFill/>
          <a:ln>
            <a:noFill/>
            <a:prstDash val="lgDash"/>
          </a:ln>
        </p:spPr>
        <p:txBody>
          <a:bodyPr wrap="square" lIns="0" tIns="0" rIns="0" bIns="0" rtlCol="0" anchor="t"/>
          <a:lstStyle/>
          <a:p>
            <a:pPr defTabSz="304815">
              <a:lnSpc>
                <a:spcPts val="2400"/>
              </a:lnSpc>
            </a:pPr>
            <a:r>
              <a:rPr lang="en-US" sz="1600" cap="all" dirty="0">
                <a:solidFill>
                  <a:srgbClr val="A9734C"/>
                </a:solidFill>
                <a:latin typeface="Montserrat ExtraBold" pitchFamily="34" charset="0"/>
              </a:rPr>
              <a:t>EXPERIENTIAL EXPECTATIONS</a:t>
            </a:r>
          </a:p>
        </p:txBody>
      </p:sp>
      <p:sp>
        <p:nvSpPr>
          <p:cNvPr id="16" name="Object5">
            <a:extLst>
              <a:ext uri="{FF2B5EF4-FFF2-40B4-BE49-F238E27FC236}">
                <a16:creationId xmlns:a16="http://schemas.microsoft.com/office/drawing/2014/main" id="{DF28D32B-4109-E588-58C0-9F4DA1AB9DD6}"/>
              </a:ext>
            </a:extLst>
          </p:cNvPr>
          <p:cNvSpPr/>
          <p:nvPr/>
        </p:nvSpPr>
        <p:spPr>
          <a:xfrm>
            <a:off x="1502683" y="2318765"/>
            <a:ext cx="3678916" cy="88909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Enhance my lifestyle</a:t>
            </a:r>
            <a:br>
              <a:rPr kumimoji="0" lang="en-US" sz="1800" b="0" i="0" u="none" strike="noStrike" kern="1200" cap="none" spc="0" normalizeH="0" baseline="0" noProof="0" dirty="0">
                <a:ln>
                  <a:noFill/>
                </a:ln>
                <a:solidFill>
                  <a:srgbClr val="7030A0"/>
                </a:solidFill>
                <a:effectLst/>
                <a:uLnTx/>
                <a:uFillTx/>
                <a:latin typeface="Hepta Slab Medium" pitchFamily="2" charset="0"/>
                <a:ea typeface="Hepta Slab Regular" pitchFamily="34" charset="-122"/>
                <a:cs typeface="Hepta Slab Medium" pitchFamily="2" charset="0"/>
              </a:rPr>
            </a:br>
            <a:r>
              <a:rPr lang="en-US" dirty="0">
                <a:solidFill>
                  <a:srgbClr val="002060"/>
                </a:solidFill>
                <a:latin typeface="Hepta Slab SemiBold" pitchFamily="2" charset="0"/>
                <a:cs typeface="Hepta Slab SemiBold" pitchFamily="2" charset="0"/>
              </a:rPr>
              <a:t>Personalized prestige. Contextual exclusivity</a:t>
            </a:r>
            <a:r>
              <a:rPr kumimoji="0" lang="en-US" sz="18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a:t>
            </a:r>
            <a:endPar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p:txBody>
      </p:sp>
      <p:pic>
        <p:nvPicPr>
          <p:cNvPr id="19" name="Graphic 18" descr="Diamond with solid fill">
            <a:extLst>
              <a:ext uri="{FF2B5EF4-FFF2-40B4-BE49-F238E27FC236}">
                <a16:creationId xmlns:a16="http://schemas.microsoft.com/office/drawing/2014/main" id="{FD735DB7-DCE5-13E1-EC8A-B3417FDBBC9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6561" y="2345256"/>
            <a:ext cx="775648" cy="775648"/>
          </a:xfrm>
          <a:prstGeom prst="rect">
            <a:avLst/>
          </a:prstGeom>
        </p:spPr>
      </p:pic>
      <p:sp>
        <p:nvSpPr>
          <p:cNvPr id="5" name="TextBox 4">
            <a:extLst>
              <a:ext uri="{FF2B5EF4-FFF2-40B4-BE49-F238E27FC236}">
                <a16:creationId xmlns:a16="http://schemas.microsoft.com/office/drawing/2014/main" id="{1CA1B42C-09C1-D22A-2C66-017A83598E2A}"/>
              </a:ext>
            </a:extLst>
          </p:cNvPr>
          <p:cNvSpPr txBox="1"/>
          <p:nvPr/>
        </p:nvSpPr>
        <p:spPr>
          <a:xfrm>
            <a:off x="468287" y="3925858"/>
            <a:ext cx="5416224" cy="996940"/>
          </a:xfrm>
          <a:prstGeom prst="rect">
            <a:avLst/>
          </a:prstGeom>
          <a:noFill/>
        </p:spPr>
        <p:txBody>
          <a:bodyPr wrap="square" rtlCol="0">
            <a:spAutoFit/>
          </a:bodyPr>
          <a:lstStyle/>
          <a:p>
            <a:pPr>
              <a:lnSpc>
                <a:spcPts val="2400"/>
              </a:lnSpc>
              <a:spcAft>
                <a:spcPts val="1200"/>
              </a:spcAft>
            </a:pPr>
            <a:r>
              <a:rPr lang="en-US" dirty="0">
                <a:solidFill>
                  <a:srgbClr val="002060"/>
                </a:solidFill>
                <a:latin typeface="Hepta Slab SemiBold" pitchFamily="2" charset="0"/>
                <a:cs typeface="Hepta Slab SemiBold" pitchFamily="2" charset="0"/>
              </a:rPr>
              <a:t>Prestige and Exclusivity </a:t>
            </a:r>
            <a:r>
              <a:rPr lang="en-US" dirty="0">
                <a:solidFill>
                  <a:srgbClr val="A9734C"/>
                </a:solidFill>
                <a:latin typeface="Hepta Slab Medium" pitchFamily="2" charset="0"/>
                <a:cs typeface="Hepta Slab Medium" pitchFamily="2" charset="0"/>
              </a:rPr>
              <a:t>continue to be important dimensions of experiential differentiation</a:t>
            </a:r>
            <a:endParaRPr lang="en-IN" dirty="0">
              <a:solidFill>
                <a:srgbClr val="A9734C"/>
              </a:solidFill>
              <a:latin typeface="Hepta Slab Medium" pitchFamily="2" charset="0"/>
              <a:cs typeface="Hepta Slab Medium" pitchFamily="2" charset="0"/>
            </a:endParaRPr>
          </a:p>
        </p:txBody>
      </p:sp>
      <p:sp>
        <p:nvSpPr>
          <p:cNvPr id="6" name="Object6">
            <a:extLst>
              <a:ext uri="{FF2B5EF4-FFF2-40B4-BE49-F238E27FC236}">
                <a16:creationId xmlns:a16="http://schemas.microsoft.com/office/drawing/2014/main" id="{6F8C10FD-6F59-16FF-876D-4E14F889BAAB}"/>
              </a:ext>
            </a:extLst>
          </p:cNvPr>
          <p:cNvSpPr/>
          <p:nvPr/>
        </p:nvSpPr>
        <p:spPr>
          <a:xfrm>
            <a:off x="466685" y="142139"/>
            <a:ext cx="6953290" cy="341321"/>
          </a:xfrm>
          <a:prstGeom prst="rect">
            <a:avLst/>
          </a:prstGeom>
          <a:noFill/>
          <a:ln/>
        </p:spPr>
        <p:txBody>
          <a:bodyPr wrap="square" lIns="0" tIns="0" rIns="0" bIns="0" rtlCol="0" anchor="t"/>
          <a:lstStyle/>
          <a:p>
            <a:pPr marL="0" marR="0" lvl="0" indent="0" algn="l" defTabSz="457200" rtl="0" eaLnBrk="1" fontAlgn="auto" latinLnBrk="0" hangingPunct="1">
              <a:lnSpc>
                <a:spcPts val="2400"/>
              </a:lnSpc>
              <a:spcBef>
                <a:spcPts val="0"/>
              </a:spcBef>
              <a:spcAft>
                <a:spcPts val="0"/>
              </a:spcAft>
              <a:buClrTx/>
              <a:buSzTx/>
              <a:buFontTx/>
              <a:buNone/>
              <a:tabLst/>
              <a:defRPr/>
            </a:pPr>
            <a:r>
              <a:rPr lang="en-US" cap="all" dirty="0">
                <a:solidFill>
                  <a:srgbClr val="002060"/>
                </a:solidFill>
                <a:latin typeface="Montserrat ExtraBold" pitchFamily="34" charset="0"/>
              </a:rPr>
              <a:t>PREMIUM BANKING experience – CATEGORY LEVEL</a:t>
            </a:r>
            <a:endParaRPr kumimoji="0" lang="en-US"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2462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5" name="Object4">
            <a:extLst>
              <a:ext uri="{FF2B5EF4-FFF2-40B4-BE49-F238E27FC236}">
                <a16:creationId xmlns:a16="http://schemas.microsoft.com/office/drawing/2014/main" id="{D68B75A6-73FF-235D-212C-D0B23071DC9A}"/>
              </a:ext>
            </a:extLst>
          </p:cNvPr>
          <p:cNvSpPr/>
          <p:nvPr/>
        </p:nvSpPr>
        <p:spPr>
          <a:xfrm>
            <a:off x="403796" y="407481"/>
            <a:ext cx="5163005" cy="652106"/>
          </a:xfrm>
          <a:prstGeom prst="rect">
            <a:avLst/>
          </a:prstGeom>
          <a:noFill/>
          <a:ln/>
        </p:spPr>
        <p:txBody>
          <a:bodyPr wrap="square" lIns="0" tIns="0" rIns="0" bIns="0" rtlCol="0" anchor="t"/>
          <a:lstStyle/>
          <a:p>
            <a:pPr algn="l"/>
            <a:r>
              <a:rPr lang="en-US" sz="4800" b="1" dirty="0">
                <a:solidFill>
                  <a:srgbClr val="002060"/>
                </a:solidFill>
                <a:latin typeface="Hepta Slab Bold" pitchFamily="34" charset="0"/>
                <a:ea typeface="Hepta Slab Bold" pitchFamily="34" charset="-122"/>
                <a:cs typeface="Hepta Slab Bold" pitchFamily="34" charset="-120"/>
              </a:rPr>
              <a:t>The Context</a:t>
            </a:r>
            <a:endParaRPr lang="en-US" sz="4800" dirty="0">
              <a:solidFill>
                <a:srgbClr val="002060"/>
              </a:solidFill>
            </a:endParaRPr>
          </a:p>
        </p:txBody>
      </p:sp>
      <p:sp>
        <p:nvSpPr>
          <p:cNvPr id="13" name="Object5">
            <a:extLst>
              <a:ext uri="{FF2B5EF4-FFF2-40B4-BE49-F238E27FC236}">
                <a16:creationId xmlns:a16="http://schemas.microsoft.com/office/drawing/2014/main" id="{0777EEF0-2822-0D09-5DB8-F9C28121B12A}"/>
              </a:ext>
            </a:extLst>
          </p:cNvPr>
          <p:cNvSpPr/>
          <p:nvPr/>
        </p:nvSpPr>
        <p:spPr>
          <a:xfrm>
            <a:off x="403797" y="2248074"/>
            <a:ext cx="11452204" cy="2577191"/>
          </a:xfrm>
          <a:prstGeom prst="rect">
            <a:avLst/>
          </a:prstGeom>
          <a:noFill/>
          <a:ln/>
        </p:spPr>
        <p:txBody>
          <a:bodyPr wrap="square" lIns="0" tIns="0" rIns="0" bIns="0" rtlCol="0" anchor="t"/>
          <a:lstStyle/>
          <a:p>
            <a:pPr algn="l">
              <a:lnSpc>
                <a:spcPts val="2800"/>
              </a:lnSpc>
            </a:pPr>
            <a:r>
              <a:rPr lang="en-GB" sz="2000" dirty="0">
                <a:solidFill>
                  <a:srgbClr val="A9734C"/>
                </a:solidFill>
                <a:latin typeface="Montserrat Medium" pitchFamily="2" charset="0"/>
                <a:ea typeface="Hepta Slab Regular" pitchFamily="34" charset="-122"/>
                <a:cs typeface="Hepta Slab SemiBold" pitchFamily="2" charset="0"/>
              </a:rPr>
              <a:t>Customers’ expectations from “Premium Programs” are multi-layered</a:t>
            </a:r>
          </a:p>
          <a:p>
            <a:pPr algn="l">
              <a:lnSpc>
                <a:spcPts val="2800"/>
              </a:lnSpc>
              <a:spcAft>
                <a:spcPts val="1200"/>
              </a:spcAft>
            </a:pPr>
            <a:r>
              <a:rPr lang="en-GB" sz="2000" dirty="0">
                <a:solidFill>
                  <a:srgbClr val="A9734C"/>
                </a:solidFill>
                <a:latin typeface="Montserrat Medium" pitchFamily="2" charset="0"/>
                <a:ea typeface="Hepta Slab Regular" pitchFamily="34" charset="-122"/>
                <a:cs typeface="Hepta Slab SemiBold" pitchFamily="2" charset="0"/>
              </a:rPr>
              <a:t>They span from functional needs to prestige needs and emotional salience</a:t>
            </a:r>
          </a:p>
          <a:p>
            <a:pPr algn="l">
              <a:lnSpc>
                <a:spcPts val="2800"/>
              </a:lnSpc>
            </a:pPr>
            <a:r>
              <a:rPr lang="en-GB" sz="2000" dirty="0">
                <a:solidFill>
                  <a:srgbClr val="A9734C"/>
                </a:solidFill>
                <a:latin typeface="Montserrat Medium" pitchFamily="2" charset="0"/>
                <a:ea typeface="Hepta Slab Regular" pitchFamily="34" charset="-122"/>
                <a:cs typeface="Hepta Slab SemiBold" pitchFamily="2" charset="0"/>
              </a:rPr>
              <a:t>Functional needs are hygiene and table-stakes – </a:t>
            </a:r>
          </a:p>
          <a:p>
            <a:pPr algn="l">
              <a:lnSpc>
                <a:spcPts val="2800"/>
              </a:lnSpc>
              <a:spcAft>
                <a:spcPts val="1200"/>
              </a:spcAft>
            </a:pPr>
            <a:r>
              <a:rPr lang="en-GB" sz="2000" dirty="0">
                <a:solidFill>
                  <a:srgbClr val="002060"/>
                </a:solidFill>
                <a:latin typeface="Hepta Slab Medium" pitchFamily="2" charset="0"/>
                <a:ea typeface="Hepta Slab Regular" pitchFamily="34" charset="-122"/>
                <a:cs typeface="Hepta Slab Medium" pitchFamily="2" charset="0"/>
              </a:rPr>
              <a:t>expectations are not differentiated</a:t>
            </a:r>
          </a:p>
          <a:p>
            <a:pPr algn="l">
              <a:lnSpc>
                <a:spcPts val="2800"/>
              </a:lnSpc>
            </a:pPr>
            <a:r>
              <a:rPr lang="en-GB" sz="2000" dirty="0">
                <a:solidFill>
                  <a:srgbClr val="A9734C"/>
                </a:solidFill>
                <a:latin typeface="Montserrat Medium" pitchFamily="2" charset="0"/>
                <a:ea typeface="Hepta Slab Regular" pitchFamily="34" charset="-122"/>
                <a:cs typeface="Hepta Slab SemiBold" pitchFamily="2" charset="0"/>
              </a:rPr>
              <a:t>Prestige &amp; Emotional Salience drive implicit engagement &amp; emotional associations – </a:t>
            </a:r>
            <a:r>
              <a:rPr lang="en-GB" sz="2000" dirty="0">
                <a:solidFill>
                  <a:srgbClr val="002060"/>
                </a:solidFill>
                <a:latin typeface="Hepta Slab Medium" pitchFamily="2" charset="0"/>
                <a:ea typeface="Hepta Slab Regular" pitchFamily="34" charset="-122"/>
                <a:cs typeface="Hepta Slab Medium" pitchFamily="2" charset="0"/>
              </a:rPr>
              <a:t>expectations are well differentiated</a:t>
            </a:r>
            <a:endParaRPr lang="en-US" sz="2000" dirty="0">
              <a:solidFill>
                <a:srgbClr val="002060"/>
              </a:solidFill>
              <a:latin typeface="Hepta Slab Medium" pitchFamily="2" charset="0"/>
              <a:ea typeface="Hepta Slab Regular" pitchFamily="34" charset="-122"/>
              <a:cs typeface="Hepta Slab Medium" pitchFamily="2" charset="0"/>
            </a:endParaRPr>
          </a:p>
        </p:txBody>
      </p:sp>
      <p:grpSp>
        <p:nvGrpSpPr>
          <p:cNvPr id="10" name="Group 9">
            <a:extLst>
              <a:ext uri="{FF2B5EF4-FFF2-40B4-BE49-F238E27FC236}">
                <a16:creationId xmlns:a16="http://schemas.microsoft.com/office/drawing/2014/main" id="{B2113621-1DE9-0F21-5041-482B445F5EB0}"/>
              </a:ext>
            </a:extLst>
          </p:cNvPr>
          <p:cNvGrpSpPr/>
          <p:nvPr/>
        </p:nvGrpSpPr>
        <p:grpSpPr>
          <a:xfrm>
            <a:off x="-61290" y="6053155"/>
            <a:ext cx="12253290" cy="971832"/>
            <a:chOff x="-187799" y="8336784"/>
            <a:chExt cx="18379935" cy="1457748"/>
          </a:xfrm>
        </p:grpSpPr>
        <p:pic>
          <p:nvPicPr>
            <p:cNvPr id="11" name="Picture 10">
              <a:extLst>
                <a:ext uri="{FF2B5EF4-FFF2-40B4-BE49-F238E27FC236}">
                  <a16:creationId xmlns:a16="http://schemas.microsoft.com/office/drawing/2014/main" id="{7058FB72-DB4F-5878-BAB6-6552F5BF4A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2" name="Title 1">
              <a:extLst>
                <a:ext uri="{FF2B5EF4-FFF2-40B4-BE49-F238E27FC236}">
                  <a16:creationId xmlns:a16="http://schemas.microsoft.com/office/drawing/2014/main" id="{92EFE81F-81F5-AF5C-5318-872E0E60DB98}"/>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705328AC-A1AD-BB9B-D3E6-7DA498FA8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6" name="TextBox 15">
            <a:extLst>
              <a:ext uri="{FF2B5EF4-FFF2-40B4-BE49-F238E27FC236}">
                <a16:creationId xmlns:a16="http://schemas.microsoft.com/office/drawing/2014/main" id="{02A499FC-BFCA-6F06-2112-9B00F63D6D4A}"/>
              </a:ext>
            </a:extLst>
          </p:cNvPr>
          <p:cNvSpPr txBox="1"/>
          <p:nvPr/>
        </p:nvSpPr>
        <p:spPr>
          <a:xfrm>
            <a:off x="403796" y="1070982"/>
            <a:ext cx="9944655" cy="464230"/>
          </a:xfrm>
          <a:prstGeom prst="rect">
            <a:avLst/>
          </a:prstGeom>
          <a:noFill/>
        </p:spPr>
        <p:txBody>
          <a:bodyPr wrap="square">
            <a:spAutoFit/>
          </a:bodyPr>
          <a:lstStyle/>
          <a:p>
            <a:pPr defTabSz="304815">
              <a:lnSpc>
                <a:spcPts val="2925"/>
              </a:lnSpc>
              <a:defRPr/>
            </a:pPr>
            <a:r>
              <a:rPr lang="en-US" sz="2800" dirty="0">
                <a:solidFill>
                  <a:srgbClr val="002060"/>
                </a:solidFill>
                <a:latin typeface="Hepta Slab Medium" pitchFamily="2" charset="0"/>
                <a:ea typeface="Montserrat ExtraBold" pitchFamily="34" charset="-122"/>
                <a:cs typeface="Hepta Slab Medium" pitchFamily="2" charset="0"/>
              </a:rPr>
              <a:t>in which the future of Celesta should be viewed</a:t>
            </a:r>
            <a:endParaRPr lang="en-US" sz="2800" dirty="0">
              <a:solidFill>
                <a:srgbClr val="002060"/>
              </a:solidFill>
              <a:latin typeface="Hepta Slab Medium" pitchFamily="2" charset="0"/>
              <a:cs typeface="Hepta Slab Medium" pitchFamily="2" charset="0"/>
            </a:endParaRPr>
          </a:p>
        </p:txBody>
      </p:sp>
      <p:sp>
        <p:nvSpPr>
          <p:cNvPr id="17" name="TextBox 16">
            <a:extLst>
              <a:ext uri="{FF2B5EF4-FFF2-40B4-BE49-F238E27FC236}">
                <a16:creationId xmlns:a16="http://schemas.microsoft.com/office/drawing/2014/main" id="{30ABD816-7235-4115-6E98-A51571C16798}"/>
              </a:ext>
            </a:extLst>
          </p:cNvPr>
          <p:cNvSpPr txBox="1"/>
          <p:nvPr/>
        </p:nvSpPr>
        <p:spPr>
          <a:xfrm>
            <a:off x="11376000" y="6110479"/>
            <a:ext cx="480000" cy="276999"/>
          </a:xfrm>
          <a:prstGeom prst="rect">
            <a:avLst/>
          </a:prstGeom>
          <a:noFill/>
        </p:spPr>
        <p:txBody>
          <a:bodyPr wrap="square" rtlCol="0">
            <a:spAutoFit/>
          </a:bodyPr>
          <a:lstStyle/>
          <a:p>
            <a:pPr algn="r">
              <a:spcBef>
                <a:spcPts val="1200"/>
              </a:spcBef>
              <a:spcAft>
                <a:spcPts val="1200"/>
              </a:spcAft>
              <a:buClr>
                <a:schemeClr val="accent4"/>
              </a:buClr>
            </a:pPr>
            <a:fld id="{D361C30A-14D1-4BA4-A81C-2E0AE262D2B3}" type="slidenum">
              <a:rPr lang="en-US" sz="1200">
                <a:solidFill>
                  <a:srgbClr val="0D0D0D"/>
                </a:solidFill>
                <a:latin typeface="Hepta Slab Medium" pitchFamily="2" charset="0"/>
                <a:cs typeface="Hepta Slab Medium" pitchFamily="2" charset="0"/>
              </a:rPr>
              <a:pPr algn="r">
                <a:spcBef>
                  <a:spcPts val="1200"/>
                </a:spcBef>
                <a:spcAft>
                  <a:spcPts val="1200"/>
                </a:spcAft>
                <a:buClr>
                  <a:schemeClr val="accent4"/>
                </a:buClr>
              </a:pPr>
              <a:t>13</a:t>
            </a:fld>
            <a:endParaRPr lang="en-US" sz="1333" dirty="0">
              <a:solidFill>
                <a:srgbClr val="0D0D0D"/>
              </a:solidFill>
              <a:latin typeface="Hepta Slab Medium" pitchFamily="2" charset="0"/>
              <a:cs typeface="Hepta Slab Medium" pitchFamily="2" charset="0"/>
            </a:endParaRPr>
          </a:p>
        </p:txBody>
      </p:sp>
      <p:pic>
        <p:nvPicPr>
          <p:cNvPr id="2" name="Picture 1">
            <a:extLst>
              <a:ext uri="{FF2B5EF4-FFF2-40B4-BE49-F238E27FC236}">
                <a16:creationId xmlns:a16="http://schemas.microsoft.com/office/drawing/2014/main" id="{5C1236B2-9B71-CDD0-23D0-DA50B628C604}"/>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Tree>
    <p:extLst>
      <p:ext uri="{BB962C8B-B14F-4D97-AF65-F5344CB8AC3E}">
        <p14:creationId xmlns:p14="http://schemas.microsoft.com/office/powerpoint/2010/main" val="4174538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315A51-9403-C4FE-5235-9304815E7F2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9B9F48D-AEA5-A7E2-51F7-FEBE2AF28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computer on a desk with books and a bookcase&#10;&#10;Description automatically generated">
            <a:extLst>
              <a:ext uri="{FF2B5EF4-FFF2-40B4-BE49-F238E27FC236}">
                <a16:creationId xmlns:a16="http://schemas.microsoft.com/office/drawing/2014/main" id="{87CD6510-55B7-E5ED-536F-CB0EFA3718E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t="27155" b="16605"/>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8570F4D3-2093-ECCD-2025-1A2529EFF4A0}"/>
              </a:ext>
            </a:extLst>
          </p:cNvPr>
          <p:cNvSpPr txBox="1"/>
          <p:nvPr/>
        </p:nvSpPr>
        <p:spPr>
          <a:xfrm>
            <a:off x="4650607" y="1033711"/>
            <a:ext cx="3082895" cy="584775"/>
          </a:xfrm>
          <a:prstGeom prst="rect">
            <a:avLst/>
          </a:prstGeom>
          <a:noFill/>
        </p:spPr>
        <p:txBody>
          <a:bodyPr wrap="none" rtlCol="0">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rPr>
              <a:t>The Insights</a:t>
            </a:r>
            <a:endParaRPr kumimoji="0" lang="en-IN" sz="32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sp>
        <p:nvSpPr>
          <p:cNvPr id="6" name="Object6">
            <a:extLst>
              <a:ext uri="{FF2B5EF4-FFF2-40B4-BE49-F238E27FC236}">
                <a16:creationId xmlns:a16="http://schemas.microsoft.com/office/drawing/2014/main" id="{41E5DE73-6660-DB1D-EFFB-D50F88FC0660}"/>
              </a:ext>
            </a:extLst>
          </p:cNvPr>
          <p:cNvSpPr/>
          <p:nvPr/>
        </p:nvSpPr>
        <p:spPr>
          <a:xfrm>
            <a:off x="1943100" y="3810000"/>
            <a:ext cx="9169388" cy="2532517"/>
          </a:xfrm>
          <a:prstGeom prst="rect">
            <a:avLst/>
          </a:prstGeom>
          <a:noFill/>
          <a:ln/>
        </p:spPr>
        <p:txBody>
          <a:bodyPr wrap="none" lIns="0" tIns="0" rIns="0" bIns="0" rtlCol="0" anchor="t"/>
          <a:lstStyle/>
          <a:p>
            <a:pPr marL="0" marR="0" lvl="0" indent="-304770" algn="ctr" defTabSz="304815" rtl="0" eaLnBrk="1" fontAlgn="auto" latinLnBrk="0" hangingPunct="1">
              <a:lnSpc>
                <a:spcPct val="100000"/>
              </a:lnSpc>
              <a:spcBef>
                <a:spcPts val="0"/>
              </a:spcBef>
              <a:spcAft>
                <a:spcPts val="0"/>
              </a:spcAft>
              <a:buClrTx/>
              <a:buSzTx/>
              <a:buFontTx/>
              <a:buNone/>
              <a:tabLst/>
              <a:defRPr/>
            </a:pPr>
            <a:r>
              <a:rPr kumimoji="0" lang="en-US" sz="3600" b="0" i="0" u="none" strike="noStrike" kern="1200" cap="all" spc="0" normalizeH="0" baseline="0" noProof="0" dirty="0">
                <a:ln>
                  <a:noFill/>
                </a:ln>
                <a:solidFill>
                  <a:prstClr val="white"/>
                </a:solidFill>
                <a:effectLst/>
                <a:uLnTx/>
                <a:uFillTx/>
                <a:latin typeface="Hepta Slab ExtraBold" pitchFamily="2" charset="0"/>
                <a:ea typeface="Montserrat ExtraBold" pitchFamily="34" charset="-122"/>
                <a:cs typeface="Hepta Slab ExtraBold" pitchFamily="2" charset="0"/>
              </a:rPr>
              <a:t>THE ENGAGEMENT</a:t>
            </a:r>
            <a:br>
              <a:rPr kumimoji="0" lang="en-US" sz="3600" b="0" i="0" u="none" strike="noStrike" kern="1200" cap="all" spc="0" normalizeH="0" baseline="0" noProof="0" dirty="0">
                <a:ln>
                  <a:noFill/>
                </a:ln>
                <a:solidFill>
                  <a:prstClr val="white"/>
                </a:solidFill>
                <a:effectLst/>
                <a:uLnTx/>
                <a:uFillTx/>
                <a:latin typeface="Hepta Slab ExtraBold" pitchFamily="2" charset="0"/>
                <a:ea typeface="Montserrat ExtraBold" pitchFamily="34" charset="-122"/>
                <a:cs typeface="Hepta Slab ExtraBold" pitchFamily="2" charset="0"/>
              </a:rPr>
            </a:br>
            <a:r>
              <a:rPr kumimoji="0" lang="en-US" sz="3600" b="0" i="0" u="none" strike="noStrike" kern="1200" cap="all" spc="0" normalizeH="0" baseline="0" noProof="0" dirty="0">
                <a:ln>
                  <a:noFill/>
                </a:ln>
                <a:solidFill>
                  <a:prstClr val="white"/>
                </a:solidFill>
                <a:effectLst/>
                <a:uLnTx/>
                <a:uFillTx/>
                <a:latin typeface="Hepta Slab ExtraBold" pitchFamily="2" charset="0"/>
                <a:ea typeface="Montserrat ExtraBold" pitchFamily="34" charset="-122"/>
                <a:cs typeface="Hepta Slab ExtraBold" pitchFamily="2" charset="0"/>
              </a:rPr>
              <a:t>PILLARS</a:t>
            </a:r>
          </a:p>
          <a:p>
            <a:pPr marL="0" marR="0" lvl="0" indent="-304770" algn="ctr" defTabSz="304815" rtl="0" eaLnBrk="1" fontAlgn="auto" latinLnBrk="0" hangingPunct="1">
              <a:lnSpc>
                <a:spcPct val="100000"/>
              </a:lnSpc>
              <a:spcBef>
                <a:spcPts val="0"/>
              </a:spcBef>
              <a:spcAft>
                <a:spcPts val="0"/>
              </a:spcAft>
              <a:buClrTx/>
              <a:buSzTx/>
              <a:buFontTx/>
              <a:buNone/>
              <a:tabLst/>
              <a:defRPr/>
            </a:pPr>
            <a:r>
              <a:rPr kumimoji="0" lang="en-US" sz="3600" b="0" i="0" u="none" strike="noStrike" kern="1200" cap="all" spc="0" normalizeH="0" baseline="0" noProof="0" dirty="0">
                <a:ln>
                  <a:noFill/>
                </a:ln>
                <a:solidFill>
                  <a:prstClr val="white"/>
                </a:solidFill>
                <a:effectLst/>
                <a:uLnTx/>
                <a:uFillTx/>
                <a:latin typeface="Hepta Slab ExtraBold" pitchFamily="2" charset="0"/>
                <a:ea typeface="Montserrat ExtraBold" pitchFamily="34" charset="-122"/>
                <a:cs typeface="Hepta Slab ExtraBold" pitchFamily="2" charset="0"/>
              </a:rPr>
              <a:t>&amp;</a:t>
            </a:r>
          </a:p>
          <a:p>
            <a:pPr marL="0" marR="0" lvl="0" indent="-304770" algn="ctr" defTabSz="304815" rtl="0" eaLnBrk="1" fontAlgn="auto" latinLnBrk="0" hangingPunct="1">
              <a:lnSpc>
                <a:spcPct val="100000"/>
              </a:lnSpc>
              <a:spcBef>
                <a:spcPts val="0"/>
              </a:spcBef>
              <a:spcAft>
                <a:spcPts val="0"/>
              </a:spcAft>
              <a:buClrTx/>
              <a:buSzTx/>
              <a:buFontTx/>
              <a:buNone/>
              <a:tabLst/>
              <a:defRPr/>
            </a:pPr>
            <a:r>
              <a:rPr kumimoji="0" lang="en-US" sz="3600" b="0" i="0" u="none" strike="noStrike" kern="1200" cap="all" spc="0" normalizeH="0" baseline="0" noProof="0" dirty="0">
                <a:ln>
                  <a:noFill/>
                </a:ln>
                <a:solidFill>
                  <a:prstClr val="white"/>
                </a:solidFill>
                <a:effectLst/>
                <a:uLnTx/>
                <a:uFillTx/>
                <a:latin typeface="Hepta Slab ExtraBold" pitchFamily="2" charset="0"/>
                <a:ea typeface="+mn-ea"/>
                <a:cs typeface="Hepta Slab ExtraBold" pitchFamily="2" charset="0"/>
              </a:rPr>
              <a:t>HIERARCHY OF EXPECTATIONS</a:t>
            </a:r>
          </a:p>
        </p:txBody>
      </p:sp>
      <p:sp>
        <p:nvSpPr>
          <p:cNvPr id="7" name="TextBox 6">
            <a:extLst>
              <a:ext uri="{FF2B5EF4-FFF2-40B4-BE49-F238E27FC236}">
                <a16:creationId xmlns:a16="http://schemas.microsoft.com/office/drawing/2014/main" id="{28B8947E-D36B-0FF7-C8DC-21FFD9E93C05}"/>
              </a:ext>
            </a:extLst>
          </p:cNvPr>
          <p:cNvSpPr txBox="1"/>
          <p:nvPr/>
        </p:nvSpPr>
        <p:spPr>
          <a:xfrm>
            <a:off x="2050472" y="1471035"/>
            <a:ext cx="8091055" cy="434606"/>
          </a:xfrm>
          <a:prstGeom prst="rect">
            <a:avLst/>
          </a:prstGeom>
          <a:noFill/>
        </p:spPr>
        <p:txBody>
          <a:bodyPr wrap="square">
            <a:spAutoFit/>
          </a:bodyPr>
          <a:lstStyle/>
          <a:p>
            <a:pPr marL="0" marR="0" lvl="0" indent="0" algn="ctr" defTabSz="304815" rtl="0" eaLnBrk="1" fontAlgn="auto" latinLnBrk="0" hangingPunct="1">
              <a:lnSpc>
                <a:spcPts val="2925"/>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Hepta Slab Medium" pitchFamily="2" charset="0"/>
              </a:rPr>
              <a:t>How customers perceive Celesta</a:t>
            </a:r>
            <a:endParaRPr kumimoji="0" lang="en-US" sz="2000" b="0" i="0" u="none" strike="noStrike" kern="1200" cap="none" spc="0" normalizeH="0" baseline="0" noProof="0" dirty="0">
              <a:ln>
                <a:noFill/>
              </a:ln>
              <a:solidFill>
                <a:prstClr val="white"/>
              </a:solidFill>
              <a:effectLst/>
              <a:uLnTx/>
              <a:uFillTx/>
              <a:latin typeface="Montserrat SemiBold" panose="00000700000000000000" pitchFamily="2" charset="0"/>
              <a:ea typeface="Montserrat ExtraBold" pitchFamily="34" charset="-122"/>
              <a:cs typeface="Hepta Slab Medium" pitchFamily="2" charset="0"/>
            </a:endParaRPr>
          </a:p>
        </p:txBody>
      </p:sp>
    </p:spTree>
    <p:extLst>
      <p:ext uri="{BB962C8B-B14F-4D97-AF65-F5344CB8AC3E}">
        <p14:creationId xmlns:p14="http://schemas.microsoft.com/office/powerpoint/2010/main" val="3926540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2" name="Object6">
            <a:extLst>
              <a:ext uri="{FF2B5EF4-FFF2-40B4-BE49-F238E27FC236}">
                <a16:creationId xmlns:a16="http://schemas.microsoft.com/office/drawing/2014/main" id="{7FF1EF97-377A-4E2F-B4BC-0ECF24D2D3D4}"/>
              </a:ext>
            </a:extLst>
          </p:cNvPr>
          <p:cNvSpPr/>
          <p:nvPr/>
        </p:nvSpPr>
        <p:spPr>
          <a:xfrm>
            <a:off x="336000" y="549000"/>
            <a:ext cx="7200000" cy="840000"/>
          </a:xfrm>
          <a:prstGeom prst="rect">
            <a:avLst/>
          </a:prstGeom>
          <a:noFill/>
          <a:ln/>
        </p:spPr>
        <p:txBody>
          <a:bodyPr wrap="square" lIns="0" tIns="0" rIns="0" bIns="0" rtlCol="0" anchor="b">
            <a:noAutofit/>
          </a:bodyPr>
          <a:lstStyle/>
          <a:p>
            <a:pPr defTabSz="304815">
              <a:lnSpc>
                <a:spcPts val="2925"/>
              </a:lnSpc>
              <a:defRPr/>
            </a:pPr>
            <a:r>
              <a:rPr lang="en-US" sz="6400" dirty="0">
                <a:solidFill>
                  <a:srgbClr val="002060"/>
                </a:solidFill>
                <a:latin typeface="Hepta Slab ExtraLight" pitchFamily="2" charset="0"/>
                <a:ea typeface="Montserrat ExtraBold" pitchFamily="34" charset="-122"/>
                <a:cs typeface="Hepta Slab ExtraLight" pitchFamily="2" charset="0"/>
              </a:rPr>
              <a:t>The Headline</a:t>
            </a:r>
            <a:endParaRPr lang="en-US" sz="6400" dirty="0">
              <a:solidFill>
                <a:srgbClr val="002060"/>
              </a:solidFill>
              <a:latin typeface="Hepta Slab ExtraLight" pitchFamily="2" charset="0"/>
              <a:cs typeface="Hepta Slab ExtraLight" pitchFamily="2" charset="0"/>
            </a:endParaRPr>
          </a:p>
        </p:txBody>
      </p:sp>
      <p:sp>
        <p:nvSpPr>
          <p:cNvPr id="3" name="Object4">
            <a:extLst>
              <a:ext uri="{FF2B5EF4-FFF2-40B4-BE49-F238E27FC236}">
                <a16:creationId xmlns:a16="http://schemas.microsoft.com/office/drawing/2014/main" id="{772FDCFD-1618-FCB0-5044-9C9304A5742B}"/>
              </a:ext>
            </a:extLst>
          </p:cNvPr>
          <p:cNvSpPr/>
          <p:nvPr/>
        </p:nvSpPr>
        <p:spPr>
          <a:xfrm>
            <a:off x="336000" y="3429000"/>
            <a:ext cx="10680000" cy="675050"/>
          </a:xfrm>
          <a:prstGeom prst="rect">
            <a:avLst/>
          </a:prstGeom>
          <a:noFill/>
          <a:ln/>
        </p:spPr>
        <p:txBody>
          <a:bodyPr wrap="square" lIns="0" tIns="0" rIns="0" bIns="0" rtlCol="0" anchor="t"/>
          <a:lstStyle/>
          <a:p>
            <a:pPr defTabSz="304815">
              <a:defRPr/>
            </a:pPr>
            <a:r>
              <a:rPr lang="en-US" sz="3200" b="1" dirty="0">
                <a:solidFill>
                  <a:srgbClr val="002060"/>
                </a:solidFill>
                <a:latin typeface="Hepta Slab Bold" pitchFamily="34" charset="0"/>
                <a:ea typeface="Hepta Slab Bold" pitchFamily="34" charset="-122"/>
                <a:cs typeface="Hepta Slab Bold" pitchFamily="34" charset="-120"/>
              </a:rPr>
              <a:t>The situation in a nutshell</a:t>
            </a:r>
            <a:endParaRPr lang="en-US" sz="3200" dirty="0">
              <a:solidFill>
                <a:srgbClr val="002060"/>
              </a:solidFill>
              <a:latin typeface="Calibri" panose="020F0502020204030204"/>
            </a:endParaRPr>
          </a:p>
        </p:txBody>
      </p:sp>
      <p:grpSp>
        <p:nvGrpSpPr>
          <p:cNvPr id="8" name="Group 7">
            <a:extLst>
              <a:ext uri="{FF2B5EF4-FFF2-40B4-BE49-F238E27FC236}">
                <a16:creationId xmlns:a16="http://schemas.microsoft.com/office/drawing/2014/main" id="{FDEAACA5-8AD5-9D4E-52A4-38D11A41609F}"/>
              </a:ext>
            </a:extLst>
          </p:cNvPr>
          <p:cNvGrpSpPr/>
          <p:nvPr/>
        </p:nvGrpSpPr>
        <p:grpSpPr>
          <a:xfrm>
            <a:off x="-61290" y="6053155"/>
            <a:ext cx="12253290" cy="971832"/>
            <a:chOff x="-187799" y="8336784"/>
            <a:chExt cx="18379935" cy="1457748"/>
          </a:xfrm>
        </p:grpSpPr>
        <p:pic>
          <p:nvPicPr>
            <p:cNvPr id="9" name="Picture 8">
              <a:extLst>
                <a:ext uri="{FF2B5EF4-FFF2-40B4-BE49-F238E27FC236}">
                  <a16:creationId xmlns:a16="http://schemas.microsoft.com/office/drawing/2014/main" id="{C9C833BD-FF64-F9EE-DCAD-EDC850B590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0" name="Title 1">
              <a:extLst>
                <a:ext uri="{FF2B5EF4-FFF2-40B4-BE49-F238E27FC236}">
                  <a16:creationId xmlns:a16="http://schemas.microsoft.com/office/drawing/2014/main" id="{05A545A9-8E82-826C-C60B-22566722FD9B}"/>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1" name="Picture 10">
              <a:extLst>
                <a:ext uri="{FF2B5EF4-FFF2-40B4-BE49-F238E27FC236}">
                  <a16:creationId xmlns:a16="http://schemas.microsoft.com/office/drawing/2014/main" id="{35EEDEC0-5DA9-4B65-5953-4908667A9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4" name="Picture 3">
            <a:extLst>
              <a:ext uri="{FF2B5EF4-FFF2-40B4-BE49-F238E27FC236}">
                <a16:creationId xmlns:a16="http://schemas.microsoft.com/office/drawing/2014/main" id="{8C654C80-FC23-20AA-FF0E-1D625B4A8D30}"/>
              </a:ext>
            </a:extLst>
          </p:cNvPr>
          <p:cNvPicPr>
            <a:picLocks noChangeAspect="1"/>
          </p:cNvPicPr>
          <p:nvPr/>
        </p:nvPicPr>
        <p:blipFill>
          <a:blip r:embed="rId4">
            <a:extLst>
              <a:ext uri="{28A0092B-C50C-407E-A947-70E740481C1C}">
                <a14:useLocalDpi xmlns:a14="http://schemas.microsoft.com/office/drawing/2010/main" val="0"/>
              </a:ext>
            </a:extLst>
          </a:blip>
          <a:srcRect l="86867" b="37023"/>
          <a:stretch/>
        </p:blipFill>
        <p:spPr>
          <a:xfrm>
            <a:off x="2558900" y="6427213"/>
            <a:ext cx="373693" cy="383995"/>
          </a:xfrm>
          <a:prstGeom prst="rect">
            <a:avLst/>
          </a:prstGeom>
        </p:spPr>
      </p:pic>
      <p:sp>
        <p:nvSpPr>
          <p:cNvPr id="5" name="Slide Number Placeholder 4">
            <a:extLst>
              <a:ext uri="{FF2B5EF4-FFF2-40B4-BE49-F238E27FC236}">
                <a16:creationId xmlns:a16="http://schemas.microsoft.com/office/drawing/2014/main" id="{59A05E42-C46F-C6BB-2512-E57160B2670F}"/>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085011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43C280BB-6773-EA44-9180-AF0F4CFA4477}"/>
            </a:ext>
          </a:extLst>
        </p:cNvPr>
        <p:cNvGrpSpPr/>
        <p:nvPr/>
      </p:nvGrpSpPr>
      <p:grpSpPr>
        <a:xfrm>
          <a:off x="0" y="0"/>
          <a:ext cx="0" cy="0"/>
          <a:chOff x="0" y="0"/>
          <a:chExt cx="0" cy="0"/>
        </a:xfrm>
      </p:grpSpPr>
      <p:graphicFrame>
        <p:nvGraphicFramePr>
          <p:cNvPr id="14" name="Chart 13">
            <a:extLst>
              <a:ext uri="{FF2B5EF4-FFF2-40B4-BE49-F238E27FC236}">
                <a16:creationId xmlns:a16="http://schemas.microsoft.com/office/drawing/2014/main" id="{156ED9C2-0E7A-11CF-8267-F89F7FAA1224}"/>
              </a:ext>
            </a:extLst>
          </p:cNvPr>
          <p:cNvGraphicFramePr>
            <a:graphicFrameLocks/>
          </p:cNvGraphicFramePr>
          <p:nvPr>
            <p:extLst>
              <p:ext uri="{D42A27DB-BD31-4B8C-83A1-F6EECF244321}">
                <p14:modId xmlns:p14="http://schemas.microsoft.com/office/powerpoint/2010/main" val="1916399626"/>
              </p:ext>
            </p:extLst>
          </p:nvPr>
        </p:nvGraphicFramePr>
        <p:xfrm>
          <a:off x="3462287" y="3815095"/>
          <a:ext cx="3696515" cy="2354959"/>
        </p:xfrm>
        <a:graphic>
          <a:graphicData uri="http://schemas.openxmlformats.org/drawingml/2006/chart">
            <c:chart xmlns:c="http://schemas.openxmlformats.org/drawingml/2006/chart" xmlns:r="http://schemas.openxmlformats.org/officeDocument/2006/relationships" r:id="rId3"/>
          </a:graphicData>
        </a:graphic>
      </p:graphicFrame>
      <p:sp>
        <p:nvSpPr>
          <p:cNvPr id="32" name="TextBox 31">
            <a:extLst>
              <a:ext uri="{FF2B5EF4-FFF2-40B4-BE49-F238E27FC236}">
                <a16:creationId xmlns:a16="http://schemas.microsoft.com/office/drawing/2014/main" id="{7CD3A07F-533D-EA90-8635-3D21291C7A87}"/>
              </a:ext>
            </a:extLst>
          </p:cNvPr>
          <p:cNvSpPr txBox="1"/>
          <p:nvPr/>
        </p:nvSpPr>
        <p:spPr>
          <a:xfrm>
            <a:off x="7674101" y="479453"/>
            <a:ext cx="4108588" cy="5899564"/>
          </a:xfrm>
          <a:prstGeom prst="rect">
            <a:avLst/>
          </a:prstGeom>
          <a:noFill/>
        </p:spPr>
        <p:txBody>
          <a:bodyPr wrap="square" rtlCol="0">
            <a:spAutoFit/>
          </a:bodyPr>
          <a:lstStyle/>
          <a:p>
            <a:pPr marL="0" marR="0" lvl="0" indent="0" algn="l" defTabSz="304815" rtl="0" eaLnBrk="1" fontAlgn="auto" latinLnBrk="0" hangingPunct="1">
              <a:lnSpc>
                <a:spcPct val="150000"/>
              </a:lnSpc>
              <a:spcAft>
                <a:spcPts val="1200"/>
              </a:spcAft>
              <a:buClr>
                <a:srgbClr val="FFC000"/>
              </a:buClr>
              <a:buSzTx/>
              <a:buFontTx/>
              <a:buNone/>
              <a:tabLst/>
              <a:defRPr/>
            </a:pPr>
            <a:r>
              <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The current Celesta customer is predominantly Non-Resident men</a:t>
            </a:r>
            <a:r>
              <a:rPr lang="en-US" sz="1600" dirty="0">
                <a:solidFill>
                  <a:srgbClr val="002060"/>
                </a:solidFill>
                <a:latin typeface="Hepta Slab Medium" pitchFamily="2" charset="0"/>
                <a:cs typeface="Hepta Slab Medium" pitchFamily="2" charset="0"/>
              </a:rPr>
              <a:t> aged</a:t>
            </a:r>
            <a:r>
              <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 45 years &amp; above with a conservative approach towards investments &amp; wealth.</a:t>
            </a:r>
          </a:p>
          <a:p>
            <a:pPr marL="0" marR="0" lvl="0" indent="0" algn="l" defTabSz="304815" rtl="0" eaLnBrk="1" fontAlgn="auto" latinLnBrk="0" hangingPunct="1">
              <a:lnSpc>
                <a:spcPct val="150000"/>
              </a:lnSpc>
              <a:spcAft>
                <a:spcPts val="1200"/>
              </a:spcAft>
              <a:buClr>
                <a:srgbClr val="FFC000"/>
              </a:buClr>
              <a:buSzTx/>
              <a:buFontTx/>
              <a:buNone/>
              <a:tabLst/>
              <a:defRPr/>
            </a:pPr>
            <a:r>
              <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They primarily seek ease of remittance and assurance of support in managing the remittance.</a:t>
            </a:r>
          </a:p>
          <a:p>
            <a:pPr marL="0" marR="0" lvl="0" indent="0" algn="l" defTabSz="304815" rtl="0" eaLnBrk="1" fontAlgn="auto" latinLnBrk="0" hangingPunct="1">
              <a:lnSpc>
                <a:spcPct val="150000"/>
              </a:lnSpc>
              <a:spcAft>
                <a:spcPts val="1200"/>
              </a:spcAft>
              <a:buClr>
                <a:srgbClr val="FFC000"/>
              </a:buClr>
              <a:buSzTx/>
              <a:buFontTx/>
              <a:buNone/>
              <a:tabLst/>
              <a:defRPr/>
            </a:pPr>
            <a:r>
              <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Functionally, Celesta delivers this in hassle-free manner. 24X7 RM availability &amp; digital assets (FedNet &amp; FedMobile) with friction free remittance journeys are key drivers of this experience. </a:t>
            </a:r>
          </a:p>
        </p:txBody>
      </p:sp>
      <p:grpSp>
        <p:nvGrpSpPr>
          <p:cNvPr id="10" name="Group 9">
            <a:extLst>
              <a:ext uri="{FF2B5EF4-FFF2-40B4-BE49-F238E27FC236}">
                <a16:creationId xmlns:a16="http://schemas.microsoft.com/office/drawing/2014/main" id="{E2649E22-37FB-C481-514C-44CCA3E8D9B9}"/>
              </a:ext>
            </a:extLst>
          </p:cNvPr>
          <p:cNvGrpSpPr/>
          <p:nvPr/>
        </p:nvGrpSpPr>
        <p:grpSpPr>
          <a:xfrm>
            <a:off x="-69724" y="6090007"/>
            <a:ext cx="12253290" cy="971832"/>
            <a:chOff x="-187799" y="8336784"/>
            <a:chExt cx="18379935" cy="1457748"/>
          </a:xfrm>
        </p:grpSpPr>
        <p:pic>
          <p:nvPicPr>
            <p:cNvPr id="11" name="Picture 10">
              <a:extLst>
                <a:ext uri="{FF2B5EF4-FFF2-40B4-BE49-F238E27FC236}">
                  <a16:creationId xmlns:a16="http://schemas.microsoft.com/office/drawing/2014/main" id="{220B9DBC-7D17-3898-AF8F-EF93B3821A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2" name="Title 1">
              <a:extLst>
                <a:ext uri="{FF2B5EF4-FFF2-40B4-BE49-F238E27FC236}">
                  <a16:creationId xmlns:a16="http://schemas.microsoft.com/office/drawing/2014/main" id="{AEC6A2D4-922C-FFC6-1D9E-BC05654B81EA}"/>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3" name="Picture 12">
              <a:extLst>
                <a:ext uri="{FF2B5EF4-FFF2-40B4-BE49-F238E27FC236}">
                  <a16:creationId xmlns:a16="http://schemas.microsoft.com/office/drawing/2014/main" id="{2A618765-33B9-577A-A520-F2A16A9564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graphicFrame>
        <p:nvGraphicFramePr>
          <p:cNvPr id="2" name="Chart 1">
            <a:extLst>
              <a:ext uri="{FF2B5EF4-FFF2-40B4-BE49-F238E27FC236}">
                <a16:creationId xmlns:a16="http://schemas.microsoft.com/office/drawing/2014/main" id="{E960DA9D-EC25-7C84-96C4-746E352738A7}"/>
              </a:ext>
            </a:extLst>
          </p:cNvPr>
          <p:cNvGraphicFramePr>
            <a:graphicFrameLocks/>
          </p:cNvGraphicFramePr>
          <p:nvPr>
            <p:extLst>
              <p:ext uri="{D42A27DB-BD31-4B8C-83A1-F6EECF244321}">
                <p14:modId xmlns:p14="http://schemas.microsoft.com/office/powerpoint/2010/main" val="2634366092"/>
              </p:ext>
            </p:extLst>
          </p:nvPr>
        </p:nvGraphicFramePr>
        <p:xfrm>
          <a:off x="649718" y="1073474"/>
          <a:ext cx="3597723" cy="265940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Chart 2">
            <a:extLst>
              <a:ext uri="{FF2B5EF4-FFF2-40B4-BE49-F238E27FC236}">
                <a16:creationId xmlns:a16="http://schemas.microsoft.com/office/drawing/2014/main" id="{014FBD7A-5865-421B-4C7D-8D98BA9C043A}"/>
              </a:ext>
            </a:extLst>
          </p:cNvPr>
          <p:cNvGraphicFramePr>
            <a:graphicFrameLocks/>
          </p:cNvGraphicFramePr>
          <p:nvPr>
            <p:extLst>
              <p:ext uri="{D42A27DB-BD31-4B8C-83A1-F6EECF244321}">
                <p14:modId xmlns:p14="http://schemas.microsoft.com/office/powerpoint/2010/main" val="666943065"/>
              </p:ext>
            </p:extLst>
          </p:nvPr>
        </p:nvGraphicFramePr>
        <p:xfrm>
          <a:off x="293852" y="3812683"/>
          <a:ext cx="3597723" cy="2277324"/>
        </p:xfrm>
        <a:graphic>
          <a:graphicData uri="http://schemas.openxmlformats.org/drawingml/2006/chart">
            <c:chart xmlns:c="http://schemas.openxmlformats.org/drawingml/2006/chart" xmlns:r="http://schemas.openxmlformats.org/officeDocument/2006/relationships" r:id="rId7"/>
          </a:graphicData>
        </a:graphic>
      </p:graphicFrame>
      <p:sp>
        <p:nvSpPr>
          <p:cNvPr id="4" name="TextBox 3">
            <a:extLst>
              <a:ext uri="{FF2B5EF4-FFF2-40B4-BE49-F238E27FC236}">
                <a16:creationId xmlns:a16="http://schemas.microsoft.com/office/drawing/2014/main" id="{D6F7129B-F0AF-88F9-D06C-3281C5F91B6A}"/>
              </a:ext>
            </a:extLst>
          </p:cNvPr>
          <p:cNvSpPr txBox="1"/>
          <p:nvPr/>
        </p:nvSpPr>
        <p:spPr>
          <a:xfrm>
            <a:off x="1142475" y="4739920"/>
            <a:ext cx="1237935" cy="369332"/>
          </a:xfrm>
          <a:prstGeom prst="rect">
            <a:avLst/>
          </a:prstGeom>
          <a:noFill/>
        </p:spPr>
        <p:txBody>
          <a:bodyPr wrap="square">
            <a:spAutoFit/>
          </a:bodyPr>
          <a:lstStyle/>
          <a:p>
            <a:pPr algn="ctr"/>
            <a:r>
              <a:rPr lang="en-US" dirty="0">
                <a:solidFill>
                  <a:srgbClr val="002060"/>
                </a:solidFill>
                <a:latin typeface="Montserrat SemiBold" pitchFamily="2" charset="0"/>
              </a:rPr>
              <a:t>Gender</a:t>
            </a:r>
          </a:p>
        </p:txBody>
      </p:sp>
      <p:graphicFrame>
        <p:nvGraphicFramePr>
          <p:cNvPr id="6" name="Chart 5">
            <a:extLst>
              <a:ext uri="{FF2B5EF4-FFF2-40B4-BE49-F238E27FC236}">
                <a16:creationId xmlns:a16="http://schemas.microsoft.com/office/drawing/2014/main" id="{AEDF4507-FE16-108D-EFE4-824219025DA6}"/>
              </a:ext>
            </a:extLst>
          </p:cNvPr>
          <p:cNvGraphicFramePr>
            <a:graphicFrameLocks/>
          </p:cNvGraphicFramePr>
          <p:nvPr>
            <p:extLst>
              <p:ext uri="{D42A27DB-BD31-4B8C-83A1-F6EECF244321}">
                <p14:modId xmlns:p14="http://schemas.microsoft.com/office/powerpoint/2010/main" val="1667420380"/>
              </p:ext>
            </p:extLst>
          </p:nvPr>
        </p:nvGraphicFramePr>
        <p:xfrm>
          <a:off x="4132791" y="1253951"/>
          <a:ext cx="3459961" cy="2354958"/>
        </p:xfrm>
        <a:graphic>
          <a:graphicData uri="http://schemas.openxmlformats.org/drawingml/2006/chart">
            <c:chart xmlns:c="http://schemas.openxmlformats.org/drawingml/2006/chart" xmlns:r="http://schemas.openxmlformats.org/officeDocument/2006/relationships" r:id="rId8"/>
          </a:graphicData>
        </a:graphic>
      </p:graphicFrame>
      <p:sp>
        <p:nvSpPr>
          <p:cNvPr id="7" name="TextBox 7">
            <a:extLst>
              <a:ext uri="{FF2B5EF4-FFF2-40B4-BE49-F238E27FC236}">
                <a16:creationId xmlns:a16="http://schemas.microsoft.com/office/drawing/2014/main" id="{DB5CD642-4EC1-3C0D-8AC4-D60D2049D03A}"/>
              </a:ext>
            </a:extLst>
          </p:cNvPr>
          <p:cNvSpPr txBox="1"/>
          <p:nvPr/>
        </p:nvSpPr>
        <p:spPr>
          <a:xfrm>
            <a:off x="4761021" y="4798577"/>
            <a:ext cx="994805" cy="369332"/>
          </a:xfrm>
          <a:prstGeom prst="rect">
            <a:avLst/>
          </a:prstGeom>
          <a:noFill/>
        </p:spPr>
        <p:txBody>
          <a:bodyPr wrap="square">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a:r>
              <a:rPr lang="en-US" dirty="0">
                <a:solidFill>
                  <a:srgbClr val="002060"/>
                </a:solidFill>
                <a:latin typeface="Montserrat SemiBold" pitchFamily="2" charset="0"/>
              </a:rPr>
              <a:t>Age</a:t>
            </a:r>
          </a:p>
        </p:txBody>
      </p:sp>
      <p:sp>
        <p:nvSpPr>
          <p:cNvPr id="5" name="Slide Number Placeholder 4">
            <a:extLst>
              <a:ext uri="{FF2B5EF4-FFF2-40B4-BE49-F238E27FC236}">
                <a16:creationId xmlns:a16="http://schemas.microsoft.com/office/drawing/2014/main" id="{6FC9AB46-FE9E-CEC3-8451-07A75D8151A1}"/>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065EC30-9185-4A95-ADD8-6385FABF13C0}" type="slidenum">
              <a:rPr lang="en-IN" sz="1000" smtClean="0">
                <a:solidFill>
                  <a:prstClr val="black">
                    <a:lumMod val="50000"/>
                    <a:lumOff val="50000"/>
                  </a:prstClr>
                </a:solidFill>
                <a:latin typeface="Montserrat" panose="00000500000000000000" pitchFamily="2" charset="0"/>
              </a:rPr>
              <a:pPr>
                <a:defRPr/>
              </a:pPr>
              <a:t>16</a:t>
            </a:fld>
            <a:endParaRPr lang="en-IN" sz="1000" dirty="0">
              <a:solidFill>
                <a:prstClr val="black">
                  <a:lumMod val="50000"/>
                  <a:lumOff val="50000"/>
                </a:prstClr>
              </a:solidFill>
              <a:latin typeface="Montserrat" panose="00000500000000000000" pitchFamily="2" charset="0"/>
            </a:endParaRPr>
          </a:p>
        </p:txBody>
      </p:sp>
      <p:sp>
        <p:nvSpPr>
          <p:cNvPr id="8" name="TextBox 7">
            <a:extLst>
              <a:ext uri="{FF2B5EF4-FFF2-40B4-BE49-F238E27FC236}">
                <a16:creationId xmlns:a16="http://schemas.microsoft.com/office/drawing/2014/main" id="{8AB15C21-AC0B-42C8-DA10-77A40AE72A5C}"/>
              </a:ext>
            </a:extLst>
          </p:cNvPr>
          <p:cNvSpPr txBox="1"/>
          <p:nvPr/>
        </p:nvSpPr>
        <p:spPr>
          <a:xfrm>
            <a:off x="716929" y="232950"/>
            <a:ext cx="612502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b="1" dirty="0">
                <a:solidFill>
                  <a:srgbClr val="002060"/>
                </a:solidFill>
                <a:latin typeface="Hepta Slab Bold" pitchFamily="34" charset="0"/>
                <a:cs typeface="Hepta Slab Bold" pitchFamily="34" charset="-120"/>
              </a:rPr>
              <a:t>The Celesta Customer</a:t>
            </a:r>
            <a:endParaRPr lang="en-IN" sz="3200" b="1" dirty="0">
              <a:solidFill>
                <a:srgbClr val="002060"/>
              </a:solidFill>
              <a:latin typeface="Hepta Slab Bold" pitchFamily="34" charset="0"/>
              <a:cs typeface="Hepta Slab Bold" pitchFamily="34" charset="-120"/>
            </a:endParaRPr>
          </a:p>
        </p:txBody>
      </p:sp>
    </p:spTree>
    <p:extLst>
      <p:ext uri="{BB962C8B-B14F-4D97-AF65-F5344CB8AC3E}">
        <p14:creationId xmlns:p14="http://schemas.microsoft.com/office/powerpoint/2010/main" val="2761539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80A7BC3C-FEBD-1118-FD1C-988086B288C5}"/>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685C51B5-B442-33A8-5C21-37262B18EAA3}"/>
              </a:ext>
            </a:extLst>
          </p:cNvPr>
          <p:cNvSpPr txBox="1"/>
          <p:nvPr/>
        </p:nvSpPr>
        <p:spPr>
          <a:xfrm>
            <a:off x="7417942" y="1412333"/>
            <a:ext cx="3966096" cy="3940053"/>
          </a:xfrm>
          <a:prstGeom prst="rect">
            <a:avLst/>
          </a:prstGeom>
          <a:noFill/>
        </p:spPr>
        <p:txBody>
          <a:bodyPr wrap="square" rtlCol="0">
            <a:spAutoFit/>
          </a:bodyPr>
          <a:lstStyle/>
          <a:p>
            <a:pPr marL="0" marR="0" lvl="0" indent="0" algn="l" defTabSz="304815" rtl="0" eaLnBrk="1" fontAlgn="auto" latinLnBrk="0" hangingPunct="1">
              <a:lnSpc>
                <a:spcPct val="150000"/>
              </a:lnSpc>
              <a:spcAft>
                <a:spcPts val="1200"/>
              </a:spcAft>
              <a:buClr>
                <a:srgbClr val="FFC000"/>
              </a:buClr>
              <a:buSzTx/>
              <a:buFontTx/>
              <a:buNone/>
              <a:tabLst/>
              <a:defRPr/>
            </a:pPr>
            <a:r>
              <a:rPr kumimoji="0" lang="en-US" sz="1800" b="0" i="0" u="none" strike="noStrike" kern="1200" cap="none" spc="0" normalizeH="0" baseline="0" noProof="0" dirty="0">
                <a:ln>
                  <a:noFill/>
                </a:ln>
                <a:solidFill>
                  <a:srgbClr val="A9734C"/>
                </a:solidFill>
                <a:effectLst/>
                <a:uLnTx/>
                <a:uFillTx/>
                <a:latin typeface="Hepta Slab Medium" pitchFamily="2" charset="0"/>
                <a:ea typeface="+mn-ea"/>
                <a:cs typeface="Hepta Slab Medium" pitchFamily="2" charset="0"/>
              </a:rPr>
              <a:t>However, as other banks grow their premium banking offerings, these customers are beginning to seek additional experiential services. </a:t>
            </a:r>
          </a:p>
          <a:p>
            <a:pPr marL="0" marR="0" lvl="0" indent="0" algn="l" defTabSz="304815" rtl="0" eaLnBrk="1" fontAlgn="auto" latinLnBrk="0" hangingPunct="1">
              <a:lnSpc>
                <a:spcPct val="150000"/>
              </a:lnSpc>
              <a:spcAft>
                <a:spcPts val="1200"/>
              </a:spcAft>
              <a:buClr>
                <a:srgbClr val="FFC000"/>
              </a:buClr>
              <a:buSzTx/>
              <a:buFontTx/>
              <a:buNone/>
              <a:tabLst/>
              <a:defRPr/>
            </a:pPr>
            <a:r>
              <a:rPr kumimoji="0" lang="en-US" sz="1800" b="0" i="0" u="none" strike="noStrike" kern="1200" cap="none" spc="0" normalizeH="0" baseline="0" noProof="0" dirty="0">
                <a:ln>
                  <a:noFill/>
                </a:ln>
                <a:solidFill>
                  <a:srgbClr val="A9734C"/>
                </a:solidFill>
                <a:effectLst/>
                <a:uLnTx/>
                <a:uFillTx/>
                <a:latin typeface="Hepta Slab Medium" pitchFamily="2" charset="0"/>
                <a:ea typeface="+mn-ea"/>
                <a:cs typeface="Hepta Slab Medium" pitchFamily="2" charset="0"/>
              </a:rPr>
              <a:t>95% of respondents have indicated that Celesta should evolve its customer engagement strategies!</a:t>
            </a:r>
          </a:p>
        </p:txBody>
      </p:sp>
      <p:grpSp>
        <p:nvGrpSpPr>
          <p:cNvPr id="10" name="Group 9">
            <a:extLst>
              <a:ext uri="{FF2B5EF4-FFF2-40B4-BE49-F238E27FC236}">
                <a16:creationId xmlns:a16="http://schemas.microsoft.com/office/drawing/2014/main" id="{F3690DD9-8F0E-867B-BD68-DBA69430BCD3}"/>
              </a:ext>
            </a:extLst>
          </p:cNvPr>
          <p:cNvGrpSpPr/>
          <p:nvPr/>
        </p:nvGrpSpPr>
        <p:grpSpPr>
          <a:xfrm>
            <a:off x="-61290" y="6053155"/>
            <a:ext cx="12253290" cy="971832"/>
            <a:chOff x="-187799" y="8336784"/>
            <a:chExt cx="18379935" cy="1457748"/>
          </a:xfrm>
        </p:grpSpPr>
        <p:pic>
          <p:nvPicPr>
            <p:cNvPr id="11" name="Picture 10">
              <a:extLst>
                <a:ext uri="{FF2B5EF4-FFF2-40B4-BE49-F238E27FC236}">
                  <a16:creationId xmlns:a16="http://schemas.microsoft.com/office/drawing/2014/main" id="{600D3F9C-6085-E645-ADFB-B387E179F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2" name="Title 1">
              <a:extLst>
                <a:ext uri="{FF2B5EF4-FFF2-40B4-BE49-F238E27FC236}">
                  <a16:creationId xmlns:a16="http://schemas.microsoft.com/office/drawing/2014/main" id="{CE8C9A40-8382-24B3-EAE7-12E51FA94C97}"/>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3" name="Picture 12">
              <a:extLst>
                <a:ext uri="{FF2B5EF4-FFF2-40B4-BE49-F238E27FC236}">
                  <a16:creationId xmlns:a16="http://schemas.microsoft.com/office/drawing/2014/main" id="{5C56CA62-0788-07D8-C83B-5BA005F263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graphicFrame>
        <p:nvGraphicFramePr>
          <p:cNvPr id="4" name="Chart 3">
            <a:extLst>
              <a:ext uri="{FF2B5EF4-FFF2-40B4-BE49-F238E27FC236}">
                <a16:creationId xmlns:a16="http://schemas.microsoft.com/office/drawing/2014/main" id="{A305CD1F-234E-4B32-87ED-362A13A2B7F6}"/>
              </a:ext>
            </a:extLst>
          </p:cNvPr>
          <p:cNvGraphicFramePr>
            <a:graphicFrameLocks/>
          </p:cNvGraphicFramePr>
          <p:nvPr>
            <p:extLst>
              <p:ext uri="{D42A27DB-BD31-4B8C-83A1-F6EECF244321}">
                <p14:modId xmlns:p14="http://schemas.microsoft.com/office/powerpoint/2010/main" val="1353749085"/>
              </p:ext>
            </p:extLst>
          </p:nvPr>
        </p:nvGraphicFramePr>
        <p:xfrm>
          <a:off x="550506" y="1450885"/>
          <a:ext cx="6419071" cy="4063507"/>
        </p:xfrm>
        <a:graphic>
          <a:graphicData uri="http://schemas.openxmlformats.org/drawingml/2006/chart">
            <c:chart xmlns:c="http://schemas.openxmlformats.org/drawingml/2006/chart" xmlns:r="http://schemas.openxmlformats.org/officeDocument/2006/relationships" r:id="rId5"/>
          </a:graphicData>
        </a:graphic>
      </p:graphicFrame>
      <p:sp>
        <p:nvSpPr>
          <p:cNvPr id="2" name="Slide Number Placeholder 4">
            <a:extLst>
              <a:ext uri="{FF2B5EF4-FFF2-40B4-BE49-F238E27FC236}">
                <a16:creationId xmlns:a16="http://schemas.microsoft.com/office/drawing/2014/main" id="{7BF3180F-9E78-2B0A-BFC6-3A0234E10FBD}"/>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065EC30-9185-4A95-ADD8-6385FABF13C0}" type="slidenum">
              <a:rPr lang="en-IN" sz="1000" smtClean="0">
                <a:solidFill>
                  <a:prstClr val="black">
                    <a:lumMod val="50000"/>
                    <a:lumOff val="50000"/>
                  </a:prstClr>
                </a:solidFill>
                <a:latin typeface="Montserrat" panose="00000500000000000000" pitchFamily="2" charset="0"/>
              </a:rPr>
              <a:pPr>
                <a:defRPr/>
              </a:pPr>
              <a:t>17</a:t>
            </a:fld>
            <a:endParaRPr lang="en-IN" sz="1000" dirty="0">
              <a:solidFill>
                <a:prstClr val="black">
                  <a:lumMod val="50000"/>
                  <a:lumOff val="50000"/>
                </a:prstClr>
              </a:solidFill>
              <a:latin typeface="Montserrat" panose="00000500000000000000" pitchFamily="2" charset="0"/>
            </a:endParaRPr>
          </a:p>
        </p:txBody>
      </p:sp>
      <p:sp>
        <p:nvSpPr>
          <p:cNvPr id="3" name="TextBox 2">
            <a:extLst>
              <a:ext uri="{FF2B5EF4-FFF2-40B4-BE49-F238E27FC236}">
                <a16:creationId xmlns:a16="http://schemas.microsoft.com/office/drawing/2014/main" id="{AEAD6A8A-EB52-3FA0-F35E-8DC1A5F7947D}"/>
              </a:ext>
            </a:extLst>
          </p:cNvPr>
          <p:cNvSpPr txBox="1"/>
          <p:nvPr/>
        </p:nvSpPr>
        <p:spPr>
          <a:xfrm>
            <a:off x="864705" y="365124"/>
            <a:ext cx="921385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b="1" dirty="0">
                <a:solidFill>
                  <a:srgbClr val="002060"/>
                </a:solidFill>
                <a:latin typeface="Hepta Slab Bold" pitchFamily="34" charset="0"/>
                <a:cs typeface="Hepta Slab Bold" pitchFamily="34" charset="-120"/>
              </a:rPr>
              <a:t>Customers Expect Celesta to Evolve </a:t>
            </a:r>
            <a:endParaRPr lang="en-IN" sz="3200" b="1" dirty="0">
              <a:solidFill>
                <a:srgbClr val="002060"/>
              </a:solidFill>
              <a:latin typeface="Hepta Slab Bold" pitchFamily="34" charset="0"/>
              <a:cs typeface="Hepta Slab Bold" pitchFamily="34" charset="-120"/>
            </a:endParaRPr>
          </a:p>
        </p:txBody>
      </p:sp>
    </p:spTree>
    <p:extLst>
      <p:ext uri="{BB962C8B-B14F-4D97-AF65-F5344CB8AC3E}">
        <p14:creationId xmlns:p14="http://schemas.microsoft.com/office/powerpoint/2010/main" val="142479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7418CBA-FE77-6555-3541-DB7E1CE7F4E2}"/>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184F3624-C087-E560-79D7-EA12EAB431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5" name="Title 1">
              <a:extLst>
                <a:ext uri="{FF2B5EF4-FFF2-40B4-BE49-F238E27FC236}">
                  <a16:creationId xmlns:a16="http://schemas.microsoft.com/office/drawing/2014/main" id="{CAEA5311-F70F-AD78-2F2D-6070109C3C97}"/>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7FCE305D-7ADE-FE21-D022-9B67113A12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2" name="Object6">
            <a:extLst>
              <a:ext uri="{FF2B5EF4-FFF2-40B4-BE49-F238E27FC236}">
                <a16:creationId xmlns:a16="http://schemas.microsoft.com/office/drawing/2014/main" id="{8335416D-9DB5-75E4-9E2E-2F7735447C8E}"/>
              </a:ext>
            </a:extLst>
          </p:cNvPr>
          <p:cNvSpPr/>
          <p:nvPr/>
        </p:nvSpPr>
        <p:spPr>
          <a:xfrm>
            <a:off x="547877" y="1438859"/>
            <a:ext cx="3240000" cy="371475"/>
          </a:xfrm>
          <a:prstGeom prst="rect">
            <a:avLst/>
          </a:prstGeom>
          <a:noFill/>
          <a:ln>
            <a:noFill/>
            <a:prstDash val="lgDash"/>
          </a:ln>
        </p:spPr>
        <p:txBody>
          <a:bodyPr wrap="square" lIns="0" tIns="0" rIns="0" bIns="0" rtlCol="0" anchor="t"/>
          <a:lstStyle/>
          <a:p>
            <a:pPr defTabSz="304815">
              <a:lnSpc>
                <a:spcPts val="2925"/>
              </a:lnSpc>
            </a:pPr>
            <a:r>
              <a:rPr lang="en-US" sz="1600" cap="all" dirty="0">
                <a:solidFill>
                  <a:srgbClr val="A9734C"/>
                </a:solidFill>
                <a:latin typeface="Montserrat ExtraBold" pitchFamily="34" charset="0"/>
              </a:rPr>
              <a:t>FUNCTIONAL EXPECTATIONS</a:t>
            </a:r>
          </a:p>
        </p:txBody>
      </p:sp>
      <p:sp>
        <p:nvSpPr>
          <p:cNvPr id="7" name="TextBox 6">
            <a:extLst>
              <a:ext uri="{FF2B5EF4-FFF2-40B4-BE49-F238E27FC236}">
                <a16:creationId xmlns:a16="http://schemas.microsoft.com/office/drawing/2014/main" id="{6098DD57-4BF3-AE6A-3078-86A899165464}"/>
              </a:ext>
            </a:extLst>
          </p:cNvPr>
          <p:cNvSpPr txBox="1"/>
          <p:nvPr/>
        </p:nvSpPr>
        <p:spPr>
          <a:xfrm>
            <a:off x="8447372" y="6431369"/>
            <a:ext cx="928914" cy="230832"/>
          </a:xfrm>
          <a:prstGeom prst="rect">
            <a:avLst/>
          </a:prstGeom>
          <a:noFill/>
        </p:spPr>
        <p:txBody>
          <a:bodyPr wrap="square" rtlCol="0">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sp>
        <p:nvSpPr>
          <p:cNvPr id="6" name="Object6">
            <a:extLst>
              <a:ext uri="{FF2B5EF4-FFF2-40B4-BE49-F238E27FC236}">
                <a16:creationId xmlns:a16="http://schemas.microsoft.com/office/drawing/2014/main" id="{2520604F-8ED7-D37B-C515-BF4AB8F69CDE}"/>
              </a:ext>
            </a:extLst>
          </p:cNvPr>
          <p:cNvSpPr/>
          <p:nvPr/>
        </p:nvSpPr>
        <p:spPr>
          <a:xfrm>
            <a:off x="496561" y="-59774"/>
            <a:ext cx="7734240" cy="557213"/>
          </a:xfrm>
          <a:prstGeom prst="rect">
            <a:avLst/>
          </a:prstGeom>
          <a:noFill/>
          <a:ln/>
        </p:spPr>
        <p:txBody>
          <a:bodyPr wrap="square" lIns="0" tIns="0" rIns="0" bIns="0" rtlCol="0" anchor="t"/>
          <a:lstStyle/>
          <a:p>
            <a:pPr marL="0" marR="0" lvl="0" indent="0" algn="l" defTabSz="457200" rtl="0" eaLnBrk="1" fontAlgn="auto" latinLnBrk="0" hangingPunct="1">
              <a:lnSpc>
                <a:spcPts val="4388"/>
              </a:lnSpc>
              <a:spcBef>
                <a:spcPts val="0"/>
              </a:spcBef>
              <a:spcAft>
                <a:spcPts val="0"/>
              </a:spcAft>
              <a:buClrTx/>
              <a:buSzTx/>
              <a:buFontTx/>
              <a:buNone/>
              <a:tabLst/>
              <a:defRPr/>
            </a:pPr>
            <a:r>
              <a:rPr lang="en-US" cap="all" dirty="0">
                <a:solidFill>
                  <a:srgbClr val="002060"/>
                </a:solidFill>
                <a:latin typeface="Montserrat ExtraBold" pitchFamily="34" charset="0"/>
              </a:rPr>
              <a:t>PREMIUM BANKING experience - CELESTA</a:t>
            </a:r>
            <a:endParaRPr kumimoji="0" lang="en-US"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8" name="Object6">
            <a:extLst>
              <a:ext uri="{FF2B5EF4-FFF2-40B4-BE49-F238E27FC236}">
                <a16:creationId xmlns:a16="http://schemas.microsoft.com/office/drawing/2014/main" id="{B782D321-D507-BB07-D819-EB2FEBB2DF4B}"/>
              </a:ext>
            </a:extLst>
          </p:cNvPr>
          <p:cNvSpPr/>
          <p:nvPr/>
        </p:nvSpPr>
        <p:spPr>
          <a:xfrm>
            <a:off x="7422485" y="1473788"/>
            <a:ext cx="3378225" cy="371475"/>
          </a:xfrm>
          <a:prstGeom prst="rect">
            <a:avLst/>
          </a:prstGeom>
          <a:noFill/>
          <a:ln/>
        </p:spPr>
        <p:txBody>
          <a:bodyPr wrap="square" lIns="0" tIns="0" rIns="0" bIns="0" rtlCol="0" anchor="t"/>
          <a:lstStyle/>
          <a:p>
            <a:pPr defTabSz="304815">
              <a:lnSpc>
                <a:spcPts val="2925"/>
              </a:lnSpc>
            </a:pPr>
            <a:r>
              <a:rPr lang="en-US" sz="1600" cap="all" dirty="0">
                <a:solidFill>
                  <a:srgbClr val="A9734C"/>
                </a:solidFill>
                <a:latin typeface="Montserrat ExtraBold" pitchFamily="34" charset="0"/>
              </a:rPr>
              <a:t>EXPERIENTIAL EXPECTATIONS</a:t>
            </a:r>
          </a:p>
        </p:txBody>
      </p:sp>
      <p:sp>
        <p:nvSpPr>
          <p:cNvPr id="13" name="TextBox 12">
            <a:extLst>
              <a:ext uri="{FF2B5EF4-FFF2-40B4-BE49-F238E27FC236}">
                <a16:creationId xmlns:a16="http://schemas.microsoft.com/office/drawing/2014/main" id="{F82DF821-DBA5-4C78-C342-250455AC8DF2}"/>
              </a:ext>
            </a:extLst>
          </p:cNvPr>
          <p:cNvSpPr txBox="1"/>
          <p:nvPr/>
        </p:nvSpPr>
        <p:spPr>
          <a:xfrm>
            <a:off x="1790700" y="6431369"/>
            <a:ext cx="928914" cy="230832"/>
          </a:xfrm>
          <a:prstGeom prst="rect">
            <a:avLst/>
          </a:prstGeom>
          <a:noFill/>
        </p:spPr>
        <p:txBody>
          <a:bodyPr wrap="square" rtlCol="0">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sp>
        <p:nvSpPr>
          <p:cNvPr id="2" name="Object4">
            <a:extLst>
              <a:ext uri="{FF2B5EF4-FFF2-40B4-BE49-F238E27FC236}">
                <a16:creationId xmlns:a16="http://schemas.microsoft.com/office/drawing/2014/main" id="{B0994AC4-3883-E9FB-8A72-B04B419C7F00}"/>
              </a:ext>
            </a:extLst>
          </p:cNvPr>
          <p:cNvSpPr/>
          <p:nvPr/>
        </p:nvSpPr>
        <p:spPr>
          <a:xfrm>
            <a:off x="496561" y="693672"/>
            <a:ext cx="9360000" cy="439725"/>
          </a:xfrm>
          <a:prstGeom prst="rect">
            <a:avLst/>
          </a:prstGeom>
          <a:noFill/>
          <a:ln/>
        </p:spPr>
        <p:txBody>
          <a:bodyPr wrap="square" lIns="0" tIns="0" rIns="0" bIns="0" rtlCol="0" anchor="t"/>
          <a:lstStyle/>
          <a:p>
            <a:pPr defTabSz="304815"/>
            <a:r>
              <a:rPr lang="en-US" sz="3200" b="1" dirty="0">
                <a:solidFill>
                  <a:srgbClr val="002060"/>
                </a:solidFill>
                <a:latin typeface="Hepta Slab Bold" pitchFamily="34" charset="0"/>
                <a:ea typeface="Hepta Slab Bold" pitchFamily="34" charset="-122"/>
                <a:cs typeface="Hepta Slab Bold" pitchFamily="34" charset="-120"/>
              </a:rPr>
              <a:t>Hierarchy of Expectations.</a:t>
            </a:r>
            <a:endParaRPr lang="en-US" sz="3200" dirty="0">
              <a:solidFill>
                <a:srgbClr val="002060"/>
              </a:solidFill>
              <a:latin typeface="Calibri" panose="020F0502020204030204"/>
            </a:endParaRPr>
          </a:p>
        </p:txBody>
      </p:sp>
      <p:graphicFrame>
        <p:nvGraphicFramePr>
          <p:cNvPr id="3" name="Chart 2">
            <a:extLst>
              <a:ext uri="{FF2B5EF4-FFF2-40B4-BE49-F238E27FC236}">
                <a16:creationId xmlns:a16="http://schemas.microsoft.com/office/drawing/2014/main" id="{00000000-0008-0000-0300-000005000000}"/>
              </a:ext>
            </a:extLst>
          </p:cNvPr>
          <p:cNvGraphicFramePr>
            <a:graphicFrameLocks/>
          </p:cNvGraphicFramePr>
          <p:nvPr>
            <p:extLst>
              <p:ext uri="{D42A27DB-BD31-4B8C-83A1-F6EECF244321}">
                <p14:modId xmlns:p14="http://schemas.microsoft.com/office/powerpoint/2010/main" val="3268549691"/>
              </p:ext>
            </p:extLst>
          </p:nvPr>
        </p:nvGraphicFramePr>
        <p:xfrm>
          <a:off x="264376" y="2355597"/>
          <a:ext cx="5023242" cy="369755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Chart 3">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2024724157"/>
              </p:ext>
            </p:extLst>
          </p:nvPr>
        </p:nvGraphicFramePr>
        <p:xfrm>
          <a:off x="6149008" y="2355597"/>
          <a:ext cx="6042991" cy="3528663"/>
        </p:xfrm>
        <a:graphic>
          <a:graphicData uri="http://schemas.openxmlformats.org/drawingml/2006/chart">
            <c:chart xmlns:c="http://schemas.openxmlformats.org/drawingml/2006/chart" xmlns:r="http://schemas.openxmlformats.org/officeDocument/2006/relationships" r:id="rId6"/>
          </a:graphicData>
        </a:graphic>
      </p:graphicFrame>
      <p:pic>
        <p:nvPicPr>
          <p:cNvPr id="10" name="Picture 9">
            <a:extLst>
              <a:ext uri="{FF2B5EF4-FFF2-40B4-BE49-F238E27FC236}">
                <a16:creationId xmlns:a16="http://schemas.microsoft.com/office/drawing/2014/main" id="{45E41895-347C-4924-3A1E-9AC2D120F09D}"/>
              </a:ext>
            </a:extLst>
          </p:cNvPr>
          <p:cNvPicPr>
            <a:picLocks noChangeAspect="1"/>
          </p:cNvPicPr>
          <p:nvPr/>
        </p:nvPicPr>
        <p:blipFill>
          <a:blip r:embed="rId7">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5" name="Slide Number Placeholder 4">
            <a:extLst>
              <a:ext uri="{FF2B5EF4-FFF2-40B4-BE49-F238E27FC236}">
                <a16:creationId xmlns:a16="http://schemas.microsoft.com/office/drawing/2014/main" id="{090F5EE9-3077-9695-9522-9FE06628A0F6}"/>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95742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58D07A1C-974A-4043-FF97-D72389ED58C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A828F6-8A25-2BAC-A811-7CD3F098B564}"/>
              </a:ext>
            </a:extLst>
          </p:cNvPr>
          <p:cNvPicPr>
            <a:picLocks noChangeAspect="1"/>
          </p:cNvPicPr>
          <p:nvPr/>
        </p:nvPicPr>
        <p:blipFill>
          <a:blip r:embed="rId3">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8" name="TextBox 7">
            <a:extLst>
              <a:ext uri="{FF2B5EF4-FFF2-40B4-BE49-F238E27FC236}">
                <a16:creationId xmlns:a16="http://schemas.microsoft.com/office/drawing/2014/main" id="{20752907-425E-1D25-6684-FAB5FA687C39}"/>
              </a:ext>
            </a:extLst>
          </p:cNvPr>
          <p:cNvSpPr txBox="1"/>
          <p:nvPr/>
        </p:nvSpPr>
        <p:spPr>
          <a:xfrm>
            <a:off x="336001" y="378894"/>
            <a:ext cx="676980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002060"/>
                </a:solidFill>
                <a:latin typeface="Hepta Slab Bold" pitchFamily="2" charset="0"/>
                <a:cs typeface="Hepta Slab Bold" pitchFamily="2" charset="0"/>
              </a:rPr>
              <a:t>W</a:t>
            </a:r>
            <a:r>
              <a:rPr lang="en-IN" sz="3200" dirty="0">
                <a:solidFill>
                  <a:srgbClr val="002060"/>
                </a:solidFill>
                <a:latin typeface="Hepta Slab Bold" pitchFamily="2" charset="0"/>
                <a:cs typeface="Hepta Slab Bold" pitchFamily="2" charset="0"/>
              </a:rPr>
              <a:t>hat Celesta delivers today</a:t>
            </a:r>
            <a:endParaRPr kumimoji="0" lang="en-IN" sz="32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endParaRPr>
          </a:p>
        </p:txBody>
      </p:sp>
      <p:sp>
        <p:nvSpPr>
          <p:cNvPr id="11" name="Slide Number Placeholder 4">
            <a:extLst>
              <a:ext uri="{FF2B5EF4-FFF2-40B4-BE49-F238E27FC236}">
                <a16:creationId xmlns:a16="http://schemas.microsoft.com/office/drawing/2014/main" id="{A3F404BA-694A-C607-076B-FB9F3816B130}"/>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
        <p:nvSpPr>
          <p:cNvPr id="17" name="TextBox 16">
            <a:extLst>
              <a:ext uri="{FF2B5EF4-FFF2-40B4-BE49-F238E27FC236}">
                <a16:creationId xmlns:a16="http://schemas.microsoft.com/office/drawing/2014/main" id="{B1CF8141-065C-FF22-B503-B9453BC82F7D}"/>
              </a:ext>
            </a:extLst>
          </p:cNvPr>
          <p:cNvSpPr txBox="1"/>
          <p:nvPr/>
        </p:nvSpPr>
        <p:spPr>
          <a:xfrm>
            <a:off x="1656595" y="6461510"/>
            <a:ext cx="928914" cy="230832"/>
          </a:xfrm>
          <a:prstGeom prst="rect">
            <a:avLst/>
          </a:prstGeom>
          <a:noFill/>
        </p:spPr>
        <p:txBody>
          <a:bodyPr wrap="square" rtlCol="0">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graphicFrame>
        <p:nvGraphicFramePr>
          <p:cNvPr id="4" name="Chart 3">
            <a:extLst>
              <a:ext uri="{FF2B5EF4-FFF2-40B4-BE49-F238E27FC236}">
                <a16:creationId xmlns:a16="http://schemas.microsoft.com/office/drawing/2014/main" id="{FF78FFFE-83E4-4EEC-8194-6A98938C4C65}"/>
              </a:ext>
            </a:extLst>
          </p:cNvPr>
          <p:cNvGraphicFramePr>
            <a:graphicFrameLocks/>
          </p:cNvGraphicFramePr>
          <p:nvPr>
            <p:extLst>
              <p:ext uri="{D42A27DB-BD31-4B8C-83A1-F6EECF244321}">
                <p14:modId xmlns:p14="http://schemas.microsoft.com/office/powerpoint/2010/main" val="2085383688"/>
              </p:ext>
            </p:extLst>
          </p:nvPr>
        </p:nvGraphicFramePr>
        <p:xfrm>
          <a:off x="685800" y="2648933"/>
          <a:ext cx="11026818" cy="3915629"/>
        </p:xfrm>
        <a:graphic>
          <a:graphicData uri="http://schemas.openxmlformats.org/drawingml/2006/chart">
            <c:chart xmlns:c="http://schemas.openxmlformats.org/drawingml/2006/chart" xmlns:r="http://schemas.openxmlformats.org/officeDocument/2006/relationships" r:id="rId4"/>
          </a:graphicData>
        </a:graphic>
      </p:graphicFrame>
      <p:sp>
        <p:nvSpPr>
          <p:cNvPr id="6" name="Object6">
            <a:extLst>
              <a:ext uri="{FF2B5EF4-FFF2-40B4-BE49-F238E27FC236}">
                <a16:creationId xmlns:a16="http://schemas.microsoft.com/office/drawing/2014/main" id="{35D8BC2E-2651-0138-7225-394B77AFC6A9}"/>
              </a:ext>
            </a:extLst>
          </p:cNvPr>
          <p:cNvSpPr/>
          <p:nvPr/>
        </p:nvSpPr>
        <p:spPr>
          <a:xfrm>
            <a:off x="547877" y="1438859"/>
            <a:ext cx="3240000" cy="371475"/>
          </a:xfrm>
          <a:prstGeom prst="rect">
            <a:avLst/>
          </a:prstGeom>
          <a:noFill/>
          <a:ln>
            <a:noFill/>
            <a:prstDash val="lgDash"/>
          </a:ln>
        </p:spPr>
        <p:txBody>
          <a:bodyPr wrap="square" lIns="0" tIns="0" rIns="0" bIns="0" rtlCol="0" anchor="t"/>
          <a:lstStyle/>
          <a:p>
            <a:pPr defTabSz="304815">
              <a:lnSpc>
                <a:spcPts val="2925"/>
              </a:lnSpc>
            </a:pPr>
            <a:r>
              <a:rPr lang="en-US" sz="1600" cap="all" dirty="0">
                <a:solidFill>
                  <a:srgbClr val="A9734C"/>
                </a:solidFill>
                <a:latin typeface="Montserrat ExtraBold" pitchFamily="34" charset="0"/>
              </a:rPr>
              <a:t>FUNCTIONAL EXPECTATIONS</a:t>
            </a:r>
          </a:p>
        </p:txBody>
      </p:sp>
      <p:sp>
        <p:nvSpPr>
          <p:cNvPr id="7" name="Object5">
            <a:extLst>
              <a:ext uri="{FF2B5EF4-FFF2-40B4-BE49-F238E27FC236}">
                <a16:creationId xmlns:a16="http://schemas.microsoft.com/office/drawing/2014/main" id="{ACB018C9-C514-B7CE-9F6D-354FD7EC3FC5}"/>
              </a:ext>
            </a:extLst>
          </p:cNvPr>
          <p:cNvSpPr/>
          <p:nvPr/>
        </p:nvSpPr>
        <p:spPr>
          <a:xfrm>
            <a:off x="4295774" y="1499455"/>
            <a:ext cx="7348349" cy="1149478"/>
          </a:xfrm>
          <a:prstGeom prst="rect">
            <a:avLst/>
          </a:prstGeom>
          <a:noFill/>
          <a:ln/>
        </p:spPr>
        <p:txBody>
          <a:bodyPr wrap="square" lIns="0" tIns="0" rIns="0" bIns="0" rtlCol="0" anchor="t"/>
          <a:lstStyle/>
          <a:p>
            <a:pPr algn="l">
              <a:lnSpc>
                <a:spcPts val="2800"/>
              </a:lnSpc>
            </a:pPr>
            <a:r>
              <a:rPr lang="en-US" sz="2000" dirty="0">
                <a:solidFill>
                  <a:srgbClr val="002060"/>
                </a:solidFill>
                <a:latin typeface="Hepta Slab Medium" pitchFamily="2" charset="0"/>
                <a:ea typeface="Hepta Slab Regular" pitchFamily="34" charset="-122"/>
                <a:cs typeface="Hepta Slab Medium" pitchFamily="2" charset="0"/>
              </a:rPr>
              <a:t>While 53% customers seek financial guidance and advice, only 22% see Celesta playing this role for them</a:t>
            </a:r>
          </a:p>
          <a:p>
            <a:pPr algn="l">
              <a:lnSpc>
                <a:spcPts val="2800"/>
              </a:lnSpc>
            </a:pPr>
            <a:r>
              <a:rPr lang="en-US" sz="2000" dirty="0">
                <a:solidFill>
                  <a:srgbClr val="002060"/>
                </a:solidFill>
                <a:latin typeface="Hepta Slab Medium" pitchFamily="2" charset="0"/>
                <a:ea typeface="Hepta Slab Regular" pitchFamily="34" charset="-122"/>
                <a:cs typeface="Hepta Slab Medium" pitchFamily="2" charset="0"/>
              </a:rPr>
              <a:t>Having 3 RM types (PRM, IRM, Equirus RM) creates friction and is a barrier</a:t>
            </a:r>
          </a:p>
        </p:txBody>
      </p:sp>
    </p:spTree>
    <p:extLst>
      <p:ext uri="{BB962C8B-B14F-4D97-AF65-F5344CB8AC3E}">
        <p14:creationId xmlns:p14="http://schemas.microsoft.com/office/powerpoint/2010/main" val="2256851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4BFAA1C9-4899-CCC1-F58B-D7973AB47D5A}"/>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AD98B6D-FF63-EA0B-823F-2BF35FAD713E}"/>
              </a:ext>
            </a:extLst>
          </p:cNvPr>
          <p:cNvGrpSpPr/>
          <p:nvPr/>
        </p:nvGrpSpPr>
        <p:grpSpPr>
          <a:xfrm>
            <a:off x="-61290" y="6053155"/>
            <a:ext cx="12253290" cy="971832"/>
            <a:chOff x="-187799" y="8336784"/>
            <a:chExt cx="18379935" cy="1457748"/>
          </a:xfrm>
        </p:grpSpPr>
        <p:pic>
          <p:nvPicPr>
            <p:cNvPr id="11" name="Picture 10">
              <a:extLst>
                <a:ext uri="{FF2B5EF4-FFF2-40B4-BE49-F238E27FC236}">
                  <a16:creationId xmlns:a16="http://schemas.microsoft.com/office/drawing/2014/main" id="{300CF0D0-5185-705E-BCAD-79211BB89C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2" name="Title 1">
              <a:extLst>
                <a:ext uri="{FF2B5EF4-FFF2-40B4-BE49-F238E27FC236}">
                  <a16:creationId xmlns:a16="http://schemas.microsoft.com/office/drawing/2014/main" id="{CEA257BA-3267-8551-B64F-8C705F0F6FD7}"/>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3" name="Picture 12">
              <a:extLst>
                <a:ext uri="{FF2B5EF4-FFF2-40B4-BE49-F238E27FC236}">
                  <a16:creationId xmlns:a16="http://schemas.microsoft.com/office/drawing/2014/main" id="{58E55830-BD1B-2BAF-B7E7-0E93201F0C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6" name="TextBox 15">
            <a:extLst>
              <a:ext uri="{FF2B5EF4-FFF2-40B4-BE49-F238E27FC236}">
                <a16:creationId xmlns:a16="http://schemas.microsoft.com/office/drawing/2014/main" id="{F25E4192-5B64-0D30-B427-4D187D23DA16}"/>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20</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7" name="Object6">
            <a:extLst>
              <a:ext uri="{FF2B5EF4-FFF2-40B4-BE49-F238E27FC236}">
                <a16:creationId xmlns:a16="http://schemas.microsoft.com/office/drawing/2014/main" id="{F183DCCF-4303-47CC-842F-98C693CF3F22}"/>
              </a:ext>
            </a:extLst>
          </p:cNvPr>
          <p:cNvSpPr/>
          <p:nvPr/>
        </p:nvSpPr>
        <p:spPr>
          <a:xfrm>
            <a:off x="547813" y="1437503"/>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A9734C"/>
                </a:solidFill>
                <a:effectLst/>
                <a:uLnTx/>
                <a:uFillTx/>
                <a:latin typeface="Montserrat ExtraBold" pitchFamily="34" charset="0"/>
                <a:ea typeface="+mn-ea"/>
                <a:cs typeface="+mn-cs"/>
              </a:rPr>
              <a:t>premium banking services - experience</a:t>
            </a:r>
          </a:p>
        </p:txBody>
      </p:sp>
      <p:sp>
        <p:nvSpPr>
          <p:cNvPr id="5" name="TextBox 4">
            <a:extLst>
              <a:ext uri="{FF2B5EF4-FFF2-40B4-BE49-F238E27FC236}">
                <a16:creationId xmlns:a16="http://schemas.microsoft.com/office/drawing/2014/main" id="{F375C7DE-0E8F-9A4F-48C8-8861760194AA}"/>
              </a:ext>
            </a:extLst>
          </p:cNvPr>
          <p:cNvSpPr txBox="1"/>
          <p:nvPr/>
        </p:nvSpPr>
        <p:spPr>
          <a:xfrm>
            <a:off x="8051812" y="6450594"/>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sp>
        <p:nvSpPr>
          <p:cNvPr id="4" name="Object5">
            <a:extLst>
              <a:ext uri="{FF2B5EF4-FFF2-40B4-BE49-F238E27FC236}">
                <a16:creationId xmlns:a16="http://schemas.microsoft.com/office/drawing/2014/main" id="{B26E42E6-F319-5A67-8A12-F7C729F50982}"/>
              </a:ext>
            </a:extLst>
          </p:cNvPr>
          <p:cNvSpPr/>
          <p:nvPr/>
        </p:nvSpPr>
        <p:spPr>
          <a:xfrm>
            <a:off x="6990859" y="1437503"/>
            <a:ext cx="4721759" cy="4287022"/>
          </a:xfrm>
          <a:prstGeom prst="rect">
            <a:avLst/>
          </a:prstGeom>
          <a:noFill/>
          <a:ln/>
        </p:spPr>
        <p:txBody>
          <a:bodyPr wrap="square" lIns="0" tIns="0" rIns="0" bIns="0" rtlCol="0" anchor="t"/>
          <a:lstStyle/>
          <a:p>
            <a:pPr marL="0" marR="0" lvl="0" indent="0" algn="l" defTabSz="914400" rtl="0" eaLnBrk="1" fontAlgn="auto" latinLnBrk="0" hangingPunct="1">
              <a:lnSpc>
                <a:spcPct val="15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Regular statements and reports is the most used feature</a:t>
            </a:r>
          </a:p>
          <a:p>
            <a:pPr marL="0" marR="0" lvl="0" indent="0" algn="l" defTabSz="914400" rtl="0" eaLnBrk="1" fontAlgn="auto" latinLnBrk="0" hangingPunct="1">
              <a:lnSpc>
                <a:spcPct val="15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On an average 60-70% Celesta respondents have experienced premium banking services.</a:t>
            </a:r>
          </a:p>
          <a:p>
            <a:pPr marL="0" marR="0" lvl="0" indent="0" algn="l" defTabSz="914400" rtl="0" eaLnBrk="1" fontAlgn="auto" latinLnBrk="0" hangingPunct="1">
              <a:lnSpc>
                <a:spcPct val="150000"/>
              </a:lnSpc>
              <a:spcBef>
                <a:spcPts val="0"/>
              </a:spcBef>
              <a:spcAft>
                <a:spcPts val="1200"/>
              </a:spcAft>
              <a:buClrTx/>
              <a:buSzTx/>
              <a:buFontTx/>
              <a:buNone/>
              <a:tabLst/>
              <a:defRPr/>
            </a:pPr>
            <a:r>
              <a:rPr lang="en-US" sz="1600" dirty="0">
                <a:solidFill>
                  <a:srgbClr val="A9734C"/>
                </a:solidFill>
                <a:latin typeface="Hepta Slab Medium" pitchFamily="2" charset="0"/>
                <a:ea typeface="Hepta Slab Regular" pitchFamily="34" charset="-122"/>
                <a:cs typeface="Hepta Slab Medium" pitchFamily="2" charset="0"/>
              </a:rPr>
              <a:t>Driving better utilization of services is a low-hanging fruit!</a:t>
            </a:r>
            <a:endPar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endParaRPr>
          </a:p>
        </p:txBody>
      </p:sp>
      <p:sp>
        <p:nvSpPr>
          <p:cNvPr id="2" name="Slide Number Placeholder 4">
            <a:extLst>
              <a:ext uri="{FF2B5EF4-FFF2-40B4-BE49-F238E27FC236}">
                <a16:creationId xmlns:a16="http://schemas.microsoft.com/office/drawing/2014/main" id="{A0CFD21A-DFCF-9DA9-6207-B50A415FEE6C}"/>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graphicFrame>
        <p:nvGraphicFramePr>
          <p:cNvPr id="3" name="Chart 2">
            <a:extLst>
              <a:ext uri="{FF2B5EF4-FFF2-40B4-BE49-F238E27FC236}">
                <a16:creationId xmlns:a16="http://schemas.microsoft.com/office/drawing/2014/main" id="{905CEEBC-55A6-40C5-B556-6E8657CBF9AD}"/>
              </a:ext>
            </a:extLst>
          </p:cNvPr>
          <p:cNvGraphicFramePr>
            <a:graphicFrameLocks/>
          </p:cNvGraphicFramePr>
          <p:nvPr>
            <p:extLst>
              <p:ext uri="{D42A27DB-BD31-4B8C-83A1-F6EECF244321}">
                <p14:modId xmlns:p14="http://schemas.microsoft.com/office/powerpoint/2010/main" val="1637300744"/>
              </p:ext>
            </p:extLst>
          </p:nvPr>
        </p:nvGraphicFramePr>
        <p:xfrm>
          <a:off x="323422" y="2069861"/>
          <a:ext cx="6266064" cy="3763177"/>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a:extLst>
              <a:ext uri="{FF2B5EF4-FFF2-40B4-BE49-F238E27FC236}">
                <a16:creationId xmlns:a16="http://schemas.microsoft.com/office/drawing/2014/main" id="{00B1586E-E152-CE9E-DC44-140FACA0F0DE}"/>
              </a:ext>
            </a:extLst>
          </p:cNvPr>
          <p:cNvSpPr txBox="1"/>
          <p:nvPr/>
        </p:nvSpPr>
        <p:spPr>
          <a:xfrm>
            <a:off x="336001" y="378894"/>
            <a:ext cx="676980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002060"/>
                </a:solidFill>
                <a:latin typeface="Hepta Slab Bold" pitchFamily="2" charset="0"/>
                <a:cs typeface="Hepta Slab Bold" pitchFamily="2" charset="0"/>
              </a:rPr>
              <a:t>W</a:t>
            </a:r>
            <a:r>
              <a:rPr lang="en-IN" sz="3200" dirty="0">
                <a:solidFill>
                  <a:srgbClr val="002060"/>
                </a:solidFill>
                <a:latin typeface="Hepta Slab Bold" pitchFamily="2" charset="0"/>
                <a:cs typeface="Hepta Slab Bold" pitchFamily="2" charset="0"/>
              </a:rPr>
              <a:t>hat Celesta delivers today</a:t>
            </a:r>
            <a:endParaRPr kumimoji="0" lang="en-IN" sz="32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endParaRPr>
          </a:p>
        </p:txBody>
      </p:sp>
    </p:spTree>
    <p:extLst>
      <p:ext uri="{BB962C8B-B14F-4D97-AF65-F5344CB8AC3E}">
        <p14:creationId xmlns:p14="http://schemas.microsoft.com/office/powerpoint/2010/main" val="3417829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A7E333AC-1D0B-1D7B-E9F5-A56F3F22D9B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4744AC2-0C35-9EE0-1494-63C487B71538}"/>
              </a:ext>
            </a:extLst>
          </p:cNvPr>
          <p:cNvSpPr txBox="1"/>
          <p:nvPr/>
        </p:nvSpPr>
        <p:spPr>
          <a:xfrm>
            <a:off x="336001" y="378894"/>
            <a:ext cx="676980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002060"/>
                </a:solidFill>
                <a:latin typeface="Hepta Slab Bold" pitchFamily="2" charset="0"/>
                <a:cs typeface="Hepta Slab Bold" pitchFamily="2" charset="0"/>
              </a:rPr>
              <a:t>W</a:t>
            </a:r>
            <a:r>
              <a:rPr lang="en-IN" sz="3200" dirty="0">
                <a:solidFill>
                  <a:srgbClr val="002060"/>
                </a:solidFill>
                <a:latin typeface="Hepta Slab Bold" pitchFamily="2" charset="0"/>
                <a:cs typeface="Hepta Slab Bold" pitchFamily="2" charset="0"/>
              </a:rPr>
              <a:t>hat Celesta delivers today</a:t>
            </a:r>
            <a:endParaRPr kumimoji="0" lang="en-IN" sz="32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endParaRPr>
          </a:p>
        </p:txBody>
      </p:sp>
      <p:sp>
        <p:nvSpPr>
          <p:cNvPr id="11" name="Slide Number Placeholder 4">
            <a:extLst>
              <a:ext uri="{FF2B5EF4-FFF2-40B4-BE49-F238E27FC236}">
                <a16:creationId xmlns:a16="http://schemas.microsoft.com/office/drawing/2014/main" id="{30FBFED1-8D7D-72E0-CF36-489F597867C2}"/>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
        <p:nvSpPr>
          <p:cNvPr id="17" name="TextBox 16">
            <a:extLst>
              <a:ext uri="{FF2B5EF4-FFF2-40B4-BE49-F238E27FC236}">
                <a16:creationId xmlns:a16="http://schemas.microsoft.com/office/drawing/2014/main" id="{E13476AE-2684-070C-3F94-B1A250998191}"/>
              </a:ext>
            </a:extLst>
          </p:cNvPr>
          <p:cNvSpPr txBox="1"/>
          <p:nvPr/>
        </p:nvSpPr>
        <p:spPr>
          <a:xfrm>
            <a:off x="1656595" y="6461510"/>
            <a:ext cx="928914" cy="230832"/>
          </a:xfrm>
          <a:prstGeom prst="rect">
            <a:avLst/>
          </a:prstGeom>
          <a:noFill/>
        </p:spPr>
        <p:txBody>
          <a:bodyPr wrap="square" rtlCol="0">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sp>
        <p:nvSpPr>
          <p:cNvPr id="6" name="Object6">
            <a:extLst>
              <a:ext uri="{FF2B5EF4-FFF2-40B4-BE49-F238E27FC236}">
                <a16:creationId xmlns:a16="http://schemas.microsoft.com/office/drawing/2014/main" id="{FC7ABABE-8B6A-5B84-CD2F-59DF80AA2ECA}"/>
              </a:ext>
            </a:extLst>
          </p:cNvPr>
          <p:cNvSpPr/>
          <p:nvPr/>
        </p:nvSpPr>
        <p:spPr>
          <a:xfrm>
            <a:off x="547877" y="1438859"/>
            <a:ext cx="3500248" cy="371475"/>
          </a:xfrm>
          <a:prstGeom prst="rect">
            <a:avLst/>
          </a:prstGeom>
          <a:noFill/>
          <a:ln>
            <a:noFill/>
            <a:prstDash val="lgDash"/>
          </a:ln>
        </p:spPr>
        <p:txBody>
          <a:bodyPr wrap="square" lIns="0" tIns="0" rIns="0" bIns="0" rtlCol="0" anchor="t"/>
          <a:lstStyle/>
          <a:p>
            <a:pPr defTabSz="304815">
              <a:lnSpc>
                <a:spcPts val="2925"/>
              </a:lnSpc>
            </a:pPr>
            <a:r>
              <a:rPr lang="en-US" sz="1600" cap="all" dirty="0">
                <a:solidFill>
                  <a:srgbClr val="A9734C"/>
                </a:solidFill>
                <a:latin typeface="Montserrat ExtraBold" pitchFamily="34" charset="0"/>
              </a:rPr>
              <a:t>EXPERIENTIAL EXPECTATIONS</a:t>
            </a:r>
          </a:p>
        </p:txBody>
      </p:sp>
      <p:sp>
        <p:nvSpPr>
          <p:cNvPr id="7" name="Object5">
            <a:extLst>
              <a:ext uri="{FF2B5EF4-FFF2-40B4-BE49-F238E27FC236}">
                <a16:creationId xmlns:a16="http://schemas.microsoft.com/office/drawing/2014/main" id="{E40FA929-1B51-32E4-AB34-94FECC5899C0}"/>
              </a:ext>
            </a:extLst>
          </p:cNvPr>
          <p:cNvSpPr/>
          <p:nvPr/>
        </p:nvSpPr>
        <p:spPr>
          <a:xfrm>
            <a:off x="6905625" y="1624596"/>
            <a:ext cx="4738498" cy="2462946"/>
          </a:xfrm>
          <a:prstGeom prst="rect">
            <a:avLst/>
          </a:prstGeom>
          <a:noFill/>
          <a:ln/>
        </p:spPr>
        <p:txBody>
          <a:bodyPr wrap="square" lIns="0" tIns="0" rIns="0" bIns="0" rtlCol="0" anchor="t"/>
          <a:lstStyle/>
          <a:p>
            <a:pPr algn="l">
              <a:lnSpc>
                <a:spcPts val="2800"/>
              </a:lnSpc>
              <a:spcAft>
                <a:spcPts val="1200"/>
              </a:spcAft>
            </a:pPr>
            <a:r>
              <a:rPr lang="en-US" dirty="0">
                <a:solidFill>
                  <a:srgbClr val="002060"/>
                </a:solidFill>
                <a:latin typeface="Hepta Slab Medium" pitchFamily="2" charset="0"/>
                <a:ea typeface="Hepta Slab Regular" pitchFamily="34" charset="-122"/>
                <a:cs typeface="Hepta Slab Medium" pitchFamily="2" charset="0"/>
              </a:rPr>
              <a:t>Less than 50% Celesta respondents consider the non-banking lifestyle benefits to be best in class</a:t>
            </a:r>
          </a:p>
          <a:p>
            <a:pPr algn="l">
              <a:lnSpc>
                <a:spcPts val="2800"/>
              </a:lnSpc>
            </a:pPr>
            <a:r>
              <a:rPr lang="en-US" dirty="0">
                <a:solidFill>
                  <a:srgbClr val="E97132"/>
                </a:solidFill>
                <a:latin typeface="Hepta Slab SemiBold" pitchFamily="2" charset="0"/>
                <a:ea typeface="Hepta Slab Regular" pitchFamily="34" charset="-122"/>
                <a:cs typeface="Hepta Slab SemiBold" pitchFamily="2" charset="0"/>
              </a:rPr>
              <a:t>~30% prefer competition programs</a:t>
            </a:r>
          </a:p>
        </p:txBody>
      </p:sp>
      <p:graphicFrame>
        <p:nvGraphicFramePr>
          <p:cNvPr id="5" name="Chart 4">
            <a:extLst>
              <a:ext uri="{FF2B5EF4-FFF2-40B4-BE49-F238E27FC236}">
                <a16:creationId xmlns:a16="http://schemas.microsoft.com/office/drawing/2014/main" id="{372840C9-CC9B-479B-8C93-FEA06939C65A}"/>
              </a:ext>
            </a:extLst>
          </p:cNvPr>
          <p:cNvGraphicFramePr>
            <a:graphicFrameLocks/>
          </p:cNvGraphicFramePr>
          <p:nvPr>
            <p:extLst>
              <p:ext uri="{D42A27DB-BD31-4B8C-83A1-F6EECF244321}">
                <p14:modId xmlns:p14="http://schemas.microsoft.com/office/powerpoint/2010/main" val="2333832048"/>
              </p:ext>
            </p:extLst>
          </p:nvPr>
        </p:nvGraphicFramePr>
        <p:xfrm>
          <a:off x="547877" y="2283794"/>
          <a:ext cx="5821036" cy="360749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09209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5FA5264D-0F0C-02D3-2A88-4243B691CB72}"/>
            </a:ext>
          </a:extLst>
        </p:cNvPr>
        <p:cNvGrpSpPr/>
        <p:nvPr/>
      </p:nvGrpSpPr>
      <p:grpSpPr>
        <a:xfrm>
          <a:off x="0" y="0"/>
          <a:ext cx="0" cy="0"/>
          <a:chOff x="0" y="0"/>
          <a:chExt cx="0" cy="0"/>
        </a:xfrm>
      </p:grpSpPr>
      <p:sp>
        <p:nvSpPr>
          <p:cNvPr id="16" name="Object6">
            <a:extLst>
              <a:ext uri="{FF2B5EF4-FFF2-40B4-BE49-F238E27FC236}">
                <a16:creationId xmlns:a16="http://schemas.microsoft.com/office/drawing/2014/main" id="{964D3B75-D137-B4E6-0DEA-E9C0660D9B26}"/>
              </a:ext>
            </a:extLst>
          </p:cNvPr>
          <p:cNvSpPr/>
          <p:nvPr/>
        </p:nvSpPr>
        <p:spPr>
          <a:xfrm>
            <a:off x="1762125" y="390690"/>
            <a:ext cx="9220200" cy="731307"/>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3975"/>
                </a:solidFill>
                <a:effectLst/>
                <a:uLnTx/>
                <a:uFillTx/>
                <a:latin typeface="Montserrat ExtraBold" pitchFamily="34" charset="0"/>
                <a:ea typeface="+mn-ea"/>
                <a:cs typeface="+mn-cs"/>
              </a:rPr>
              <a:t>EMOTION INSIGHTS</a:t>
            </a:r>
          </a:p>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3975"/>
                </a:solidFill>
                <a:effectLst/>
                <a:uLnTx/>
                <a:uFillTx/>
                <a:latin typeface="Montserrat ExtraBold" pitchFamily="34" charset="0"/>
                <a:ea typeface="+mn-ea"/>
                <a:cs typeface="+mn-cs"/>
              </a:rPr>
              <a:t>Emotions that drive engagement for CELESTA TODAY</a:t>
            </a:r>
            <a:endParaRPr kumimoji="0" lang="en-US" sz="1600" b="0" i="0" u="none" strike="noStrike" kern="1200" cap="all" spc="0" normalizeH="0" baseline="0" noProof="0" dirty="0">
              <a:ln>
                <a:noFill/>
              </a:ln>
              <a:solidFill>
                <a:srgbClr val="003975"/>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763E009E-3AB3-9705-4FDC-B1A46770859B}"/>
              </a:ext>
            </a:extLst>
          </p:cNvPr>
          <p:cNvGrpSpPr/>
          <p:nvPr/>
        </p:nvGrpSpPr>
        <p:grpSpPr>
          <a:xfrm>
            <a:off x="-61290" y="6053155"/>
            <a:ext cx="12253290" cy="971832"/>
            <a:chOff x="-187799" y="8336784"/>
            <a:chExt cx="18379935" cy="1457748"/>
          </a:xfrm>
        </p:grpSpPr>
        <p:pic>
          <p:nvPicPr>
            <p:cNvPr id="18" name="Picture 17">
              <a:extLst>
                <a:ext uri="{FF2B5EF4-FFF2-40B4-BE49-F238E27FC236}">
                  <a16:creationId xmlns:a16="http://schemas.microsoft.com/office/drawing/2014/main" id="{5E6673B6-7903-C492-6B6D-E3642D01AC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9" name="Title 1">
              <a:extLst>
                <a:ext uri="{FF2B5EF4-FFF2-40B4-BE49-F238E27FC236}">
                  <a16:creationId xmlns:a16="http://schemas.microsoft.com/office/drawing/2014/main" id="{6BE344EA-BA7C-804F-8606-65B5B2BD63E0}"/>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0" name="Picture 19">
              <a:extLst>
                <a:ext uri="{FF2B5EF4-FFF2-40B4-BE49-F238E27FC236}">
                  <a16:creationId xmlns:a16="http://schemas.microsoft.com/office/drawing/2014/main" id="{DF49ED6A-4D69-D25F-F073-50A83E9089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8" name="TextBox 7">
            <a:extLst>
              <a:ext uri="{FF2B5EF4-FFF2-40B4-BE49-F238E27FC236}">
                <a16:creationId xmlns:a16="http://schemas.microsoft.com/office/drawing/2014/main" id="{04A8B578-BC04-653F-432F-29DE7ECD1AA3}"/>
              </a:ext>
            </a:extLst>
          </p:cNvPr>
          <p:cNvSpPr txBox="1"/>
          <p:nvPr/>
        </p:nvSpPr>
        <p:spPr>
          <a:xfrm>
            <a:off x="9948987" y="6482271"/>
            <a:ext cx="1033338"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E7E6E6">
                    <a:lumMod val="75000"/>
                  </a:srgbClr>
                </a:solidFill>
                <a:effectLst/>
                <a:uLnTx/>
                <a:uFillTx/>
                <a:latin typeface="Montserrat Light" panose="00000400000000000000" pitchFamily="2" charset="0"/>
                <a:ea typeface="+mn-ea"/>
                <a:cs typeface="+mn-cs"/>
              </a:rPr>
              <a:t>n= 165</a:t>
            </a:r>
            <a:endParaRPr kumimoji="0" lang="en-IN" sz="1050" b="0" i="0" u="none" strike="noStrike" kern="1200" cap="none" spc="0" normalizeH="0" baseline="0" noProof="0" dirty="0">
              <a:ln>
                <a:noFill/>
              </a:ln>
              <a:solidFill>
                <a:srgbClr val="E7E6E6">
                  <a:lumMod val="75000"/>
                </a:srgbClr>
              </a:solidFill>
              <a:effectLst/>
              <a:uLnTx/>
              <a:uFillTx/>
              <a:latin typeface="Montserrat Light" panose="00000400000000000000" pitchFamily="2" charset="0"/>
              <a:ea typeface="+mn-ea"/>
              <a:cs typeface="+mn-cs"/>
            </a:endParaRPr>
          </a:p>
        </p:txBody>
      </p:sp>
      <p:sp>
        <p:nvSpPr>
          <p:cNvPr id="3" name="Slide Number Placeholder 4">
            <a:extLst>
              <a:ext uri="{FF2B5EF4-FFF2-40B4-BE49-F238E27FC236}">
                <a16:creationId xmlns:a16="http://schemas.microsoft.com/office/drawing/2014/main" id="{FB7DA343-101D-0DF6-399F-DA177CE897A3}"/>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pic>
        <p:nvPicPr>
          <p:cNvPr id="5" name="Picture 4" descr="A blue brain with a blue background&#10;&#10;Description automatically generated">
            <a:extLst>
              <a:ext uri="{FF2B5EF4-FFF2-40B4-BE49-F238E27FC236}">
                <a16:creationId xmlns:a16="http://schemas.microsoft.com/office/drawing/2014/main" id="{5D89067E-507D-7269-6465-CD5273073136}"/>
              </a:ext>
            </a:extLst>
          </p:cNvPr>
          <p:cNvPicPr>
            <a:picLocks noChangeAspect="1"/>
          </p:cNvPicPr>
          <p:nvPr/>
        </p:nvPicPr>
        <p:blipFill>
          <a:blip r:embed="rId5" cstate="print">
            <a:extLst>
              <a:ext uri="{28A0092B-C50C-407E-A947-70E740481C1C}">
                <a14:useLocalDpi xmlns:a14="http://schemas.microsoft.com/office/drawing/2010/main" val="0"/>
              </a:ext>
            </a:extLst>
          </a:blip>
          <a:srcRect l="24683" r="24684"/>
          <a:stretch/>
        </p:blipFill>
        <p:spPr>
          <a:xfrm>
            <a:off x="457200" y="365124"/>
            <a:ext cx="914402" cy="8458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2" name="Object6">
            <a:extLst>
              <a:ext uri="{FF2B5EF4-FFF2-40B4-BE49-F238E27FC236}">
                <a16:creationId xmlns:a16="http://schemas.microsoft.com/office/drawing/2014/main" id="{D86EE0AC-BAA9-4861-5CF4-61B58E624F72}"/>
              </a:ext>
            </a:extLst>
          </p:cNvPr>
          <p:cNvSpPr/>
          <p:nvPr/>
        </p:nvSpPr>
        <p:spPr>
          <a:xfrm>
            <a:off x="8229600" y="1480862"/>
            <a:ext cx="259080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endParaRPr kumimoji="0" lang="en-US" sz="1600" b="0" i="0" u="none" strike="noStrike" kern="1200" cap="all" spc="0" normalizeH="0" baseline="0" noProof="0" dirty="0">
              <a:ln>
                <a:noFill/>
              </a:ln>
              <a:solidFill>
                <a:srgbClr val="003975"/>
              </a:solidFill>
              <a:effectLst/>
              <a:uLnTx/>
              <a:uFillTx/>
              <a:latin typeface="Calibri" panose="020F0502020204030204"/>
              <a:ea typeface="+mn-ea"/>
              <a:cs typeface="+mn-cs"/>
            </a:endParaRPr>
          </a:p>
        </p:txBody>
      </p:sp>
      <p:sp>
        <p:nvSpPr>
          <p:cNvPr id="34" name="Object5">
            <a:extLst>
              <a:ext uri="{FF2B5EF4-FFF2-40B4-BE49-F238E27FC236}">
                <a16:creationId xmlns:a16="http://schemas.microsoft.com/office/drawing/2014/main" id="{268931F3-370E-20CD-C7B0-6865D81DFCC4}"/>
              </a:ext>
            </a:extLst>
          </p:cNvPr>
          <p:cNvSpPr/>
          <p:nvPr/>
        </p:nvSpPr>
        <p:spPr>
          <a:xfrm>
            <a:off x="1762125" y="1101021"/>
            <a:ext cx="8186862" cy="310225"/>
          </a:xfrm>
          <a:prstGeom prst="rect">
            <a:avLst/>
          </a:prstGeom>
          <a:noFill/>
          <a:ln/>
        </p:spPr>
        <p:txBody>
          <a:bodyPr wrap="square" lIns="0" tIns="0" rIns="0" bIns="0" rtlCol="0" anchor="t"/>
          <a:lstStyle/>
          <a:p>
            <a:pPr algn="l"/>
            <a:r>
              <a:rPr lang="en-US" dirty="0">
                <a:solidFill>
                  <a:srgbClr val="A9734C"/>
                </a:solidFill>
                <a:latin typeface="Hepta Slab Medium" pitchFamily="2" charset="0"/>
                <a:ea typeface="Hepta Slab Regular" pitchFamily="34" charset="-122"/>
                <a:cs typeface="Hepta Slab Medium" pitchFamily="2" charset="0"/>
              </a:rPr>
              <a:t>Emotional associations exhibited by current Celesta customers</a:t>
            </a:r>
            <a:endParaRPr lang="en-US" dirty="0">
              <a:solidFill>
                <a:srgbClr val="A9734C"/>
              </a:solidFill>
              <a:latin typeface="Hepta Slab SemiBold" pitchFamily="2" charset="0"/>
              <a:ea typeface="Hepta Slab Regular" pitchFamily="34" charset="-122"/>
              <a:cs typeface="Hepta Slab SemiBold" pitchFamily="2" charset="0"/>
            </a:endParaRPr>
          </a:p>
        </p:txBody>
      </p:sp>
      <p:sp>
        <p:nvSpPr>
          <p:cNvPr id="35" name="Object5">
            <a:extLst>
              <a:ext uri="{FF2B5EF4-FFF2-40B4-BE49-F238E27FC236}">
                <a16:creationId xmlns:a16="http://schemas.microsoft.com/office/drawing/2014/main" id="{89F7686D-BBE7-F14B-081C-85BF338A6FE4}"/>
              </a:ext>
            </a:extLst>
          </p:cNvPr>
          <p:cNvSpPr/>
          <p:nvPr/>
        </p:nvSpPr>
        <p:spPr>
          <a:xfrm>
            <a:off x="1790700" y="2196448"/>
            <a:ext cx="9460871" cy="3632925"/>
          </a:xfrm>
          <a:prstGeom prst="rect">
            <a:avLst/>
          </a:prstGeom>
          <a:noFill/>
          <a:ln/>
        </p:spPr>
        <p:txBody>
          <a:bodyPr wrap="square" lIns="0" tIns="0" rIns="0" bIns="0" rtlCol="0" anchor="t"/>
          <a:lstStyle/>
          <a:p>
            <a:pPr algn="l">
              <a:lnSpc>
                <a:spcPts val="2400"/>
              </a:lnSpc>
              <a:spcAft>
                <a:spcPts val="800"/>
              </a:spcAft>
            </a:pPr>
            <a:r>
              <a:rPr lang="en-US" sz="1600" dirty="0">
                <a:solidFill>
                  <a:srgbClr val="002060"/>
                </a:solidFill>
                <a:latin typeface="Hepta Slab Medium" pitchFamily="2" charset="0"/>
                <a:ea typeface="Hepta Slab Regular" pitchFamily="34" charset="-122"/>
                <a:cs typeface="Hepta Slab Medium" pitchFamily="2" charset="0"/>
              </a:rPr>
              <a:t>Customers see “</a:t>
            </a:r>
            <a:r>
              <a:rPr lang="en-US" sz="1600" dirty="0">
                <a:solidFill>
                  <a:srgbClr val="002060"/>
                </a:solidFill>
                <a:latin typeface="Hepta Slab SemiBold" pitchFamily="2" charset="0"/>
                <a:ea typeface="Hepta Slab Regular" pitchFamily="34" charset="-122"/>
                <a:cs typeface="Hepta Slab SemiBold" pitchFamily="2" charset="0"/>
              </a:rPr>
              <a:t>Prestige</a:t>
            </a:r>
            <a:r>
              <a:rPr lang="en-US" sz="1600" dirty="0">
                <a:solidFill>
                  <a:srgbClr val="002060"/>
                </a:solidFill>
                <a:latin typeface="Hepta Slab Medium" pitchFamily="2" charset="0"/>
                <a:ea typeface="Hepta Slab Regular" pitchFamily="34" charset="-122"/>
                <a:cs typeface="Hepta Slab Medium" pitchFamily="2" charset="0"/>
              </a:rPr>
              <a:t>”, “</a:t>
            </a:r>
            <a:r>
              <a:rPr lang="en-US" sz="1600" dirty="0">
                <a:solidFill>
                  <a:srgbClr val="002060"/>
                </a:solidFill>
                <a:latin typeface="Hepta Slab SemiBold" pitchFamily="2" charset="0"/>
                <a:ea typeface="Hepta Slab Regular" pitchFamily="34" charset="-122"/>
                <a:cs typeface="Hepta Slab SemiBold" pitchFamily="2" charset="0"/>
              </a:rPr>
              <a:t>Assurance</a:t>
            </a:r>
            <a:r>
              <a:rPr lang="en-US" sz="1600" dirty="0">
                <a:solidFill>
                  <a:srgbClr val="002060"/>
                </a:solidFill>
                <a:latin typeface="Hepta Slab Medium" pitchFamily="2" charset="0"/>
                <a:ea typeface="Hepta Slab Regular" pitchFamily="34" charset="-122"/>
                <a:cs typeface="Hepta Slab Medium" pitchFamily="2" charset="0"/>
              </a:rPr>
              <a:t>”, “</a:t>
            </a:r>
            <a:r>
              <a:rPr lang="en-US" sz="1600" dirty="0">
                <a:solidFill>
                  <a:srgbClr val="002060"/>
                </a:solidFill>
                <a:latin typeface="Hepta Slab SemiBold" pitchFamily="2" charset="0"/>
                <a:ea typeface="Hepta Slab Regular" pitchFamily="34" charset="-122"/>
                <a:cs typeface="Hepta Slab SemiBold" pitchFamily="2" charset="0"/>
              </a:rPr>
              <a:t>Innovative</a:t>
            </a:r>
            <a:r>
              <a:rPr lang="en-US" sz="1600" dirty="0">
                <a:solidFill>
                  <a:srgbClr val="002060"/>
                </a:solidFill>
                <a:latin typeface="Hepta Slab Medium" pitchFamily="2" charset="0"/>
                <a:ea typeface="Hepta Slab Regular" pitchFamily="34" charset="-122"/>
                <a:cs typeface="Hepta Slab Medium" pitchFamily="2" charset="0"/>
              </a:rPr>
              <a:t>” &amp; “</a:t>
            </a:r>
            <a:r>
              <a:rPr lang="en-US" sz="1600" dirty="0">
                <a:solidFill>
                  <a:srgbClr val="002060"/>
                </a:solidFill>
                <a:latin typeface="Hepta Slab SemiBold" pitchFamily="2" charset="0"/>
                <a:ea typeface="Hepta Slab Regular" pitchFamily="34" charset="-122"/>
                <a:cs typeface="Hepta Slab SemiBold" pitchFamily="2" charset="0"/>
              </a:rPr>
              <a:t>Relevant</a:t>
            </a:r>
            <a:r>
              <a:rPr lang="en-US" sz="1600" dirty="0">
                <a:solidFill>
                  <a:srgbClr val="002060"/>
                </a:solidFill>
                <a:latin typeface="Hepta Slab Medium" pitchFamily="2" charset="0"/>
                <a:ea typeface="Hepta Slab Regular" pitchFamily="34" charset="-122"/>
                <a:cs typeface="Hepta Slab Medium" pitchFamily="2" charset="0"/>
              </a:rPr>
              <a:t>” as the defining attributes for Celesta. </a:t>
            </a:r>
          </a:p>
          <a:p>
            <a:pPr algn="l">
              <a:lnSpc>
                <a:spcPts val="2400"/>
              </a:lnSpc>
              <a:spcAft>
                <a:spcPts val="800"/>
              </a:spcAft>
            </a:pPr>
            <a:r>
              <a:rPr lang="en-US" sz="1600" dirty="0">
                <a:solidFill>
                  <a:srgbClr val="002060"/>
                </a:solidFill>
                <a:latin typeface="Hepta Slab Medium" pitchFamily="2" charset="0"/>
                <a:ea typeface="Hepta Slab Regular" pitchFamily="34" charset="-122"/>
                <a:cs typeface="Hepta Slab Medium" pitchFamily="2" charset="0"/>
              </a:rPr>
              <a:t>Celesta overall is also not seen as “</a:t>
            </a:r>
            <a:r>
              <a:rPr lang="en-US" sz="1600" dirty="0">
                <a:solidFill>
                  <a:srgbClr val="002060"/>
                </a:solidFill>
                <a:latin typeface="Hepta Slab SemiBold" pitchFamily="2" charset="0"/>
                <a:ea typeface="Hepta Slab Regular" pitchFamily="34" charset="-122"/>
                <a:cs typeface="Hepta Slab SemiBold" pitchFamily="2" charset="0"/>
              </a:rPr>
              <a:t>Stressful</a:t>
            </a:r>
            <a:r>
              <a:rPr lang="en-US" sz="1600" dirty="0">
                <a:solidFill>
                  <a:srgbClr val="002060"/>
                </a:solidFill>
                <a:latin typeface="Hepta Slab Medium" pitchFamily="2" charset="0"/>
                <a:ea typeface="Hepta Slab Regular" pitchFamily="34" charset="-122"/>
                <a:cs typeface="Hepta Slab Medium" pitchFamily="2" charset="0"/>
              </a:rPr>
              <a:t>”. </a:t>
            </a:r>
          </a:p>
          <a:p>
            <a:pPr algn="l">
              <a:lnSpc>
                <a:spcPts val="2400"/>
              </a:lnSpc>
              <a:spcAft>
                <a:spcPts val="800"/>
              </a:spcAft>
            </a:pPr>
            <a:r>
              <a:rPr lang="en-US" sz="1600" dirty="0">
                <a:solidFill>
                  <a:srgbClr val="A9734C"/>
                </a:solidFill>
                <a:latin typeface="Hepta Slab Medium" pitchFamily="2" charset="0"/>
                <a:ea typeface="Hepta Slab Regular" pitchFamily="34" charset="-122"/>
                <a:cs typeface="Hepta Slab Medium" pitchFamily="2" charset="0"/>
              </a:rPr>
              <a:t>Customers do not see Exclusivity, Financial growth, Convenience as strong attributes for Celesta. </a:t>
            </a:r>
          </a:p>
          <a:p>
            <a:pPr algn="l">
              <a:lnSpc>
                <a:spcPts val="2400"/>
              </a:lnSpc>
              <a:spcAft>
                <a:spcPts val="800"/>
              </a:spcAft>
            </a:pPr>
            <a:r>
              <a:rPr lang="en-US" sz="1600" dirty="0">
                <a:solidFill>
                  <a:srgbClr val="002060"/>
                </a:solidFill>
                <a:latin typeface="Hepta Slab Medium" pitchFamily="2" charset="0"/>
                <a:ea typeface="Hepta Slab Regular" pitchFamily="34" charset="-122"/>
                <a:cs typeface="Hepta Slab Medium" pitchFamily="2" charset="0"/>
              </a:rPr>
              <a:t>As a result, they do not perceive Celesta to be playing a role in their “</a:t>
            </a:r>
            <a:r>
              <a:rPr lang="en-US" sz="1600" dirty="0">
                <a:solidFill>
                  <a:srgbClr val="002060"/>
                </a:solidFill>
                <a:latin typeface="Hepta Slab SemiBold" pitchFamily="2" charset="0"/>
                <a:ea typeface="Hepta Slab Regular" pitchFamily="34" charset="-122"/>
                <a:cs typeface="Hepta Slab SemiBold" pitchFamily="2" charset="0"/>
              </a:rPr>
              <a:t>Life Goals</a:t>
            </a:r>
            <a:r>
              <a:rPr lang="en-US" sz="1600" dirty="0">
                <a:solidFill>
                  <a:srgbClr val="002060"/>
                </a:solidFill>
                <a:latin typeface="Hepta Slab Medium" pitchFamily="2" charset="0"/>
                <a:ea typeface="Hepta Slab Regular" pitchFamily="34" charset="-122"/>
                <a:cs typeface="Hepta Slab Medium" pitchFamily="2" charset="0"/>
              </a:rPr>
              <a:t>”.</a:t>
            </a:r>
          </a:p>
          <a:p>
            <a:pPr algn="l">
              <a:lnSpc>
                <a:spcPts val="2400"/>
              </a:lnSpc>
              <a:spcAft>
                <a:spcPts val="1200"/>
              </a:spcAft>
            </a:pPr>
            <a:r>
              <a:rPr lang="en-US" sz="1600" dirty="0">
                <a:solidFill>
                  <a:srgbClr val="A9734C"/>
                </a:solidFill>
                <a:latin typeface="Hepta Slab Medium" pitchFamily="2" charset="0"/>
                <a:ea typeface="Hepta Slab Regular" pitchFamily="34" charset="-122"/>
                <a:cs typeface="Hepta Slab Medium" pitchFamily="2" charset="0"/>
              </a:rPr>
              <a:t>This combined with a negative association with personalization also leads the customers to perceive Celesta as moderately “</a:t>
            </a:r>
            <a:r>
              <a:rPr lang="en-US" sz="1600" dirty="0">
                <a:solidFill>
                  <a:srgbClr val="A9734C"/>
                </a:solidFill>
                <a:latin typeface="Hepta Slab SemiBold" pitchFamily="2" charset="0"/>
                <a:ea typeface="Hepta Slab Regular" pitchFamily="34" charset="-122"/>
                <a:cs typeface="Hepta Slab SemiBold" pitchFamily="2" charset="0"/>
              </a:rPr>
              <a:t>Intrusive</a:t>
            </a:r>
            <a:r>
              <a:rPr lang="en-US" sz="1600" dirty="0">
                <a:solidFill>
                  <a:srgbClr val="A9734C"/>
                </a:solidFill>
                <a:latin typeface="Hepta Slab Medium" pitchFamily="2" charset="0"/>
                <a:ea typeface="Hepta Slab Regular" pitchFamily="34" charset="-122"/>
                <a:cs typeface="Hepta Slab Medium" pitchFamily="2" charset="0"/>
              </a:rPr>
              <a:t>” </a:t>
            </a:r>
          </a:p>
          <a:p>
            <a:pPr algn="l">
              <a:lnSpc>
                <a:spcPts val="2400"/>
              </a:lnSpc>
              <a:spcAft>
                <a:spcPts val="1200"/>
              </a:spcAft>
            </a:pPr>
            <a:r>
              <a:rPr lang="en-US" sz="1600" dirty="0">
                <a:solidFill>
                  <a:srgbClr val="A9734C"/>
                </a:solidFill>
                <a:latin typeface="Hepta Slab Medium" pitchFamily="2" charset="0"/>
                <a:ea typeface="Hepta Slab Regular" pitchFamily="34" charset="-122"/>
                <a:cs typeface="Hepta Slab Medium" pitchFamily="2" charset="0"/>
              </a:rPr>
              <a:t>For the association strength table – please see slide &lt;&gt; in annexures</a:t>
            </a:r>
          </a:p>
        </p:txBody>
      </p:sp>
    </p:spTree>
    <p:extLst>
      <p:ext uri="{BB962C8B-B14F-4D97-AF65-F5344CB8AC3E}">
        <p14:creationId xmlns:p14="http://schemas.microsoft.com/office/powerpoint/2010/main" val="2109476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3" name="Object6">
            <a:extLst>
              <a:ext uri="{FF2B5EF4-FFF2-40B4-BE49-F238E27FC236}">
                <a16:creationId xmlns:a16="http://schemas.microsoft.com/office/drawing/2014/main" id="{BE23F146-A9C8-72BE-9EEC-D07B2661C4DD}"/>
              </a:ext>
            </a:extLst>
          </p:cNvPr>
          <p:cNvSpPr/>
          <p:nvPr/>
        </p:nvSpPr>
        <p:spPr>
          <a:xfrm>
            <a:off x="512667" y="454066"/>
            <a:ext cx="8334059"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Hepta Slab Bold" pitchFamily="34" charset="0"/>
                <a:ea typeface="+mn-ea"/>
                <a:cs typeface="Hepta Slab Bold" pitchFamily="34" charset="-120"/>
              </a:rPr>
              <a:t>Strength of word-of-mouth</a:t>
            </a:r>
          </a:p>
        </p:txBody>
      </p:sp>
      <p:grpSp>
        <p:nvGrpSpPr>
          <p:cNvPr id="18" name="Group 17">
            <a:extLst>
              <a:ext uri="{FF2B5EF4-FFF2-40B4-BE49-F238E27FC236}">
                <a16:creationId xmlns:a16="http://schemas.microsoft.com/office/drawing/2014/main" id="{56A38E58-9022-1EA9-638E-FE83053C78B4}"/>
              </a:ext>
            </a:extLst>
          </p:cNvPr>
          <p:cNvGrpSpPr/>
          <p:nvPr/>
        </p:nvGrpSpPr>
        <p:grpSpPr>
          <a:xfrm>
            <a:off x="-364794" y="6164637"/>
            <a:ext cx="12253290" cy="971832"/>
            <a:chOff x="-187799" y="8336784"/>
            <a:chExt cx="18379935" cy="1457748"/>
          </a:xfrm>
        </p:grpSpPr>
        <p:pic>
          <p:nvPicPr>
            <p:cNvPr id="19" name="Picture 18">
              <a:extLst>
                <a:ext uri="{FF2B5EF4-FFF2-40B4-BE49-F238E27FC236}">
                  <a16:creationId xmlns:a16="http://schemas.microsoft.com/office/drawing/2014/main" id="{14002021-97FF-65E2-4086-E2AF4A21B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0" name="Title 1">
              <a:extLst>
                <a:ext uri="{FF2B5EF4-FFF2-40B4-BE49-F238E27FC236}">
                  <a16:creationId xmlns:a16="http://schemas.microsoft.com/office/drawing/2014/main" id="{7BE28C4D-1A7A-1452-DD8D-170416DA2CD0}"/>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1" name="Picture 20">
              <a:extLst>
                <a:ext uri="{FF2B5EF4-FFF2-40B4-BE49-F238E27FC236}">
                  <a16:creationId xmlns:a16="http://schemas.microsoft.com/office/drawing/2014/main" id="{10E6E687-3DEA-7F2D-643F-503717E34F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5" name="TextBox 14">
            <a:extLst>
              <a:ext uri="{FF2B5EF4-FFF2-40B4-BE49-F238E27FC236}">
                <a16:creationId xmlns:a16="http://schemas.microsoft.com/office/drawing/2014/main" id="{61E21FBC-7B65-F630-02FF-6FD3BB6234F3}"/>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23</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29" name="TextBox 28">
            <a:extLst>
              <a:ext uri="{FF2B5EF4-FFF2-40B4-BE49-F238E27FC236}">
                <a16:creationId xmlns:a16="http://schemas.microsoft.com/office/drawing/2014/main" id="{25454482-0CCC-CDEC-6677-ED404999CEA0}"/>
              </a:ext>
            </a:extLst>
          </p:cNvPr>
          <p:cNvSpPr txBox="1"/>
          <p:nvPr/>
        </p:nvSpPr>
        <p:spPr>
          <a:xfrm>
            <a:off x="1640949" y="6493409"/>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sp>
        <p:nvSpPr>
          <p:cNvPr id="3" name="Object5">
            <a:extLst>
              <a:ext uri="{FF2B5EF4-FFF2-40B4-BE49-F238E27FC236}">
                <a16:creationId xmlns:a16="http://schemas.microsoft.com/office/drawing/2014/main" id="{858BC2D7-2ED2-6483-2F93-ABA718302A12}"/>
              </a:ext>
            </a:extLst>
          </p:cNvPr>
          <p:cNvSpPr/>
          <p:nvPr/>
        </p:nvSpPr>
        <p:spPr>
          <a:xfrm>
            <a:off x="7239755" y="1683578"/>
            <a:ext cx="4616245" cy="4371160"/>
          </a:xfrm>
          <a:prstGeom prst="rect">
            <a:avLst/>
          </a:prstGeom>
          <a:noFill/>
          <a:ln/>
        </p:spPr>
        <p:txBody>
          <a:bodyPr wrap="square" lIns="0" tIns="0" rIns="0" bIns="0" rtlCol="0" anchor="t"/>
          <a:lstStyle/>
          <a:p>
            <a:pPr marL="0" marR="0" lvl="0" indent="0" algn="l" defTabSz="304815" rtl="0" eaLnBrk="1" fontAlgn="auto" latinLnBrk="0" hangingPunct="1">
              <a:lnSpc>
                <a:spcPct val="150000"/>
              </a:lnSpc>
              <a:spcBef>
                <a:spcPts val="0"/>
              </a:spcBef>
              <a:spcAft>
                <a:spcPts val="1200"/>
              </a:spcAft>
              <a:buClr>
                <a:srgbClr val="FFC000"/>
              </a:buClr>
              <a:buSzTx/>
              <a:buFontTx/>
              <a:buNone/>
              <a:tabLst/>
              <a:defRPr/>
            </a:pPr>
            <a:r>
              <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“Word-of-mouth” is strong influencer of “choice” in the affluent category</a:t>
            </a:r>
          </a:p>
          <a:p>
            <a:pPr marL="0" marR="0" lvl="0" indent="0" algn="l" defTabSz="304815" rtl="0" eaLnBrk="1" fontAlgn="auto" latinLnBrk="0" hangingPunct="1">
              <a:lnSpc>
                <a:spcPct val="150000"/>
              </a:lnSpc>
              <a:spcBef>
                <a:spcPts val="0"/>
              </a:spcBef>
              <a:spcAft>
                <a:spcPts val="1200"/>
              </a:spcAft>
              <a:buClr>
                <a:srgbClr val="FFC000"/>
              </a:buClr>
              <a:buSzTx/>
              <a:buFontTx/>
              <a:buNone/>
              <a:tabLst/>
              <a:defRPr/>
            </a:pPr>
            <a:r>
              <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Current Celesta Customer Engagement, though robust, is driven by transactional attributes.  </a:t>
            </a:r>
          </a:p>
          <a:p>
            <a:pPr marL="0" marR="0" lvl="0" indent="0" algn="l" defTabSz="304815" rtl="0" eaLnBrk="1" fontAlgn="auto" latinLnBrk="0" hangingPunct="1">
              <a:lnSpc>
                <a:spcPct val="150000"/>
              </a:lnSpc>
              <a:spcBef>
                <a:spcPts val="0"/>
              </a:spcBef>
              <a:spcAft>
                <a:spcPts val="1200"/>
              </a:spcAft>
              <a:buClr>
                <a:srgbClr val="FFC000"/>
              </a:buClr>
              <a:buSzTx/>
              <a:buFontTx/>
              <a:buNone/>
              <a:tabLst/>
              <a:defRPr/>
            </a:pPr>
            <a:r>
              <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Absence of “stories” means little social proof</a:t>
            </a:r>
          </a:p>
          <a:p>
            <a:pPr marL="0" marR="0" lvl="0" indent="0" algn="l" defTabSz="304815" rtl="0" eaLnBrk="1" fontAlgn="auto" latinLnBrk="0" hangingPunct="1">
              <a:lnSpc>
                <a:spcPct val="150000"/>
              </a:lnSpc>
              <a:spcBef>
                <a:spcPts val="0"/>
              </a:spcBef>
              <a:spcAft>
                <a:spcPts val="1200"/>
              </a:spcAft>
              <a:buClr>
                <a:srgbClr val="FFC000"/>
              </a:buClr>
              <a:buSzTx/>
              <a:buFontTx/>
              <a:buNone/>
              <a:tabLst/>
              <a:defRPr/>
            </a:pPr>
            <a:r>
              <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Customer acquisition thus relies on a high cost, high effort “Push” against competition</a:t>
            </a:r>
            <a:endParaRPr kumimoji="0" lang="en-US" sz="1600" b="0" i="0" u="none" strike="noStrike" kern="1200" cap="none" spc="0" normalizeH="0" baseline="0" noProof="0" dirty="0">
              <a:ln>
                <a:noFill/>
              </a:ln>
              <a:solidFill>
                <a:srgbClr val="A9734C"/>
              </a:solidFill>
              <a:effectLst/>
              <a:uLnTx/>
              <a:uFillTx/>
              <a:latin typeface="Hepta Slab SemiBold" pitchFamily="2" charset="0"/>
              <a:ea typeface="+mn-ea"/>
              <a:cs typeface="Hepta Slab SemiBold" pitchFamily="2" charset="0"/>
            </a:endParaRPr>
          </a:p>
          <a:p>
            <a:pPr marL="0" marR="0" lvl="0" indent="0" algn="l" defTabSz="304815" rtl="0" eaLnBrk="1" fontAlgn="auto" latinLnBrk="0" hangingPunct="1">
              <a:lnSpc>
                <a:spcPct val="150000"/>
              </a:lnSpc>
              <a:spcBef>
                <a:spcPts val="1200"/>
              </a:spcBef>
              <a:spcAft>
                <a:spcPts val="1200"/>
              </a:spcAft>
              <a:buClr>
                <a:srgbClr val="FFC000"/>
              </a:buClr>
              <a:buSzTx/>
              <a:buFontTx/>
              <a:buNone/>
              <a:tabLst/>
              <a:defRPr/>
            </a:pPr>
            <a:endParaRPr kumimoji="0" lang="en-US" sz="1600" b="0" i="0" u="none" strike="noStrike" kern="1200" cap="none" spc="0" normalizeH="0" baseline="0" noProof="0" dirty="0">
              <a:ln>
                <a:noFill/>
              </a:ln>
              <a:solidFill>
                <a:srgbClr val="A9734C"/>
              </a:solidFill>
              <a:effectLst/>
              <a:uLnTx/>
              <a:uFillTx/>
              <a:latin typeface="Hepta Slab Medium" pitchFamily="2" charset="0"/>
              <a:ea typeface="+mn-ea"/>
              <a:cs typeface="Hepta Slab Medium" pitchFamily="2" charset="0"/>
            </a:endParaRPr>
          </a:p>
          <a:p>
            <a:pPr marL="0" marR="0" lvl="0" indent="0" algn="l" defTabSz="304815" rtl="0" eaLnBrk="1" fontAlgn="auto" latinLnBrk="0" hangingPunct="1">
              <a:lnSpc>
                <a:spcPct val="150000"/>
              </a:lnSpc>
              <a:spcBef>
                <a:spcPts val="1200"/>
              </a:spcBef>
              <a:spcAft>
                <a:spcPts val="1200"/>
              </a:spcAft>
              <a:buClr>
                <a:srgbClr val="FFC000"/>
              </a:buClr>
              <a:buSzTx/>
              <a:buFontTx/>
              <a:buNone/>
              <a:tabLst/>
              <a:defRPr/>
            </a:pPr>
            <a:endParaRPr kumimoji="0" lang="en-US" sz="16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7030A0"/>
              </a:solidFill>
              <a:effectLst/>
              <a:uLnTx/>
              <a:uFillTx/>
              <a:latin typeface="Hepta Slab SemiBold" pitchFamily="2" charset="0"/>
              <a:ea typeface="Hepta Slab Regular" pitchFamily="34" charset="-122"/>
              <a:cs typeface="Hepta Slab Semi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7030A0"/>
              </a:solidFill>
              <a:effectLst/>
              <a:uLnTx/>
              <a:uFillTx/>
              <a:latin typeface="Hepta Slab SemiBold" pitchFamily="2" charset="0"/>
              <a:ea typeface="Hepta Slab Regular" pitchFamily="34" charset="-122"/>
              <a:cs typeface="Hepta Slab Semi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Hepta Slab Regular" pitchFamily="2" charset="0"/>
              <a:ea typeface="+mn-ea"/>
              <a:cs typeface="Hepta Slab Regular"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7030A0"/>
              </a:solidFill>
              <a:effectLst/>
              <a:uLnTx/>
              <a:uFillTx/>
              <a:latin typeface="Hepta Slab SemiBold" pitchFamily="2" charset="0"/>
              <a:ea typeface="Hepta Slab Regular" pitchFamily="34" charset="-122"/>
              <a:cs typeface="Hepta Slab SemiBold" pitchFamily="2" charset="0"/>
            </a:endParaRPr>
          </a:p>
        </p:txBody>
      </p:sp>
      <p:graphicFrame>
        <p:nvGraphicFramePr>
          <p:cNvPr id="17" name="Chart 16">
            <a:extLst>
              <a:ext uri="{FF2B5EF4-FFF2-40B4-BE49-F238E27FC236}">
                <a16:creationId xmlns:a16="http://schemas.microsoft.com/office/drawing/2014/main" id="{AABFB9B2-6A4D-2F3D-B381-0F55AB9D1C28}"/>
              </a:ext>
            </a:extLst>
          </p:cNvPr>
          <p:cNvGraphicFramePr>
            <a:graphicFrameLocks/>
          </p:cNvGraphicFramePr>
          <p:nvPr/>
        </p:nvGraphicFramePr>
        <p:xfrm>
          <a:off x="559270" y="2706197"/>
          <a:ext cx="5785213" cy="3869974"/>
        </p:xfrm>
        <a:graphic>
          <a:graphicData uri="http://schemas.openxmlformats.org/drawingml/2006/chart">
            <c:chart xmlns:c="http://schemas.openxmlformats.org/drawingml/2006/chart" xmlns:r="http://schemas.openxmlformats.org/officeDocument/2006/relationships" r:id="rId5"/>
          </a:graphicData>
        </a:graphic>
      </p:graphicFrame>
      <p:grpSp>
        <p:nvGrpSpPr>
          <p:cNvPr id="22" name="Group 21">
            <a:extLst>
              <a:ext uri="{FF2B5EF4-FFF2-40B4-BE49-F238E27FC236}">
                <a16:creationId xmlns:a16="http://schemas.microsoft.com/office/drawing/2014/main" id="{DC57FD75-2474-E1D7-90AF-9A253131E68F}"/>
              </a:ext>
            </a:extLst>
          </p:cNvPr>
          <p:cNvGrpSpPr/>
          <p:nvPr/>
        </p:nvGrpSpPr>
        <p:grpSpPr>
          <a:xfrm>
            <a:off x="1913435" y="1873501"/>
            <a:ext cx="4978339" cy="1949788"/>
            <a:chOff x="2176694" y="2465921"/>
            <a:chExt cx="4864687" cy="1802927"/>
          </a:xfrm>
        </p:grpSpPr>
        <p:sp>
          <p:nvSpPr>
            <p:cNvPr id="2" name="TextBox 1">
              <a:extLst>
                <a:ext uri="{FF2B5EF4-FFF2-40B4-BE49-F238E27FC236}">
                  <a16:creationId xmlns:a16="http://schemas.microsoft.com/office/drawing/2014/main" id="{5485A491-DE61-D005-FBB6-CDB5B4215E35}"/>
                </a:ext>
              </a:extLst>
            </p:cNvPr>
            <p:cNvSpPr txBox="1"/>
            <p:nvPr/>
          </p:nvSpPr>
          <p:spPr>
            <a:xfrm>
              <a:off x="2220106" y="2465921"/>
              <a:ext cx="4821275" cy="18029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Hepta Slab Bold" pitchFamily="2" charset="0"/>
                  <a:ea typeface="+mn-ea"/>
                  <a:cs typeface="Hepta Slab Bold" pitchFamily="2" charset="0"/>
                </a:rPr>
                <a:t>Sales Effort – 55%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Hepta Slab Medium" pitchFamily="2" charset="0"/>
                  <a:ea typeface="+mn-ea"/>
                  <a:cs typeface="Hepta Slab Medium" pitchFamily="2" charset="0"/>
                </a:rPr>
                <a:t>Federal Bank relationship manager– 36%</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Hepta Slab Medium" pitchFamily="2" charset="0"/>
                  <a:ea typeface="+mn-ea"/>
                  <a:cs typeface="Hepta Slab Medium" pitchFamily="2" charset="0"/>
                </a:rPr>
                <a:t>Information received during a visit to a bank branch.– 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Hepta Slab Bold" pitchFamily="2" charset="0"/>
                  <a:ea typeface="+mn-ea"/>
                  <a:cs typeface="Hepta Slab Bold" pitchFamily="2" charset="0"/>
                </a:rPr>
                <a:t>Marketing &amp; Advertising– 31%</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050" b="0" i="0" u="none" strike="noStrike" kern="0" cap="none" spc="0" normalizeH="0" baseline="0" noProof="0" dirty="0">
                  <a:ln>
                    <a:noFill/>
                  </a:ln>
                  <a:solidFill>
                    <a:srgbClr val="000000"/>
                  </a:solidFill>
                  <a:effectLst/>
                  <a:uLnTx/>
                  <a:uFillTx/>
                  <a:latin typeface="Hepta Slab Medium" pitchFamily="2" charset="0"/>
                  <a:ea typeface="+mn-ea"/>
                  <a:cs typeface="Hepta Slab Medium" pitchFamily="2" charset="0"/>
                </a:rPr>
                <a:t>Information found on the Celesta Federal Bank website-21%                              </a:t>
              </a:r>
              <a:r>
                <a:rPr kumimoji="0" lang="en-US" sz="1050" b="0" i="0" u="none" strike="noStrike" kern="0" cap="none" spc="0" normalizeH="0" baseline="0" noProof="0" dirty="0">
                  <a:ln>
                    <a:noFill/>
                  </a:ln>
                  <a:solidFill>
                    <a:srgbClr val="000000"/>
                  </a:solidFill>
                  <a:effectLst/>
                  <a:uLnTx/>
                  <a:uFillTx/>
                  <a:latin typeface="Hepta Slab Medium" pitchFamily="2" charset="0"/>
                  <a:ea typeface="+mn-ea"/>
                  <a:cs typeface="Hepta Slab Medium" pitchFamily="2" charset="0"/>
                </a:rPr>
                <a:t>Through online or offline advertisements (TV, print, etc.).-10%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0000"/>
                  </a:solidFill>
                  <a:effectLst/>
                  <a:uLnTx/>
                  <a:uFillTx/>
                  <a:latin typeface="Hepta Slab Bold" pitchFamily="2" charset="0"/>
                  <a:ea typeface="+mn-ea"/>
                  <a:cs typeface="Hepta Slab Bold" pitchFamily="2" charset="0"/>
                </a:rPr>
                <a:t>Word of Mouth &amp; Referrals-13%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dirty="0">
                  <a:ln>
                    <a:noFill/>
                  </a:ln>
                  <a:solidFill>
                    <a:srgbClr val="000000"/>
                  </a:solidFill>
                  <a:effectLst/>
                  <a:uLnTx/>
                  <a:uFillTx/>
                  <a:latin typeface="Hepta Slab Medium" pitchFamily="2" charset="0"/>
                  <a:ea typeface="+mn-ea"/>
                  <a:cs typeface="Hepta Slab Medium" pitchFamily="2" charset="0"/>
                </a:rPr>
                <a:t>Through friends or family recommendations.-9%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dirty="0">
                  <a:ln>
                    <a:noFill/>
                  </a:ln>
                  <a:solidFill>
                    <a:srgbClr val="000000"/>
                  </a:solidFill>
                  <a:effectLst/>
                  <a:uLnTx/>
                  <a:uFillTx/>
                  <a:latin typeface="Hepta Slab Medium" pitchFamily="2" charset="0"/>
                  <a:ea typeface="+mn-ea"/>
                  <a:cs typeface="Hepta Slab Medium" pitchFamily="2" charset="0"/>
                </a:rPr>
                <a:t>Recommendations from financial advisors or consultants.-4%</a:t>
              </a:r>
            </a:p>
          </p:txBody>
        </p:sp>
        <p:sp>
          <p:nvSpPr>
            <p:cNvPr id="8" name="Rectangle 7">
              <a:extLst>
                <a:ext uri="{FF2B5EF4-FFF2-40B4-BE49-F238E27FC236}">
                  <a16:creationId xmlns:a16="http://schemas.microsoft.com/office/drawing/2014/main" id="{45466A9A-A3BC-D8CE-EDFF-64224132500D}"/>
                </a:ext>
              </a:extLst>
            </p:cNvPr>
            <p:cNvSpPr/>
            <p:nvPr/>
          </p:nvSpPr>
          <p:spPr>
            <a:xfrm>
              <a:off x="2176694" y="3900721"/>
              <a:ext cx="86824" cy="70011"/>
            </a:xfrm>
            <a:prstGeom prst="rect">
              <a:avLst/>
            </a:prstGeom>
            <a:solidFill>
              <a:srgbClr val="803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EF1075E-BF0B-A323-C0DB-96261D6CE883}"/>
                </a:ext>
              </a:extLst>
            </p:cNvPr>
            <p:cNvSpPr/>
            <p:nvPr/>
          </p:nvSpPr>
          <p:spPr>
            <a:xfrm>
              <a:off x="2176694" y="3293739"/>
              <a:ext cx="86824" cy="70011"/>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F03922E-74CF-C1B3-725C-3526589E02FC}"/>
                </a:ext>
              </a:extLst>
            </p:cNvPr>
            <p:cNvSpPr/>
            <p:nvPr/>
          </p:nvSpPr>
          <p:spPr>
            <a:xfrm>
              <a:off x="2176694" y="3444553"/>
              <a:ext cx="86824" cy="7001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0C6C1D2-FF88-10CE-98AB-BAA342688C7C}"/>
                </a:ext>
              </a:extLst>
            </p:cNvPr>
            <p:cNvSpPr/>
            <p:nvPr/>
          </p:nvSpPr>
          <p:spPr>
            <a:xfrm>
              <a:off x="2176694" y="2713367"/>
              <a:ext cx="86824" cy="70011"/>
            </a:xfrm>
            <a:prstGeom prst="rect">
              <a:avLst/>
            </a:prstGeom>
            <a:solidFill>
              <a:srgbClr val="7D5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86798B94-B61E-ED90-6576-5E62677E330D}"/>
                </a:ext>
              </a:extLst>
            </p:cNvPr>
            <p:cNvSpPr/>
            <p:nvPr/>
          </p:nvSpPr>
          <p:spPr>
            <a:xfrm>
              <a:off x="2176694" y="2860539"/>
              <a:ext cx="86824" cy="70011"/>
            </a:xfrm>
            <a:prstGeom prst="rect">
              <a:avLst/>
            </a:prstGeom>
            <a:solidFill>
              <a:srgbClr val="FDD7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4" name="Rectangle 23">
            <a:extLst>
              <a:ext uri="{FF2B5EF4-FFF2-40B4-BE49-F238E27FC236}">
                <a16:creationId xmlns:a16="http://schemas.microsoft.com/office/drawing/2014/main" id="{43D505C4-0D1C-8A0D-3B25-D9604234BE61}"/>
              </a:ext>
            </a:extLst>
          </p:cNvPr>
          <p:cNvSpPr/>
          <p:nvPr/>
        </p:nvSpPr>
        <p:spPr>
          <a:xfrm>
            <a:off x="1913435" y="3586375"/>
            <a:ext cx="88852" cy="75714"/>
          </a:xfrm>
          <a:prstGeom prst="rect">
            <a:avLst/>
          </a:prstGeom>
          <a:solidFill>
            <a:srgbClr val="FF6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6174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7877FB7D-6563-9290-DBEF-796C77BCCF5C}"/>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D5DB6B8D-BF09-224E-46ED-4C099F7F879D}"/>
              </a:ext>
            </a:extLst>
          </p:cNvPr>
          <p:cNvSpPr txBox="1"/>
          <p:nvPr/>
        </p:nvSpPr>
        <p:spPr>
          <a:xfrm>
            <a:off x="747884" y="1144587"/>
            <a:ext cx="10643383" cy="5078826"/>
          </a:xfrm>
          <a:prstGeom prst="rect">
            <a:avLst/>
          </a:prstGeom>
          <a:noFill/>
        </p:spPr>
        <p:txBody>
          <a:bodyPr wrap="square" rtlCol="0">
            <a:spAutoFit/>
          </a:bodyPr>
          <a:lstStyle/>
          <a:p>
            <a:pPr marL="0" marR="0" lvl="0" indent="0" algn="l" defTabSz="304815" rtl="0" eaLnBrk="1" fontAlgn="auto" latinLnBrk="0" hangingPunct="1">
              <a:lnSpc>
                <a:spcPct val="150000"/>
              </a:lnSpc>
              <a:spcAft>
                <a:spcPts val="1200"/>
              </a:spcAft>
              <a:buClr>
                <a:srgbClr val="FFC000"/>
              </a:buClr>
              <a:buSzTx/>
              <a:buFontTx/>
              <a:buNone/>
              <a:tabLst/>
              <a:defRPr/>
            </a:pPr>
            <a:r>
              <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The current Celesta customer does not seek the program for their investment planning &amp; management needs.</a:t>
            </a:r>
            <a:r>
              <a:rPr lang="en-US" dirty="0">
                <a:solidFill>
                  <a:srgbClr val="002060"/>
                </a:solidFill>
                <a:latin typeface="Hepta Slab Medium" pitchFamily="2" charset="0"/>
                <a:cs typeface="Hepta Slab Medium" pitchFamily="2" charset="0"/>
              </a:rPr>
              <a:t> The p</a:t>
            </a:r>
            <a:r>
              <a:rPr kumimoji="0" lang="en-US" sz="1800" b="0" i="0" u="none" strike="noStrike" kern="1200" cap="none" spc="0" normalizeH="0" baseline="0" noProof="0" dirty="0" err="1">
                <a:ln>
                  <a:noFill/>
                </a:ln>
                <a:solidFill>
                  <a:srgbClr val="002060"/>
                </a:solidFill>
                <a:effectLst/>
                <a:uLnTx/>
                <a:uFillTx/>
                <a:latin typeface="Hepta Slab Medium" pitchFamily="2" charset="0"/>
                <a:ea typeface="+mn-ea"/>
                <a:cs typeface="Hepta Slab Medium" pitchFamily="2" charset="0"/>
              </a:rPr>
              <a:t>remium</a:t>
            </a:r>
            <a:r>
              <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 banking services are perceived to be lacking on Life Goals relevance and consequently high on friction.</a:t>
            </a:r>
          </a:p>
          <a:p>
            <a:pPr marL="0" marR="0" lvl="0" indent="0" algn="l" defTabSz="304815" rtl="0" eaLnBrk="1" fontAlgn="auto" latinLnBrk="0" hangingPunct="1">
              <a:lnSpc>
                <a:spcPct val="150000"/>
              </a:lnSpc>
              <a:spcAft>
                <a:spcPts val="1200"/>
              </a:spcAft>
              <a:buClr>
                <a:srgbClr val="FFC000"/>
              </a:buClr>
              <a:buSzTx/>
              <a:buFontTx/>
              <a:buNone/>
              <a:tabLst/>
              <a:defRPr/>
            </a:pPr>
            <a:r>
              <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Celesta </a:t>
            </a:r>
            <a:r>
              <a:rPr lang="en-US" dirty="0">
                <a:solidFill>
                  <a:srgbClr val="002060"/>
                </a:solidFill>
                <a:latin typeface="Hepta Slab Medium" pitchFamily="2" charset="0"/>
                <a:cs typeface="Hepta Slab Medium" pitchFamily="2" charset="0"/>
              </a:rPr>
              <a:t>l</a:t>
            </a:r>
            <a:r>
              <a:rPr kumimoji="0" lang="en-US" sz="1800" b="0" i="0" u="none" strike="noStrike" kern="1200" cap="none" spc="0" normalizeH="0" baseline="0" noProof="0" dirty="0" err="1">
                <a:ln>
                  <a:noFill/>
                </a:ln>
                <a:solidFill>
                  <a:srgbClr val="002060"/>
                </a:solidFill>
                <a:effectLst/>
                <a:uLnTx/>
                <a:uFillTx/>
                <a:latin typeface="Hepta Slab Medium" pitchFamily="2" charset="0"/>
                <a:ea typeface="+mn-ea"/>
                <a:cs typeface="Hepta Slab Medium" pitchFamily="2" charset="0"/>
              </a:rPr>
              <a:t>ifestyle</a:t>
            </a:r>
            <a:r>
              <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 benefits are </a:t>
            </a:r>
            <a:r>
              <a:rPr lang="en-US" dirty="0">
                <a:solidFill>
                  <a:srgbClr val="002060"/>
                </a:solidFill>
                <a:latin typeface="Hepta Slab Medium" pitchFamily="2" charset="0"/>
                <a:cs typeface="Hepta Slab Medium" pitchFamily="2" charset="0"/>
              </a:rPr>
              <a:t>similarly perceived to be limited and difficult to avail. The concierge service understanding is restricted to </a:t>
            </a:r>
            <a:r>
              <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“Pick &amp; drop” facilities. This and the Lounge are the most utilized services. While these are appreciated, early signs of disengagement are beginning to show. </a:t>
            </a:r>
          </a:p>
          <a:p>
            <a:pPr marL="0" marR="0" lvl="0" indent="0" algn="l" defTabSz="304815" rtl="0" eaLnBrk="1" fontAlgn="auto" latinLnBrk="0" hangingPunct="1">
              <a:lnSpc>
                <a:spcPct val="150000"/>
              </a:lnSpc>
              <a:spcAft>
                <a:spcPts val="1200"/>
              </a:spcAft>
              <a:buClr>
                <a:srgbClr val="FFC000"/>
              </a:buClr>
              <a:buSzTx/>
              <a:buFontTx/>
              <a:buNone/>
              <a:tabLst/>
              <a:defRPr/>
            </a:pPr>
            <a:r>
              <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As a result, </a:t>
            </a:r>
            <a:r>
              <a:rPr lang="en-US" dirty="0">
                <a:solidFill>
                  <a:srgbClr val="002060"/>
                </a:solidFill>
                <a:latin typeface="Hepta Slab Medium" pitchFamily="2" charset="0"/>
                <a:cs typeface="Hepta Slab Medium" pitchFamily="2" charset="0"/>
              </a:rPr>
              <a:t>e</a:t>
            </a:r>
            <a:r>
              <a:rPr kumimoji="0" lang="en-US" sz="1800" b="0" i="0" u="none" strike="noStrike" kern="1200" cap="none" spc="0" normalizeH="0" baseline="0" noProof="0" dirty="0" err="1">
                <a:ln>
                  <a:noFill/>
                </a:ln>
                <a:solidFill>
                  <a:srgbClr val="002060"/>
                </a:solidFill>
                <a:effectLst/>
                <a:uLnTx/>
                <a:uFillTx/>
                <a:latin typeface="Hepta Slab Medium" pitchFamily="2" charset="0"/>
                <a:ea typeface="+mn-ea"/>
                <a:cs typeface="Hepta Slab Medium" pitchFamily="2" charset="0"/>
              </a:rPr>
              <a:t>xperientially</a:t>
            </a:r>
            <a:r>
              <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 Celesta is not perceived to deliver on elements of Identity &amp; Social Dimensions. </a:t>
            </a:r>
          </a:p>
          <a:p>
            <a:pPr marL="0" marR="0" lvl="0" indent="0" algn="l" defTabSz="304815" rtl="0" eaLnBrk="1" fontAlgn="auto" latinLnBrk="0" hangingPunct="1">
              <a:lnSpc>
                <a:spcPct val="150000"/>
              </a:lnSpc>
              <a:spcAft>
                <a:spcPts val="1200"/>
              </a:spcAft>
              <a:buClr>
                <a:srgbClr val="FFC000"/>
              </a:buClr>
              <a:buSzTx/>
              <a:buFontTx/>
              <a:buNone/>
              <a:tabLst/>
              <a:defRPr/>
            </a:pPr>
            <a:r>
              <a:rPr lang="en-US" dirty="0">
                <a:solidFill>
                  <a:srgbClr val="002060"/>
                </a:solidFill>
                <a:latin typeface="Hepta Slab Medium" pitchFamily="2" charset="0"/>
                <a:cs typeface="Hepta Slab Medium" pitchFamily="2" charset="0"/>
              </a:rPr>
              <a:t>This results in a low “word-of-mouth” making the “push” against competition an uphill battle!</a:t>
            </a:r>
            <a:endParaRPr kumimoji="0" lang="en-US" sz="1800"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p:txBody>
      </p:sp>
      <p:grpSp>
        <p:nvGrpSpPr>
          <p:cNvPr id="10" name="Group 9">
            <a:extLst>
              <a:ext uri="{FF2B5EF4-FFF2-40B4-BE49-F238E27FC236}">
                <a16:creationId xmlns:a16="http://schemas.microsoft.com/office/drawing/2014/main" id="{0B3BDBFE-E813-4CC6-317D-0AEC3E2B24D1}"/>
              </a:ext>
            </a:extLst>
          </p:cNvPr>
          <p:cNvGrpSpPr/>
          <p:nvPr/>
        </p:nvGrpSpPr>
        <p:grpSpPr>
          <a:xfrm>
            <a:off x="-61290" y="6053155"/>
            <a:ext cx="12253290" cy="971832"/>
            <a:chOff x="-187799" y="8336784"/>
            <a:chExt cx="18379935" cy="1457748"/>
          </a:xfrm>
        </p:grpSpPr>
        <p:pic>
          <p:nvPicPr>
            <p:cNvPr id="11" name="Picture 10">
              <a:extLst>
                <a:ext uri="{FF2B5EF4-FFF2-40B4-BE49-F238E27FC236}">
                  <a16:creationId xmlns:a16="http://schemas.microsoft.com/office/drawing/2014/main" id="{EA4E59D2-ECC3-B534-F878-80DAD72DE4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2" name="Title 1">
              <a:extLst>
                <a:ext uri="{FF2B5EF4-FFF2-40B4-BE49-F238E27FC236}">
                  <a16:creationId xmlns:a16="http://schemas.microsoft.com/office/drawing/2014/main" id="{26806D34-48B9-C87B-C764-FEEFBAA9F33B}"/>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3" name="Picture 12">
              <a:extLst>
                <a:ext uri="{FF2B5EF4-FFF2-40B4-BE49-F238E27FC236}">
                  <a16:creationId xmlns:a16="http://schemas.microsoft.com/office/drawing/2014/main" id="{7EA72A7A-DDF4-45B5-381F-5B8BB754F9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 name="Slide Number Placeholder 4">
            <a:extLst>
              <a:ext uri="{FF2B5EF4-FFF2-40B4-BE49-F238E27FC236}">
                <a16:creationId xmlns:a16="http://schemas.microsoft.com/office/drawing/2014/main" id="{37E5F4BC-CD1E-4465-8637-C43B5A5FCBFE}"/>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065EC30-9185-4A95-ADD8-6385FABF13C0}" type="slidenum">
              <a:rPr lang="en-IN" sz="1000" smtClean="0">
                <a:solidFill>
                  <a:prstClr val="black">
                    <a:lumMod val="50000"/>
                    <a:lumOff val="50000"/>
                  </a:prstClr>
                </a:solidFill>
                <a:latin typeface="Montserrat" panose="00000500000000000000" pitchFamily="2" charset="0"/>
              </a:rPr>
              <a:pPr>
                <a:defRPr/>
              </a:pPr>
              <a:t>24</a:t>
            </a:fld>
            <a:endParaRPr lang="en-IN" sz="1000" dirty="0">
              <a:solidFill>
                <a:prstClr val="black">
                  <a:lumMod val="50000"/>
                  <a:lumOff val="50000"/>
                </a:prstClr>
              </a:solidFill>
              <a:latin typeface="Montserrat" panose="00000500000000000000" pitchFamily="2" charset="0"/>
            </a:endParaRPr>
          </a:p>
        </p:txBody>
      </p:sp>
      <p:sp>
        <p:nvSpPr>
          <p:cNvPr id="3" name="TextBox 2">
            <a:extLst>
              <a:ext uri="{FF2B5EF4-FFF2-40B4-BE49-F238E27FC236}">
                <a16:creationId xmlns:a16="http://schemas.microsoft.com/office/drawing/2014/main" id="{EC090EA7-FD9D-4E52-B4EF-D757F4EC22E9}"/>
              </a:ext>
            </a:extLst>
          </p:cNvPr>
          <p:cNvSpPr txBox="1"/>
          <p:nvPr/>
        </p:nvSpPr>
        <p:spPr>
          <a:xfrm>
            <a:off x="747884" y="400337"/>
            <a:ext cx="24000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002060"/>
                </a:solidFill>
                <a:latin typeface="Hepta Slab Bold" pitchFamily="2" charset="0"/>
                <a:cs typeface="Hepta Slab Bold" pitchFamily="2" charset="0"/>
              </a:rPr>
              <a:t>Summary</a:t>
            </a:r>
            <a:endParaRPr kumimoji="0" lang="en-IN" sz="32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endParaRPr>
          </a:p>
        </p:txBody>
      </p:sp>
    </p:spTree>
    <p:extLst>
      <p:ext uri="{BB962C8B-B14F-4D97-AF65-F5344CB8AC3E}">
        <p14:creationId xmlns:p14="http://schemas.microsoft.com/office/powerpoint/2010/main" val="3365127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9E02B9A8-CADE-3FD3-712A-E884E199AD52}"/>
            </a:ext>
          </a:extLst>
        </p:cNvPr>
        <p:cNvGrpSpPr/>
        <p:nvPr/>
      </p:nvGrpSpPr>
      <p:grpSpPr>
        <a:xfrm>
          <a:off x="0" y="0"/>
          <a:ext cx="0" cy="0"/>
          <a:chOff x="0" y="0"/>
          <a:chExt cx="0" cy="0"/>
        </a:xfrm>
      </p:grpSpPr>
      <p:sp>
        <p:nvSpPr>
          <p:cNvPr id="2" name="Object6">
            <a:extLst>
              <a:ext uri="{FF2B5EF4-FFF2-40B4-BE49-F238E27FC236}">
                <a16:creationId xmlns:a16="http://schemas.microsoft.com/office/drawing/2014/main" id="{730C6DC7-EC03-FAC4-F23E-8D6D84421117}"/>
              </a:ext>
            </a:extLst>
          </p:cNvPr>
          <p:cNvSpPr/>
          <p:nvPr/>
        </p:nvSpPr>
        <p:spPr>
          <a:xfrm>
            <a:off x="835782" y="549000"/>
            <a:ext cx="11040000" cy="840000"/>
          </a:xfrm>
          <a:prstGeom prst="rect">
            <a:avLst/>
          </a:prstGeom>
          <a:noFill/>
          <a:ln/>
        </p:spPr>
        <p:txBody>
          <a:bodyPr wrap="square" lIns="0" tIns="0" rIns="0" bIns="0" rtlCol="0" anchor="b">
            <a:noAutofit/>
          </a:bodyPr>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002060"/>
                </a:solidFill>
                <a:effectLst/>
                <a:uLnTx/>
                <a:uFillTx/>
                <a:latin typeface="Hepta Slab Light" pitchFamily="2" charset="0"/>
                <a:ea typeface="Montserrat ExtraBold" pitchFamily="34" charset="-122"/>
                <a:cs typeface="Hepta Slab Light" pitchFamily="2" charset="0"/>
              </a:rPr>
              <a:t>Terragni Experience Grids</a:t>
            </a:r>
            <a:endParaRPr kumimoji="0" lang="en-US" sz="4800" b="0" i="0" u="none" strike="noStrike" kern="1200" cap="none" spc="0" normalizeH="0" baseline="0" noProof="0" dirty="0">
              <a:ln>
                <a:noFill/>
              </a:ln>
              <a:solidFill>
                <a:srgbClr val="002060"/>
              </a:solidFill>
              <a:effectLst/>
              <a:uLnTx/>
              <a:uFillTx/>
              <a:latin typeface="Hepta Slab Light" pitchFamily="2" charset="0"/>
              <a:ea typeface="+mn-ea"/>
              <a:cs typeface="Hepta Slab Light" pitchFamily="2" charset="0"/>
            </a:endParaRPr>
          </a:p>
        </p:txBody>
      </p:sp>
      <p:sp>
        <p:nvSpPr>
          <p:cNvPr id="6" name="Object5">
            <a:extLst>
              <a:ext uri="{FF2B5EF4-FFF2-40B4-BE49-F238E27FC236}">
                <a16:creationId xmlns:a16="http://schemas.microsoft.com/office/drawing/2014/main" id="{2C81A01D-08E3-004D-3EBF-650ECDB6CE13}"/>
              </a:ext>
            </a:extLst>
          </p:cNvPr>
          <p:cNvSpPr/>
          <p:nvPr/>
        </p:nvSpPr>
        <p:spPr>
          <a:xfrm>
            <a:off x="835782" y="1436700"/>
            <a:ext cx="10320000" cy="480000"/>
          </a:xfrm>
          <a:prstGeom prst="rect">
            <a:avLst/>
          </a:prstGeom>
          <a:noFill/>
          <a:ln/>
        </p:spPr>
        <p:txBody>
          <a:bodyPr wrap="square" lIns="0" tIns="0" rIns="0" bIns="0" rtlCol="0" anchor="t"/>
          <a:lstStyle/>
          <a:p>
            <a:pPr marL="0" marR="0" lvl="0" indent="0" algn="l" defTabSz="304815" rtl="0" eaLnBrk="1" fontAlgn="auto" latinLnBrk="0" hangingPunct="1">
              <a:lnSpc>
                <a:spcPts val="4000"/>
              </a:lnSpc>
              <a:spcBef>
                <a:spcPts val="0"/>
              </a:spcBef>
              <a:spcAft>
                <a:spcPts val="0"/>
              </a:spcAft>
              <a:buClrTx/>
              <a:buSzTx/>
              <a:buFontTx/>
              <a:buNone/>
              <a:tabLst/>
              <a:defRPr/>
            </a:pPr>
            <a:r>
              <a:rPr kumimoji="0" lang="en-US" sz="2133" b="0" i="0" u="none" strike="noStrike" kern="1200" cap="small" spc="0" normalizeH="0" baseline="0" noProof="0" dirty="0">
                <a:ln>
                  <a:noFill/>
                </a:ln>
                <a:solidFill>
                  <a:srgbClr val="002060"/>
                </a:solidFill>
                <a:effectLst/>
                <a:uLnTx/>
                <a:uFillTx/>
                <a:latin typeface="Hepta Slab SemiBold" pitchFamily="2" charset="0"/>
                <a:ea typeface="Hepta Slab Regular" pitchFamily="34" charset="-122"/>
                <a:cs typeface="Hepta Slab SemiBold" pitchFamily="2" charset="0"/>
              </a:rPr>
              <a:t>p</a:t>
            </a:r>
            <a:r>
              <a:rPr kumimoji="0" lang="en-US" sz="2133" b="0" i="0" u="none" strike="noStrike" kern="1200" cap="small" spc="0" normalizeH="0" baseline="0" noProof="0" dirty="0" err="1">
                <a:ln>
                  <a:noFill/>
                </a:ln>
                <a:solidFill>
                  <a:srgbClr val="002060"/>
                </a:solidFill>
                <a:effectLst/>
                <a:uLnTx/>
                <a:uFillTx/>
                <a:latin typeface="Hepta Slab SemiBold" pitchFamily="2" charset="0"/>
                <a:ea typeface="Hepta Slab Regular" pitchFamily="34" charset="-122"/>
                <a:cs typeface="Hepta Slab SemiBold" pitchFamily="2" charset="0"/>
              </a:rPr>
              <a:t>rioritized</a:t>
            </a:r>
            <a:r>
              <a:rPr kumimoji="0" lang="en-US" sz="2133" b="0" i="0" u="none" strike="noStrike" kern="1200" cap="small" spc="0" normalizeH="0" baseline="0" noProof="0" dirty="0">
                <a:ln>
                  <a:noFill/>
                </a:ln>
                <a:solidFill>
                  <a:srgbClr val="002060"/>
                </a:solidFill>
                <a:effectLst/>
                <a:uLnTx/>
                <a:uFillTx/>
                <a:latin typeface="Hepta Slab SemiBold" pitchFamily="2" charset="0"/>
                <a:ea typeface="Hepta Slab Regular" pitchFamily="34" charset="-122"/>
                <a:cs typeface="Hepta Slab SemiBold" pitchFamily="2" charset="0"/>
              </a:rPr>
              <a:t> implementation areas</a:t>
            </a:r>
            <a:endParaRPr kumimoji="0" lang="en-US" sz="2133" b="0" i="0" u="none" strike="noStrike" kern="1200" cap="small" spc="0" normalizeH="0" baseline="0" noProof="0" dirty="0">
              <a:ln>
                <a:noFill/>
              </a:ln>
              <a:solidFill>
                <a:srgbClr val="002060"/>
              </a:solidFill>
              <a:effectLst/>
              <a:uLnTx/>
              <a:uFillTx/>
              <a:latin typeface="Hepta Slab SemiBold" pitchFamily="2" charset="0"/>
              <a:ea typeface="+mn-ea"/>
              <a:cs typeface="Hepta Slab SemiBold" pitchFamily="2" charset="0"/>
            </a:endParaRPr>
          </a:p>
        </p:txBody>
      </p:sp>
      <p:grpSp>
        <p:nvGrpSpPr>
          <p:cNvPr id="7" name="Group 6">
            <a:extLst>
              <a:ext uri="{FF2B5EF4-FFF2-40B4-BE49-F238E27FC236}">
                <a16:creationId xmlns:a16="http://schemas.microsoft.com/office/drawing/2014/main" id="{8B3229DE-24BB-7009-70E2-1868FA1C7E08}"/>
              </a:ext>
            </a:extLst>
          </p:cNvPr>
          <p:cNvGrpSpPr/>
          <p:nvPr/>
        </p:nvGrpSpPr>
        <p:grpSpPr>
          <a:xfrm>
            <a:off x="-61290" y="6053155"/>
            <a:ext cx="12253290" cy="971832"/>
            <a:chOff x="-187799" y="8336784"/>
            <a:chExt cx="18379935" cy="1457748"/>
          </a:xfrm>
        </p:grpSpPr>
        <p:pic>
          <p:nvPicPr>
            <p:cNvPr id="8" name="Picture 7">
              <a:extLst>
                <a:ext uri="{FF2B5EF4-FFF2-40B4-BE49-F238E27FC236}">
                  <a16:creationId xmlns:a16="http://schemas.microsoft.com/office/drawing/2014/main" id="{4916E72D-4E6B-70AA-95FE-5899900D60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9" name="Title 1">
              <a:extLst>
                <a:ext uri="{FF2B5EF4-FFF2-40B4-BE49-F238E27FC236}">
                  <a16:creationId xmlns:a16="http://schemas.microsoft.com/office/drawing/2014/main" id="{989294C1-78B0-EB51-BB66-4D93F1980230}"/>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0" name="Picture 9">
              <a:extLst>
                <a:ext uri="{FF2B5EF4-FFF2-40B4-BE49-F238E27FC236}">
                  <a16:creationId xmlns:a16="http://schemas.microsoft.com/office/drawing/2014/main" id="{DA50D698-3555-93C2-F1EA-A8A08975F6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3" name="Object5">
            <a:extLst>
              <a:ext uri="{FF2B5EF4-FFF2-40B4-BE49-F238E27FC236}">
                <a16:creationId xmlns:a16="http://schemas.microsoft.com/office/drawing/2014/main" id="{64CFDCA8-1E31-F039-8089-86B3F6317AE2}"/>
              </a:ext>
            </a:extLst>
          </p:cNvPr>
          <p:cNvSpPr/>
          <p:nvPr/>
        </p:nvSpPr>
        <p:spPr>
          <a:xfrm>
            <a:off x="835782" y="2469000"/>
            <a:ext cx="5260218" cy="276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867" b="0" i="0" u="none" strike="noStrike" kern="1200" cap="none" spc="0" normalizeH="0" baseline="0" noProof="0" dirty="0">
                <a:ln>
                  <a:noFill/>
                </a:ln>
                <a:solidFill>
                  <a:srgbClr val="002060"/>
                </a:solidFill>
                <a:effectLst/>
                <a:uLnTx/>
                <a:uFillTx/>
                <a:latin typeface="Montserrat ExtraBold" pitchFamily="2" charset="0"/>
                <a:ea typeface="Hepta Slab Regular" pitchFamily="34" charset="-122"/>
                <a:cs typeface="Hepta Slab Regular" pitchFamily="2" charset="0"/>
              </a:rPr>
              <a:t>The grid plots customer experience drivers on two dimensions:</a:t>
            </a:r>
          </a:p>
          <a:p>
            <a:pPr marL="304815" marR="0" lvl="1" indent="0" algn="l" defTabSz="304815" rtl="0" eaLnBrk="1" fontAlgn="auto" latinLnBrk="0" hangingPunct="1">
              <a:lnSpc>
                <a:spcPct val="100000"/>
              </a:lnSpc>
              <a:spcBef>
                <a:spcPts val="0"/>
              </a:spcBef>
              <a:spcAft>
                <a:spcPts val="800"/>
              </a:spcAft>
              <a:buClrTx/>
              <a:buSzTx/>
              <a:buFontTx/>
              <a:buNone/>
              <a:tabLst/>
              <a:defRPr/>
            </a:pPr>
            <a:br>
              <a:rPr kumimoji="0" lang="en-US" sz="1867" b="0" i="0" u="none" strike="noStrike" kern="1200" cap="none" spc="0" normalizeH="0" baseline="0" noProof="0" dirty="0">
                <a:ln>
                  <a:noFill/>
                </a:ln>
                <a:solidFill>
                  <a:srgbClr val="002060"/>
                </a:solidFill>
                <a:effectLst/>
                <a:uLnTx/>
                <a:uFillTx/>
                <a:latin typeface="Montserrat ExtraBold" pitchFamily="2" charset="0"/>
                <a:ea typeface="Hepta Slab Regular" pitchFamily="34" charset="-122"/>
                <a:cs typeface="Hepta Slab Regular" pitchFamily="2" charset="0"/>
              </a:rPr>
            </a:b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The relative impact of an experienced driver on overall customer attitude and behavior, customer perception of the brand’s performance on that experienced driver.</a:t>
            </a:r>
          </a:p>
          <a:p>
            <a:pPr marL="304815" marR="0" lvl="1" indent="0" algn="l" defTabSz="304815" rtl="0" eaLnBrk="1" fontAlgn="auto" latinLnBrk="0" hangingPunct="1">
              <a:lnSpc>
                <a:spcPct val="100000"/>
              </a:lnSpc>
              <a:spcBef>
                <a:spcPts val="0"/>
              </a:spcBef>
              <a:spcAft>
                <a:spcPts val="80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endParaRPr>
          </a:p>
          <a:p>
            <a:pPr marL="304815" marR="0" lvl="1"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Regular" pitchFamily="2" charset="0"/>
              </a:rPr>
              <a:t>It gives brands a strategic framework within which to debate and evolve an action-direction for each experience driver in their customers’ journey with them.</a:t>
            </a:r>
          </a:p>
        </p:txBody>
      </p:sp>
      <p:grpSp>
        <p:nvGrpSpPr>
          <p:cNvPr id="4" name="Group 3">
            <a:extLst>
              <a:ext uri="{FF2B5EF4-FFF2-40B4-BE49-F238E27FC236}">
                <a16:creationId xmlns:a16="http://schemas.microsoft.com/office/drawing/2014/main" id="{3B583726-4926-DD89-A7FC-5648E23D0ACC}"/>
              </a:ext>
            </a:extLst>
          </p:cNvPr>
          <p:cNvGrpSpPr/>
          <p:nvPr/>
        </p:nvGrpSpPr>
        <p:grpSpPr>
          <a:xfrm>
            <a:off x="6276671" y="1784485"/>
            <a:ext cx="5599111" cy="3798294"/>
            <a:chOff x="9552676" y="2962028"/>
            <a:chExt cx="8398666" cy="5253612"/>
          </a:xfrm>
        </p:grpSpPr>
        <p:pic>
          <p:nvPicPr>
            <p:cNvPr id="3" name="Picture 2">
              <a:extLst>
                <a:ext uri="{FF2B5EF4-FFF2-40B4-BE49-F238E27FC236}">
                  <a16:creationId xmlns:a16="http://schemas.microsoft.com/office/drawing/2014/main" id="{B8405640-AA68-0E1B-9A91-99B391FF2CC6}"/>
                </a:ext>
              </a:extLst>
            </p:cNvPr>
            <p:cNvPicPr>
              <a:picLocks noChangeAspect="1"/>
            </p:cNvPicPr>
            <p:nvPr/>
          </p:nvPicPr>
          <p:blipFill>
            <a:blip r:embed="rId4"/>
            <a:stretch>
              <a:fillRect/>
            </a:stretch>
          </p:blipFill>
          <p:spPr>
            <a:xfrm>
              <a:off x="9552676" y="2962028"/>
              <a:ext cx="8398666" cy="5253612"/>
            </a:xfrm>
            <a:prstGeom prst="rect">
              <a:avLst/>
            </a:prstGeom>
          </p:spPr>
        </p:pic>
        <p:sp>
          <p:nvSpPr>
            <p:cNvPr id="15" name="TextBox 14">
              <a:extLst>
                <a:ext uri="{FF2B5EF4-FFF2-40B4-BE49-F238E27FC236}">
                  <a16:creationId xmlns:a16="http://schemas.microsoft.com/office/drawing/2014/main" id="{762EDC08-3AC9-146D-BD86-FF9FE7495118}"/>
                </a:ext>
              </a:extLst>
            </p:cNvPr>
            <p:cNvSpPr txBox="1"/>
            <p:nvPr/>
          </p:nvSpPr>
          <p:spPr>
            <a:xfrm>
              <a:off x="9863999" y="6449004"/>
              <a:ext cx="1945725" cy="526106"/>
            </a:xfrm>
            <a:prstGeom prst="rect">
              <a:avLst/>
            </a:prstGeom>
            <a:noFill/>
          </p:spPr>
          <p:txBody>
            <a:bodyPr wrap="none" rtlCol="0">
              <a:spAutoFit/>
            </a:bodyPr>
            <a:lstStyle/>
            <a:p>
              <a:pPr marL="0" marR="0" lvl="0" indent="0" algn="l" defTabSz="457223" rtl="0" eaLnBrk="1" fontAlgn="auto" latinLnBrk="0" hangingPunct="1">
                <a:lnSpc>
                  <a:spcPct val="90000"/>
                </a:lnSpc>
                <a:spcBef>
                  <a:spcPts val="0"/>
                </a:spcBef>
                <a:spcAft>
                  <a:spcPts val="0"/>
                </a:spcAft>
                <a:buClrTx/>
                <a:buSzTx/>
                <a:buFontTx/>
                <a:buNone/>
                <a:tabLst/>
                <a:defRPr/>
              </a:pPr>
              <a:r>
                <a:rPr kumimoji="0" lang="en-IN" sz="933"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Lower Importance</a:t>
              </a:r>
            </a:p>
            <a:p>
              <a:pPr marL="0" marR="0" lvl="0" indent="0" algn="l" defTabSz="457223" rtl="0" eaLnBrk="1" fontAlgn="auto" latinLnBrk="0" hangingPunct="1">
                <a:lnSpc>
                  <a:spcPct val="90000"/>
                </a:lnSpc>
                <a:spcBef>
                  <a:spcPts val="0"/>
                </a:spcBef>
                <a:spcAft>
                  <a:spcPts val="0"/>
                </a:spcAft>
                <a:buClrTx/>
                <a:buSzTx/>
                <a:buFontTx/>
                <a:buNone/>
                <a:tabLst/>
                <a:defRPr/>
              </a:pPr>
              <a:r>
                <a:rPr kumimoji="0" lang="en-IN" sz="933"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Poor Experience</a:t>
              </a:r>
            </a:p>
          </p:txBody>
        </p:sp>
        <p:sp>
          <p:nvSpPr>
            <p:cNvPr id="16" name="TextBox 15">
              <a:extLst>
                <a:ext uri="{FF2B5EF4-FFF2-40B4-BE49-F238E27FC236}">
                  <a16:creationId xmlns:a16="http://schemas.microsoft.com/office/drawing/2014/main" id="{600C8BEB-AF19-A21A-5CC0-3BE8DD13556C}"/>
                </a:ext>
              </a:extLst>
            </p:cNvPr>
            <p:cNvSpPr txBox="1"/>
            <p:nvPr/>
          </p:nvSpPr>
          <p:spPr>
            <a:xfrm>
              <a:off x="9863999" y="4124782"/>
              <a:ext cx="1827904" cy="526106"/>
            </a:xfrm>
            <a:prstGeom prst="rect">
              <a:avLst/>
            </a:prstGeom>
            <a:noFill/>
          </p:spPr>
          <p:txBody>
            <a:bodyPr wrap="none" rtlCol="0">
              <a:spAutoFit/>
            </a:bodyPr>
            <a:lstStyle/>
            <a:p>
              <a:pPr marL="0" marR="0" lvl="0" indent="0" algn="l" defTabSz="457223" rtl="0" eaLnBrk="1" fontAlgn="auto" latinLnBrk="0" hangingPunct="1">
                <a:lnSpc>
                  <a:spcPct val="90000"/>
                </a:lnSpc>
                <a:spcBef>
                  <a:spcPts val="0"/>
                </a:spcBef>
                <a:spcAft>
                  <a:spcPts val="0"/>
                </a:spcAft>
                <a:buClrTx/>
                <a:buSzTx/>
                <a:buFontTx/>
                <a:buNone/>
                <a:tabLst/>
                <a:defRPr/>
              </a:pPr>
              <a:r>
                <a:rPr kumimoji="0" lang="en-IN" sz="933"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High Importance</a:t>
              </a:r>
            </a:p>
            <a:p>
              <a:pPr marL="0" marR="0" lvl="0" indent="0" algn="l" defTabSz="457223" rtl="0" eaLnBrk="1" fontAlgn="auto" latinLnBrk="0" hangingPunct="1">
                <a:lnSpc>
                  <a:spcPct val="90000"/>
                </a:lnSpc>
                <a:spcBef>
                  <a:spcPts val="0"/>
                </a:spcBef>
                <a:spcAft>
                  <a:spcPts val="0"/>
                </a:spcAft>
                <a:buClrTx/>
                <a:buSzTx/>
                <a:buFontTx/>
                <a:buNone/>
                <a:tabLst/>
                <a:defRPr/>
              </a:pPr>
              <a:r>
                <a:rPr kumimoji="0" lang="en-IN" sz="933"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Poor Experience</a:t>
              </a:r>
            </a:p>
          </p:txBody>
        </p:sp>
        <p:sp>
          <p:nvSpPr>
            <p:cNvPr id="17" name="TextBox 16">
              <a:extLst>
                <a:ext uri="{FF2B5EF4-FFF2-40B4-BE49-F238E27FC236}">
                  <a16:creationId xmlns:a16="http://schemas.microsoft.com/office/drawing/2014/main" id="{8E55A24A-B86D-0A8F-D7E3-D6AC2C5FFED2}"/>
                </a:ext>
              </a:extLst>
            </p:cNvPr>
            <p:cNvSpPr txBox="1"/>
            <p:nvPr/>
          </p:nvSpPr>
          <p:spPr>
            <a:xfrm>
              <a:off x="15436846" y="4170101"/>
              <a:ext cx="1827904" cy="526106"/>
            </a:xfrm>
            <a:prstGeom prst="rect">
              <a:avLst/>
            </a:prstGeom>
            <a:noFill/>
          </p:spPr>
          <p:txBody>
            <a:bodyPr wrap="none" rtlCol="0">
              <a:spAutoFit/>
            </a:bodyPr>
            <a:lstStyle/>
            <a:p>
              <a:pPr marL="0" marR="0" lvl="0" indent="0" algn="l" defTabSz="457223" rtl="0" eaLnBrk="1" fontAlgn="auto" latinLnBrk="0" hangingPunct="1">
                <a:lnSpc>
                  <a:spcPct val="90000"/>
                </a:lnSpc>
                <a:spcBef>
                  <a:spcPts val="0"/>
                </a:spcBef>
                <a:spcAft>
                  <a:spcPts val="0"/>
                </a:spcAft>
                <a:buClrTx/>
                <a:buSzTx/>
                <a:buFontTx/>
                <a:buNone/>
                <a:tabLst/>
                <a:defRPr/>
              </a:pPr>
              <a:r>
                <a:rPr kumimoji="0" lang="en-IN" sz="933"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High Importance</a:t>
              </a:r>
            </a:p>
            <a:p>
              <a:pPr marL="0" marR="0" lvl="0" indent="0" algn="l" defTabSz="457223" rtl="0" eaLnBrk="1" fontAlgn="auto" latinLnBrk="0" hangingPunct="1">
                <a:lnSpc>
                  <a:spcPct val="90000"/>
                </a:lnSpc>
                <a:spcBef>
                  <a:spcPts val="0"/>
                </a:spcBef>
                <a:spcAft>
                  <a:spcPts val="0"/>
                </a:spcAft>
                <a:buClrTx/>
                <a:buSzTx/>
                <a:buFontTx/>
                <a:buNone/>
                <a:tabLst/>
                <a:defRPr/>
              </a:pPr>
              <a:r>
                <a:rPr kumimoji="0" lang="en-IN" sz="933"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Good Experience</a:t>
              </a:r>
            </a:p>
          </p:txBody>
        </p:sp>
        <p:sp>
          <p:nvSpPr>
            <p:cNvPr id="18" name="TextBox 17">
              <a:extLst>
                <a:ext uri="{FF2B5EF4-FFF2-40B4-BE49-F238E27FC236}">
                  <a16:creationId xmlns:a16="http://schemas.microsoft.com/office/drawing/2014/main" id="{B7159C57-9B4F-7DF8-4035-08E50F4891EE}"/>
                </a:ext>
              </a:extLst>
            </p:cNvPr>
            <p:cNvSpPr txBox="1"/>
            <p:nvPr/>
          </p:nvSpPr>
          <p:spPr>
            <a:xfrm>
              <a:off x="15353086" y="6527168"/>
              <a:ext cx="1945725" cy="526106"/>
            </a:xfrm>
            <a:prstGeom prst="rect">
              <a:avLst/>
            </a:prstGeom>
            <a:noFill/>
          </p:spPr>
          <p:txBody>
            <a:bodyPr wrap="none" rtlCol="0">
              <a:spAutoFit/>
            </a:bodyPr>
            <a:lstStyle/>
            <a:p>
              <a:pPr marL="0" marR="0" lvl="0" indent="0" algn="l" defTabSz="457223" rtl="0" eaLnBrk="1" fontAlgn="auto" latinLnBrk="0" hangingPunct="1">
                <a:lnSpc>
                  <a:spcPct val="90000"/>
                </a:lnSpc>
                <a:spcBef>
                  <a:spcPts val="0"/>
                </a:spcBef>
                <a:spcAft>
                  <a:spcPts val="0"/>
                </a:spcAft>
                <a:buClrTx/>
                <a:buSzTx/>
                <a:buFontTx/>
                <a:buNone/>
                <a:tabLst/>
                <a:defRPr/>
              </a:pPr>
              <a:r>
                <a:rPr kumimoji="0" lang="en-IN" sz="933"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Lower Importance</a:t>
              </a:r>
            </a:p>
            <a:p>
              <a:pPr marL="0" marR="0" lvl="0" indent="0" algn="l" defTabSz="457223" rtl="0" eaLnBrk="1" fontAlgn="auto" latinLnBrk="0" hangingPunct="1">
                <a:lnSpc>
                  <a:spcPct val="90000"/>
                </a:lnSpc>
                <a:spcBef>
                  <a:spcPts val="0"/>
                </a:spcBef>
                <a:spcAft>
                  <a:spcPts val="0"/>
                </a:spcAft>
                <a:buClrTx/>
                <a:buSzTx/>
                <a:buFontTx/>
                <a:buNone/>
                <a:tabLst/>
                <a:defRPr/>
              </a:pPr>
              <a:r>
                <a:rPr kumimoji="0" lang="en-IN" sz="933"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Good Experience</a:t>
              </a:r>
            </a:p>
          </p:txBody>
        </p:sp>
        <p:sp>
          <p:nvSpPr>
            <p:cNvPr id="19" name="TextBox 18">
              <a:extLst>
                <a:ext uri="{FF2B5EF4-FFF2-40B4-BE49-F238E27FC236}">
                  <a16:creationId xmlns:a16="http://schemas.microsoft.com/office/drawing/2014/main" id="{929E1463-A75E-5C07-5B23-36F315324BBC}"/>
                </a:ext>
              </a:extLst>
            </p:cNvPr>
            <p:cNvSpPr txBox="1"/>
            <p:nvPr/>
          </p:nvSpPr>
          <p:spPr>
            <a:xfrm>
              <a:off x="9863999" y="4540159"/>
              <a:ext cx="2602321" cy="507831"/>
            </a:xfrm>
            <a:prstGeom prst="rect">
              <a:avLst/>
            </a:prstGeom>
            <a:noFill/>
          </p:spPr>
          <p:txBody>
            <a:bodyPr wrap="square" rtlCol="0">
              <a:spAutoFit/>
            </a:bodyPr>
            <a:lstStyle/>
            <a:p>
              <a:pPr marL="0" marR="0" lvl="0" indent="0" algn="l" defTabSz="457223"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150" normalizeH="0" baseline="0" noProof="0" dirty="0">
                  <a:ln>
                    <a:noFill/>
                  </a:ln>
                  <a:solidFill>
                    <a:srgbClr val="002060"/>
                  </a:solidFill>
                  <a:effectLst/>
                  <a:uLnTx/>
                  <a:uFillTx/>
                  <a:latin typeface="Montserrat" panose="00000500000000000000" pitchFamily="2" charset="0"/>
                  <a:ea typeface="+mn-ea"/>
                  <a:cs typeface="+mn-cs"/>
                </a:rPr>
                <a:t>Immediate priority action areas</a:t>
              </a:r>
            </a:p>
          </p:txBody>
        </p:sp>
        <p:sp>
          <p:nvSpPr>
            <p:cNvPr id="20" name="TextBox 19">
              <a:extLst>
                <a:ext uri="{FF2B5EF4-FFF2-40B4-BE49-F238E27FC236}">
                  <a16:creationId xmlns:a16="http://schemas.microsoft.com/office/drawing/2014/main" id="{D84974D3-53D9-4DE7-464E-FA906FD74D17}"/>
                </a:ext>
              </a:extLst>
            </p:cNvPr>
            <p:cNvSpPr txBox="1"/>
            <p:nvPr/>
          </p:nvSpPr>
          <p:spPr>
            <a:xfrm>
              <a:off x="14566088" y="4540159"/>
              <a:ext cx="2602321" cy="877163"/>
            </a:xfrm>
            <a:prstGeom prst="rect">
              <a:avLst/>
            </a:prstGeom>
            <a:noFill/>
          </p:spPr>
          <p:txBody>
            <a:bodyPr wrap="square" rtlCol="0">
              <a:spAutoFit/>
            </a:bodyPr>
            <a:lstStyle/>
            <a:p>
              <a:pPr marL="0" marR="0" lvl="0" indent="0" algn="r" defTabSz="457223"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150" normalizeH="0" baseline="0" noProof="0" dirty="0">
                  <a:ln>
                    <a:noFill/>
                  </a:ln>
                  <a:solidFill>
                    <a:srgbClr val="002060"/>
                  </a:solidFill>
                  <a:effectLst/>
                  <a:uLnTx/>
                  <a:uFillTx/>
                  <a:latin typeface="Montserrat" panose="00000500000000000000" pitchFamily="2" charset="0"/>
                  <a:ea typeface="+mn-ea"/>
                  <a:cs typeface="+mn-cs"/>
                </a:rPr>
                <a:t>Strength areas that should be leveraged to drive deeper engagements</a:t>
              </a:r>
            </a:p>
          </p:txBody>
        </p:sp>
        <p:sp>
          <p:nvSpPr>
            <p:cNvPr id="21" name="TextBox 20">
              <a:extLst>
                <a:ext uri="{FF2B5EF4-FFF2-40B4-BE49-F238E27FC236}">
                  <a16:creationId xmlns:a16="http://schemas.microsoft.com/office/drawing/2014/main" id="{F7437539-A3F6-3C5B-FD3F-10DEDA0E10C9}"/>
                </a:ext>
              </a:extLst>
            </p:cNvPr>
            <p:cNvSpPr txBox="1"/>
            <p:nvPr/>
          </p:nvSpPr>
          <p:spPr>
            <a:xfrm>
              <a:off x="14283286" y="6909742"/>
              <a:ext cx="2918383" cy="1061829"/>
            </a:xfrm>
            <a:prstGeom prst="rect">
              <a:avLst/>
            </a:prstGeom>
            <a:noFill/>
          </p:spPr>
          <p:txBody>
            <a:bodyPr wrap="square" rtlCol="0">
              <a:spAutoFit/>
            </a:bodyPr>
            <a:lstStyle/>
            <a:p>
              <a:pPr marL="0" marR="0" lvl="0" indent="0" algn="r" defTabSz="457223"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150" normalizeH="0" baseline="0" noProof="0" dirty="0">
                  <a:ln>
                    <a:noFill/>
                  </a:ln>
                  <a:solidFill>
                    <a:srgbClr val="002060"/>
                  </a:solidFill>
                  <a:effectLst/>
                  <a:uLnTx/>
                  <a:uFillTx/>
                  <a:latin typeface="Montserrat" panose="00000500000000000000" pitchFamily="2" charset="0"/>
                  <a:ea typeface="+mn-ea"/>
                  <a:cs typeface="+mn-cs"/>
                </a:rPr>
                <a:t>Areas where effort &amp; resources are being invested but the customer does not really see them as value-add</a:t>
              </a:r>
            </a:p>
          </p:txBody>
        </p:sp>
        <p:sp>
          <p:nvSpPr>
            <p:cNvPr id="22" name="TextBox 21">
              <a:extLst>
                <a:ext uri="{FF2B5EF4-FFF2-40B4-BE49-F238E27FC236}">
                  <a16:creationId xmlns:a16="http://schemas.microsoft.com/office/drawing/2014/main" id="{07BED2D6-19B2-3E9C-3D3A-6FBBA5B6D4F6}"/>
                </a:ext>
              </a:extLst>
            </p:cNvPr>
            <p:cNvSpPr txBox="1"/>
            <p:nvPr/>
          </p:nvSpPr>
          <p:spPr>
            <a:xfrm>
              <a:off x="9863999" y="6831253"/>
              <a:ext cx="3511611" cy="1246496"/>
            </a:xfrm>
            <a:prstGeom prst="rect">
              <a:avLst/>
            </a:prstGeom>
            <a:noFill/>
          </p:spPr>
          <p:txBody>
            <a:bodyPr wrap="square" rtlCol="0">
              <a:spAutoFit/>
            </a:bodyPr>
            <a:lstStyle/>
            <a:p>
              <a:pPr marL="0" marR="0" lvl="0" indent="0" algn="l" defTabSz="457223"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150" normalizeH="0" baseline="0" noProof="0" dirty="0">
                  <a:ln>
                    <a:noFill/>
                  </a:ln>
                  <a:solidFill>
                    <a:srgbClr val="002060"/>
                  </a:solidFill>
                  <a:effectLst/>
                  <a:uLnTx/>
                  <a:uFillTx/>
                  <a:latin typeface="Montserrat" panose="00000500000000000000" pitchFamily="2" charset="0"/>
                  <a:ea typeface="+mn-ea"/>
                  <a:cs typeface="+mn-cs"/>
                </a:rPr>
                <a:t>Areas where effort &amp; resources are being invested but not only does the  customer not see them as value-add; on the contrary they are detracting from the experience</a:t>
              </a:r>
            </a:p>
          </p:txBody>
        </p:sp>
      </p:grpSp>
      <p:pic>
        <p:nvPicPr>
          <p:cNvPr id="5" name="Picture 4">
            <a:extLst>
              <a:ext uri="{FF2B5EF4-FFF2-40B4-BE49-F238E27FC236}">
                <a16:creationId xmlns:a16="http://schemas.microsoft.com/office/drawing/2014/main" id="{EF68F8E9-BE89-E750-3E31-57B0DA4ADDE7}"/>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11" name="TextBox 10">
            <a:extLst>
              <a:ext uri="{FF2B5EF4-FFF2-40B4-BE49-F238E27FC236}">
                <a16:creationId xmlns:a16="http://schemas.microsoft.com/office/drawing/2014/main" id="{27B2E58C-6B4C-87E6-D33D-A8480F84498F}"/>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25</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4" name="TextBox 13">
            <a:extLst>
              <a:ext uri="{FF2B5EF4-FFF2-40B4-BE49-F238E27FC236}">
                <a16:creationId xmlns:a16="http://schemas.microsoft.com/office/drawing/2014/main" id="{58FC4DDF-1337-34EF-A27C-E6F4AF9B26C4}"/>
              </a:ext>
            </a:extLst>
          </p:cNvPr>
          <p:cNvSpPr txBox="1"/>
          <p:nvPr/>
        </p:nvSpPr>
        <p:spPr>
          <a:xfrm>
            <a:off x="10362731" y="2153366"/>
            <a:ext cx="31923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rPr>
              <a:t>1</a:t>
            </a:r>
            <a:endParaRPr kumimoji="0" lang="en-IN" sz="2400"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23" name="TextBox 22">
            <a:extLst>
              <a:ext uri="{FF2B5EF4-FFF2-40B4-BE49-F238E27FC236}">
                <a16:creationId xmlns:a16="http://schemas.microsoft.com/office/drawing/2014/main" id="{61A4C3D8-0BE1-216F-264F-A9A76CE1E609}"/>
              </a:ext>
            </a:extLst>
          </p:cNvPr>
          <p:cNvSpPr txBox="1"/>
          <p:nvPr/>
        </p:nvSpPr>
        <p:spPr>
          <a:xfrm>
            <a:off x="7093521" y="2153366"/>
            <a:ext cx="31923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rPr>
              <a:t>2</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6D179FB2-1CB0-5142-69B2-E49B97698807}"/>
              </a:ext>
            </a:extLst>
          </p:cNvPr>
          <p:cNvSpPr txBox="1"/>
          <p:nvPr/>
        </p:nvSpPr>
        <p:spPr>
          <a:xfrm>
            <a:off x="7098945" y="3948064"/>
            <a:ext cx="31923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rPr>
              <a:t>3</a:t>
            </a:r>
            <a:endParaRPr kumimoji="0" lang="en-IN" sz="2400"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
        <p:nvSpPr>
          <p:cNvPr id="35" name="TextBox 34">
            <a:extLst>
              <a:ext uri="{FF2B5EF4-FFF2-40B4-BE49-F238E27FC236}">
                <a16:creationId xmlns:a16="http://schemas.microsoft.com/office/drawing/2014/main" id="{59F5A433-8F38-6FC3-F315-354184BF4000}"/>
              </a:ext>
            </a:extLst>
          </p:cNvPr>
          <p:cNvSpPr txBox="1"/>
          <p:nvPr/>
        </p:nvSpPr>
        <p:spPr>
          <a:xfrm>
            <a:off x="10362731" y="3948064"/>
            <a:ext cx="31923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rPr>
              <a:t>4</a:t>
            </a:r>
            <a:endParaRPr kumimoji="0" lang="en-IN" sz="2400" b="0" i="0" u="none" strike="noStrike" kern="1200" cap="none" spc="0" normalizeH="0" baseline="0" noProof="0" dirty="0">
              <a:ln>
                <a:noFill/>
              </a:ln>
              <a:solidFill>
                <a:srgbClr val="002060"/>
              </a:solidFill>
              <a:effectLst/>
              <a:uLnTx/>
              <a:uFillTx/>
              <a:latin typeface="Montserrat Medium" pitchFamily="2" charset="0"/>
              <a:ea typeface="+mn-ea"/>
              <a:cs typeface="Hepta Slab Regular" pitchFamily="2" charset="0"/>
            </a:endParaRPr>
          </a:p>
        </p:txBody>
      </p:sp>
    </p:spTree>
    <p:extLst>
      <p:ext uri="{BB962C8B-B14F-4D97-AF65-F5344CB8AC3E}">
        <p14:creationId xmlns:p14="http://schemas.microsoft.com/office/powerpoint/2010/main" val="2910149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D26ECC6F-A950-9180-CC2F-8A3662F81F3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DAFC26CA-405C-23DA-D7F3-C10197112EBF}"/>
              </a:ext>
            </a:extLst>
          </p:cNvPr>
          <p:cNvGrpSpPr/>
          <p:nvPr/>
        </p:nvGrpSpPr>
        <p:grpSpPr>
          <a:xfrm>
            <a:off x="-61290" y="6053155"/>
            <a:ext cx="12253290" cy="971832"/>
            <a:chOff x="-187799" y="8336784"/>
            <a:chExt cx="18379935" cy="1457748"/>
          </a:xfrm>
        </p:grpSpPr>
        <p:pic>
          <p:nvPicPr>
            <p:cNvPr id="9" name="Picture 8">
              <a:extLst>
                <a:ext uri="{FF2B5EF4-FFF2-40B4-BE49-F238E27FC236}">
                  <a16:creationId xmlns:a16="http://schemas.microsoft.com/office/drawing/2014/main" id="{C0C53EF0-4F55-04EC-7739-F265E2161D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0" name="Title 1">
              <a:extLst>
                <a:ext uri="{FF2B5EF4-FFF2-40B4-BE49-F238E27FC236}">
                  <a16:creationId xmlns:a16="http://schemas.microsoft.com/office/drawing/2014/main" id="{22779E4C-0EF1-5ED7-03F1-1A50ACE56F1B}"/>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1" name="Picture 10">
              <a:extLst>
                <a:ext uri="{FF2B5EF4-FFF2-40B4-BE49-F238E27FC236}">
                  <a16:creationId xmlns:a16="http://schemas.microsoft.com/office/drawing/2014/main" id="{2A35C560-DFAB-D1B1-7D6E-4708FD821D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graphicFrame>
        <p:nvGraphicFramePr>
          <p:cNvPr id="5" name="Chart 4">
            <a:extLst>
              <a:ext uri="{FF2B5EF4-FFF2-40B4-BE49-F238E27FC236}">
                <a16:creationId xmlns:a16="http://schemas.microsoft.com/office/drawing/2014/main" id="{0C28657A-737A-791B-953C-E27905226159}"/>
              </a:ext>
            </a:extLst>
          </p:cNvPr>
          <p:cNvGraphicFramePr>
            <a:graphicFrameLocks/>
          </p:cNvGraphicFramePr>
          <p:nvPr>
            <p:extLst>
              <p:ext uri="{D42A27DB-BD31-4B8C-83A1-F6EECF244321}">
                <p14:modId xmlns:p14="http://schemas.microsoft.com/office/powerpoint/2010/main" val="461358103"/>
              </p:ext>
            </p:extLst>
          </p:nvPr>
        </p:nvGraphicFramePr>
        <p:xfrm>
          <a:off x="437254" y="1182918"/>
          <a:ext cx="6249295" cy="4939691"/>
        </p:xfrm>
        <a:graphic>
          <a:graphicData uri="http://schemas.openxmlformats.org/drawingml/2006/chart">
            <c:chart xmlns:c="http://schemas.openxmlformats.org/drawingml/2006/chart" xmlns:r="http://schemas.openxmlformats.org/officeDocument/2006/relationships" r:id="rId5"/>
          </a:graphicData>
        </a:graphic>
      </p:graphicFrame>
      <p:sp>
        <p:nvSpPr>
          <p:cNvPr id="2" name="Object5">
            <a:extLst>
              <a:ext uri="{FF2B5EF4-FFF2-40B4-BE49-F238E27FC236}">
                <a16:creationId xmlns:a16="http://schemas.microsoft.com/office/drawing/2014/main" id="{B83C350F-DBA5-57F7-E91F-4BE9FD627C0B}"/>
              </a:ext>
            </a:extLst>
          </p:cNvPr>
          <p:cNvSpPr/>
          <p:nvPr/>
        </p:nvSpPr>
        <p:spPr>
          <a:xfrm>
            <a:off x="460038" y="493927"/>
            <a:ext cx="6567486" cy="36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646464"/>
                </a:solidFill>
                <a:effectLst/>
                <a:uLnTx/>
                <a:uFillTx/>
                <a:latin typeface="Montserrat ExtraBold" pitchFamily="2" charset="0"/>
                <a:ea typeface="+mn-ea"/>
                <a:cs typeface="Hepta Slab Regular" pitchFamily="2" charset="0"/>
              </a:rPr>
              <a:t>WHAT WE BELIEVE</a:t>
            </a:r>
          </a:p>
        </p:txBody>
      </p:sp>
      <p:sp>
        <p:nvSpPr>
          <p:cNvPr id="3" name="TextBox 2">
            <a:extLst>
              <a:ext uri="{FF2B5EF4-FFF2-40B4-BE49-F238E27FC236}">
                <a16:creationId xmlns:a16="http://schemas.microsoft.com/office/drawing/2014/main" id="{FFE58FB1-4995-3BA4-2DEC-1BD653A2F1AD}"/>
              </a:ext>
            </a:extLst>
          </p:cNvPr>
          <p:cNvSpPr txBox="1"/>
          <p:nvPr/>
        </p:nvSpPr>
        <p:spPr>
          <a:xfrm>
            <a:off x="11788981" y="6393596"/>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26</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grpSp>
        <p:nvGrpSpPr>
          <p:cNvPr id="46" name="Group 45">
            <a:extLst>
              <a:ext uri="{FF2B5EF4-FFF2-40B4-BE49-F238E27FC236}">
                <a16:creationId xmlns:a16="http://schemas.microsoft.com/office/drawing/2014/main" id="{0FFB9175-C19E-03CA-1903-5A7A056A2085}"/>
              </a:ext>
            </a:extLst>
          </p:cNvPr>
          <p:cNvGrpSpPr/>
          <p:nvPr/>
        </p:nvGrpSpPr>
        <p:grpSpPr>
          <a:xfrm>
            <a:off x="11401122" y="869997"/>
            <a:ext cx="208566" cy="5346143"/>
            <a:chOff x="10961508" y="938280"/>
            <a:chExt cx="208566" cy="5346143"/>
          </a:xfrm>
        </p:grpSpPr>
        <p:sp>
          <p:nvSpPr>
            <p:cNvPr id="34" name="Diamond 33">
              <a:extLst>
                <a:ext uri="{FF2B5EF4-FFF2-40B4-BE49-F238E27FC236}">
                  <a16:creationId xmlns:a16="http://schemas.microsoft.com/office/drawing/2014/main" id="{8043260D-8E01-3BC8-440D-F9579363674D}"/>
                </a:ext>
              </a:extLst>
            </p:cNvPr>
            <p:cNvSpPr>
              <a:spLocks/>
            </p:cNvSpPr>
            <p:nvPr/>
          </p:nvSpPr>
          <p:spPr>
            <a:xfrm>
              <a:off x="10969390" y="5094617"/>
              <a:ext cx="200684" cy="215065"/>
            </a:xfrm>
            <a:prstGeom prst="diamond">
              <a:avLst/>
            </a:prstGeom>
            <a:solidFill>
              <a:srgbClr val="83FF59"/>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Diamond 34">
              <a:extLst>
                <a:ext uri="{FF2B5EF4-FFF2-40B4-BE49-F238E27FC236}">
                  <a16:creationId xmlns:a16="http://schemas.microsoft.com/office/drawing/2014/main" id="{9D839307-70F5-42DF-7F9A-793A8A84F6F5}"/>
                </a:ext>
              </a:extLst>
            </p:cNvPr>
            <p:cNvSpPr>
              <a:spLocks/>
            </p:cNvSpPr>
            <p:nvPr/>
          </p:nvSpPr>
          <p:spPr>
            <a:xfrm>
              <a:off x="10961508" y="938280"/>
              <a:ext cx="200684" cy="215065"/>
            </a:xfrm>
            <a:prstGeom prst="diamond">
              <a:avLst/>
            </a:prstGeom>
            <a:solidFill>
              <a:srgbClr val="2E9CB8"/>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Diamond 35">
              <a:extLst>
                <a:ext uri="{FF2B5EF4-FFF2-40B4-BE49-F238E27FC236}">
                  <a16:creationId xmlns:a16="http://schemas.microsoft.com/office/drawing/2014/main" id="{B8E6678F-12DB-0659-AEE2-233B989FAB49}"/>
                </a:ext>
              </a:extLst>
            </p:cNvPr>
            <p:cNvSpPr>
              <a:spLocks/>
            </p:cNvSpPr>
            <p:nvPr/>
          </p:nvSpPr>
          <p:spPr>
            <a:xfrm>
              <a:off x="10961508" y="3640308"/>
              <a:ext cx="200684" cy="215065"/>
            </a:xfrm>
            <a:prstGeom prst="diamond">
              <a:avLst/>
            </a:prstGeom>
            <a:solidFill>
              <a:srgbClr val="777777"/>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Diamond 36">
              <a:extLst>
                <a:ext uri="{FF2B5EF4-FFF2-40B4-BE49-F238E27FC236}">
                  <a16:creationId xmlns:a16="http://schemas.microsoft.com/office/drawing/2014/main" id="{7B881A87-91A4-578D-6623-2524CF8B9FE1}"/>
                </a:ext>
              </a:extLst>
            </p:cNvPr>
            <p:cNvSpPr>
              <a:spLocks/>
            </p:cNvSpPr>
            <p:nvPr/>
          </p:nvSpPr>
          <p:spPr>
            <a:xfrm>
              <a:off x="10961508" y="2744574"/>
              <a:ext cx="200684" cy="215065"/>
            </a:xfrm>
            <a:prstGeom prst="diamond">
              <a:avLst/>
            </a:prstGeom>
            <a:solidFill>
              <a:srgbClr val="00808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Diamond 37">
              <a:extLst>
                <a:ext uri="{FF2B5EF4-FFF2-40B4-BE49-F238E27FC236}">
                  <a16:creationId xmlns:a16="http://schemas.microsoft.com/office/drawing/2014/main" id="{C38D7D04-E681-4C7D-9712-BCD8B0D575C5}"/>
                </a:ext>
              </a:extLst>
            </p:cNvPr>
            <p:cNvSpPr>
              <a:spLocks/>
            </p:cNvSpPr>
            <p:nvPr/>
          </p:nvSpPr>
          <p:spPr>
            <a:xfrm>
              <a:off x="10963320" y="1581292"/>
              <a:ext cx="200684" cy="215065"/>
            </a:xfrm>
            <a:prstGeom prst="diamond">
              <a:avLst/>
            </a:prstGeom>
            <a:solidFill>
              <a:srgbClr val="3B7D23"/>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Diamond 38">
              <a:extLst>
                <a:ext uri="{FF2B5EF4-FFF2-40B4-BE49-F238E27FC236}">
                  <a16:creationId xmlns:a16="http://schemas.microsoft.com/office/drawing/2014/main" id="{BB9626C9-9975-6327-CA16-BCF476646C6F}"/>
                </a:ext>
              </a:extLst>
            </p:cNvPr>
            <p:cNvSpPr>
              <a:spLocks/>
            </p:cNvSpPr>
            <p:nvPr/>
          </p:nvSpPr>
          <p:spPr>
            <a:xfrm>
              <a:off x="10969390" y="2252191"/>
              <a:ext cx="200684" cy="215065"/>
            </a:xfrm>
            <a:prstGeom prst="diamond">
              <a:avLst/>
            </a:prstGeom>
            <a:solidFill>
              <a:srgbClr val="7030A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Diamond 39">
              <a:extLst>
                <a:ext uri="{FF2B5EF4-FFF2-40B4-BE49-F238E27FC236}">
                  <a16:creationId xmlns:a16="http://schemas.microsoft.com/office/drawing/2014/main" id="{E2F189A4-DA88-9AA5-2DB1-E81A71D8E7FE}"/>
                </a:ext>
              </a:extLst>
            </p:cNvPr>
            <p:cNvSpPr>
              <a:spLocks/>
            </p:cNvSpPr>
            <p:nvPr/>
          </p:nvSpPr>
          <p:spPr>
            <a:xfrm>
              <a:off x="10961508" y="4476762"/>
              <a:ext cx="200684" cy="215065"/>
            </a:xfrm>
            <a:prstGeom prst="diamond">
              <a:avLst/>
            </a:prstGeom>
            <a:solidFill>
              <a:srgbClr val="FF000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 name="Diamond 40">
              <a:extLst>
                <a:ext uri="{FF2B5EF4-FFF2-40B4-BE49-F238E27FC236}">
                  <a16:creationId xmlns:a16="http://schemas.microsoft.com/office/drawing/2014/main" id="{9BD1F296-2BF7-1A35-2919-3CE3BD1F2C86}"/>
                </a:ext>
              </a:extLst>
            </p:cNvPr>
            <p:cNvSpPr>
              <a:spLocks/>
            </p:cNvSpPr>
            <p:nvPr/>
          </p:nvSpPr>
          <p:spPr>
            <a:xfrm>
              <a:off x="10969390" y="5350399"/>
              <a:ext cx="200684" cy="215065"/>
            </a:xfrm>
            <a:prstGeom prst="diamond">
              <a:avLst/>
            </a:prstGeom>
            <a:solidFill>
              <a:srgbClr val="6F0F2D"/>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Diamond 41">
              <a:extLst>
                <a:ext uri="{FF2B5EF4-FFF2-40B4-BE49-F238E27FC236}">
                  <a16:creationId xmlns:a16="http://schemas.microsoft.com/office/drawing/2014/main" id="{BC81B80E-F8D9-3324-D8D6-6EFD2E9C9DD1}"/>
                </a:ext>
              </a:extLst>
            </p:cNvPr>
            <p:cNvSpPr>
              <a:spLocks/>
            </p:cNvSpPr>
            <p:nvPr/>
          </p:nvSpPr>
          <p:spPr>
            <a:xfrm>
              <a:off x="10969390" y="5722063"/>
              <a:ext cx="200684" cy="215065"/>
            </a:xfrm>
            <a:prstGeom prst="diamond">
              <a:avLst/>
            </a:prstGeom>
            <a:solidFill>
              <a:srgbClr val="FFC00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Diamond 42">
              <a:extLst>
                <a:ext uri="{FF2B5EF4-FFF2-40B4-BE49-F238E27FC236}">
                  <a16:creationId xmlns:a16="http://schemas.microsoft.com/office/drawing/2014/main" id="{1ED680BA-FD21-929B-597C-E8FF4AD39DAA}"/>
                </a:ext>
              </a:extLst>
            </p:cNvPr>
            <p:cNvSpPr>
              <a:spLocks/>
            </p:cNvSpPr>
            <p:nvPr/>
          </p:nvSpPr>
          <p:spPr>
            <a:xfrm>
              <a:off x="10961508" y="6069358"/>
              <a:ext cx="200684" cy="215065"/>
            </a:xfrm>
            <a:prstGeom prst="diamond">
              <a:avLst/>
            </a:prstGeom>
            <a:solidFill>
              <a:srgbClr val="E735B4"/>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4B2413A8-09F6-B52B-6D9A-FB6039733106}"/>
                </a:ext>
              </a:extLst>
            </p:cNvPr>
            <p:cNvSpPr>
              <a:spLocks/>
            </p:cNvSpPr>
            <p:nvPr/>
          </p:nvSpPr>
          <p:spPr>
            <a:xfrm>
              <a:off x="10969390" y="4830486"/>
              <a:ext cx="200684" cy="215065"/>
            </a:xfrm>
            <a:prstGeom prst="diamond">
              <a:avLst/>
            </a:prstGeom>
            <a:solidFill>
              <a:srgbClr val="00B0F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9" name="TextBox 48">
            <a:extLst>
              <a:ext uri="{FF2B5EF4-FFF2-40B4-BE49-F238E27FC236}">
                <a16:creationId xmlns:a16="http://schemas.microsoft.com/office/drawing/2014/main" id="{E868E9B3-5115-55F3-C8A9-8B1065E20F18}"/>
              </a:ext>
            </a:extLst>
          </p:cNvPr>
          <p:cNvSpPr txBox="1"/>
          <p:nvPr/>
        </p:nvSpPr>
        <p:spPr>
          <a:xfrm>
            <a:off x="1762673" y="4740272"/>
            <a:ext cx="31923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rPr>
              <a:t>3</a:t>
            </a:r>
            <a:endParaRPr kumimoji="0" lang="en-IN"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endParaRPr>
          </a:p>
        </p:txBody>
      </p:sp>
      <p:sp>
        <p:nvSpPr>
          <p:cNvPr id="51" name="TextBox 50">
            <a:extLst>
              <a:ext uri="{FF2B5EF4-FFF2-40B4-BE49-F238E27FC236}">
                <a16:creationId xmlns:a16="http://schemas.microsoft.com/office/drawing/2014/main" id="{3DFAC12A-A9EC-C4FE-CAFF-730631BEFD5C}"/>
              </a:ext>
            </a:extLst>
          </p:cNvPr>
          <p:cNvSpPr txBox="1"/>
          <p:nvPr/>
        </p:nvSpPr>
        <p:spPr>
          <a:xfrm>
            <a:off x="1737583" y="2187847"/>
            <a:ext cx="456886" cy="461665"/>
          </a:xfrm>
          <a:prstGeom prst="rect">
            <a:avLst/>
          </a:prstGeom>
          <a:noFill/>
          <a:effectLst>
            <a:outerShdw blurRad="50800" dist="50800" dir="5400000" algn="ctr" rotWithShape="0">
              <a:schemeClr val="bg1">
                <a:lumMod val="75000"/>
                <a:alpha val="0"/>
              </a:scheme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rPr>
              <a:t>2</a:t>
            </a:r>
            <a:endParaRPr kumimoji="0" lang="en-IN"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endParaRPr>
          </a:p>
        </p:txBody>
      </p:sp>
      <p:sp>
        <p:nvSpPr>
          <p:cNvPr id="52" name="TextBox 51">
            <a:extLst>
              <a:ext uri="{FF2B5EF4-FFF2-40B4-BE49-F238E27FC236}">
                <a16:creationId xmlns:a16="http://schemas.microsoft.com/office/drawing/2014/main" id="{04E536C7-8169-60F7-4E0A-2058F0FA5A6C}"/>
              </a:ext>
            </a:extLst>
          </p:cNvPr>
          <p:cNvSpPr txBox="1"/>
          <p:nvPr/>
        </p:nvSpPr>
        <p:spPr>
          <a:xfrm>
            <a:off x="5332034" y="4746436"/>
            <a:ext cx="457200" cy="461665"/>
          </a:xfrm>
          <a:prstGeom prst="rect">
            <a:avLst/>
          </a:prstGeom>
          <a:noFill/>
          <a:effectLst>
            <a:outerShdw blurRad="50800" dist="50800" dir="5400000" algn="ctr" rotWithShape="0">
              <a:srgbClr val="000000">
                <a:alpha val="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rPr>
              <a:t>4</a:t>
            </a:r>
            <a:endParaRPr kumimoji="0" lang="en-IN"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endParaRPr>
          </a:p>
        </p:txBody>
      </p:sp>
      <p:sp>
        <p:nvSpPr>
          <p:cNvPr id="53" name="TextBox 52">
            <a:extLst>
              <a:ext uri="{FF2B5EF4-FFF2-40B4-BE49-F238E27FC236}">
                <a16:creationId xmlns:a16="http://schemas.microsoft.com/office/drawing/2014/main" id="{C4C072C5-1243-FE79-7344-D411960951ED}"/>
              </a:ext>
            </a:extLst>
          </p:cNvPr>
          <p:cNvSpPr txBox="1"/>
          <p:nvPr/>
        </p:nvSpPr>
        <p:spPr>
          <a:xfrm>
            <a:off x="5364968" y="2168141"/>
            <a:ext cx="457200" cy="461665"/>
          </a:xfrm>
          <a:prstGeom prst="rect">
            <a:avLst/>
          </a:prstGeom>
          <a:noFill/>
          <a:effectLst>
            <a:outerShdw blurRad="50800" dist="50800" dir="5400000" algn="ctr" rotWithShape="0">
              <a:srgbClr val="000000">
                <a:alpha val="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rPr>
              <a:t>1</a:t>
            </a:r>
            <a:endParaRPr kumimoji="0" lang="en-IN"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endParaRPr>
          </a:p>
        </p:txBody>
      </p:sp>
      <p:graphicFrame>
        <p:nvGraphicFramePr>
          <p:cNvPr id="7" name="Table 6">
            <a:extLst>
              <a:ext uri="{FF2B5EF4-FFF2-40B4-BE49-F238E27FC236}">
                <a16:creationId xmlns:a16="http://schemas.microsoft.com/office/drawing/2014/main" id="{56B08F88-BEB4-3734-3DE0-B9684435E800}"/>
              </a:ext>
            </a:extLst>
          </p:cNvPr>
          <p:cNvGraphicFramePr>
            <a:graphicFrameLocks noGrp="1"/>
          </p:cNvGraphicFramePr>
          <p:nvPr>
            <p:extLst>
              <p:ext uri="{D42A27DB-BD31-4B8C-83A1-F6EECF244321}">
                <p14:modId xmlns:p14="http://schemas.microsoft.com/office/powerpoint/2010/main" val="2076624048"/>
              </p:ext>
            </p:extLst>
          </p:nvPr>
        </p:nvGraphicFramePr>
        <p:xfrm>
          <a:off x="6871215" y="604141"/>
          <a:ext cx="4459458" cy="5689861"/>
        </p:xfrm>
        <a:graphic>
          <a:graphicData uri="http://schemas.openxmlformats.org/drawingml/2006/table">
            <a:tbl>
              <a:tblPr>
                <a:tableStyleId>{5C22544A-7EE6-4342-B048-85BDC9FD1C3A}</a:tableStyleId>
              </a:tblPr>
              <a:tblGrid>
                <a:gridCol w="1890156">
                  <a:extLst>
                    <a:ext uri="{9D8B030D-6E8A-4147-A177-3AD203B41FA5}">
                      <a16:colId xmlns:a16="http://schemas.microsoft.com/office/drawing/2014/main" val="3554865008"/>
                    </a:ext>
                  </a:extLst>
                </a:gridCol>
                <a:gridCol w="1202826">
                  <a:extLst>
                    <a:ext uri="{9D8B030D-6E8A-4147-A177-3AD203B41FA5}">
                      <a16:colId xmlns:a16="http://schemas.microsoft.com/office/drawing/2014/main" val="3121623932"/>
                    </a:ext>
                  </a:extLst>
                </a:gridCol>
                <a:gridCol w="1366476">
                  <a:extLst>
                    <a:ext uri="{9D8B030D-6E8A-4147-A177-3AD203B41FA5}">
                      <a16:colId xmlns:a16="http://schemas.microsoft.com/office/drawing/2014/main" val="126704680"/>
                    </a:ext>
                  </a:extLst>
                </a:gridCol>
              </a:tblGrid>
              <a:tr h="245796">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200" b="0" u="none" strike="noStrike" kern="1200" spc="0" dirty="0">
                          <a:solidFill>
                            <a:schemeClr val="tx1"/>
                          </a:solidFill>
                          <a:effectLst/>
                          <a:latin typeface="Montserrat SemiBold" panose="00000700000000000000" pitchFamily="2" charset="0"/>
                          <a:ea typeface="+mn-ea"/>
                          <a:cs typeface="+mn-cs"/>
                        </a:rPr>
                        <a:t>Attributes</a:t>
                      </a:r>
                    </a:p>
                  </a:txBody>
                  <a:tcPr marL="8210" marR="8210" marT="8210" marB="0" anchor="ctr">
                    <a:lnL w="12700" cmpd="sng">
                      <a:noFill/>
                    </a:lnL>
                    <a:lnR w="28575" cap="flat" cmpd="sng" algn="ctr">
                      <a:solidFill>
                        <a:srgbClr val="F6EFEA"/>
                      </a:solidFill>
                      <a:prstDash val="solid"/>
                      <a:round/>
                      <a:headEnd type="none" w="med" len="med"/>
                      <a:tailEnd type="none" w="med" len="med"/>
                    </a:lnR>
                    <a:lnT w="12700" cmpd="sng">
                      <a:noFill/>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200" b="0" u="none" strike="noStrike" kern="1200" spc="0" dirty="0">
                          <a:solidFill>
                            <a:schemeClr val="tx1"/>
                          </a:solidFill>
                          <a:effectLst/>
                          <a:latin typeface="Montserrat SemiBold" panose="00000700000000000000" pitchFamily="2" charset="0"/>
                          <a:ea typeface="+mn-ea"/>
                          <a:cs typeface="+mn-cs"/>
                        </a:rPr>
                        <a:t>Importance</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12700" cmpd="sng">
                      <a:noFill/>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200" b="0" u="none" strike="noStrike" kern="1200" spc="0" dirty="0">
                          <a:solidFill>
                            <a:schemeClr val="tx1"/>
                          </a:solidFill>
                          <a:effectLst/>
                          <a:latin typeface="Montserrat SemiBold" panose="00000700000000000000" pitchFamily="2" charset="0"/>
                          <a:ea typeface="+mn-ea"/>
                          <a:cs typeface="+mn-cs"/>
                        </a:rPr>
                        <a:t>Performance</a:t>
                      </a:r>
                    </a:p>
                  </a:txBody>
                  <a:tcPr marL="8210" marR="8210" marT="8210" marB="0" anchor="ctr">
                    <a:lnL w="28575" cap="flat" cmpd="sng" algn="ctr">
                      <a:solidFill>
                        <a:srgbClr val="F6EFEA"/>
                      </a:solidFill>
                      <a:prstDash val="solid"/>
                      <a:round/>
                      <a:headEnd type="none" w="med" len="med"/>
                      <a:tailEnd type="none" w="med" len="med"/>
                    </a:lnL>
                    <a:lnR w="12700" cmpd="sng">
                      <a:noFill/>
                    </a:lnR>
                    <a:lnT w="12700" cmpd="sng">
                      <a:noFill/>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84891"/>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Remittance arrangements</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062720"/>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RM</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1</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2400239"/>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Private/ Relationship banking</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025978402"/>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Onboarding experience</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581510325"/>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Eligibility criteria</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016234836"/>
                  </a:ext>
                </a:extLst>
              </a:tr>
              <a:tr h="245796">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Credit card</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1.5</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0</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4770422"/>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Debit Card</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1</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1</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304319"/>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Banking Channel</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22259094"/>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Concierge services</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773968546"/>
                  </a:ext>
                </a:extLst>
              </a:tr>
              <a:tr h="245796">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Wealth Management</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1</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9655064"/>
                  </a:ext>
                </a:extLst>
              </a:tr>
              <a:tr h="337968">
                <a:tc>
                  <a:txBody>
                    <a:bodyPr/>
                    <a:lstStyle/>
                    <a:p>
                      <a:pPr marL="0" algn="ctr" defTabSz="914446" rtl="0" eaLnBrk="1" fontAlgn="ctr" latinLnBrk="0" hangingPunct="1"/>
                      <a:r>
                        <a:rPr lang="en-GB" sz="1000" b="0" i="0" u="none" strike="noStrike" kern="1200" dirty="0">
                          <a:solidFill>
                            <a:srgbClr val="000000"/>
                          </a:solidFill>
                          <a:effectLst/>
                          <a:latin typeface="Montserrat Medium" panose="00000600000000000000" pitchFamily="2" charset="0"/>
                          <a:ea typeface="+mn-ea"/>
                          <a:cs typeface="+mn-cs"/>
                        </a:rPr>
                        <a:t>Dedicated Customer Care( Celesta Desk)</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027462641"/>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Product features</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953065861"/>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Infrastructure in the branches</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610470770"/>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Customised offers</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0.5</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0.5</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3224744"/>
                  </a:ext>
                </a:extLst>
              </a:tr>
              <a:tr h="245796">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Personalized/Rewards point</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979151126"/>
                  </a:ext>
                </a:extLst>
              </a:tr>
              <a:tr h="245796">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Doorstep banking</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0</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1.5</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524726"/>
                  </a:ext>
                </a:extLst>
              </a:tr>
              <a:tr h="245796">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Concessional rates</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0</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1</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2808444"/>
                  </a:ext>
                </a:extLst>
              </a:tr>
              <a:tr h="245796">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Complimentory Insurance</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-0.5</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4777240"/>
                  </a:ext>
                </a:extLst>
              </a:tr>
              <a:tr h="352436">
                <a:tc>
                  <a:txBody>
                    <a:bodyPr/>
                    <a:lstStyle/>
                    <a:p>
                      <a:pPr marL="0" algn="ctr" defTabSz="914446" rtl="0" eaLnBrk="1" fontAlgn="ctr" latinLnBrk="0" hangingPunct="1"/>
                      <a:r>
                        <a:rPr lang="en-GB" sz="1000" b="0" i="0" u="none" strike="noStrike" kern="1200">
                          <a:solidFill>
                            <a:srgbClr val="000000"/>
                          </a:solidFill>
                          <a:effectLst/>
                          <a:latin typeface="Montserrat Medium" panose="00000600000000000000" pitchFamily="2" charset="0"/>
                          <a:ea typeface="+mn-ea"/>
                          <a:cs typeface="+mn-cs"/>
                        </a:rPr>
                        <a:t>High Cash intensive transactions (higher withdrawal limits etc)</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8465096"/>
                  </a:ext>
                </a:extLst>
              </a:tr>
              <a:tr h="327727">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Lounge program</a:t>
                      </a:r>
                    </a:p>
                  </a:txBody>
                  <a:tcPr marL="8210" marR="8210" marT="821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914446" rtl="0" eaLnBrk="1" fontAlgn="ctr" latinLnBrk="0" hangingPunct="1"/>
                      <a:r>
                        <a:rPr lang="en-IN" sz="1000" b="0" i="0" u="none" strike="noStrike" kern="1200" dirty="0">
                          <a:solidFill>
                            <a:srgbClr val="000000"/>
                          </a:solidFill>
                          <a:effectLst/>
                          <a:latin typeface="Montserrat Medium" panose="00000600000000000000" pitchFamily="2" charset="0"/>
                          <a:ea typeface="+mn-ea"/>
                          <a:cs typeface="+mn-cs"/>
                        </a:rPr>
                        <a:t>2</a:t>
                      </a:r>
                    </a:p>
                  </a:txBody>
                  <a:tcPr marL="8210" marR="8210" marT="821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72449586"/>
                  </a:ext>
                </a:extLst>
              </a:tr>
            </a:tbl>
          </a:graphicData>
        </a:graphic>
      </p:graphicFrame>
      <p:sp>
        <p:nvSpPr>
          <p:cNvPr id="16" name="Oval 15">
            <a:extLst>
              <a:ext uri="{FF2B5EF4-FFF2-40B4-BE49-F238E27FC236}">
                <a16:creationId xmlns:a16="http://schemas.microsoft.com/office/drawing/2014/main" id="{B6DB884A-F4EA-6B18-0DE6-4A17A547B573}"/>
              </a:ext>
            </a:extLst>
          </p:cNvPr>
          <p:cNvSpPr/>
          <p:nvPr/>
        </p:nvSpPr>
        <p:spPr>
          <a:xfrm>
            <a:off x="5237875" y="2124679"/>
            <a:ext cx="584293" cy="548588"/>
          </a:xfrm>
          <a:prstGeom prst="ellipse">
            <a:avLst/>
          </a:prstGeom>
          <a:noFill/>
          <a:ln>
            <a:solidFill>
              <a:srgbClr val="C2BE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ontserrat Medium" panose="00000600000000000000" pitchFamily="2" charset="0"/>
              <a:ea typeface="+mn-ea"/>
              <a:cs typeface="+mn-cs"/>
            </a:endParaRPr>
          </a:p>
        </p:txBody>
      </p:sp>
      <p:sp>
        <p:nvSpPr>
          <p:cNvPr id="17" name="Oval 16">
            <a:extLst>
              <a:ext uri="{FF2B5EF4-FFF2-40B4-BE49-F238E27FC236}">
                <a16:creationId xmlns:a16="http://schemas.microsoft.com/office/drawing/2014/main" id="{9BFAF70D-D473-C93A-EB0B-5DE723B24E82}"/>
              </a:ext>
            </a:extLst>
          </p:cNvPr>
          <p:cNvSpPr/>
          <p:nvPr/>
        </p:nvSpPr>
        <p:spPr>
          <a:xfrm>
            <a:off x="5237875" y="4733528"/>
            <a:ext cx="584293" cy="548588"/>
          </a:xfrm>
          <a:prstGeom prst="ellipse">
            <a:avLst/>
          </a:prstGeom>
          <a:noFill/>
          <a:ln>
            <a:solidFill>
              <a:srgbClr val="C2BE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ontserrat Medium" panose="00000600000000000000" pitchFamily="2" charset="0"/>
              <a:ea typeface="+mn-ea"/>
              <a:cs typeface="+mn-cs"/>
            </a:endParaRPr>
          </a:p>
        </p:txBody>
      </p:sp>
      <p:sp>
        <p:nvSpPr>
          <p:cNvPr id="18" name="Oval 17">
            <a:extLst>
              <a:ext uri="{FF2B5EF4-FFF2-40B4-BE49-F238E27FC236}">
                <a16:creationId xmlns:a16="http://schemas.microsoft.com/office/drawing/2014/main" id="{C3844F03-CB2C-A7AE-D803-DAF839D2C144}"/>
              </a:ext>
            </a:extLst>
          </p:cNvPr>
          <p:cNvSpPr/>
          <p:nvPr/>
        </p:nvSpPr>
        <p:spPr>
          <a:xfrm>
            <a:off x="1618068" y="4727364"/>
            <a:ext cx="584293" cy="548588"/>
          </a:xfrm>
          <a:prstGeom prst="ellipse">
            <a:avLst/>
          </a:prstGeom>
          <a:noFill/>
          <a:ln>
            <a:solidFill>
              <a:srgbClr val="C2BE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ontserrat Medium" panose="00000600000000000000" pitchFamily="2" charset="0"/>
              <a:ea typeface="+mn-ea"/>
              <a:cs typeface="+mn-cs"/>
            </a:endParaRPr>
          </a:p>
        </p:txBody>
      </p:sp>
      <p:sp>
        <p:nvSpPr>
          <p:cNvPr id="19" name="Oval 18">
            <a:extLst>
              <a:ext uri="{FF2B5EF4-FFF2-40B4-BE49-F238E27FC236}">
                <a16:creationId xmlns:a16="http://schemas.microsoft.com/office/drawing/2014/main" id="{8AA3AEBA-80D2-9200-EF7D-D90C4313AF33}"/>
              </a:ext>
            </a:extLst>
          </p:cNvPr>
          <p:cNvSpPr/>
          <p:nvPr/>
        </p:nvSpPr>
        <p:spPr>
          <a:xfrm>
            <a:off x="1618068" y="2125545"/>
            <a:ext cx="584293" cy="548588"/>
          </a:xfrm>
          <a:prstGeom prst="ellipse">
            <a:avLst/>
          </a:prstGeom>
          <a:noFill/>
          <a:ln>
            <a:solidFill>
              <a:srgbClr val="C2BE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ontserrat Medium" panose="00000600000000000000" pitchFamily="2" charset="0"/>
              <a:ea typeface="+mn-ea"/>
              <a:cs typeface="+mn-cs"/>
            </a:endParaRPr>
          </a:p>
        </p:txBody>
      </p:sp>
    </p:spTree>
    <p:extLst>
      <p:ext uri="{BB962C8B-B14F-4D97-AF65-F5344CB8AC3E}">
        <p14:creationId xmlns:p14="http://schemas.microsoft.com/office/powerpoint/2010/main" val="160191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1BFEC5D4-9D84-7601-4635-B42347AB427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CB66339-02FC-A80E-F12E-9723DBF936A0}"/>
              </a:ext>
            </a:extLst>
          </p:cNvPr>
          <p:cNvGrpSpPr/>
          <p:nvPr/>
        </p:nvGrpSpPr>
        <p:grpSpPr>
          <a:xfrm>
            <a:off x="-61290" y="6053155"/>
            <a:ext cx="12253290" cy="971832"/>
            <a:chOff x="-187799" y="8336784"/>
            <a:chExt cx="18379935" cy="1457748"/>
          </a:xfrm>
        </p:grpSpPr>
        <p:pic>
          <p:nvPicPr>
            <p:cNvPr id="9" name="Picture 8">
              <a:extLst>
                <a:ext uri="{FF2B5EF4-FFF2-40B4-BE49-F238E27FC236}">
                  <a16:creationId xmlns:a16="http://schemas.microsoft.com/office/drawing/2014/main" id="{8CA033EB-4EB0-7FC0-02B6-87C2B6EA59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0" name="Title 1">
              <a:extLst>
                <a:ext uri="{FF2B5EF4-FFF2-40B4-BE49-F238E27FC236}">
                  <a16:creationId xmlns:a16="http://schemas.microsoft.com/office/drawing/2014/main" id="{FE483B1D-E1B6-B4D2-966A-B7C2D71D3AF5}"/>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1" name="Picture 10">
              <a:extLst>
                <a:ext uri="{FF2B5EF4-FFF2-40B4-BE49-F238E27FC236}">
                  <a16:creationId xmlns:a16="http://schemas.microsoft.com/office/drawing/2014/main" id="{BF02B8F0-A7F4-9DD4-CC2C-D0DF2A614A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7" name="Object5">
            <a:extLst>
              <a:ext uri="{FF2B5EF4-FFF2-40B4-BE49-F238E27FC236}">
                <a16:creationId xmlns:a16="http://schemas.microsoft.com/office/drawing/2014/main" id="{D3052C08-D969-72C5-DF71-5E13681A39F6}"/>
              </a:ext>
            </a:extLst>
          </p:cNvPr>
          <p:cNvSpPr/>
          <p:nvPr/>
        </p:nvSpPr>
        <p:spPr>
          <a:xfrm>
            <a:off x="460038" y="493927"/>
            <a:ext cx="6567486" cy="36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646464"/>
                </a:solidFill>
                <a:effectLst/>
                <a:uLnTx/>
                <a:uFillTx/>
                <a:latin typeface="Montserrat ExtraBold" pitchFamily="2" charset="0"/>
                <a:ea typeface="+mn-ea"/>
                <a:cs typeface="Hepta Slab Regular" pitchFamily="2" charset="0"/>
              </a:rPr>
              <a:t>WHAT CUSTOMERS PERCEIVE</a:t>
            </a:r>
          </a:p>
        </p:txBody>
      </p:sp>
      <p:sp>
        <p:nvSpPr>
          <p:cNvPr id="15" name="Object5">
            <a:extLst>
              <a:ext uri="{FF2B5EF4-FFF2-40B4-BE49-F238E27FC236}">
                <a16:creationId xmlns:a16="http://schemas.microsoft.com/office/drawing/2014/main" id="{DB845195-37ED-52C9-D5A2-B44D7076298B}"/>
              </a:ext>
            </a:extLst>
          </p:cNvPr>
          <p:cNvSpPr/>
          <p:nvPr/>
        </p:nvSpPr>
        <p:spPr>
          <a:xfrm>
            <a:off x="9410700" y="4173538"/>
            <a:ext cx="1155700" cy="249237"/>
          </a:xfrm>
          <a:prstGeom prst="rect">
            <a:avLst/>
          </a:prstGeom>
          <a:noFill/>
          <a:ln/>
        </p:spPr>
        <p:txBody>
          <a:bodyPr wrap="square" lIns="0" tIns="0" rIns="0" bIns="0"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002060"/>
              </a:solidFill>
              <a:effectLst/>
              <a:uLnTx/>
              <a:uFillTx/>
              <a:latin typeface="Montserrat Medium" pitchFamily="2" charset="0"/>
              <a:ea typeface="+mn-ea"/>
              <a:cs typeface="Hepta Slab Regular" pitchFamily="2" charset="0"/>
            </a:endParaRPr>
          </a:p>
        </p:txBody>
      </p:sp>
      <p:graphicFrame>
        <p:nvGraphicFramePr>
          <p:cNvPr id="17" name="Chart 16">
            <a:extLst>
              <a:ext uri="{FF2B5EF4-FFF2-40B4-BE49-F238E27FC236}">
                <a16:creationId xmlns:a16="http://schemas.microsoft.com/office/drawing/2014/main" id="{D49E41F8-423E-A3B7-2CB2-293B4DEA2A93}"/>
              </a:ext>
            </a:extLst>
          </p:cNvPr>
          <p:cNvGraphicFramePr>
            <a:graphicFrameLocks/>
          </p:cNvGraphicFramePr>
          <p:nvPr>
            <p:extLst>
              <p:ext uri="{D42A27DB-BD31-4B8C-83A1-F6EECF244321}">
                <p14:modId xmlns:p14="http://schemas.microsoft.com/office/powerpoint/2010/main" val="2891479336"/>
              </p:ext>
            </p:extLst>
          </p:nvPr>
        </p:nvGraphicFramePr>
        <p:xfrm>
          <a:off x="371834" y="1115802"/>
          <a:ext cx="6209160" cy="5191991"/>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6D0D6209-CA36-D5C0-013E-36E84EB1B987}"/>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27</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5" name="Object5">
            <a:extLst>
              <a:ext uri="{FF2B5EF4-FFF2-40B4-BE49-F238E27FC236}">
                <a16:creationId xmlns:a16="http://schemas.microsoft.com/office/drawing/2014/main" id="{2613AEBB-74CD-4DD5-B975-478ADFD43815}"/>
              </a:ext>
            </a:extLst>
          </p:cNvPr>
          <p:cNvSpPr/>
          <p:nvPr/>
        </p:nvSpPr>
        <p:spPr>
          <a:xfrm>
            <a:off x="22593275" y="9222350"/>
            <a:ext cx="1136760" cy="273078"/>
          </a:xfrm>
          <a:prstGeom prst="rect">
            <a:avLst/>
          </a:prstGeom>
          <a:noFill/>
          <a:ln/>
        </p:spPr>
        <p:txBody>
          <a:bodyPr wrap="square" lIns="0" tIns="0" rIns="0" bIns="0"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002060"/>
              </a:solidFill>
              <a:effectLst/>
              <a:uLnTx/>
              <a:uFillTx/>
              <a:latin typeface="Montserrat Medium" pitchFamily="2" charset="0"/>
              <a:ea typeface="+mn-ea"/>
              <a:cs typeface="Hepta Slab Regular" pitchFamily="2" charset="0"/>
            </a:endParaRPr>
          </a:p>
        </p:txBody>
      </p:sp>
      <p:sp>
        <p:nvSpPr>
          <p:cNvPr id="13" name="Object5">
            <a:extLst>
              <a:ext uri="{FF2B5EF4-FFF2-40B4-BE49-F238E27FC236}">
                <a16:creationId xmlns:a16="http://schemas.microsoft.com/office/drawing/2014/main" id="{F6F7E88E-61C1-4C9B-9BF4-FCD1F7F9F4D9}"/>
              </a:ext>
            </a:extLst>
          </p:cNvPr>
          <p:cNvSpPr/>
          <p:nvPr/>
        </p:nvSpPr>
        <p:spPr>
          <a:xfrm>
            <a:off x="22593275" y="9222350"/>
            <a:ext cx="1136760" cy="273078"/>
          </a:xfrm>
          <a:prstGeom prst="rect">
            <a:avLst/>
          </a:prstGeom>
          <a:noFill/>
          <a:ln/>
        </p:spPr>
        <p:txBody>
          <a:bodyPr wrap="square" lIns="0" tIns="0" rIns="0" bIns="0"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002060"/>
              </a:solidFill>
              <a:effectLst/>
              <a:uLnTx/>
              <a:uFillTx/>
              <a:latin typeface="Montserrat Medium" pitchFamily="2" charset="0"/>
              <a:ea typeface="+mn-ea"/>
              <a:cs typeface="Hepta Slab Regular" pitchFamily="2" charset="0"/>
            </a:endParaRPr>
          </a:p>
        </p:txBody>
      </p:sp>
      <p:sp>
        <p:nvSpPr>
          <p:cNvPr id="16" name="Object5">
            <a:extLst>
              <a:ext uri="{FF2B5EF4-FFF2-40B4-BE49-F238E27FC236}">
                <a16:creationId xmlns:a16="http://schemas.microsoft.com/office/drawing/2014/main" id="{EC8B44AE-A711-4ACA-BE5A-CA8C4778A017}"/>
              </a:ext>
            </a:extLst>
          </p:cNvPr>
          <p:cNvSpPr/>
          <p:nvPr/>
        </p:nvSpPr>
        <p:spPr>
          <a:xfrm>
            <a:off x="22593275" y="7630088"/>
            <a:ext cx="1136760" cy="273077"/>
          </a:xfrm>
          <a:prstGeom prst="rect">
            <a:avLst/>
          </a:prstGeom>
          <a:noFill/>
          <a:ln/>
        </p:spPr>
        <p:txBody>
          <a:bodyPr wrap="square" lIns="0" tIns="0" rIns="0" bIns="0"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002060"/>
              </a:solidFill>
              <a:effectLst/>
              <a:uLnTx/>
              <a:uFillTx/>
              <a:latin typeface="Montserrat Medium" pitchFamily="2" charset="0"/>
              <a:ea typeface="+mn-ea"/>
              <a:cs typeface="Hepta Slab Regular" pitchFamily="2" charset="0"/>
            </a:endParaRPr>
          </a:p>
        </p:txBody>
      </p:sp>
      <p:sp>
        <p:nvSpPr>
          <p:cNvPr id="19" name="Object5">
            <a:extLst>
              <a:ext uri="{FF2B5EF4-FFF2-40B4-BE49-F238E27FC236}">
                <a16:creationId xmlns:a16="http://schemas.microsoft.com/office/drawing/2014/main" id="{B106C82A-658F-4247-A4FF-9CE1EA3BFAA0}"/>
              </a:ext>
            </a:extLst>
          </p:cNvPr>
          <p:cNvSpPr/>
          <p:nvPr/>
        </p:nvSpPr>
        <p:spPr>
          <a:xfrm>
            <a:off x="22593275" y="7630088"/>
            <a:ext cx="1136760" cy="273077"/>
          </a:xfrm>
          <a:prstGeom prst="rect">
            <a:avLst/>
          </a:prstGeom>
          <a:noFill/>
          <a:ln/>
        </p:spPr>
        <p:txBody>
          <a:bodyPr wrap="square" lIns="0" tIns="0" rIns="0" bIns="0"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002060"/>
              </a:solidFill>
              <a:effectLst/>
              <a:uLnTx/>
              <a:uFillTx/>
              <a:latin typeface="Montserrat Medium" pitchFamily="2" charset="0"/>
              <a:ea typeface="+mn-ea"/>
              <a:cs typeface="Hepta Slab Regular" pitchFamily="2" charset="0"/>
            </a:endParaRPr>
          </a:p>
        </p:txBody>
      </p:sp>
      <p:grpSp>
        <p:nvGrpSpPr>
          <p:cNvPr id="39" name="Group 38">
            <a:extLst>
              <a:ext uri="{FF2B5EF4-FFF2-40B4-BE49-F238E27FC236}">
                <a16:creationId xmlns:a16="http://schemas.microsoft.com/office/drawing/2014/main" id="{1B919EA3-A015-424A-B260-17D880E3644A}"/>
              </a:ext>
            </a:extLst>
          </p:cNvPr>
          <p:cNvGrpSpPr/>
          <p:nvPr/>
        </p:nvGrpSpPr>
        <p:grpSpPr>
          <a:xfrm>
            <a:off x="11248570" y="840300"/>
            <a:ext cx="214952" cy="5467493"/>
            <a:chOff x="10706249" y="1141598"/>
            <a:chExt cx="214952" cy="5467493"/>
          </a:xfrm>
        </p:grpSpPr>
        <p:sp>
          <p:nvSpPr>
            <p:cNvPr id="22" name="Diamond 21">
              <a:extLst>
                <a:ext uri="{FF2B5EF4-FFF2-40B4-BE49-F238E27FC236}">
                  <a16:creationId xmlns:a16="http://schemas.microsoft.com/office/drawing/2014/main" id="{11DF4093-F2A5-08B8-D15E-2E772D5015F4}"/>
                </a:ext>
              </a:extLst>
            </p:cNvPr>
            <p:cNvSpPr>
              <a:spLocks/>
            </p:cNvSpPr>
            <p:nvPr/>
          </p:nvSpPr>
          <p:spPr>
            <a:xfrm>
              <a:off x="10706249" y="1141598"/>
              <a:ext cx="200684" cy="215065"/>
            </a:xfrm>
            <a:prstGeom prst="diamond">
              <a:avLst/>
            </a:prstGeom>
            <a:solidFill>
              <a:srgbClr val="FFC00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Diamond 26">
              <a:extLst>
                <a:ext uri="{FF2B5EF4-FFF2-40B4-BE49-F238E27FC236}">
                  <a16:creationId xmlns:a16="http://schemas.microsoft.com/office/drawing/2014/main" id="{D2AA1E86-DA91-AB10-3011-FB2E6C89C416}"/>
                </a:ext>
              </a:extLst>
            </p:cNvPr>
            <p:cNvSpPr>
              <a:spLocks/>
            </p:cNvSpPr>
            <p:nvPr/>
          </p:nvSpPr>
          <p:spPr>
            <a:xfrm>
              <a:off x="10706249" y="1427569"/>
              <a:ext cx="200684" cy="215065"/>
            </a:xfrm>
            <a:prstGeom prst="diamond">
              <a:avLst/>
            </a:prstGeom>
            <a:solidFill>
              <a:srgbClr val="E735B4"/>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Diamond 27">
              <a:extLst>
                <a:ext uri="{FF2B5EF4-FFF2-40B4-BE49-F238E27FC236}">
                  <a16:creationId xmlns:a16="http://schemas.microsoft.com/office/drawing/2014/main" id="{7E2AABA6-334A-ABC4-BB98-E0D282F0B213}"/>
                </a:ext>
              </a:extLst>
            </p:cNvPr>
            <p:cNvSpPr>
              <a:spLocks/>
            </p:cNvSpPr>
            <p:nvPr/>
          </p:nvSpPr>
          <p:spPr>
            <a:xfrm>
              <a:off x="10706249" y="1710327"/>
              <a:ext cx="200684" cy="215065"/>
            </a:xfrm>
            <a:prstGeom prst="diamond">
              <a:avLst/>
            </a:prstGeom>
            <a:solidFill>
              <a:srgbClr val="83FF59"/>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Diamond 28">
              <a:extLst>
                <a:ext uri="{FF2B5EF4-FFF2-40B4-BE49-F238E27FC236}">
                  <a16:creationId xmlns:a16="http://schemas.microsoft.com/office/drawing/2014/main" id="{FF902DA3-4F79-4B86-5647-AEDD6E627A45}"/>
                </a:ext>
              </a:extLst>
            </p:cNvPr>
            <p:cNvSpPr>
              <a:spLocks/>
            </p:cNvSpPr>
            <p:nvPr/>
          </p:nvSpPr>
          <p:spPr>
            <a:xfrm>
              <a:off x="10706249" y="2749962"/>
              <a:ext cx="200684" cy="215065"/>
            </a:xfrm>
            <a:prstGeom prst="diamond">
              <a:avLst/>
            </a:prstGeom>
            <a:solidFill>
              <a:srgbClr val="777777"/>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Diamond 29">
              <a:extLst>
                <a:ext uri="{FF2B5EF4-FFF2-40B4-BE49-F238E27FC236}">
                  <a16:creationId xmlns:a16="http://schemas.microsoft.com/office/drawing/2014/main" id="{3500E16C-3EA9-4BF7-2A62-304BBD0EF16D}"/>
                </a:ext>
              </a:extLst>
            </p:cNvPr>
            <p:cNvSpPr>
              <a:spLocks/>
            </p:cNvSpPr>
            <p:nvPr/>
          </p:nvSpPr>
          <p:spPr>
            <a:xfrm>
              <a:off x="10706249" y="4043301"/>
              <a:ext cx="200684" cy="215065"/>
            </a:xfrm>
            <a:prstGeom prst="diamond">
              <a:avLst/>
            </a:prstGeom>
            <a:solidFill>
              <a:srgbClr val="FF000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Diamond 30">
              <a:extLst>
                <a:ext uri="{FF2B5EF4-FFF2-40B4-BE49-F238E27FC236}">
                  <a16:creationId xmlns:a16="http://schemas.microsoft.com/office/drawing/2014/main" id="{6768F565-F81B-2C13-D7A2-09DCB7C27950}"/>
                </a:ext>
              </a:extLst>
            </p:cNvPr>
            <p:cNvSpPr>
              <a:spLocks/>
            </p:cNvSpPr>
            <p:nvPr/>
          </p:nvSpPr>
          <p:spPr>
            <a:xfrm>
              <a:off x="10720517" y="4545198"/>
              <a:ext cx="200684" cy="215065"/>
            </a:xfrm>
            <a:prstGeom prst="diamond">
              <a:avLst/>
            </a:prstGeom>
            <a:solidFill>
              <a:srgbClr val="00808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Diamond 31">
              <a:extLst>
                <a:ext uri="{FF2B5EF4-FFF2-40B4-BE49-F238E27FC236}">
                  <a16:creationId xmlns:a16="http://schemas.microsoft.com/office/drawing/2014/main" id="{A6E270CC-4BD9-0EF7-FD09-442C0F57EF2D}"/>
                </a:ext>
              </a:extLst>
            </p:cNvPr>
            <p:cNvSpPr>
              <a:spLocks/>
            </p:cNvSpPr>
            <p:nvPr/>
          </p:nvSpPr>
          <p:spPr>
            <a:xfrm>
              <a:off x="10706249" y="5177707"/>
              <a:ext cx="200684" cy="215065"/>
            </a:xfrm>
            <a:prstGeom prst="diamond">
              <a:avLst/>
            </a:prstGeom>
            <a:solidFill>
              <a:srgbClr val="3B7D23"/>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Diamond 32">
              <a:extLst>
                <a:ext uri="{FF2B5EF4-FFF2-40B4-BE49-F238E27FC236}">
                  <a16:creationId xmlns:a16="http://schemas.microsoft.com/office/drawing/2014/main" id="{B3F976EF-ACF9-21EA-CE48-81C32530A764}"/>
                </a:ext>
              </a:extLst>
            </p:cNvPr>
            <p:cNvSpPr>
              <a:spLocks/>
            </p:cNvSpPr>
            <p:nvPr/>
          </p:nvSpPr>
          <p:spPr>
            <a:xfrm>
              <a:off x="10706249" y="5710170"/>
              <a:ext cx="200684" cy="215065"/>
            </a:xfrm>
            <a:prstGeom prst="diamond">
              <a:avLst/>
            </a:prstGeom>
            <a:solidFill>
              <a:srgbClr val="7030A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Diamond 33">
              <a:extLst>
                <a:ext uri="{FF2B5EF4-FFF2-40B4-BE49-F238E27FC236}">
                  <a16:creationId xmlns:a16="http://schemas.microsoft.com/office/drawing/2014/main" id="{EE4BC974-A6E9-5DA7-B8D4-BD689612AC34}"/>
                </a:ext>
              </a:extLst>
            </p:cNvPr>
            <p:cNvSpPr>
              <a:spLocks/>
            </p:cNvSpPr>
            <p:nvPr/>
          </p:nvSpPr>
          <p:spPr>
            <a:xfrm>
              <a:off x="10706249" y="6080304"/>
              <a:ext cx="200684" cy="215065"/>
            </a:xfrm>
            <a:prstGeom prst="diamond">
              <a:avLst/>
            </a:prstGeom>
            <a:solidFill>
              <a:srgbClr val="00B0F0"/>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Diamond 34">
              <a:extLst>
                <a:ext uri="{FF2B5EF4-FFF2-40B4-BE49-F238E27FC236}">
                  <a16:creationId xmlns:a16="http://schemas.microsoft.com/office/drawing/2014/main" id="{108DFA1B-097D-DA90-96F9-54F76886BC0C}"/>
                </a:ext>
              </a:extLst>
            </p:cNvPr>
            <p:cNvSpPr>
              <a:spLocks/>
            </p:cNvSpPr>
            <p:nvPr/>
          </p:nvSpPr>
          <p:spPr>
            <a:xfrm>
              <a:off x="10706249" y="6394026"/>
              <a:ext cx="200684" cy="215065"/>
            </a:xfrm>
            <a:prstGeom prst="diamond">
              <a:avLst/>
            </a:prstGeom>
            <a:solidFill>
              <a:srgbClr val="6F0F2D"/>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3" name="TextBox 52">
            <a:extLst>
              <a:ext uri="{FF2B5EF4-FFF2-40B4-BE49-F238E27FC236}">
                <a16:creationId xmlns:a16="http://schemas.microsoft.com/office/drawing/2014/main" id="{1E45DD45-76EC-31CB-ADB8-38C68428C3A1}"/>
              </a:ext>
            </a:extLst>
          </p:cNvPr>
          <p:cNvSpPr txBox="1"/>
          <p:nvPr/>
        </p:nvSpPr>
        <p:spPr>
          <a:xfrm>
            <a:off x="1222318" y="2220572"/>
            <a:ext cx="31923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white">
                  <a:lumMod val="65000"/>
                </a:prstClr>
              </a:solidFill>
              <a:effectLst/>
              <a:uLnTx/>
              <a:uFillTx/>
              <a:latin typeface="Montserrat Medium" pitchFamily="2" charset="0"/>
              <a:ea typeface="+mn-ea"/>
              <a:cs typeface="Hepta Slab Regular" pitchFamily="2" charset="0"/>
            </a:endParaRPr>
          </a:p>
        </p:txBody>
      </p:sp>
      <p:sp>
        <p:nvSpPr>
          <p:cNvPr id="56" name="TextBox 55">
            <a:extLst>
              <a:ext uri="{FF2B5EF4-FFF2-40B4-BE49-F238E27FC236}">
                <a16:creationId xmlns:a16="http://schemas.microsoft.com/office/drawing/2014/main" id="{F5FA21E3-DDA6-9B3E-F97F-E2669681CB4F}"/>
              </a:ext>
            </a:extLst>
          </p:cNvPr>
          <p:cNvSpPr txBox="1"/>
          <p:nvPr/>
        </p:nvSpPr>
        <p:spPr>
          <a:xfrm>
            <a:off x="4984661" y="2187088"/>
            <a:ext cx="457200" cy="461665"/>
          </a:xfrm>
          <a:prstGeom prst="rect">
            <a:avLst/>
          </a:prstGeom>
          <a:noFill/>
          <a:effectLst>
            <a:outerShdw blurRad="50800" dist="50800" dir="5400000" algn="ctr" rotWithShape="0">
              <a:srgbClr val="000000">
                <a:alpha val="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rPr>
              <a:t>1</a:t>
            </a:r>
            <a:endParaRPr kumimoji="0" lang="en-IN"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endParaRPr>
          </a:p>
        </p:txBody>
      </p:sp>
      <p:sp>
        <p:nvSpPr>
          <p:cNvPr id="57" name="TextBox 56">
            <a:extLst>
              <a:ext uri="{FF2B5EF4-FFF2-40B4-BE49-F238E27FC236}">
                <a16:creationId xmlns:a16="http://schemas.microsoft.com/office/drawing/2014/main" id="{18576967-EC3A-8972-40A6-D5A0261E5D89}"/>
              </a:ext>
            </a:extLst>
          </p:cNvPr>
          <p:cNvSpPr txBox="1"/>
          <p:nvPr/>
        </p:nvSpPr>
        <p:spPr>
          <a:xfrm>
            <a:off x="4957092" y="4921525"/>
            <a:ext cx="457200" cy="461665"/>
          </a:xfrm>
          <a:prstGeom prst="rect">
            <a:avLst/>
          </a:prstGeom>
          <a:noFill/>
          <a:effectLst>
            <a:outerShdw blurRad="50800" dist="50800" dir="5400000" algn="ctr" rotWithShape="0">
              <a:srgbClr val="000000">
                <a:alpha val="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rPr>
              <a:t>4</a:t>
            </a:r>
            <a:endParaRPr kumimoji="0" lang="en-IN"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endParaRPr>
          </a:p>
        </p:txBody>
      </p:sp>
      <p:sp>
        <p:nvSpPr>
          <p:cNvPr id="58" name="TextBox 57">
            <a:extLst>
              <a:ext uri="{FF2B5EF4-FFF2-40B4-BE49-F238E27FC236}">
                <a16:creationId xmlns:a16="http://schemas.microsoft.com/office/drawing/2014/main" id="{76ADE362-D2BC-2B6F-176B-8D6D4023AB20}"/>
              </a:ext>
            </a:extLst>
          </p:cNvPr>
          <p:cNvSpPr txBox="1"/>
          <p:nvPr/>
        </p:nvSpPr>
        <p:spPr>
          <a:xfrm>
            <a:off x="1146873" y="4913585"/>
            <a:ext cx="457200" cy="461665"/>
          </a:xfrm>
          <a:prstGeom prst="rect">
            <a:avLst/>
          </a:prstGeom>
          <a:noFill/>
          <a:effectLst>
            <a:outerShdw blurRad="50800" dist="50800" dir="5400000" algn="ctr" rotWithShape="0">
              <a:srgbClr val="000000">
                <a:alpha val="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rPr>
              <a:t>3</a:t>
            </a:r>
            <a:endParaRPr kumimoji="0" lang="en-IN"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endParaRPr>
          </a:p>
        </p:txBody>
      </p:sp>
      <p:sp>
        <p:nvSpPr>
          <p:cNvPr id="59" name="TextBox 58">
            <a:extLst>
              <a:ext uri="{FF2B5EF4-FFF2-40B4-BE49-F238E27FC236}">
                <a16:creationId xmlns:a16="http://schemas.microsoft.com/office/drawing/2014/main" id="{3DCA375C-B1AA-2CBF-EC97-51B33EF81A8A}"/>
              </a:ext>
            </a:extLst>
          </p:cNvPr>
          <p:cNvSpPr txBox="1"/>
          <p:nvPr/>
        </p:nvSpPr>
        <p:spPr>
          <a:xfrm>
            <a:off x="1084354" y="2155788"/>
            <a:ext cx="457200" cy="461665"/>
          </a:xfrm>
          <a:prstGeom prst="rect">
            <a:avLst/>
          </a:prstGeom>
          <a:noFill/>
          <a:effectLst>
            <a:outerShdw blurRad="50800" dist="50800" dir="5400000" algn="ctr" rotWithShape="0">
              <a:srgbClr val="000000">
                <a:alpha val="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rPr>
              <a:t>2</a:t>
            </a:r>
            <a:endParaRPr kumimoji="0" lang="en-IN" sz="2400" b="0" i="0" u="none" strike="noStrike" kern="1200" cap="none" spc="0" normalizeH="0" baseline="0" noProof="0" dirty="0">
              <a:ln>
                <a:noFill/>
              </a:ln>
              <a:solidFill>
                <a:prstClr val="white">
                  <a:lumMod val="65000"/>
                </a:prstClr>
              </a:solidFill>
              <a:effectLst/>
              <a:uLnTx/>
              <a:uFillTx/>
              <a:latin typeface="Montserrat Medium" panose="00000600000000000000" pitchFamily="2" charset="0"/>
              <a:ea typeface="+mn-ea"/>
              <a:cs typeface="+mn-cs"/>
            </a:endParaRPr>
          </a:p>
        </p:txBody>
      </p:sp>
      <p:graphicFrame>
        <p:nvGraphicFramePr>
          <p:cNvPr id="2" name="Table 1">
            <a:extLst>
              <a:ext uri="{FF2B5EF4-FFF2-40B4-BE49-F238E27FC236}">
                <a16:creationId xmlns:a16="http://schemas.microsoft.com/office/drawing/2014/main" id="{121532A0-0AB9-F7BA-E443-A1E0871B9331}"/>
              </a:ext>
            </a:extLst>
          </p:cNvPr>
          <p:cNvGraphicFramePr>
            <a:graphicFrameLocks noGrp="1"/>
          </p:cNvGraphicFramePr>
          <p:nvPr>
            <p:extLst>
              <p:ext uri="{D42A27DB-BD31-4B8C-83A1-F6EECF244321}">
                <p14:modId xmlns:p14="http://schemas.microsoft.com/office/powerpoint/2010/main" val="3191739730"/>
              </p:ext>
            </p:extLst>
          </p:nvPr>
        </p:nvGraphicFramePr>
        <p:xfrm>
          <a:off x="6916994" y="493928"/>
          <a:ext cx="4271052" cy="5845531"/>
        </p:xfrm>
        <a:graphic>
          <a:graphicData uri="http://schemas.openxmlformats.org/drawingml/2006/table">
            <a:tbl>
              <a:tblPr>
                <a:tableStyleId>{5C22544A-7EE6-4342-B048-85BDC9FD1C3A}</a:tableStyleId>
              </a:tblPr>
              <a:tblGrid>
                <a:gridCol w="2242702">
                  <a:extLst>
                    <a:ext uri="{9D8B030D-6E8A-4147-A177-3AD203B41FA5}">
                      <a16:colId xmlns:a16="http://schemas.microsoft.com/office/drawing/2014/main" val="1274930389"/>
                    </a:ext>
                  </a:extLst>
                </a:gridCol>
                <a:gridCol w="967546">
                  <a:extLst>
                    <a:ext uri="{9D8B030D-6E8A-4147-A177-3AD203B41FA5}">
                      <a16:colId xmlns:a16="http://schemas.microsoft.com/office/drawing/2014/main" val="675135783"/>
                    </a:ext>
                  </a:extLst>
                </a:gridCol>
                <a:gridCol w="1060804">
                  <a:extLst>
                    <a:ext uri="{9D8B030D-6E8A-4147-A177-3AD203B41FA5}">
                      <a16:colId xmlns:a16="http://schemas.microsoft.com/office/drawing/2014/main" val="2467741973"/>
                    </a:ext>
                  </a:extLst>
                </a:gridCol>
              </a:tblGrid>
              <a:tr h="312153">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200" b="0" u="none" strike="noStrike" kern="1200" spc="0" dirty="0">
                          <a:solidFill>
                            <a:schemeClr val="tx1"/>
                          </a:solidFill>
                          <a:effectLst/>
                          <a:latin typeface="Montserrat SemiBold" panose="00000700000000000000" pitchFamily="2" charset="0"/>
                          <a:ea typeface="+mn-ea"/>
                          <a:cs typeface="+mn-cs"/>
                        </a:rPr>
                        <a:t>Attributes</a:t>
                      </a:r>
                    </a:p>
                  </a:txBody>
                  <a:tcPr marL="8210" marR="8210" marT="8210" marB="0" anchor="ctr">
                    <a:lnL w="12700" cmpd="sng">
                      <a:noFill/>
                    </a:lnL>
                    <a:lnR w="28575" cap="flat" cmpd="sng" algn="ctr">
                      <a:solidFill>
                        <a:srgbClr val="F6EFEA"/>
                      </a:solidFill>
                      <a:prstDash val="solid"/>
                      <a:round/>
                      <a:headEnd type="none" w="med" len="med"/>
                      <a:tailEnd type="none" w="med" len="med"/>
                    </a:lnR>
                    <a:lnT w="12700" cmpd="sng">
                      <a:noFill/>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200" b="0" u="none" strike="noStrike" kern="1200" spc="0" dirty="0">
                          <a:solidFill>
                            <a:schemeClr val="tx1"/>
                          </a:solidFill>
                          <a:effectLst/>
                          <a:latin typeface="Montserrat SemiBold" panose="00000700000000000000" pitchFamily="2" charset="0"/>
                          <a:ea typeface="+mn-ea"/>
                          <a:cs typeface="+mn-cs"/>
                        </a:rPr>
                        <a:t>Importance</a:t>
                      </a:r>
                    </a:p>
                  </a:txBody>
                  <a:tcPr marL="8210" marR="8210" marT="821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12700" cmpd="sng">
                      <a:noFill/>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200" b="0" u="none" strike="noStrike" kern="1200" spc="0" dirty="0">
                          <a:solidFill>
                            <a:schemeClr val="tx1"/>
                          </a:solidFill>
                          <a:effectLst/>
                          <a:latin typeface="Montserrat SemiBold" panose="00000700000000000000" pitchFamily="2" charset="0"/>
                          <a:ea typeface="+mn-ea"/>
                          <a:cs typeface="+mn-cs"/>
                        </a:rPr>
                        <a:t>Performance</a:t>
                      </a:r>
                    </a:p>
                  </a:txBody>
                  <a:tcPr marL="8210" marR="8210" marT="8210" marB="0" anchor="ctr">
                    <a:lnL w="28575" cap="flat" cmpd="sng" algn="ctr">
                      <a:solidFill>
                        <a:srgbClr val="F6EFEA"/>
                      </a:solidFill>
                      <a:prstDash val="solid"/>
                      <a:round/>
                      <a:headEnd type="none" w="med" len="med"/>
                      <a:tailEnd type="none" w="med" len="med"/>
                    </a:lnL>
                    <a:lnR w="12700" cmpd="sng">
                      <a:noFill/>
                    </a:lnR>
                    <a:lnT w="12700" cmpd="sng">
                      <a:noFill/>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684432"/>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Remittance arrangements</a:t>
                      </a:r>
                    </a:p>
                  </a:txBody>
                  <a:tcPr marL="0" marR="0" marT="0" marB="0" anchor="b">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2</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1</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7962619"/>
                  </a:ext>
                </a:extLst>
              </a:tr>
              <a:tr h="260128">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Banking Channel</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2</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0</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9899975"/>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RM</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2</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2</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074560"/>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Wealth Management</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7">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2</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7">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-1</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9755917"/>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GB" sz="1000" b="0" i="0" u="none" strike="noStrike" kern="1200" dirty="0">
                          <a:solidFill>
                            <a:srgbClr val="000000"/>
                          </a:solidFill>
                          <a:effectLst/>
                          <a:latin typeface="Montserrat Medium" panose="00000600000000000000" pitchFamily="2" charset="0"/>
                          <a:ea typeface="+mn-ea"/>
                          <a:cs typeface="+mn-cs"/>
                        </a:rPr>
                        <a:t>Dedicated Customer Care( Celesta Desk)</a:t>
                      </a:r>
                    </a:p>
                  </a:txBody>
                  <a:tcPr marL="0" marR="0" marT="0" marB="0" anchor="b">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797189297"/>
                  </a:ext>
                </a:extLst>
              </a:tr>
              <a:tr h="260128">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Product features</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081914278"/>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Infrastructure in the branches</a:t>
                      </a:r>
                    </a:p>
                  </a:txBody>
                  <a:tcPr marL="0" marR="0" marT="0" marB="0" anchor="ctr">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975008863"/>
                  </a:ext>
                </a:extLst>
              </a:tr>
              <a:tr h="260128">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Credit card</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111245946"/>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Concessional rates</a:t>
                      </a:r>
                    </a:p>
                  </a:txBody>
                  <a:tcPr marL="0" marR="0" marT="0" marB="0" anchor="b">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103415190"/>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Debit Card</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747038029"/>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Customised offers</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2</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-2</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0096881"/>
                  </a:ext>
                </a:extLst>
              </a:tr>
              <a:tr h="260128">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Personalized/Rewards point</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045989760"/>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Concierge services</a:t>
                      </a:r>
                    </a:p>
                  </a:txBody>
                  <a:tcPr marL="0" marR="0" marT="0" marB="0" anchor="b">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1</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0</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5761381"/>
                  </a:ext>
                </a:extLst>
              </a:tr>
              <a:tr h="260128">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Private/ Relationship banking</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019929873"/>
                  </a:ext>
                </a:extLst>
              </a:tr>
              <a:tr h="260128">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Onboarding experience</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1</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-1</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6865812"/>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Eligibility criteria</a:t>
                      </a:r>
                    </a:p>
                  </a:txBody>
                  <a:tcPr marL="0" marR="0" marT="0" marB="0" anchor="b">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278118872"/>
                  </a:ext>
                </a:extLst>
              </a:tr>
              <a:tr h="273135">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Lounge program</a:t>
                      </a:r>
                    </a:p>
                  </a:txBody>
                  <a:tcPr marL="0" marR="0" marT="0" marB="0" anchor="b">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140817909"/>
                  </a:ext>
                </a:extLst>
              </a:tr>
              <a:tr h="260128">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Complimentory Insurance</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0.5</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-1</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9276999"/>
                  </a:ext>
                </a:extLst>
              </a:tr>
              <a:tr h="416204">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GB" sz="1000" b="0" i="0" u="none" strike="noStrike" kern="1200">
                          <a:solidFill>
                            <a:srgbClr val="000000"/>
                          </a:solidFill>
                          <a:effectLst/>
                          <a:latin typeface="Montserrat Medium" panose="00000600000000000000" pitchFamily="2" charset="0"/>
                          <a:ea typeface="+mn-ea"/>
                          <a:cs typeface="+mn-cs"/>
                        </a:rPr>
                        <a:t>High Cash intensive transactions (higher withdrawal limits etc)</a:t>
                      </a:r>
                    </a:p>
                  </a:txBody>
                  <a:tcPr marL="0" marR="0" marT="0" marB="0" anchor="b">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0</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0.5</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28575" cap="flat" cmpd="sng" algn="ctr">
                      <a:solidFill>
                        <a:srgbClr val="F6EF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3870966"/>
                  </a:ext>
                </a:extLst>
              </a:tr>
              <a:tr h="260128">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Doorstep banking</a:t>
                      </a:r>
                    </a:p>
                  </a:txBody>
                  <a:tcPr marL="0" marR="0" marT="0" marB="0">
                    <a:lnL w="12700" cmpd="sng">
                      <a:noFill/>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ontserrat Medium" panose="00000600000000000000" pitchFamily="2" charset="0"/>
                          <a:ea typeface="+mn-ea"/>
                          <a:cs typeface="+mn-cs"/>
                        </a:rPr>
                        <a:t>-2</a:t>
                      </a:r>
                    </a:p>
                  </a:txBody>
                  <a:tcPr marL="0" marR="0" marT="0" marB="0" anchor="ctr">
                    <a:lnL w="28575" cap="flat" cmpd="sng" algn="ctr">
                      <a:solidFill>
                        <a:srgbClr val="F6EFEA"/>
                      </a:solidFill>
                      <a:prstDash val="solid"/>
                      <a:round/>
                      <a:headEnd type="none" w="med" len="med"/>
                      <a:tailEnd type="none" w="med" len="med"/>
                    </a:lnL>
                    <a:lnR w="28575" cap="flat" cmpd="sng" algn="ctr">
                      <a:solidFill>
                        <a:srgbClr val="F6EFEA"/>
                      </a:solidFill>
                      <a:prstDash val="solid"/>
                      <a:round/>
                      <a:headEnd type="none" w="med" len="med"/>
                      <a:tailEnd type="none" w="med" len="med"/>
                    </a:lnR>
                    <a:lnT w="28575" cap="flat" cmpd="sng" algn="ctr">
                      <a:solidFill>
                        <a:srgbClr val="F6EFEA"/>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46" rtl="0" eaLnBrk="1" fontAlgn="ctr" latinLnBrk="0" hangingPunct="1">
                        <a:lnSpc>
                          <a:spcPct val="100000"/>
                        </a:lnSpc>
                        <a:spcBef>
                          <a:spcPts val="0"/>
                        </a:spcBef>
                        <a:spcAft>
                          <a:spcPts val="0"/>
                        </a:spcAft>
                        <a:buClrTx/>
                        <a:buSzTx/>
                        <a:buFontTx/>
                        <a:buNone/>
                        <a:tabLst/>
                        <a:defRPr/>
                      </a:pPr>
                      <a:r>
                        <a:rPr lang="en-IN" sz="1000" b="0" i="0" u="none" strike="noStrike" kern="1200" dirty="0">
                          <a:solidFill>
                            <a:srgbClr val="000000"/>
                          </a:solidFill>
                          <a:effectLst/>
                          <a:latin typeface="Montserrat Medium" panose="00000600000000000000" pitchFamily="2" charset="0"/>
                          <a:ea typeface="+mn-ea"/>
                          <a:cs typeface="+mn-cs"/>
                        </a:rPr>
                        <a:t>-1</a:t>
                      </a:r>
                    </a:p>
                  </a:txBody>
                  <a:tcPr marL="0" marR="0" marT="0" marB="0" anchor="ctr">
                    <a:lnL w="28575" cap="flat" cmpd="sng" algn="ctr">
                      <a:solidFill>
                        <a:srgbClr val="F6EFEA"/>
                      </a:solidFill>
                      <a:prstDash val="solid"/>
                      <a:round/>
                      <a:headEnd type="none" w="med" len="med"/>
                      <a:tailEnd type="none" w="med" len="med"/>
                    </a:lnL>
                    <a:lnR w="12700" cmpd="sng">
                      <a:noFill/>
                    </a:lnR>
                    <a:lnT w="28575" cap="flat" cmpd="sng" algn="ctr">
                      <a:solidFill>
                        <a:srgbClr val="F6EFEA"/>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95013405"/>
                  </a:ext>
                </a:extLst>
              </a:tr>
            </a:tbl>
          </a:graphicData>
        </a:graphic>
      </p:graphicFrame>
      <p:sp>
        <p:nvSpPr>
          <p:cNvPr id="6" name="Object5">
            <a:extLst>
              <a:ext uri="{FF2B5EF4-FFF2-40B4-BE49-F238E27FC236}">
                <a16:creationId xmlns:a16="http://schemas.microsoft.com/office/drawing/2014/main" id="{2613AEBB-74CD-4DD5-B975-478ADFD43815}"/>
              </a:ext>
            </a:extLst>
          </p:cNvPr>
          <p:cNvSpPr/>
          <p:nvPr/>
        </p:nvSpPr>
        <p:spPr>
          <a:xfrm>
            <a:off x="19862800" y="9783763"/>
            <a:ext cx="1155700" cy="249237"/>
          </a:xfrm>
          <a:prstGeom prst="rect">
            <a:avLst/>
          </a:prstGeom>
          <a:noFill/>
          <a:ln/>
        </p:spPr>
        <p:txBody>
          <a:bodyPr wrap="square" lIns="0" tIns="0" rIns="0" bIns="0"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002060"/>
              </a:solidFill>
              <a:effectLst/>
              <a:uLnTx/>
              <a:uFillTx/>
              <a:latin typeface="Montserrat Medium" pitchFamily="2" charset="0"/>
              <a:ea typeface="+mn-ea"/>
              <a:cs typeface="Hepta Slab Regular" pitchFamily="2" charset="0"/>
            </a:endParaRPr>
          </a:p>
        </p:txBody>
      </p:sp>
      <p:sp>
        <p:nvSpPr>
          <p:cNvPr id="14" name="Object5">
            <a:extLst>
              <a:ext uri="{FF2B5EF4-FFF2-40B4-BE49-F238E27FC236}">
                <a16:creationId xmlns:a16="http://schemas.microsoft.com/office/drawing/2014/main" id="{EC8B44AE-A711-4ACA-BE5A-CA8C4778A017}"/>
              </a:ext>
            </a:extLst>
          </p:cNvPr>
          <p:cNvSpPr/>
          <p:nvPr/>
        </p:nvSpPr>
        <p:spPr>
          <a:xfrm>
            <a:off x="19862800" y="8202613"/>
            <a:ext cx="1155700" cy="249237"/>
          </a:xfrm>
          <a:prstGeom prst="rect">
            <a:avLst/>
          </a:prstGeom>
          <a:noFill/>
          <a:ln/>
        </p:spPr>
        <p:txBody>
          <a:bodyPr wrap="square" lIns="0" tIns="0" rIns="0" bIns="0"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002060"/>
              </a:solidFill>
              <a:effectLst/>
              <a:uLnTx/>
              <a:uFillTx/>
              <a:latin typeface="Montserrat Medium" pitchFamily="2" charset="0"/>
              <a:ea typeface="+mn-ea"/>
              <a:cs typeface="Hepta Slab Regular" pitchFamily="2" charset="0"/>
            </a:endParaRPr>
          </a:p>
        </p:txBody>
      </p:sp>
      <p:sp>
        <p:nvSpPr>
          <p:cNvPr id="20" name="Oval 19">
            <a:extLst>
              <a:ext uri="{FF2B5EF4-FFF2-40B4-BE49-F238E27FC236}">
                <a16:creationId xmlns:a16="http://schemas.microsoft.com/office/drawing/2014/main" id="{DFD962F7-ECC6-DEFA-4802-841F7F535BDC}"/>
              </a:ext>
            </a:extLst>
          </p:cNvPr>
          <p:cNvSpPr/>
          <p:nvPr/>
        </p:nvSpPr>
        <p:spPr>
          <a:xfrm>
            <a:off x="4854762" y="2143627"/>
            <a:ext cx="584293" cy="548588"/>
          </a:xfrm>
          <a:prstGeom prst="ellipse">
            <a:avLst/>
          </a:prstGeom>
          <a:noFill/>
          <a:ln>
            <a:solidFill>
              <a:srgbClr val="C2BE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ontserrat Medium" panose="00000600000000000000" pitchFamily="2" charset="0"/>
              <a:ea typeface="+mn-ea"/>
              <a:cs typeface="+mn-cs"/>
            </a:endParaRPr>
          </a:p>
        </p:txBody>
      </p:sp>
      <p:sp>
        <p:nvSpPr>
          <p:cNvPr id="21" name="Oval 20">
            <a:extLst>
              <a:ext uri="{FF2B5EF4-FFF2-40B4-BE49-F238E27FC236}">
                <a16:creationId xmlns:a16="http://schemas.microsoft.com/office/drawing/2014/main" id="{325CF242-6247-E251-DE05-E9FF611BB66F}"/>
              </a:ext>
            </a:extLst>
          </p:cNvPr>
          <p:cNvSpPr/>
          <p:nvPr/>
        </p:nvSpPr>
        <p:spPr>
          <a:xfrm>
            <a:off x="4854762" y="4898758"/>
            <a:ext cx="584293" cy="548588"/>
          </a:xfrm>
          <a:prstGeom prst="ellipse">
            <a:avLst/>
          </a:prstGeom>
          <a:noFill/>
          <a:ln>
            <a:solidFill>
              <a:srgbClr val="C2BE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ontserrat Medium" panose="00000600000000000000" pitchFamily="2" charset="0"/>
              <a:ea typeface="+mn-ea"/>
              <a:cs typeface="+mn-cs"/>
            </a:endParaRPr>
          </a:p>
        </p:txBody>
      </p:sp>
      <p:sp>
        <p:nvSpPr>
          <p:cNvPr id="23" name="Oval 22">
            <a:extLst>
              <a:ext uri="{FF2B5EF4-FFF2-40B4-BE49-F238E27FC236}">
                <a16:creationId xmlns:a16="http://schemas.microsoft.com/office/drawing/2014/main" id="{7909417A-F421-96C0-ACCC-3675F37D6944}"/>
              </a:ext>
            </a:extLst>
          </p:cNvPr>
          <p:cNvSpPr/>
          <p:nvPr/>
        </p:nvSpPr>
        <p:spPr>
          <a:xfrm>
            <a:off x="1007398" y="4898758"/>
            <a:ext cx="584293" cy="548588"/>
          </a:xfrm>
          <a:prstGeom prst="ellipse">
            <a:avLst/>
          </a:prstGeom>
          <a:noFill/>
          <a:ln>
            <a:solidFill>
              <a:srgbClr val="C2BE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ontserrat Medium" panose="00000600000000000000" pitchFamily="2" charset="0"/>
              <a:ea typeface="+mn-ea"/>
              <a:cs typeface="+mn-cs"/>
            </a:endParaRPr>
          </a:p>
        </p:txBody>
      </p:sp>
      <p:sp>
        <p:nvSpPr>
          <p:cNvPr id="24" name="Oval 23">
            <a:extLst>
              <a:ext uri="{FF2B5EF4-FFF2-40B4-BE49-F238E27FC236}">
                <a16:creationId xmlns:a16="http://schemas.microsoft.com/office/drawing/2014/main" id="{DE494EA3-1729-8F94-891F-7766DCC8C92A}"/>
              </a:ext>
            </a:extLst>
          </p:cNvPr>
          <p:cNvSpPr/>
          <p:nvPr/>
        </p:nvSpPr>
        <p:spPr>
          <a:xfrm>
            <a:off x="957261" y="2140221"/>
            <a:ext cx="584293" cy="548588"/>
          </a:xfrm>
          <a:prstGeom prst="ellipse">
            <a:avLst/>
          </a:prstGeom>
          <a:noFill/>
          <a:ln>
            <a:solidFill>
              <a:srgbClr val="C2BE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Montserrat Medium" panose="00000600000000000000" pitchFamily="2" charset="0"/>
              <a:ea typeface="+mn-ea"/>
              <a:cs typeface="+mn-cs"/>
            </a:endParaRPr>
          </a:p>
        </p:txBody>
      </p:sp>
    </p:spTree>
    <p:extLst>
      <p:ext uri="{BB962C8B-B14F-4D97-AF65-F5344CB8AC3E}">
        <p14:creationId xmlns:p14="http://schemas.microsoft.com/office/powerpoint/2010/main" val="451356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2" name="Object6">
            <a:extLst>
              <a:ext uri="{FF2B5EF4-FFF2-40B4-BE49-F238E27FC236}">
                <a16:creationId xmlns:a16="http://schemas.microsoft.com/office/drawing/2014/main" id="{7FF1EF97-377A-4E2F-B4BC-0ECF24D2D3D4}"/>
              </a:ext>
            </a:extLst>
          </p:cNvPr>
          <p:cNvSpPr/>
          <p:nvPr/>
        </p:nvSpPr>
        <p:spPr>
          <a:xfrm>
            <a:off x="336000" y="549000"/>
            <a:ext cx="7200000" cy="840000"/>
          </a:xfrm>
          <a:prstGeom prst="rect">
            <a:avLst/>
          </a:prstGeom>
          <a:noFill/>
          <a:ln/>
        </p:spPr>
        <p:txBody>
          <a:bodyPr wrap="square" lIns="0" tIns="0" rIns="0" bIns="0" rtlCol="0" anchor="b">
            <a:noAutofit/>
          </a:bodyPr>
          <a:lstStyle/>
          <a:p>
            <a:pPr defTabSz="304815">
              <a:lnSpc>
                <a:spcPts val="2925"/>
              </a:lnSpc>
              <a:defRPr/>
            </a:pPr>
            <a:r>
              <a:rPr lang="en-US" sz="6400" dirty="0">
                <a:solidFill>
                  <a:srgbClr val="002060"/>
                </a:solidFill>
                <a:latin typeface="Hepta Slab ExtraLight" pitchFamily="2" charset="0"/>
                <a:ea typeface="Montserrat ExtraBold" pitchFamily="34" charset="-122"/>
                <a:cs typeface="Hepta Slab ExtraLight" pitchFamily="2" charset="0"/>
              </a:rPr>
              <a:t>The Headline</a:t>
            </a:r>
            <a:endParaRPr lang="en-US" sz="6400" dirty="0">
              <a:solidFill>
                <a:srgbClr val="002060"/>
              </a:solidFill>
              <a:latin typeface="Hepta Slab ExtraLight" pitchFamily="2" charset="0"/>
              <a:cs typeface="Hepta Slab ExtraLight" pitchFamily="2" charset="0"/>
            </a:endParaRPr>
          </a:p>
        </p:txBody>
      </p:sp>
      <p:sp>
        <p:nvSpPr>
          <p:cNvPr id="3" name="Object4">
            <a:extLst>
              <a:ext uri="{FF2B5EF4-FFF2-40B4-BE49-F238E27FC236}">
                <a16:creationId xmlns:a16="http://schemas.microsoft.com/office/drawing/2014/main" id="{772FDCFD-1618-FCB0-5044-9C9304A5742B}"/>
              </a:ext>
            </a:extLst>
          </p:cNvPr>
          <p:cNvSpPr/>
          <p:nvPr/>
        </p:nvSpPr>
        <p:spPr>
          <a:xfrm>
            <a:off x="336000" y="3429000"/>
            <a:ext cx="10680000" cy="675050"/>
          </a:xfrm>
          <a:prstGeom prst="rect">
            <a:avLst/>
          </a:prstGeom>
          <a:noFill/>
          <a:ln/>
        </p:spPr>
        <p:txBody>
          <a:bodyPr wrap="square" lIns="0" tIns="0" rIns="0" bIns="0" rtlCol="0" anchor="t"/>
          <a:lstStyle/>
          <a:p>
            <a:pPr defTabSz="304815">
              <a:defRPr/>
            </a:pPr>
            <a:r>
              <a:rPr lang="en-US" sz="3200" b="1" dirty="0">
                <a:solidFill>
                  <a:srgbClr val="002060"/>
                </a:solidFill>
                <a:latin typeface="Hepta Slab Bold" pitchFamily="34" charset="0"/>
                <a:ea typeface="Hepta Slab Bold" pitchFamily="34" charset="-122"/>
                <a:cs typeface="Hepta Slab Bold" pitchFamily="34" charset="-120"/>
              </a:rPr>
              <a:t>Expectation – Experience Gap</a:t>
            </a:r>
            <a:endParaRPr lang="en-US" sz="3200" dirty="0">
              <a:solidFill>
                <a:srgbClr val="002060"/>
              </a:solidFill>
              <a:latin typeface="Calibri" panose="020F0502020204030204"/>
            </a:endParaRPr>
          </a:p>
        </p:txBody>
      </p:sp>
      <p:grpSp>
        <p:nvGrpSpPr>
          <p:cNvPr id="8" name="Group 7">
            <a:extLst>
              <a:ext uri="{FF2B5EF4-FFF2-40B4-BE49-F238E27FC236}">
                <a16:creationId xmlns:a16="http://schemas.microsoft.com/office/drawing/2014/main" id="{FDEAACA5-8AD5-9D4E-52A4-38D11A41609F}"/>
              </a:ext>
            </a:extLst>
          </p:cNvPr>
          <p:cNvGrpSpPr/>
          <p:nvPr/>
        </p:nvGrpSpPr>
        <p:grpSpPr>
          <a:xfrm>
            <a:off x="-61290" y="6053155"/>
            <a:ext cx="12253290" cy="971832"/>
            <a:chOff x="-187799" y="8336784"/>
            <a:chExt cx="18379935" cy="1457748"/>
          </a:xfrm>
        </p:grpSpPr>
        <p:pic>
          <p:nvPicPr>
            <p:cNvPr id="9" name="Picture 8">
              <a:extLst>
                <a:ext uri="{FF2B5EF4-FFF2-40B4-BE49-F238E27FC236}">
                  <a16:creationId xmlns:a16="http://schemas.microsoft.com/office/drawing/2014/main" id="{C9C833BD-FF64-F9EE-DCAD-EDC850B590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0" name="Title 1">
              <a:extLst>
                <a:ext uri="{FF2B5EF4-FFF2-40B4-BE49-F238E27FC236}">
                  <a16:creationId xmlns:a16="http://schemas.microsoft.com/office/drawing/2014/main" id="{05A545A9-8E82-826C-C60B-22566722FD9B}"/>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1" name="Picture 10">
              <a:extLst>
                <a:ext uri="{FF2B5EF4-FFF2-40B4-BE49-F238E27FC236}">
                  <a16:creationId xmlns:a16="http://schemas.microsoft.com/office/drawing/2014/main" id="{35EEDEC0-5DA9-4B65-5953-4908667A9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4" name="TextBox 13">
            <a:extLst>
              <a:ext uri="{FF2B5EF4-FFF2-40B4-BE49-F238E27FC236}">
                <a16:creationId xmlns:a16="http://schemas.microsoft.com/office/drawing/2014/main" id="{58F98AFF-1854-2C9F-24AA-DB01D941E064}"/>
              </a:ext>
            </a:extLst>
          </p:cNvPr>
          <p:cNvSpPr txBox="1"/>
          <p:nvPr/>
        </p:nvSpPr>
        <p:spPr>
          <a:xfrm>
            <a:off x="11384038" y="6062779"/>
            <a:ext cx="480000" cy="276999"/>
          </a:xfrm>
          <a:prstGeom prst="rect">
            <a:avLst/>
          </a:prstGeom>
          <a:noFill/>
        </p:spPr>
        <p:txBody>
          <a:bodyPr wrap="square" rtlCol="0">
            <a:spAutoFit/>
          </a:bodyPr>
          <a:lstStyle/>
          <a:p>
            <a:pPr algn="r" defTabSz="304815">
              <a:spcBef>
                <a:spcPts val="1200"/>
              </a:spcBef>
              <a:spcAft>
                <a:spcPts val="1200"/>
              </a:spcAft>
              <a:buClr>
                <a:srgbClr val="FFC000"/>
              </a:buClr>
            </a:pPr>
            <a:r>
              <a:rPr lang="en-US" sz="1200" dirty="0">
                <a:solidFill>
                  <a:srgbClr val="0D0D0D"/>
                </a:solidFill>
                <a:latin typeface="Hepta Slab Medium" pitchFamily="2" charset="0"/>
                <a:cs typeface="Hepta Slab Medium" pitchFamily="2" charset="0"/>
              </a:rPr>
              <a:t>18</a:t>
            </a:r>
            <a:endParaRPr lang="en-US" sz="1333" dirty="0">
              <a:solidFill>
                <a:srgbClr val="0D0D0D"/>
              </a:solidFill>
              <a:latin typeface="Hepta Slab Medium" pitchFamily="2" charset="0"/>
              <a:cs typeface="Hepta Slab Medium" pitchFamily="2" charset="0"/>
            </a:endParaRPr>
          </a:p>
        </p:txBody>
      </p:sp>
      <p:pic>
        <p:nvPicPr>
          <p:cNvPr id="4" name="Picture 3">
            <a:extLst>
              <a:ext uri="{FF2B5EF4-FFF2-40B4-BE49-F238E27FC236}">
                <a16:creationId xmlns:a16="http://schemas.microsoft.com/office/drawing/2014/main" id="{8C654C80-FC23-20AA-FF0E-1D625B4A8D30}"/>
              </a:ext>
            </a:extLst>
          </p:cNvPr>
          <p:cNvPicPr>
            <a:picLocks noChangeAspect="1"/>
          </p:cNvPicPr>
          <p:nvPr/>
        </p:nvPicPr>
        <p:blipFill>
          <a:blip r:embed="rId4">
            <a:extLst>
              <a:ext uri="{28A0092B-C50C-407E-A947-70E740481C1C}">
                <a14:useLocalDpi xmlns:a14="http://schemas.microsoft.com/office/drawing/2010/main" val="0"/>
              </a:ext>
            </a:extLst>
          </a:blip>
          <a:srcRect l="86867" b="37023"/>
          <a:stretch/>
        </p:blipFill>
        <p:spPr>
          <a:xfrm>
            <a:off x="2558900" y="6427213"/>
            <a:ext cx="373693" cy="383995"/>
          </a:xfrm>
          <a:prstGeom prst="rect">
            <a:avLst/>
          </a:prstGeom>
        </p:spPr>
      </p:pic>
    </p:spTree>
    <p:extLst>
      <p:ext uri="{BB962C8B-B14F-4D97-AF65-F5344CB8AC3E}">
        <p14:creationId xmlns:p14="http://schemas.microsoft.com/office/powerpoint/2010/main" val="3533479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6" name="Object6">
            <a:extLst>
              <a:ext uri="{FF2B5EF4-FFF2-40B4-BE49-F238E27FC236}">
                <a16:creationId xmlns:a16="http://schemas.microsoft.com/office/drawing/2014/main" id="{DBC8D89D-6377-A058-585D-48DC059FFC49}"/>
              </a:ext>
            </a:extLst>
          </p:cNvPr>
          <p:cNvSpPr/>
          <p:nvPr/>
        </p:nvSpPr>
        <p:spPr>
          <a:xfrm>
            <a:off x="336000" y="537525"/>
            <a:ext cx="5156160" cy="371475"/>
          </a:xfrm>
          <a:prstGeom prst="rect">
            <a:avLst/>
          </a:prstGeom>
          <a:noFill/>
          <a:ln/>
        </p:spPr>
        <p:txBody>
          <a:bodyPr wrap="square" lIns="0" tIns="0" rIns="0" bIns="0" rtlCol="0" anchor="t"/>
          <a:lstStyle/>
          <a:p>
            <a:pPr defTabSz="304815">
              <a:lnSpc>
                <a:spcPts val="2925"/>
              </a:lnSpc>
              <a:defRPr/>
            </a:pPr>
            <a:r>
              <a:rPr lang="en-US" sz="1600" cap="all" dirty="0">
                <a:solidFill>
                  <a:srgbClr val="002060"/>
                </a:solidFill>
                <a:latin typeface="Montserrat ExtraBold" pitchFamily="34" charset="0"/>
              </a:rPr>
              <a:t>Expectation experience gap</a:t>
            </a:r>
            <a:endParaRPr lang="en-US" sz="1600" cap="all" dirty="0">
              <a:solidFill>
                <a:srgbClr val="002060"/>
              </a:solidFill>
              <a:latin typeface="Calibri" panose="020F0502020204030204"/>
            </a:endParaRPr>
          </a:p>
        </p:txBody>
      </p:sp>
      <p:sp>
        <p:nvSpPr>
          <p:cNvPr id="10" name="Object5">
            <a:extLst>
              <a:ext uri="{FF2B5EF4-FFF2-40B4-BE49-F238E27FC236}">
                <a16:creationId xmlns:a16="http://schemas.microsoft.com/office/drawing/2014/main" id="{6F0FD40F-7742-D41C-5816-5867698E85D0}"/>
              </a:ext>
            </a:extLst>
          </p:cNvPr>
          <p:cNvSpPr/>
          <p:nvPr/>
        </p:nvSpPr>
        <p:spPr>
          <a:xfrm>
            <a:off x="336000" y="318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cs typeface="Hepta Slab Regular" pitchFamily="2" charset="0"/>
              </a:rPr>
              <a:t>Friction Free</a:t>
            </a:r>
          </a:p>
        </p:txBody>
      </p:sp>
      <p:sp>
        <p:nvSpPr>
          <p:cNvPr id="11" name="Object5">
            <a:extLst>
              <a:ext uri="{FF2B5EF4-FFF2-40B4-BE49-F238E27FC236}">
                <a16:creationId xmlns:a16="http://schemas.microsoft.com/office/drawing/2014/main" id="{95A01EBA-AB2D-30E0-7CB1-B46826D731F1}"/>
              </a:ext>
            </a:extLst>
          </p:cNvPr>
          <p:cNvSpPr/>
          <p:nvPr/>
        </p:nvSpPr>
        <p:spPr>
          <a:xfrm>
            <a:off x="3216000" y="318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cs typeface="Hepta Slab Regular" pitchFamily="2" charset="0"/>
              </a:rPr>
              <a:t>Badge Value</a:t>
            </a:r>
          </a:p>
        </p:txBody>
      </p:sp>
      <p:sp>
        <p:nvSpPr>
          <p:cNvPr id="14" name="Object5">
            <a:extLst>
              <a:ext uri="{FF2B5EF4-FFF2-40B4-BE49-F238E27FC236}">
                <a16:creationId xmlns:a16="http://schemas.microsoft.com/office/drawing/2014/main" id="{4B9311AB-F175-20F3-2BE9-A4CADEDF3CB2}"/>
              </a:ext>
            </a:extLst>
          </p:cNvPr>
          <p:cNvSpPr/>
          <p:nvPr/>
        </p:nvSpPr>
        <p:spPr>
          <a:xfrm>
            <a:off x="6096000" y="318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Affiliation</a:t>
            </a:r>
            <a:endParaRPr lang="en-US" sz="1333" dirty="0">
              <a:solidFill>
                <a:prstClr val="white">
                  <a:lumMod val="65000"/>
                </a:prstClr>
              </a:solidFill>
              <a:latin typeface="Montserrat Medium" pitchFamily="2" charset="0"/>
              <a:cs typeface="Hepta Slab Regular" pitchFamily="2" charset="0"/>
            </a:endParaRPr>
          </a:p>
        </p:txBody>
      </p:sp>
      <p:sp>
        <p:nvSpPr>
          <p:cNvPr id="15" name="Object5">
            <a:extLst>
              <a:ext uri="{FF2B5EF4-FFF2-40B4-BE49-F238E27FC236}">
                <a16:creationId xmlns:a16="http://schemas.microsoft.com/office/drawing/2014/main" id="{E5D18F66-C070-5772-411D-E2448B65030B}"/>
              </a:ext>
            </a:extLst>
          </p:cNvPr>
          <p:cNvSpPr/>
          <p:nvPr/>
        </p:nvSpPr>
        <p:spPr>
          <a:xfrm>
            <a:off x="8496000" y="318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cs typeface="Hepta Slab Regular" pitchFamily="2" charset="0"/>
              </a:rPr>
              <a:t>Safe</a:t>
            </a:r>
          </a:p>
        </p:txBody>
      </p:sp>
      <p:sp>
        <p:nvSpPr>
          <p:cNvPr id="17" name="Object5">
            <a:extLst>
              <a:ext uri="{FF2B5EF4-FFF2-40B4-BE49-F238E27FC236}">
                <a16:creationId xmlns:a16="http://schemas.microsoft.com/office/drawing/2014/main" id="{125B5BF4-C449-8F49-E13D-E22A262EAE38}"/>
              </a:ext>
            </a:extLst>
          </p:cNvPr>
          <p:cNvSpPr/>
          <p:nvPr/>
        </p:nvSpPr>
        <p:spPr>
          <a:xfrm>
            <a:off x="336000" y="2469000"/>
            <a:ext cx="1840990" cy="240000"/>
          </a:xfrm>
          <a:prstGeom prst="rect">
            <a:avLst/>
          </a:prstGeom>
          <a:noFill/>
          <a:ln/>
        </p:spPr>
        <p:txBody>
          <a:bodyPr wrap="square" lIns="0" tIns="0" rIns="0" bIns="0" rtlCol="0" anchor="t"/>
          <a:lstStyle/>
          <a:p>
            <a:pPr defTabSz="304815"/>
            <a:r>
              <a:rPr lang="en-US" dirty="0">
                <a:solidFill>
                  <a:srgbClr val="A9734C"/>
                </a:solidFill>
                <a:latin typeface="Hepta Slab Bold" pitchFamily="2" charset="0"/>
                <a:ea typeface="Hepta Slab Regular" pitchFamily="34" charset="-122"/>
                <a:cs typeface="Hepta Slab Bold" pitchFamily="2" charset="0"/>
              </a:rPr>
              <a:t>Functional</a:t>
            </a:r>
            <a:endParaRPr lang="en-US" dirty="0">
              <a:solidFill>
                <a:srgbClr val="A9734C"/>
              </a:solidFill>
              <a:latin typeface="Hepta Slab Bold" pitchFamily="2" charset="0"/>
              <a:cs typeface="Hepta Slab Bold" pitchFamily="2" charset="0"/>
            </a:endParaRPr>
          </a:p>
        </p:txBody>
      </p:sp>
      <p:sp>
        <p:nvSpPr>
          <p:cNvPr id="18" name="Object5">
            <a:extLst>
              <a:ext uri="{FF2B5EF4-FFF2-40B4-BE49-F238E27FC236}">
                <a16:creationId xmlns:a16="http://schemas.microsoft.com/office/drawing/2014/main" id="{D7FBA659-AE48-77D8-FB96-1DE4D0DA0D2F}"/>
              </a:ext>
            </a:extLst>
          </p:cNvPr>
          <p:cNvSpPr/>
          <p:nvPr/>
        </p:nvSpPr>
        <p:spPr>
          <a:xfrm>
            <a:off x="3216000" y="2469000"/>
            <a:ext cx="1840990" cy="240000"/>
          </a:xfrm>
          <a:prstGeom prst="rect">
            <a:avLst/>
          </a:prstGeom>
          <a:noFill/>
          <a:ln/>
        </p:spPr>
        <p:txBody>
          <a:bodyPr wrap="square" lIns="0" tIns="0" rIns="0" bIns="0" rtlCol="0" anchor="t"/>
          <a:lstStyle/>
          <a:p>
            <a:pPr defTabSz="304815"/>
            <a:r>
              <a:rPr lang="en-US" dirty="0">
                <a:solidFill>
                  <a:srgbClr val="A9734C"/>
                </a:solidFill>
                <a:latin typeface="Hepta Slab Bold" pitchFamily="2" charset="0"/>
                <a:ea typeface="Hepta Slab Regular" pitchFamily="34" charset="-122"/>
                <a:cs typeface="Hepta Slab Bold" pitchFamily="2" charset="0"/>
              </a:rPr>
              <a:t>Identity</a:t>
            </a:r>
            <a:endParaRPr lang="en-US" dirty="0">
              <a:solidFill>
                <a:srgbClr val="A9734C"/>
              </a:solidFill>
              <a:latin typeface="Hepta Slab Bold" pitchFamily="2" charset="0"/>
              <a:cs typeface="Hepta Slab Bold" pitchFamily="2" charset="0"/>
            </a:endParaRPr>
          </a:p>
        </p:txBody>
      </p:sp>
      <p:sp>
        <p:nvSpPr>
          <p:cNvPr id="19" name="Object5">
            <a:extLst>
              <a:ext uri="{FF2B5EF4-FFF2-40B4-BE49-F238E27FC236}">
                <a16:creationId xmlns:a16="http://schemas.microsoft.com/office/drawing/2014/main" id="{0072A14C-451E-AA9C-366D-8043D5691C09}"/>
              </a:ext>
            </a:extLst>
          </p:cNvPr>
          <p:cNvSpPr/>
          <p:nvPr/>
        </p:nvSpPr>
        <p:spPr>
          <a:xfrm>
            <a:off x="6096000" y="2469000"/>
            <a:ext cx="1840990" cy="240000"/>
          </a:xfrm>
          <a:prstGeom prst="rect">
            <a:avLst/>
          </a:prstGeom>
          <a:noFill/>
          <a:ln/>
        </p:spPr>
        <p:txBody>
          <a:bodyPr wrap="square" lIns="0" tIns="0" rIns="0" bIns="0" rtlCol="0" anchor="t"/>
          <a:lstStyle/>
          <a:p>
            <a:pPr defTabSz="304815"/>
            <a:r>
              <a:rPr lang="en-US" dirty="0">
                <a:solidFill>
                  <a:prstClr val="white">
                    <a:lumMod val="65000"/>
                  </a:prstClr>
                </a:solidFill>
                <a:latin typeface="Hepta Slab Bold" pitchFamily="2" charset="0"/>
                <a:ea typeface="Hepta Slab Regular" pitchFamily="34" charset="-122"/>
                <a:cs typeface="Hepta Slab Bold" pitchFamily="2" charset="0"/>
              </a:rPr>
              <a:t>Social</a:t>
            </a:r>
            <a:endParaRPr lang="en-US" dirty="0">
              <a:solidFill>
                <a:prstClr val="white">
                  <a:lumMod val="65000"/>
                </a:prstClr>
              </a:solidFill>
              <a:latin typeface="Hepta Slab Bold" pitchFamily="2" charset="0"/>
              <a:cs typeface="Hepta Slab Bold" pitchFamily="2" charset="0"/>
            </a:endParaRPr>
          </a:p>
        </p:txBody>
      </p:sp>
      <p:sp>
        <p:nvSpPr>
          <p:cNvPr id="20" name="Object5">
            <a:extLst>
              <a:ext uri="{FF2B5EF4-FFF2-40B4-BE49-F238E27FC236}">
                <a16:creationId xmlns:a16="http://schemas.microsoft.com/office/drawing/2014/main" id="{BE0C4140-6092-1A15-D12E-51188072BA89}"/>
              </a:ext>
            </a:extLst>
          </p:cNvPr>
          <p:cNvSpPr/>
          <p:nvPr/>
        </p:nvSpPr>
        <p:spPr>
          <a:xfrm>
            <a:off x="8496000" y="2469000"/>
            <a:ext cx="1840990" cy="240000"/>
          </a:xfrm>
          <a:prstGeom prst="rect">
            <a:avLst/>
          </a:prstGeom>
          <a:noFill/>
          <a:ln/>
        </p:spPr>
        <p:txBody>
          <a:bodyPr wrap="square" lIns="0" tIns="0" rIns="0" bIns="0" rtlCol="0" anchor="t"/>
          <a:lstStyle/>
          <a:p>
            <a:pPr defTabSz="304815"/>
            <a:r>
              <a:rPr lang="en-US" dirty="0">
                <a:solidFill>
                  <a:srgbClr val="A9734C"/>
                </a:solidFill>
                <a:latin typeface="Hepta Slab Bold" pitchFamily="2" charset="0"/>
                <a:ea typeface="Hepta Slab Regular" pitchFamily="34" charset="-122"/>
                <a:cs typeface="Hepta Slab Bold" pitchFamily="2" charset="0"/>
              </a:rPr>
              <a:t>Emotional</a:t>
            </a:r>
            <a:endParaRPr lang="en-US" dirty="0">
              <a:solidFill>
                <a:srgbClr val="A9734C"/>
              </a:solidFill>
              <a:latin typeface="Hepta Slab Bold" pitchFamily="2" charset="0"/>
              <a:cs typeface="Hepta Slab Bold" pitchFamily="2" charset="0"/>
            </a:endParaRPr>
          </a:p>
        </p:txBody>
      </p:sp>
      <p:sp>
        <p:nvSpPr>
          <p:cNvPr id="21" name="Object5">
            <a:extLst>
              <a:ext uri="{FF2B5EF4-FFF2-40B4-BE49-F238E27FC236}">
                <a16:creationId xmlns:a16="http://schemas.microsoft.com/office/drawing/2014/main" id="{1FB2510C-9F98-D1DE-89F5-EBC2F58E8691}"/>
              </a:ext>
            </a:extLst>
          </p:cNvPr>
          <p:cNvSpPr/>
          <p:nvPr/>
        </p:nvSpPr>
        <p:spPr>
          <a:xfrm>
            <a:off x="336000" y="366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ea typeface="Hepta Slab Regular" pitchFamily="34" charset="-122"/>
                <a:cs typeface="Hepta Slab Regular" pitchFamily="2" charset="0"/>
              </a:rPr>
              <a:t>Simplifies</a:t>
            </a:r>
            <a:endParaRPr lang="en-US" sz="1333" dirty="0">
              <a:solidFill>
                <a:srgbClr val="002060"/>
              </a:solidFill>
              <a:latin typeface="Montserrat Medium" pitchFamily="2" charset="0"/>
              <a:cs typeface="Hepta Slab Regular" pitchFamily="2" charset="0"/>
            </a:endParaRPr>
          </a:p>
        </p:txBody>
      </p:sp>
      <p:sp>
        <p:nvSpPr>
          <p:cNvPr id="22" name="Object5">
            <a:extLst>
              <a:ext uri="{FF2B5EF4-FFF2-40B4-BE49-F238E27FC236}">
                <a16:creationId xmlns:a16="http://schemas.microsoft.com/office/drawing/2014/main" id="{BD7C9720-D094-EDA3-070F-EA166B7FD88B}"/>
              </a:ext>
            </a:extLst>
          </p:cNvPr>
          <p:cNvSpPr/>
          <p:nvPr/>
        </p:nvSpPr>
        <p:spPr>
          <a:xfrm>
            <a:off x="336000" y="414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cs typeface="Hepta Slab Regular" pitchFamily="2" charset="0"/>
              </a:rPr>
              <a:t>Peace of mind</a:t>
            </a:r>
          </a:p>
        </p:txBody>
      </p:sp>
      <p:sp>
        <p:nvSpPr>
          <p:cNvPr id="23" name="Object5">
            <a:extLst>
              <a:ext uri="{FF2B5EF4-FFF2-40B4-BE49-F238E27FC236}">
                <a16:creationId xmlns:a16="http://schemas.microsoft.com/office/drawing/2014/main" id="{98722D5E-394B-AEBD-BA6B-79062C2D03A0}"/>
              </a:ext>
            </a:extLst>
          </p:cNvPr>
          <p:cNvSpPr/>
          <p:nvPr/>
        </p:nvSpPr>
        <p:spPr>
          <a:xfrm>
            <a:off x="3216000" y="366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Pride</a:t>
            </a:r>
            <a:endParaRPr lang="en-US" sz="1333" dirty="0">
              <a:solidFill>
                <a:prstClr val="white">
                  <a:lumMod val="65000"/>
                </a:prstClr>
              </a:solidFill>
              <a:latin typeface="Montserrat Medium" pitchFamily="2" charset="0"/>
              <a:cs typeface="Hepta Slab Regular" pitchFamily="2" charset="0"/>
            </a:endParaRPr>
          </a:p>
        </p:txBody>
      </p:sp>
      <p:sp>
        <p:nvSpPr>
          <p:cNvPr id="24" name="Object5">
            <a:extLst>
              <a:ext uri="{FF2B5EF4-FFF2-40B4-BE49-F238E27FC236}">
                <a16:creationId xmlns:a16="http://schemas.microsoft.com/office/drawing/2014/main" id="{E0DCDF46-EBDF-D274-FCC4-E186E01ABCD0}"/>
              </a:ext>
            </a:extLst>
          </p:cNvPr>
          <p:cNvSpPr/>
          <p:nvPr/>
        </p:nvSpPr>
        <p:spPr>
          <a:xfrm>
            <a:off x="3216000" y="4149000"/>
            <a:ext cx="1840990" cy="48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ea typeface="Hepta Slab Regular" pitchFamily="34" charset="-122"/>
                <a:cs typeface="Hepta Slab Regular" pitchFamily="2" charset="0"/>
              </a:rPr>
              <a:t>Helps me enhance my lifestyle</a:t>
            </a:r>
            <a:endParaRPr lang="en-US" sz="1333" dirty="0">
              <a:solidFill>
                <a:srgbClr val="002060"/>
              </a:solidFill>
              <a:latin typeface="Montserrat Medium" pitchFamily="2" charset="0"/>
              <a:cs typeface="Hepta Slab Regular" pitchFamily="2" charset="0"/>
            </a:endParaRPr>
          </a:p>
        </p:txBody>
      </p:sp>
      <p:sp>
        <p:nvSpPr>
          <p:cNvPr id="25" name="Object5">
            <a:extLst>
              <a:ext uri="{FF2B5EF4-FFF2-40B4-BE49-F238E27FC236}">
                <a16:creationId xmlns:a16="http://schemas.microsoft.com/office/drawing/2014/main" id="{09E04FC0-DAA3-D509-25AE-A9E6DA2AF0DB}"/>
              </a:ext>
            </a:extLst>
          </p:cNvPr>
          <p:cNvSpPr/>
          <p:nvPr/>
        </p:nvSpPr>
        <p:spPr>
          <a:xfrm>
            <a:off x="6096000" y="366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ea typeface="Hepta Slab Regular" pitchFamily="34" charset="-122"/>
                <a:cs typeface="Hepta Slab Regular" pitchFamily="2" charset="0"/>
              </a:rPr>
              <a:t>Prestige</a:t>
            </a:r>
            <a:endParaRPr lang="en-US" sz="1333" dirty="0">
              <a:solidFill>
                <a:srgbClr val="002060"/>
              </a:solidFill>
              <a:latin typeface="Montserrat Medium" pitchFamily="2" charset="0"/>
              <a:cs typeface="Hepta Slab Regular" pitchFamily="2" charset="0"/>
            </a:endParaRPr>
          </a:p>
        </p:txBody>
      </p:sp>
      <p:sp>
        <p:nvSpPr>
          <p:cNvPr id="26" name="Object5">
            <a:extLst>
              <a:ext uri="{FF2B5EF4-FFF2-40B4-BE49-F238E27FC236}">
                <a16:creationId xmlns:a16="http://schemas.microsoft.com/office/drawing/2014/main" id="{A1021491-BA83-9E7C-7FD0-E1744D075195}"/>
              </a:ext>
            </a:extLst>
          </p:cNvPr>
          <p:cNvSpPr/>
          <p:nvPr/>
        </p:nvSpPr>
        <p:spPr>
          <a:xfrm>
            <a:off x="6096000" y="414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Aspirational</a:t>
            </a:r>
            <a:endParaRPr lang="en-US" sz="1333" dirty="0">
              <a:solidFill>
                <a:prstClr val="white">
                  <a:lumMod val="65000"/>
                </a:prstClr>
              </a:solidFill>
              <a:latin typeface="Montserrat Medium" pitchFamily="2" charset="0"/>
              <a:cs typeface="Hepta Slab Regular" pitchFamily="2" charset="0"/>
            </a:endParaRPr>
          </a:p>
        </p:txBody>
      </p:sp>
      <p:sp>
        <p:nvSpPr>
          <p:cNvPr id="27" name="Object5">
            <a:extLst>
              <a:ext uri="{FF2B5EF4-FFF2-40B4-BE49-F238E27FC236}">
                <a16:creationId xmlns:a16="http://schemas.microsoft.com/office/drawing/2014/main" id="{E4E0AB40-6E12-A93A-4933-5E7EB67061C4}"/>
              </a:ext>
            </a:extLst>
          </p:cNvPr>
          <p:cNvSpPr/>
          <p:nvPr/>
        </p:nvSpPr>
        <p:spPr>
          <a:xfrm>
            <a:off x="6096000" y="462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Exclusive</a:t>
            </a:r>
            <a:endParaRPr lang="en-US" sz="1333" dirty="0">
              <a:solidFill>
                <a:prstClr val="white">
                  <a:lumMod val="65000"/>
                </a:prstClr>
              </a:solidFill>
              <a:latin typeface="Montserrat Medium" pitchFamily="2" charset="0"/>
              <a:cs typeface="Hepta Slab Regular" pitchFamily="2" charset="0"/>
            </a:endParaRPr>
          </a:p>
        </p:txBody>
      </p:sp>
      <p:sp>
        <p:nvSpPr>
          <p:cNvPr id="28" name="Object5">
            <a:extLst>
              <a:ext uri="{FF2B5EF4-FFF2-40B4-BE49-F238E27FC236}">
                <a16:creationId xmlns:a16="http://schemas.microsoft.com/office/drawing/2014/main" id="{4C051E26-80CA-BC96-93D0-471B46AB2A40}"/>
              </a:ext>
            </a:extLst>
          </p:cNvPr>
          <p:cNvSpPr/>
          <p:nvPr/>
        </p:nvSpPr>
        <p:spPr>
          <a:xfrm>
            <a:off x="8496000" y="366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ea typeface="Hepta Slab Regular" pitchFamily="34" charset="-122"/>
                <a:cs typeface="Hepta Slab Regular" pitchFamily="2" charset="0"/>
              </a:rPr>
              <a:t>Control</a:t>
            </a:r>
            <a:endParaRPr lang="en-US" sz="1333" dirty="0">
              <a:solidFill>
                <a:srgbClr val="002060"/>
              </a:solidFill>
              <a:latin typeface="Montserrat Medium" pitchFamily="2" charset="0"/>
              <a:cs typeface="Hepta Slab Regular" pitchFamily="2" charset="0"/>
            </a:endParaRPr>
          </a:p>
        </p:txBody>
      </p:sp>
      <p:sp>
        <p:nvSpPr>
          <p:cNvPr id="29" name="Object5">
            <a:extLst>
              <a:ext uri="{FF2B5EF4-FFF2-40B4-BE49-F238E27FC236}">
                <a16:creationId xmlns:a16="http://schemas.microsoft.com/office/drawing/2014/main" id="{C0A8E8C8-CF87-952D-1493-539AC59C6ECC}"/>
              </a:ext>
            </a:extLst>
          </p:cNvPr>
          <p:cNvSpPr/>
          <p:nvPr/>
        </p:nvSpPr>
        <p:spPr>
          <a:xfrm>
            <a:off x="8496000" y="414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ea typeface="Hepta Slab Regular" pitchFamily="34" charset="-122"/>
                <a:cs typeface="Hepta Slab Regular" pitchFamily="2" charset="0"/>
              </a:rPr>
              <a:t>Empowered</a:t>
            </a:r>
            <a:endParaRPr lang="en-US" sz="1333" dirty="0">
              <a:solidFill>
                <a:srgbClr val="002060"/>
              </a:solidFill>
              <a:latin typeface="Montserrat Medium" pitchFamily="2" charset="0"/>
              <a:cs typeface="Hepta Slab Regular" pitchFamily="2" charset="0"/>
            </a:endParaRPr>
          </a:p>
        </p:txBody>
      </p:sp>
      <p:sp>
        <p:nvSpPr>
          <p:cNvPr id="30" name="Object5">
            <a:extLst>
              <a:ext uri="{FF2B5EF4-FFF2-40B4-BE49-F238E27FC236}">
                <a16:creationId xmlns:a16="http://schemas.microsoft.com/office/drawing/2014/main" id="{FA9202F4-8CA0-D67A-0EFE-A455D075B49D}"/>
              </a:ext>
            </a:extLst>
          </p:cNvPr>
          <p:cNvSpPr/>
          <p:nvPr/>
        </p:nvSpPr>
        <p:spPr>
          <a:xfrm>
            <a:off x="8496000" y="462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ea typeface="Hepta Slab Regular" pitchFamily="34" charset="-122"/>
                <a:cs typeface="Hepta Slab Regular" pitchFamily="2" charset="0"/>
              </a:rPr>
              <a:t>Valued</a:t>
            </a:r>
            <a:endParaRPr lang="en-US" sz="1333" dirty="0">
              <a:solidFill>
                <a:srgbClr val="002060"/>
              </a:solidFill>
              <a:latin typeface="Montserrat Medium" pitchFamily="2" charset="0"/>
              <a:cs typeface="Hepta Slab Regular" pitchFamily="2" charset="0"/>
            </a:endParaRPr>
          </a:p>
        </p:txBody>
      </p:sp>
      <p:sp>
        <p:nvSpPr>
          <p:cNvPr id="31" name="Object5">
            <a:extLst>
              <a:ext uri="{FF2B5EF4-FFF2-40B4-BE49-F238E27FC236}">
                <a16:creationId xmlns:a16="http://schemas.microsoft.com/office/drawing/2014/main" id="{EBE32AF1-83DD-D417-7E00-30C05D4942DE}"/>
              </a:ext>
            </a:extLst>
          </p:cNvPr>
          <p:cNvSpPr/>
          <p:nvPr/>
        </p:nvSpPr>
        <p:spPr>
          <a:xfrm>
            <a:off x="336000" y="4629000"/>
            <a:ext cx="1840990" cy="60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cs typeface="Hepta Slab Regular" pitchFamily="2" charset="0"/>
              </a:rPr>
              <a:t>Helps me grow my money</a:t>
            </a:r>
          </a:p>
        </p:txBody>
      </p:sp>
      <p:sp>
        <p:nvSpPr>
          <p:cNvPr id="32" name="Object6">
            <a:extLst>
              <a:ext uri="{FF2B5EF4-FFF2-40B4-BE49-F238E27FC236}">
                <a16:creationId xmlns:a16="http://schemas.microsoft.com/office/drawing/2014/main" id="{7A4F41E5-C8D3-2D15-C452-328AA3D85DCF}"/>
              </a:ext>
            </a:extLst>
          </p:cNvPr>
          <p:cNvSpPr/>
          <p:nvPr/>
        </p:nvSpPr>
        <p:spPr>
          <a:xfrm>
            <a:off x="336000" y="872604"/>
            <a:ext cx="10884451" cy="480000"/>
          </a:xfrm>
          <a:prstGeom prst="rect">
            <a:avLst/>
          </a:prstGeom>
          <a:noFill/>
          <a:ln/>
        </p:spPr>
        <p:txBody>
          <a:bodyPr wrap="square" lIns="0" tIns="0" rIns="0" bIns="0" rtlCol="0" anchor="t"/>
          <a:lstStyle/>
          <a:p>
            <a:pPr defTabSz="304815">
              <a:lnSpc>
                <a:spcPts val="2925"/>
              </a:lnSpc>
            </a:pPr>
            <a:r>
              <a:rPr lang="en-US" sz="1600" cap="all" dirty="0">
                <a:solidFill>
                  <a:srgbClr val="002060"/>
                </a:solidFill>
                <a:latin typeface="Montserrat ExtraBold" pitchFamily="34" charset="0"/>
              </a:rPr>
              <a:t>What FEDERAL believes they provide (</a:t>
            </a:r>
            <a:r>
              <a:rPr lang="en-US" sz="1600" dirty="0">
                <a:solidFill>
                  <a:srgbClr val="002060"/>
                </a:solidFill>
                <a:latin typeface="Montserrat Medium" panose="00000600000000000000" pitchFamily="2" charset="0"/>
              </a:rPr>
              <a:t>Insights from internal setting sail – kickoff conversations</a:t>
            </a:r>
            <a:r>
              <a:rPr lang="en-US" sz="1600" cap="all" dirty="0">
                <a:solidFill>
                  <a:srgbClr val="002060"/>
                </a:solidFill>
                <a:latin typeface="Montserrat ExtraBold" pitchFamily="34" charset="0"/>
              </a:rPr>
              <a:t>)   </a:t>
            </a:r>
          </a:p>
        </p:txBody>
      </p:sp>
      <p:grpSp>
        <p:nvGrpSpPr>
          <p:cNvPr id="33" name="Group 32">
            <a:extLst>
              <a:ext uri="{FF2B5EF4-FFF2-40B4-BE49-F238E27FC236}">
                <a16:creationId xmlns:a16="http://schemas.microsoft.com/office/drawing/2014/main" id="{3BE459A3-D23D-EBEE-E2C0-B8775369015B}"/>
              </a:ext>
            </a:extLst>
          </p:cNvPr>
          <p:cNvGrpSpPr/>
          <p:nvPr/>
        </p:nvGrpSpPr>
        <p:grpSpPr>
          <a:xfrm>
            <a:off x="-61290" y="6053155"/>
            <a:ext cx="12253290" cy="971832"/>
            <a:chOff x="-187799" y="8336784"/>
            <a:chExt cx="18379935" cy="1457748"/>
          </a:xfrm>
        </p:grpSpPr>
        <p:pic>
          <p:nvPicPr>
            <p:cNvPr id="34" name="Picture 33">
              <a:extLst>
                <a:ext uri="{FF2B5EF4-FFF2-40B4-BE49-F238E27FC236}">
                  <a16:creationId xmlns:a16="http://schemas.microsoft.com/office/drawing/2014/main" id="{8184D731-CBC0-8AFC-4A97-D673696DE4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35" name="Title 1">
              <a:extLst>
                <a:ext uri="{FF2B5EF4-FFF2-40B4-BE49-F238E27FC236}">
                  <a16:creationId xmlns:a16="http://schemas.microsoft.com/office/drawing/2014/main" id="{2156C80B-4824-A06A-B040-0F4AEE90FE90}"/>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36" name="Picture 35">
              <a:extLst>
                <a:ext uri="{FF2B5EF4-FFF2-40B4-BE49-F238E27FC236}">
                  <a16:creationId xmlns:a16="http://schemas.microsoft.com/office/drawing/2014/main" id="{E33B1AB5-F223-FB3C-0A02-FA314E740C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38" name="TextBox 37">
            <a:extLst>
              <a:ext uri="{FF2B5EF4-FFF2-40B4-BE49-F238E27FC236}">
                <a16:creationId xmlns:a16="http://schemas.microsoft.com/office/drawing/2014/main" id="{14737360-341F-D68F-C44B-F7EAC1568058}"/>
              </a:ext>
            </a:extLst>
          </p:cNvPr>
          <p:cNvSpPr txBox="1"/>
          <p:nvPr/>
        </p:nvSpPr>
        <p:spPr>
          <a:xfrm>
            <a:off x="11384038" y="6062779"/>
            <a:ext cx="480000" cy="276999"/>
          </a:xfrm>
          <a:prstGeom prst="rect">
            <a:avLst/>
          </a:prstGeom>
          <a:noFill/>
        </p:spPr>
        <p:txBody>
          <a:bodyPr wrap="square" rtlCol="0">
            <a:spAutoFit/>
          </a:bodyPr>
          <a:lstStyle/>
          <a:p>
            <a:pPr algn="r" defTabSz="304815">
              <a:spcBef>
                <a:spcPts val="1200"/>
              </a:spcBef>
              <a:spcAft>
                <a:spcPts val="1200"/>
              </a:spcAft>
              <a:buClr>
                <a:srgbClr val="FFC000"/>
              </a:buClr>
            </a:pPr>
            <a:r>
              <a:rPr lang="en-US" sz="1200" dirty="0">
                <a:solidFill>
                  <a:srgbClr val="0D0D0D"/>
                </a:solidFill>
                <a:latin typeface="Hepta Slab Medium" pitchFamily="2" charset="0"/>
                <a:cs typeface="Hepta Slab Medium" pitchFamily="2" charset="0"/>
              </a:rPr>
              <a:t>21</a:t>
            </a:r>
            <a:endParaRPr lang="en-US" sz="1333" dirty="0">
              <a:solidFill>
                <a:srgbClr val="0D0D0D"/>
              </a:solidFill>
              <a:latin typeface="Hepta Slab Medium" pitchFamily="2" charset="0"/>
              <a:cs typeface="Hepta Slab Medium" pitchFamily="2" charset="0"/>
            </a:endParaRPr>
          </a:p>
        </p:txBody>
      </p:sp>
      <p:sp>
        <p:nvSpPr>
          <p:cNvPr id="2" name="Object6">
            <a:extLst>
              <a:ext uri="{FF2B5EF4-FFF2-40B4-BE49-F238E27FC236}">
                <a16:creationId xmlns:a16="http://schemas.microsoft.com/office/drawing/2014/main" id="{822B544C-44AB-7C5B-FFB0-60DDBCE32E72}"/>
              </a:ext>
            </a:extLst>
          </p:cNvPr>
          <p:cNvSpPr/>
          <p:nvPr/>
        </p:nvSpPr>
        <p:spPr>
          <a:xfrm>
            <a:off x="335999" y="1519206"/>
            <a:ext cx="10884451" cy="793398"/>
          </a:xfrm>
          <a:prstGeom prst="rect">
            <a:avLst/>
          </a:prstGeom>
          <a:noFill/>
          <a:ln/>
        </p:spPr>
        <p:txBody>
          <a:bodyPr wrap="square" lIns="0" tIns="0" rIns="0" bIns="0" rtlCol="0" anchor="t"/>
          <a:lstStyle/>
          <a:p>
            <a:pPr defTabSz="304815">
              <a:lnSpc>
                <a:spcPts val="2925"/>
              </a:lnSpc>
            </a:pPr>
            <a:r>
              <a:rPr lang="en-US" sz="1600" cap="all" dirty="0">
                <a:solidFill>
                  <a:srgbClr val="002060"/>
                </a:solidFill>
                <a:latin typeface="Montserrat ExtraBold" pitchFamily="34" charset="0"/>
              </a:rPr>
              <a:t>BLUE :  ATTRIBUTES THAT FEDERAL BELIEVES CELESTA DELIVERS</a:t>
            </a:r>
          </a:p>
          <a:p>
            <a:pPr defTabSz="304815">
              <a:lnSpc>
                <a:spcPts val="2925"/>
              </a:lnSpc>
            </a:pPr>
            <a:r>
              <a:rPr lang="en-US" sz="1600" cap="all" dirty="0">
                <a:solidFill>
                  <a:srgbClr val="A6A6A6"/>
                </a:solidFill>
                <a:latin typeface="Montserrat ExtraBold" pitchFamily="34" charset="0"/>
              </a:rPr>
              <a:t>GREY: ATTRIBUTES THAT FEDERAL BELIEVES CELESTA DOES NOT DELIVER ON   </a:t>
            </a:r>
          </a:p>
        </p:txBody>
      </p:sp>
    </p:spTree>
    <p:extLst>
      <p:ext uri="{BB962C8B-B14F-4D97-AF65-F5344CB8AC3E}">
        <p14:creationId xmlns:p14="http://schemas.microsoft.com/office/powerpoint/2010/main" val="2946668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6" name="Object6">
            <a:extLst>
              <a:ext uri="{FF2B5EF4-FFF2-40B4-BE49-F238E27FC236}">
                <a16:creationId xmlns:a16="http://schemas.microsoft.com/office/drawing/2014/main" id="{DBC8D89D-6377-A058-585D-48DC059FFC49}"/>
              </a:ext>
            </a:extLst>
          </p:cNvPr>
          <p:cNvSpPr/>
          <p:nvPr/>
        </p:nvSpPr>
        <p:spPr>
          <a:xfrm>
            <a:off x="336000" y="549001"/>
            <a:ext cx="5156160" cy="371475"/>
          </a:xfrm>
          <a:prstGeom prst="rect">
            <a:avLst/>
          </a:prstGeom>
          <a:noFill/>
          <a:ln/>
        </p:spPr>
        <p:txBody>
          <a:bodyPr wrap="square" lIns="0" tIns="0" rIns="0" bIns="0" rtlCol="0" anchor="t"/>
          <a:lstStyle/>
          <a:p>
            <a:pPr defTabSz="304815">
              <a:lnSpc>
                <a:spcPts val="2925"/>
              </a:lnSpc>
              <a:defRPr/>
            </a:pPr>
            <a:r>
              <a:rPr lang="en-US" sz="1600" cap="all" dirty="0">
                <a:solidFill>
                  <a:srgbClr val="002060"/>
                </a:solidFill>
                <a:latin typeface="Montserrat ExtraBold" pitchFamily="34" charset="0"/>
              </a:rPr>
              <a:t>Expectation experience gap</a:t>
            </a:r>
            <a:endParaRPr lang="en-US" sz="1600" cap="all" dirty="0">
              <a:solidFill>
                <a:srgbClr val="002060"/>
              </a:solidFill>
              <a:latin typeface="Calibri" panose="020F0502020204030204"/>
            </a:endParaRPr>
          </a:p>
        </p:txBody>
      </p:sp>
      <p:sp>
        <p:nvSpPr>
          <p:cNvPr id="10" name="Object5">
            <a:extLst>
              <a:ext uri="{FF2B5EF4-FFF2-40B4-BE49-F238E27FC236}">
                <a16:creationId xmlns:a16="http://schemas.microsoft.com/office/drawing/2014/main" id="{6F0FD40F-7742-D41C-5816-5867698E85D0}"/>
              </a:ext>
            </a:extLst>
          </p:cNvPr>
          <p:cNvSpPr/>
          <p:nvPr/>
        </p:nvSpPr>
        <p:spPr>
          <a:xfrm>
            <a:off x="336000" y="318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cs typeface="Hepta Slab Regular" pitchFamily="2" charset="0"/>
              </a:rPr>
              <a:t>Friction Free</a:t>
            </a:r>
          </a:p>
        </p:txBody>
      </p:sp>
      <p:sp>
        <p:nvSpPr>
          <p:cNvPr id="11" name="Object5">
            <a:extLst>
              <a:ext uri="{FF2B5EF4-FFF2-40B4-BE49-F238E27FC236}">
                <a16:creationId xmlns:a16="http://schemas.microsoft.com/office/drawing/2014/main" id="{95A01EBA-AB2D-30E0-7CB1-B46826D731F1}"/>
              </a:ext>
            </a:extLst>
          </p:cNvPr>
          <p:cNvSpPr/>
          <p:nvPr/>
        </p:nvSpPr>
        <p:spPr>
          <a:xfrm>
            <a:off x="3216000" y="3189000"/>
            <a:ext cx="1840990" cy="240000"/>
          </a:xfrm>
          <a:prstGeom prst="rect">
            <a:avLst/>
          </a:prstGeom>
          <a:noFill/>
          <a:ln/>
        </p:spPr>
        <p:txBody>
          <a:bodyPr wrap="square" lIns="0" tIns="0" rIns="0" bIns="0" rtlCol="0" anchor="t"/>
          <a:lstStyle/>
          <a:p>
            <a:pPr defTabSz="304815"/>
            <a:r>
              <a:rPr lang="en-US" sz="1333" strike="sngStrike" dirty="0">
                <a:solidFill>
                  <a:srgbClr val="002060"/>
                </a:solidFill>
                <a:latin typeface="Montserrat Medium" pitchFamily="2" charset="0"/>
                <a:cs typeface="Hepta Slab Regular" pitchFamily="2" charset="0"/>
              </a:rPr>
              <a:t>Badge Value</a:t>
            </a:r>
          </a:p>
        </p:txBody>
      </p:sp>
      <p:sp>
        <p:nvSpPr>
          <p:cNvPr id="14" name="Object5">
            <a:extLst>
              <a:ext uri="{FF2B5EF4-FFF2-40B4-BE49-F238E27FC236}">
                <a16:creationId xmlns:a16="http://schemas.microsoft.com/office/drawing/2014/main" id="{4B9311AB-F175-20F3-2BE9-A4CADEDF3CB2}"/>
              </a:ext>
            </a:extLst>
          </p:cNvPr>
          <p:cNvSpPr/>
          <p:nvPr/>
        </p:nvSpPr>
        <p:spPr>
          <a:xfrm>
            <a:off x="6096000" y="318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Affiliation</a:t>
            </a:r>
            <a:endParaRPr lang="en-US" sz="1333" dirty="0">
              <a:solidFill>
                <a:prstClr val="white">
                  <a:lumMod val="65000"/>
                </a:prstClr>
              </a:solidFill>
              <a:latin typeface="Montserrat Medium" pitchFamily="2" charset="0"/>
              <a:cs typeface="Hepta Slab Regular" pitchFamily="2" charset="0"/>
            </a:endParaRPr>
          </a:p>
        </p:txBody>
      </p:sp>
      <p:sp>
        <p:nvSpPr>
          <p:cNvPr id="15" name="Object5">
            <a:extLst>
              <a:ext uri="{FF2B5EF4-FFF2-40B4-BE49-F238E27FC236}">
                <a16:creationId xmlns:a16="http://schemas.microsoft.com/office/drawing/2014/main" id="{E5D18F66-C070-5772-411D-E2448B65030B}"/>
              </a:ext>
            </a:extLst>
          </p:cNvPr>
          <p:cNvSpPr/>
          <p:nvPr/>
        </p:nvSpPr>
        <p:spPr>
          <a:xfrm>
            <a:off x="8496000" y="318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cs typeface="Hepta Slab Regular" pitchFamily="2" charset="0"/>
              </a:rPr>
              <a:t>Safe</a:t>
            </a:r>
          </a:p>
        </p:txBody>
      </p:sp>
      <p:sp>
        <p:nvSpPr>
          <p:cNvPr id="21" name="Object5">
            <a:extLst>
              <a:ext uri="{FF2B5EF4-FFF2-40B4-BE49-F238E27FC236}">
                <a16:creationId xmlns:a16="http://schemas.microsoft.com/office/drawing/2014/main" id="{1FB2510C-9F98-D1DE-89F5-EBC2F58E8691}"/>
              </a:ext>
            </a:extLst>
          </p:cNvPr>
          <p:cNvSpPr/>
          <p:nvPr/>
        </p:nvSpPr>
        <p:spPr>
          <a:xfrm>
            <a:off x="336000" y="3669000"/>
            <a:ext cx="1840990" cy="240000"/>
          </a:xfrm>
          <a:prstGeom prst="rect">
            <a:avLst/>
          </a:prstGeom>
          <a:noFill/>
          <a:ln/>
        </p:spPr>
        <p:txBody>
          <a:bodyPr wrap="square" lIns="0" tIns="0" rIns="0" bIns="0" rtlCol="0" anchor="t"/>
          <a:lstStyle/>
          <a:p>
            <a:pPr defTabSz="304815"/>
            <a:r>
              <a:rPr lang="en-US" sz="1333" strike="sngStrike" dirty="0">
                <a:solidFill>
                  <a:srgbClr val="002060"/>
                </a:solidFill>
                <a:latin typeface="Montserrat Medium" pitchFamily="2" charset="0"/>
                <a:ea typeface="Hepta Slab Regular" pitchFamily="34" charset="-122"/>
                <a:cs typeface="Hepta Slab Regular" pitchFamily="2" charset="0"/>
              </a:rPr>
              <a:t>Simplifies</a:t>
            </a:r>
            <a:endParaRPr lang="en-US" sz="1333" strike="sngStrike" dirty="0">
              <a:solidFill>
                <a:srgbClr val="002060"/>
              </a:solidFill>
              <a:latin typeface="Montserrat Medium" pitchFamily="2" charset="0"/>
              <a:cs typeface="Hepta Slab Regular" pitchFamily="2" charset="0"/>
            </a:endParaRPr>
          </a:p>
        </p:txBody>
      </p:sp>
      <p:sp>
        <p:nvSpPr>
          <p:cNvPr id="22" name="Object5">
            <a:extLst>
              <a:ext uri="{FF2B5EF4-FFF2-40B4-BE49-F238E27FC236}">
                <a16:creationId xmlns:a16="http://schemas.microsoft.com/office/drawing/2014/main" id="{BD7C9720-D094-EDA3-070F-EA166B7FD88B}"/>
              </a:ext>
            </a:extLst>
          </p:cNvPr>
          <p:cNvSpPr/>
          <p:nvPr/>
        </p:nvSpPr>
        <p:spPr>
          <a:xfrm>
            <a:off x="336000" y="414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cs typeface="Hepta Slab Regular" pitchFamily="2" charset="0"/>
              </a:rPr>
              <a:t>Peace of mind</a:t>
            </a:r>
          </a:p>
        </p:txBody>
      </p:sp>
      <p:sp>
        <p:nvSpPr>
          <p:cNvPr id="23" name="Object5">
            <a:extLst>
              <a:ext uri="{FF2B5EF4-FFF2-40B4-BE49-F238E27FC236}">
                <a16:creationId xmlns:a16="http://schemas.microsoft.com/office/drawing/2014/main" id="{98722D5E-394B-AEBD-BA6B-79062C2D03A0}"/>
              </a:ext>
            </a:extLst>
          </p:cNvPr>
          <p:cNvSpPr/>
          <p:nvPr/>
        </p:nvSpPr>
        <p:spPr>
          <a:xfrm>
            <a:off x="3216000" y="366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ea typeface="Hepta Slab Regular" pitchFamily="34" charset="-122"/>
                <a:cs typeface="Hepta Slab Regular" pitchFamily="2" charset="0"/>
              </a:rPr>
              <a:t>Pride - </a:t>
            </a:r>
            <a:r>
              <a:rPr lang="en-US" sz="1333" dirty="0">
                <a:solidFill>
                  <a:srgbClr val="003975"/>
                </a:solidFill>
                <a:latin typeface="Montserrat Medium" pitchFamily="2" charset="0"/>
                <a:ea typeface="Hepta Slab Regular" pitchFamily="34" charset="-122"/>
                <a:cs typeface="Hepta Slab Regular" pitchFamily="2" charset="0"/>
              </a:rPr>
              <a:t>Home</a:t>
            </a:r>
            <a:endParaRPr lang="en-US" sz="1333" dirty="0">
              <a:solidFill>
                <a:srgbClr val="003975"/>
              </a:solidFill>
              <a:latin typeface="Montserrat Medium" pitchFamily="2" charset="0"/>
              <a:cs typeface="Hepta Slab Regular" pitchFamily="2" charset="0"/>
            </a:endParaRPr>
          </a:p>
        </p:txBody>
      </p:sp>
      <p:sp>
        <p:nvSpPr>
          <p:cNvPr id="25" name="Object5">
            <a:extLst>
              <a:ext uri="{FF2B5EF4-FFF2-40B4-BE49-F238E27FC236}">
                <a16:creationId xmlns:a16="http://schemas.microsoft.com/office/drawing/2014/main" id="{09E04FC0-DAA3-D509-25AE-A9E6DA2AF0DB}"/>
              </a:ext>
            </a:extLst>
          </p:cNvPr>
          <p:cNvSpPr/>
          <p:nvPr/>
        </p:nvSpPr>
        <p:spPr>
          <a:xfrm>
            <a:off x="6096000" y="3669000"/>
            <a:ext cx="1840990" cy="240000"/>
          </a:xfrm>
          <a:prstGeom prst="rect">
            <a:avLst/>
          </a:prstGeom>
          <a:noFill/>
          <a:ln/>
        </p:spPr>
        <p:txBody>
          <a:bodyPr wrap="square" lIns="0" tIns="0" rIns="0" bIns="0" rtlCol="0" anchor="t"/>
          <a:lstStyle/>
          <a:p>
            <a:pPr defTabSz="304815"/>
            <a:r>
              <a:rPr lang="en-US" sz="1333" strike="sngStrike" dirty="0">
                <a:solidFill>
                  <a:srgbClr val="002060"/>
                </a:solidFill>
                <a:latin typeface="Montserrat Medium" pitchFamily="2" charset="0"/>
                <a:ea typeface="Hepta Slab Regular" pitchFamily="34" charset="-122"/>
                <a:cs typeface="Hepta Slab Regular" pitchFamily="2" charset="0"/>
              </a:rPr>
              <a:t>Prestige</a:t>
            </a:r>
            <a:endParaRPr lang="en-US" sz="1333" strike="sngStrike" dirty="0">
              <a:solidFill>
                <a:srgbClr val="002060"/>
              </a:solidFill>
              <a:latin typeface="Montserrat Medium" pitchFamily="2" charset="0"/>
              <a:cs typeface="Hepta Slab Regular" pitchFamily="2" charset="0"/>
            </a:endParaRPr>
          </a:p>
        </p:txBody>
      </p:sp>
      <p:sp>
        <p:nvSpPr>
          <p:cNvPr id="26" name="Object5">
            <a:extLst>
              <a:ext uri="{FF2B5EF4-FFF2-40B4-BE49-F238E27FC236}">
                <a16:creationId xmlns:a16="http://schemas.microsoft.com/office/drawing/2014/main" id="{A1021491-BA83-9E7C-7FD0-E1744D075195}"/>
              </a:ext>
            </a:extLst>
          </p:cNvPr>
          <p:cNvSpPr/>
          <p:nvPr/>
        </p:nvSpPr>
        <p:spPr>
          <a:xfrm>
            <a:off x="6096000" y="414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Aspirational</a:t>
            </a:r>
            <a:endParaRPr lang="en-US" sz="1333" dirty="0">
              <a:solidFill>
                <a:prstClr val="white">
                  <a:lumMod val="65000"/>
                </a:prstClr>
              </a:solidFill>
              <a:latin typeface="Montserrat Medium" pitchFamily="2" charset="0"/>
              <a:cs typeface="Hepta Slab Regular" pitchFamily="2" charset="0"/>
            </a:endParaRPr>
          </a:p>
        </p:txBody>
      </p:sp>
      <p:sp>
        <p:nvSpPr>
          <p:cNvPr id="27" name="Object5">
            <a:extLst>
              <a:ext uri="{FF2B5EF4-FFF2-40B4-BE49-F238E27FC236}">
                <a16:creationId xmlns:a16="http://schemas.microsoft.com/office/drawing/2014/main" id="{E4E0AB40-6E12-A93A-4933-5E7EB67061C4}"/>
              </a:ext>
            </a:extLst>
          </p:cNvPr>
          <p:cNvSpPr/>
          <p:nvPr/>
        </p:nvSpPr>
        <p:spPr>
          <a:xfrm>
            <a:off x="6096000" y="462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Exclusive</a:t>
            </a:r>
            <a:endParaRPr lang="en-US" sz="1333" dirty="0">
              <a:solidFill>
                <a:prstClr val="white">
                  <a:lumMod val="65000"/>
                </a:prstClr>
              </a:solidFill>
              <a:latin typeface="Montserrat Medium" pitchFamily="2" charset="0"/>
              <a:cs typeface="Hepta Slab Regular" pitchFamily="2" charset="0"/>
            </a:endParaRPr>
          </a:p>
        </p:txBody>
      </p:sp>
      <p:sp>
        <p:nvSpPr>
          <p:cNvPr id="28" name="Object5">
            <a:extLst>
              <a:ext uri="{FF2B5EF4-FFF2-40B4-BE49-F238E27FC236}">
                <a16:creationId xmlns:a16="http://schemas.microsoft.com/office/drawing/2014/main" id="{4C051E26-80CA-BC96-93D0-471B46AB2A40}"/>
              </a:ext>
            </a:extLst>
          </p:cNvPr>
          <p:cNvSpPr/>
          <p:nvPr/>
        </p:nvSpPr>
        <p:spPr>
          <a:xfrm>
            <a:off x="8496000" y="366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Control</a:t>
            </a:r>
            <a:endParaRPr lang="en-US" sz="1333" dirty="0">
              <a:solidFill>
                <a:prstClr val="white">
                  <a:lumMod val="65000"/>
                </a:prstClr>
              </a:solidFill>
              <a:latin typeface="Montserrat Medium" pitchFamily="2" charset="0"/>
              <a:cs typeface="Hepta Slab Regular" pitchFamily="2" charset="0"/>
            </a:endParaRPr>
          </a:p>
        </p:txBody>
      </p:sp>
      <p:sp>
        <p:nvSpPr>
          <p:cNvPr id="29" name="Object5">
            <a:extLst>
              <a:ext uri="{FF2B5EF4-FFF2-40B4-BE49-F238E27FC236}">
                <a16:creationId xmlns:a16="http://schemas.microsoft.com/office/drawing/2014/main" id="{C0A8E8C8-CF87-952D-1493-539AC59C6ECC}"/>
              </a:ext>
            </a:extLst>
          </p:cNvPr>
          <p:cNvSpPr/>
          <p:nvPr/>
        </p:nvSpPr>
        <p:spPr>
          <a:xfrm>
            <a:off x="8496000" y="4149000"/>
            <a:ext cx="1840990" cy="240000"/>
          </a:xfrm>
          <a:prstGeom prst="rect">
            <a:avLst/>
          </a:prstGeom>
          <a:noFill/>
          <a:ln/>
        </p:spPr>
        <p:txBody>
          <a:bodyPr wrap="square" lIns="0" tIns="0" rIns="0" bIns="0" rtlCol="0" anchor="t"/>
          <a:lstStyle/>
          <a:p>
            <a:pPr defTabSz="304815"/>
            <a:r>
              <a:rPr lang="en-US" sz="1333" dirty="0">
                <a:solidFill>
                  <a:srgbClr val="002060"/>
                </a:solidFill>
                <a:latin typeface="Montserrat Medium" pitchFamily="2" charset="0"/>
                <a:ea typeface="Hepta Slab Regular" pitchFamily="34" charset="-122"/>
                <a:cs typeface="Hepta Slab Regular" pitchFamily="2" charset="0"/>
              </a:rPr>
              <a:t>Empowered</a:t>
            </a:r>
            <a:endParaRPr lang="en-US" sz="1333" dirty="0">
              <a:solidFill>
                <a:srgbClr val="002060"/>
              </a:solidFill>
              <a:latin typeface="Montserrat Medium" pitchFamily="2" charset="0"/>
              <a:cs typeface="Hepta Slab Regular" pitchFamily="2" charset="0"/>
            </a:endParaRPr>
          </a:p>
        </p:txBody>
      </p:sp>
      <p:sp>
        <p:nvSpPr>
          <p:cNvPr id="30" name="Object5">
            <a:extLst>
              <a:ext uri="{FF2B5EF4-FFF2-40B4-BE49-F238E27FC236}">
                <a16:creationId xmlns:a16="http://schemas.microsoft.com/office/drawing/2014/main" id="{FA9202F4-8CA0-D67A-0EFE-A455D075B49D}"/>
              </a:ext>
            </a:extLst>
          </p:cNvPr>
          <p:cNvSpPr/>
          <p:nvPr/>
        </p:nvSpPr>
        <p:spPr>
          <a:xfrm>
            <a:off x="8496000" y="4629000"/>
            <a:ext cx="1840990" cy="240000"/>
          </a:xfrm>
          <a:prstGeom prst="rect">
            <a:avLst/>
          </a:prstGeom>
          <a:noFill/>
          <a:ln/>
        </p:spPr>
        <p:txBody>
          <a:bodyPr wrap="square" lIns="0" tIns="0" rIns="0" bIns="0" rtlCol="0" anchor="t"/>
          <a:lstStyle/>
          <a:p>
            <a:pPr defTabSz="304815"/>
            <a:r>
              <a:rPr lang="en-US" sz="1333" dirty="0">
                <a:solidFill>
                  <a:prstClr val="white">
                    <a:lumMod val="65000"/>
                  </a:prstClr>
                </a:solidFill>
                <a:latin typeface="Montserrat Medium" pitchFamily="2" charset="0"/>
                <a:ea typeface="Hepta Slab Regular" pitchFamily="34" charset="-122"/>
                <a:cs typeface="Hepta Slab Regular" pitchFamily="2" charset="0"/>
              </a:rPr>
              <a:t>Valued</a:t>
            </a:r>
            <a:endParaRPr lang="en-US" sz="1333" dirty="0">
              <a:solidFill>
                <a:prstClr val="white">
                  <a:lumMod val="65000"/>
                </a:prstClr>
              </a:solidFill>
              <a:latin typeface="Montserrat Medium" pitchFamily="2" charset="0"/>
              <a:cs typeface="Hepta Slab Regular" pitchFamily="2" charset="0"/>
            </a:endParaRPr>
          </a:p>
        </p:txBody>
      </p:sp>
      <p:sp>
        <p:nvSpPr>
          <p:cNvPr id="31" name="Object5">
            <a:extLst>
              <a:ext uri="{FF2B5EF4-FFF2-40B4-BE49-F238E27FC236}">
                <a16:creationId xmlns:a16="http://schemas.microsoft.com/office/drawing/2014/main" id="{EBE32AF1-83DD-D417-7E00-30C05D4942DE}"/>
              </a:ext>
            </a:extLst>
          </p:cNvPr>
          <p:cNvSpPr/>
          <p:nvPr/>
        </p:nvSpPr>
        <p:spPr>
          <a:xfrm>
            <a:off x="336000" y="4629000"/>
            <a:ext cx="1840990" cy="600000"/>
          </a:xfrm>
          <a:prstGeom prst="rect">
            <a:avLst/>
          </a:prstGeom>
          <a:noFill/>
          <a:ln/>
        </p:spPr>
        <p:txBody>
          <a:bodyPr wrap="square" lIns="0" tIns="0" rIns="0" bIns="0" rtlCol="0" anchor="t"/>
          <a:lstStyle/>
          <a:p>
            <a:pPr defTabSz="304815"/>
            <a:r>
              <a:rPr lang="en-US" sz="1333" strike="sngStrike" dirty="0">
                <a:solidFill>
                  <a:srgbClr val="002060"/>
                </a:solidFill>
                <a:latin typeface="Montserrat Medium" pitchFamily="2" charset="0"/>
                <a:ea typeface="Hepta Slab Regular" pitchFamily="34" charset="-122"/>
                <a:cs typeface="Hepta Slab Regular" pitchFamily="2" charset="0"/>
              </a:rPr>
              <a:t>Helps</a:t>
            </a:r>
            <a:r>
              <a:rPr lang="en-US" sz="1333" dirty="0">
                <a:solidFill>
                  <a:srgbClr val="002060"/>
                </a:solidFill>
                <a:latin typeface="Montserrat Medium" pitchFamily="2" charset="0"/>
                <a:ea typeface="Hepta Slab Regular" pitchFamily="34" charset="-122"/>
                <a:cs typeface="Hepta Slab Regular" pitchFamily="2" charset="0"/>
              </a:rPr>
              <a:t> </a:t>
            </a:r>
            <a:r>
              <a:rPr lang="en-US" sz="1333" strike="sngStrike" dirty="0">
                <a:solidFill>
                  <a:srgbClr val="002060"/>
                </a:solidFill>
                <a:latin typeface="Montserrat Medium" pitchFamily="2" charset="0"/>
                <a:ea typeface="Hepta Slab Regular" pitchFamily="34" charset="-122"/>
                <a:cs typeface="Hepta Slab Regular" pitchFamily="2" charset="0"/>
              </a:rPr>
              <a:t>me grow my money</a:t>
            </a:r>
            <a:endParaRPr lang="en-US" sz="1333" strike="sngStrike" dirty="0">
              <a:solidFill>
                <a:srgbClr val="002060"/>
              </a:solidFill>
              <a:latin typeface="Montserrat Medium" pitchFamily="2" charset="0"/>
              <a:cs typeface="Hepta Slab Regular" pitchFamily="2" charset="0"/>
            </a:endParaRPr>
          </a:p>
        </p:txBody>
      </p:sp>
      <p:sp>
        <p:nvSpPr>
          <p:cNvPr id="32" name="Object6">
            <a:extLst>
              <a:ext uri="{FF2B5EF4-FFF2-40B4-BE49-F238E27FC236}">
                <a16:creationId xmlns:a16="http://schemas.microsoft.com/office/drawing/2014/main" id="{197E0F7D-9AC5-17B1-971D-D0B5E9F82BDC}"/>
              </a:ext>
            </a:extLst>
          </p:cNvPr>
          <p:cNvSpPr/>
          <p:nvPr/>
        </p:nvSpPr>
        <p:spPr>
          <a:xfrm>
            <a:off x="336000" y="819328"/>
            <a:ext cx="4372663" cy="371475"/>
          </a:xfrm>
          <a:prstGeom prst="rect">
            <a:avLst/>
          </a:prstGeom>
          <a:noFill/>
          <a:ln/>
        </p:spPr>
        <p:txBody>
          <a:bodyPr wrap="square" lIns="0" tIns="0" rIns="0" bIns="0" rtlCol="0" anchor="t"/>
          <a:lstStyle/>
          <a:p>
            <a:pPr defTabSz="304815">
              <a:lnSpc>
                <a:spcPts val="2925"/>
              </a:lnSpc>
            </a:pPr>
            <a:r>
              <a:rPr lang="en-US" sz="1600" cap="all" dirty="0">
                <a:solidFill>
                  <a:srgbClr val="002060"/>
                </a:solidFill>
                <a:latin typeface="Montserrat ExtraBold" pitchFamily="34" charset="0"/>
              </a:rPr>
              <a:t>what customer perceives</a:t>
            </a:r>
          </a:p>
        </p:txBody>
      </p:sp>
      <p:sp>
        <p:nvSpPr>
          <p:cNvPr id="33" name="Object5">
            <a:extLst>
              <a:ext uri="{FF2B5EF4-FFF2-40B4-BE49-F238E27FC236}">
                <a16:creationId xmlns:a16="http://schemas.microsoft.com/office/drawing/2014/main" id="{B17D274C-BDE0-4F93-6042-13A854636388}"/>
              </a:ext>
            </a:extLst>
          </p:cNvPr>
          <p:cNvSpPr/>
          <p:nvPr/>
        </p:nvSpPr>
        <p:spPr>
          <a:xfrm>
            <a:off x="336000" y="2469000"/>
            <a:ext cx="1840990" cy="240000"/>
          </a:xfrm>
          <a:prstGeom prst="rect">
            <a:avLst/>
          </a:prstGeom>
          <a:noFill/>
          <a:ln/>
        </p:spPr>
        <p:txBody>
          <a:bodyPr wrap="square" lIns="0" tIns="0" rIns="0" bIns="0" rtlCol="0" anchor="t"/>
          <a:lstStyle/>
          <a:p>
            <a:pPr defTabSz="304815"/>
            <a:r>
              <a:rPr lang="en-US" dirty="0">
                <a:solidFill>
                  <a:srgbClr val="A9734C"/>
                </a:solidFill>
                <a:latin typeface="Hepta Slab Bold" pitchFamily="2" charset="0"/>
                <a:ea typeface="Hepta Slab Regular" pitchFamily="34" charset="-122"/>
                <a:cs typeface="Hepta Slab Bold" pitchFamily="2" charset="0"/>
              </a:rPr>
              <a:t>Functional</a:t>
            </a:r>
            <a:endParaRPr lang="en-US" dirty="0">
              <a:solidFill>
                <a:srgbClr val="A9734C"/>
              </a:solidFill>
              <a:latin typeface="Hepta Slab Bold" pitchFamily="2" charset="0"/>
              <a:cs typeface="Hepta Slab Bold" pitchFamily="2" charset="0"/>
            </a:endParaRPr>
          </a:p>
        </p:txBody>
      </p:sp>
      <p:sp>
        <p:nvSpPr>
          <p:cNvPr id="34" name="Object5">
            <a:extLst>
              <a:ext uri="{FF2B5EF4-FFF2-40B4-BE49-F238E27FC236}">
                <a16:creationId xmlns:a16="http://schemas.microsoft.com/office/drawing/2014/main" id="{D0F966B6-67FF-14A4-5690-71FD16CEFAB7}"/>
              </a:ext>
            </a:extLst>
          </p:cNvPr>
          <p:cNvSpPr/>
          <p:nvPr/>
        </p:nvSpPr>
        <p:spPr>
          <a:xfrm>
            <a:off x="3216000" y="2469000"/>
            <a:ext cx="1840990" cy="240000"/>
          </a:xfrm>
          <a:prstGeom prst="rect">
            <a:avLst/>
          </a:prstGeom>
          <a:noFill/>
          <a:ln/>
        </p:spPr>
        <p:txBody>
          <a:bodyPr wrap="square" lIns="0" tIns="0" rIns="0" bIns="0" rtlCol="0" anchor="t"/>
          <a:lstStyle/>
          <a:p>
            <a:pPr defTabSz="304815"/>
            <a:r>
              <a:rPr lang="en-US" dirty="0">
                <a:solidFill>
                  <a:srgbClr val="A9734C"/>
                </a:solidFill>
                <a:latin typeface="Hepta Slab Bold" pitchFamily="2" charset="0"/>
                <a:cs typeface="Hepta Slab Bold" pitchFamily="2" charset="0"/>
              </a:rPr>
              <a:t>Identity</a:t>
            </a:r>
          </a:p>
        </p:txBody>
      </p:sp>
      <p:sp>
        <p:nvSpPr>
          <p:cNvPr id="35" name="Object5">
            <a:extLst>
              <a:ext uri="{FF2B5EF4-FFF2-40B4-BE49-F238E27FC236}">
                <a16:creationId xmlns:a16="http://schemas.microsoft.com/office/drawing/2014/main" id="{58E1F543-89EB-6147-7867-BE515474B81B}"/>
              </a:ext>
            </a:extLst>
          </p:cNvPr>
          <p:cNvSpPr/>
          <p:nvPr/>
        </p:nvSpPr>
        <p:spPr>
          <a:xfrm>
            <a:off x="6096000" y="2469000"/>
            <a:ext cx="1840990" cy="240000"/>
          </a:xfrm>
          <a:prstGeom prst="rect">
            <a:avLst/>
          </a:prstGeom>
          <a:noFill/>
          <a:ln/>
        </p:spPr>
        <p:txBody>
          <a:bodyPr wrap="square" lIns="0" tIns="0" rIns="0" bIns="0" rtlCol="0" anchor="t"/>
          <a:lstStyle/>
          <a:p>
            <a:pPr defTabSz="304815"/>
            <a:r>
              <a:rPr lang="en-US" dirty="0">
                <a:solidFill>
                  <a:prstClr val="white">
                    <a:lumMod val="65000"/>
                  </a:prstClr>
                </a:solidFill>
                <a:latin typeface="Hepta Slab Bold" pitchFamily="2" charset="0"/>
                <a:ea typeface="Hepta Slab Regular" pitchFamily="34" charset="-122"/>
                <a:cs typeface="Hepta Slab Bold" pitchFamily="2" charset="0"/>
              </a:rPr>
              <a:t>Social</a:t>
            </a:r>
            <a:endParaRPr lang="en-US" dirty="0">
              <a:solidFill>
                <a:prstClr val="white">
                  <a:lumMod val="65000"/>
                </a:prstClr>
              </a:solidFill>
              <a:latin typeface="Hepta Slab Bold" pitchFamily="2" charset="0"/>
              <a:cs typeface="Hepta Slab Bold" pitchFamily="2" charset="0"/>
            </a:endParaRPr>
          </a:p>
        </p:txBody>
      </p:sp>
      <p:sp>
        <p:nvSpPr>
          <p:cNvPr id="36" name="Object5">
            <a:extLst>
              <a:ext uri="{FF2B5EF4-FFF2-40B4-BE49-F238E27FC236}">
                <a16:creationId xmlns:a16="http://schemas.microsoft.com/office/drawing/2014/main" id="{8775AFB1-9EE2-ED51-0AFD-AE5F9CEC8993}"/>
              </a:ext>
            </a:extLst>
          </p:cNvPr>
          <p:cNvSpPr/>
          <p:nvPr/>
        </p:nvSpPr>
        <p:spPr>
          <a:xfrm>
            <a:off x="8496000" y="2469000"/>
            <a:ext cx="1840990" cy="240000"/>
          </a:xfrm>
          <a:prstGeom prst="rect">
            <a:avLst/>
          </a:prstGeom>
          <a:noFill/>
          <a:ln/>
        </p:spPr>
        <p:txBody>
          <a:bodyPr wrap="square" lIns="0" tIns="0" rIns="0" bIns="0" rtlCol="0" anchor="t"/>
          <a:lstStyle/>
          <a:p>
            <a:pPr defTabSz="304815"/>
            <a:r>
              <a:rPr lang="en-US" dirty="0">
                <a:solidFill>
                  <a:srgbClr val="A9734C"/>
                </a:solidFill>
                <a:latin typeface="Hepta Slab Bold" pitchFamily="2" charset="0"/>
                <a:cs typeface="Hepta Slab Bold" pitchFamily="2" charset="0"/>
              </a:rPr>
              <a:t>Emotional</a:t>
            </a:r>
          </a:p>
        </p:txBody>
      </p:sp>
      <p:grpSp>
        <p:nvGrpSpPr>
          <p:cNvPr id="37" name="Group 36">
            <a:extLst>
              <a:ext uri="{FF2B5EF4-FFF2-40B4-BE49-F238E27FC236}">
                <a16:creationId xmlns:a16="http://schemas.microsoft.com/office/drawing/2014/main" id="{42210AFE-83A9-AEA8-E612-1BFD96DAE411}"/>
              </a:ext>
            </a:extLst>
          </p:cNvPr>
          <p:cNvGrpSpPr/>
          <p:nvPr/>
        </p:nvGrpSpPr>
        <p:grpSpPr>
          <a:xfrm>
            <a:off x="-61290" y="6053155"/>
            <a:ext cx="12253290" cy="971832"/>
            <a:chOff x="-187799" y="8336784"/>
            <a:chExt cx="18379935" cy="1457748"/>
          </a:xfrm>
        </p:grpSpPr>
        <p:pic>
          <p:nvPicPr>
            <p:cNvPr id="38" name="Picture 37">
              <a:extLst>
                <a:ext uri="{FF2B5EF4-FFF2-40B4-BE49-F238E27FC236}">
                  <a16:creationId xmlns:a16="http://schemas.microsoft.com/office/drawing/2014/main" id="{6488C4D6-CDB8-43C1-2200-AD9A83FC85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39" name="Title 1">
              <a:extLst>
                <a:ext uri="{FF2B5EF4-FFF2-40B4-BE49-F238E27FC236}">
                  <a16:creationId xmlns:a16="http://schemas.microsoft.com/office/drawing/2014/main" id="{F05CF217-EFAF-AEE2-DEBE-F29A880BA966}"/>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40" name="Picture 39">
              <a:extLst>
                <a:ext uri="{FF2B5EF4-FFF2-40B4-BE49-F238E27FC236}">
                  <a16:creationId xmlns:a16="http://schemas.microsoft.com/office/drawing/2014/main" id="{9271C853-E5D7-DADD-B8ED-2A75C6C910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 name="Object5">
            <a:extLst>
              <a:ext uri="{FF2B5EF4-FFF2-40B4-BE49-F238E27FC236}">
                <a16:creationId xmlns:a16="http://schemas.microsoft.com/office/drawing/2014/main" id="{41F4908C-4500-A0F3-4500-7EE53BD15D9B}"/>
              </a:ext>
            </a:extLst>
          </p:cNvPr>
          <p:cNvSpPr/>
          <p:nvPr/>
        </p:nvSpPr>
        <p:spPr>
          <a:xfrm>
            <a:off x="3216000" y="4149000"/>
            <a:ext cx="1840990" cy="480000"/>
          </a:xfrm>
          <a:prstGeom prst="rect">
            <a:avLst/>
          </a:prstGeom>
          <a:noFill/>
          <a:ln/>
        </p:spPr>
        <p:txBody>
          <a:bodyPr wrap="square" lIns="0" tIns="0" rIns="0" bIns="0" rtlCol="0" anchor="t"/>
          <a:lstStyle/>
          <a:p>
            <a:pPr defTabSz="304815"/>
            <a:r>
              <a:rPr lang="en-US" sz="1333" strike="sngStrike" dirty="0">
                <a:solidFill>
                  <a:srgbClr val="002060"/>
                </a:solidFill>
                <a:latin typeface="Montserrat Medium" pitchFamily="2" charset="0"/>
                <a:ea typeface="Hepta Slab Regular" pitchFamily="34" charset="-122"/>
                <a:cs typeface="Hepta Slab Regular" pitchFamily="2" charset="0"/>
              </a:rPr>
              <a:t>Helps me enhance my lifestyle</a:t>
            </a:r>
            <a:endParaRPr lang="en-US" sz="1333" strike="sngStrike" dirty="0">
              <a:solidFill>
                <a:srgbClr val="002060"/>
              </a:solidFill>
              <a:latin typeface="Montserrat Medium" pitchFamily="2" charset="0"/>
              <a:cs typeface="Hepta Slab Regular" pitchFamily="2" charset="0"/>
            </a:endParaRPr>
          </a:p>
        </p:txBody>
      </p:sp>
      <p:sp>
        <p:nvSpPr>
          <p:cNvPr id="3" name="Slide Number Placeholder 4">
            <a:extLst>
              <a:ext uri="{FF2B5EF4-FFF2-40B4-BE49-F238E27FC236}">
                <a16:creationId xmlns:a16="http://schemas.microsoft.com/office/drawing/2014/main" id="{AFCFB628-5C3F-A353-1FEC-5879C743DD2D}"/>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065EC30-9185-4A95-ADD8-6385FABF13C0}" type="slidenum">
              <a:rPr lang="en-IN" sz="1000" smtClean="0">
                <a:solidFill>
                  <a:prstClr val="black">
                    <a:lumMod val="50000"/>
                    <a:lumOff val="50000"/>
                  </a:prstClr>
                </a:solidFill>
                <a:latin typeface="Montserrat" panose="00000500000000000000" pitchFamily="2" charset="0"/>
              </a:rPr>
              <a:pPr>
                <a:defRPr/>
              </a:pPr>
              <a:t>30</a:t>
            </a:fld>
            <a:endParaRPr lang="en-IN" sz="1000" dirty="0">
              <a:solidFill>
                <a:prstClr val="black">
                  <a:lumMod val="50000"/>
                  <a:lumOff val="50000"/>
                </a:prstClr>
              </a:solidFill>
              <a:latin typeface="Montserrat" panose="00000500000000000000" pitchFamily="2" charset="0"/>
            </a:endParaRPr>
          </a:p>
        </p:txBody>
      </p:sp>
      <p:sp>
        <p:nvSpPr>
          <p:cNvPr id="4" name="Object6">
            <a:extLst>
              <a:ext uri="{FF2B5EF4-FFF2-40B4-BE49-F238E27FC236}">
                <a16:creationId xmlns:a16="http://schemas.microsoft.com/office/drawing/2014/main" id="{5D0BDEDA-37EA-E420-4B6E-FE4269650B9F}"/>
              </a:ext>
            </a:extLst>
          </p:cNvPr>
          <p:cNvSpPr/>
          <p:nvPr/>
        </p:nvSpPr>
        <p:spPr>
          <a:xfrm>
            <a:off x="336000" y="1150086"/>
            <a:ext cx="11603587" cy="793398"/>
          </a:xfrm>
          <a:prstGeom prst="rect">
            <a:avLst/>
          </a:prstGeom>
          <a:noFill/>
          <a:ln/>
        </p:spPr>
        <p:txBody>
          <a:bodyPr wrap="square" lIns="0" tIns="0" rIns="0" bIns="0" rtlCol="0" anchor="t"/>
          <a:lstStyle/>
          <a:p>
            <a:pPr defTabSz="304815">
              <a:lnSpc>
                <a:spcPts val="2925"/>
              </a:lnSpc>
            </a:pPr>
            <a:r>
              <a:rPr lang="en-US" sz="1600" cap="all" dirty="0">
                <a:solidFill>
                  <a:srgbClr val="002060"/>
                </a:solidFill>
                <a:latin typeface="Montserrat ExtraBold" pitchFamily="34" charset="0"/>
              </a:rPr>
              <a:t>BLUE :  ATTRIBUTES THAT customers BELIEVES CELESTA DELIVERS</a:t>
            </a:r>
          </a:p>
          <a:p>
            <a:pPr defTabSz="304815">
              <a:lnSpc>
                <a:spcPts val="2925"/>
              </a:lnSpc>
            </a:pPr>
            <a:r>
              <a:rPr lang="en-US" sz="1600" strike="sngStrike" cap="all" dirty="0">
                <a:solidFill>
                  <a:srgbClr val="002060"/>
                </a:solidFill>
                <a:latin typeface="Montserrat ExtraBold" pitchFamily="34" charset="0"/>
              </a:rPr>
              <a:t>BLUE</a:t>
            </a:r>
            <a:r>
              <a:rPr lang="en-US" sz="1600" cap="all" dirty="0">
                <a:solidFill>
                  <a:srgbClr val="002060"/>
                </a:solidFill>
                <a:latin typeface="Montserrat ExtraBold" pitchFamily="34" charset="0"/>
              </a:rPr>
              <a:t> : ATTRIBUTES THAT customers BELIEVES CELESTA does not satisfactorily </a:t>
            </a:r>
            <a:r>
              <a:rPr lang="en-US" sz="1600" cap="all" dirty="0" err="1">
                <a:solidFill>
                  <a:srgbClr val="002060"/>
                </a:solidFill>
                <a:latin typeface="Montserrat ExtraBold" pitchFamily="34" charset="0"/>
              </a:rPr>
              <a:t>DELIVEr</a:t>
            </a:r>
            <a:endParaRPr lang="en-US" sz="1600" cap="all" dirty="0">
              <a:solidFill>
                <a:srgbClr val="002060"/>
              </a:solidFill>
              <a:latin typeface="Montserrat ExtraBold" pitchFamily="34" charset="0"/>
            </a:endParaRPr>
          </a:p>
          <a:p>
            <a:pPr defTabSz="304815">
              <a:lnSpc>
                <a:spcPts val="2925"/>
              </a:lnSpc>
            </a:pPr>
            <a:r>
              <a:rPr lang="en-US" sz="1600" cap="all" dirty="0">
                <a:solidFill>
                  <a:srgbClr val="A6A6A6"/>
                </a:solidFill>
                <a:latin typeface="Montserrat ExtraBold" pitchFamily="34" charset="0"/>
              </a:rPr>
              <a:t>GREY: ATTRIBUTES THAT customers BELIEVES CELESTA DOES NOT associate with celesta at all</a:t>
            </a:r>
          </a:p>
        </p:txBody>
      </p:sp>
    </p:spTree>
    <p:extLst>
      <p:ext uri="{BB962C8B-B14F-4D97-AF65-F5344CB8AC3E}">
        <p14:creationId xmlns:p14="http://schemas.microsoft.com/office/powerpoint/2010/main" val="3846653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C247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B946FA-1936-BDFF-984E-1FD4EC76BA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Object6">
            <a:extLst>
              <a:ext uri="{FF2B5EF4-FFF2-40B4-BE49-F238E27FC236}">
                <a16:creationId xmlns:a16="http://schemas.microsoft.com/office/drawing/2014/main" id="{09C258A2-2CD2-3FB9-79CB-8B2053758CBF}"/>
              </a:ext>
            </a:extLst>
          </p:cNvPr>
          <p:cNvSpPr/>
          <p:nvPr/>
        </p:nvSpPr>
        <p:spPr>
          <a:xfrm>
            <a:off x="696000" y="3429000"/>
            <a:ext cx="7200000" cy="840000"/>
          </a:xfrm>
          <a:prstGeom prst="rect">
            <a:avLst/>
          </a:prstGeom>
          <a:noFill/>
          <a:ln/>
        </p:spPr>
        <p:txBody>
          <a:bodyPr wrap="square" lIns="0" tIns="0" rIns="0" bIns="0" rtlCol="0" anchor="b">
            <a:noAutofit/>
          </a:bodyPr>
          <a:lstStyle/>
          <a:p>
            <a:pPr defTabSz="304815">
              <a:lnSpc>
                <a:spcPts val="2925"/>
              </a:lnSpc>
              <a:defRPr/>
            </a:pPr>
            <a:r>
              <a:rPr lang="en-US" sz="6400" dirty="0">
                <a:solidFill>
                  <a:srgbClr val="FFC000">
                    <a:lumMod val="20000"/>
                    <a:lumOff val="80000"/>
                  </a:srgbClr>
                </a:solidFill>
                <a:latin typeface="Hepta Slab ExtraLight" pitchFamily="2" charset="0"/>
                <a:ea typeface="Montserrat ExtraBold" pitchFamily="34" charset="-122"/>
                <a:cs typeface="Hepta Slab ExtraLight" pitchFamily="2" charset="0"/>
              </a:rPr>
              <a:t>The Specifics</a:t>
            </a:r>
            <a:endParaRPr lang="en-US" sz="6400" dirty="0">
              <a:solidFill>
                <a:srgbClr val="FFC000">
                  <a:lumMod val="20000"/>
                  <a:lumOff val="80000"/>
                </a:srgbClr>
              </a:solidFill>
              <a:latin typeface="Hepta Slab ExtraLight" pitchFamily="2" charset="0"/>
              <a:cs typeface="Hepta Slab ExtraLight" pitchFamily="2" charset="0"/>
            </a:endParaRPr>
          </a:p>
        </p:txBody>
      </p:sp>
      <p:sp>
        <p:nvSpPr>
          <p:cNvPr id="11" name="Object5">
            <a:extLst>
              <a:ext uri="{FF2B5EF4-FFF2-40B4-BE49-F238E27FC236}">
                <a16:creationId xmlns:a16="http://schemas.microsoft.com/office/drawing/2014/main" id="{0C7EFE4F-6D28-EA8C-5F65-5F264A6E46EC}"/>
              </a:ext>
            </a:extLst>
          </p:cNvPr>
          <p:cNvSpPr/>
          <p:nvPr/>
        </p:nvSpPr>
        <p:spPr>
          <a:xfrm>
            <a:off x="851040" y="4944852"/>
            <a:ext cx="11280000" cy="480000"/>
          </a:xfrm>
          <a:prstGeom prst="rect">
            <a:avLst/>
          </a:prstGeom>
          <a:noFill/>
          <a:ln/>
        </p:spPr>
        <p:txBody>
          <a:bodyPr wrap="square" lIns="0" tIns="0" rIns="0" bIns="0" rtlCol="0" anchor="t"/>
          <a:lstStyle/>
          <a:p>
            <a:pPr defTabSz="304815">
              <a:lnSpc>
                <a:spcPts val="4000"/>
              </a:lnSpc>
            </a:pPr>
            <a:r>
              <a:rPr lang="en-US" sz="1600" b="1" cap="small" dirty="0">
                <a:solidFill>
                  <a:srgbClr val="FFC000">
                    <a:lumMod val="20000"/>
                    <a:lumOff val="80000"/>
                  </a:srgbClr>
                </a:solidFill>
                <a:latin typeface="Hepta Slab SemiBold" pitchFamily="2" charset="0"/>
                <a:cs typeface="Hepta Slab SemiBold" pitchFamily="2" charset="0"/>
              </a:rPr>
              <a:t>FINANCIAL TRANSACTIONS</a:t>
            </a:r>
            <a:r>
              <a:rPr lang="en-US" sz="1600" b="1" cap="small" dirty="0">
                <a:solidFill>
                  <a:srgbClr val="FFC000"/>
                </a:solidFill>
                <a:latin typeface="Hepta Slab SemiBold" pitchFamily="2" charset="0"/>
                <a:cs typeface="Hepta Slab SemiBold" pitchFamily="2" charset="0"/>
              </a:rPr>
              <a:t> </a:t>
            </a:r>
            <a:r>
              <a:rPr lang="en-US" sz="4000" b="1" dirty="0">
                <a:solidFill>
                  <a:srgbClr val="FFC000"/>
                </a:solidFill>
                <a:latin typeface="Hepta Slab SemiBold" pitchFamily="2" charset="0"/>
                <a:cs typeface="Hepta Slab SemiBold" pitchFamily="2" charset="0"/>
              </a:rPr>
              <a:t>.</a:t>
            </a:r>
            <a:r>
              <a:rPr lang="en-US" sz="1600" b="1" dirty="0">
                <a:solidFill>
                  <a:srgbClr val="FFC000"/>
                </a:solidFill>
                <a:latin typeface="Hepta Slab SemiBold" pitchFamily="2" charset="0"/>
                <a:cs typeface="Hepta Slab SemiBold" pitchFamily="2" charset="0"/>
              </a:rPr>
              <a:t> </a:t>
            </a:r>
            <a:r>
              <a:rPr lang="en-US" sz="1600" b="1" dirty="0">
                <a:solidFill>
                  <a:srgbClr val="FFC000">
                    <a:lumMod val="20000"/>
                    <a:lumOff val="80000"/>
                  </a:srgbClr>
                </a:solidFill>
                <a:latin typeface="Hepta Slab SemiBold" pitchFamily="2" charset="0"/>
                <a:cs typeface="Hepta Slab SemiBold" pitchFamily="2" charset="0"/>
              </a:rPr>
              <a:t>HELP ME GROW MY MONEY </a:t>
            </a:r>
            <a:r>
              <a:rPr lang="en-US" sz="4000" b="1" dirty="0">
                <a:solidFill>
                  <a:srgbClr val="FFC000"/>
                </a:solidFill>
                <a:latin typeface="Hepta Slab SemiBold" pitchFamily="2" charset="0"/>
                <a:cs typeface="Hepta Slab SemiBold" pitchFamily="2" charset="0"/>
              </a:rPr>
              <a:t>.</a:t>
            </a:r>
            <a:r>
              <a:rPr lang="en-US" sz="1600" b="1" dirty="0">
                <a:solidFill>
                  <a:srgbClr val="FFC000">
                    <a:lumMod val="20000"/>
                    <a:lumOff val="80000"/>
                  </a:srgbClr>
                </a:solidFill>
                <a:latin typeface="Hepta Slab SemiBold" pitchFamily="2" charset="0"/>
                <a:cs typeface="Hepta Slab SemiBold" pitchFamily="2" charset="0"/>
              </a:rPr>
              <a:t> </a:t>
            </a:r>
            <a:r>
              <a:rPr lang="en-US" sz="1600" b="1" dirty="0">
                <a:solidFill>
                  <a:srgbClr val="FFC000">
                    <a:lumMod val="20000"/>
                    <a:lumOff val="80000"/>
                  </a:srgbClr>
                </a:solidFill>
                <a:latin typeface="Hepta Slab SemiBold" pitchFamily="2" charset="0"/>
                <a:ea typeface="Hepta Slab Regular" pitchFamily="34" charset="-122"/>
                <a:cs typeface="Hepta Slab SemiBold" pitchFamily="2" charset="0"/>
              </a:rPr>
              <a:t>ENHANCE MY LIFESTYLE</a:t>
            </a:r>
            <a:r>
              <a:rPr lang="en-US" sz="1600" b="1" dirty="0">
                <a:solidFill>
                  <a:srgbClr val="FFC000">
                    <a:lumMod val="20000"/>
                    <a:lumOff val="80000"/>
                  </a:srgbClr>
                </a:solidFill>
                <a:latin typeface="Hepta Slab SemiBold" pitchFamily="2" charset="0"/>
                <a:cs typeface="Hepta Slab SemiBold" pitchFamily="2" charset="0"/>
              </a:rPr>
              <a:t> </a:t>
            </a:r>
          </a:p>
          <a:p>
            <a:pPr defTabSz="304815">
              <a:lnSpc>
                <a:spcPts val="4000"/>
              </a:lnSpc>
            </a:pPr>
            <a:endParaRPr lang="en-US" sz="1600" b="1" dirty="0">
              <a:solidFill>
                <a:srgbClr val="FFC000">
                  <a:lumMod val="20000"/>
                  <a:lumOff val="80000"/>
                </a:srgbClr>
              </a:solidFill>
              <a:latin typeface="Hepta Slab SemiBold" pitchFamily="2" charset="0"/>
              <a:cs typeface="Hepta Slab SemiBold" pitchFamily="2" charset="0"/>
            </a:endParaRPr>
          </a:p>
        </p:txBody>
      </p:sp>
      <p:grpSp>
        <p:nvGrpSpPr>
          <p:cNvPr id="12" name="Group 11">
            <a:extLst>
              <a:ext uri="{FF2B5EF4-FFF2-40B4-BE49-F238E27FC236}">
                <a16:creationId xmlns:a16="http://schemas.microsoft.com/office/drawing/2014/main" id="{22CDB6C3-6DD9-100D-7F19-500802B4C9A5}"/>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7C95BFCA-07A1-2CE1-94DD-902B3BB2CB1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D3FE01CB-E6AA-D3A3-34AF-BB11B8E15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496CDE05-6842-F510-D74F-ABC27571C5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503F9316-E922-3CE4-C627-0EF761B3BFDA}"/>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31</a:t>
            </a:fld>
            <a:endParaRPr lang="en-US" sz="1333" dirty="0">
              <a:solidFill>
                <a:srgbClr val="0D0D0D"/>
              </a:solidFill>
              <a:latin typeface="Hepta Slab Medium" pitchFamily="2" charset="0"/>
              <a:cs typeface="Hepta Slab Medium" pitchFamily="2" charset="0"/>
            </a:endParaRPr>
          </a:p>
        </p:txBody>
      </p:sp>
      <p:pic>
        <p:nvPicPr>
          <p:cNvPr id="2" name="Picture 1">
            <a:extLst>
              <a:ext uri="{FF2B5EF4-FFF2-40B4-BE49-F238E27FC236}">
                <a16:creationId xmlns:a16="http://schemas.microsoft.com/office/drawing/2014/main" id="{30175A10-6742-478B-B650-B15A4BE2CD35}"/>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Tree>
    <p:extLst>
      <p:ext uri="{BB962C8B-B14F-4D97-AF65-F5344CB8AC3E}">
        <p14:creationId xmlns:p14="http://schemas.microsoft.com/office/powerpoint/2010/main" val="465041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6AA62B-DDDB-B52E-D088-6F36EB03E60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Object6">
            <a:extLst>
              <a:ext uri="{FF2B5EF4-FFF2-40B4-BE49-F238E27FC236}">
                <a16:creationId xmlns:a16="http://schemas.microsoft.com/office/drawing/2014/main" id="{7FF1EF97-377A-4E2F-B4BC-0ECF24D2D3D4}"/>
              </a:ext>
            </a:extLst>
          </p:cNvPr>
          <p:cNvSpPr/>
          <p:nvPr/>
        </p:nvSpPr>
        <p:spPr>
          <a:xfrm>
            <a:off x="816000" y="3429000"/>
            <a:ext cx="11040000" cy="840000"/>
          </a:xfrm>
          <a:prstGeom prst="rect">
            <a:avLst/>
          </a:prstGeom>
          <a:noFill/>
          <a:ln/>
        </p:spPr>
        <p:txBody>
          <a:bodyPr wrap="square" lIns="0" tIns="0" rIns="0" bIns="0" rtlCol="0" anchor="b">
            <a:noAutofit/>
          </a:bodyPr>
          <a:lstStyle/>
          <a:p>
            <a:pPr defTabSz="304815">
              <a:lnSpc>
                <a:spcPts val="2925"/>
              </a:lnSpc>
              <a:defRPr/>
            </a:pPr>
            <a:r>
              <a:rPr lang="en-US" sz="4000" dirty="0">
                <a:solidFill>
                  <a:prstClr val="white"/>
                </a:solidFill>
                <a:latin typeface="Hepta Slab ExtraBold" pitchFamily="2" charset="0"/>
                <a:ea typeface="Montserrat ExtraBold" pitchFamily="34" charset="-122"/>
                <a:cs typeface="Hepta Slab ExtraBold" pitchFamily="2" charset="0"/>
              </a:rPr>
              <a:t>Financial Transactions</a:t>
            </a:r>
            <a:endParaRPr lang="en-US" sz="4000" dirty="0">
              <a:solidFill>
                <a:prstClr val="white"/>
              </a:solidFill>
              <a:latin typeface="Hepta Slab ExtraBold" pitchFamily="2" charset="0"/>
              <a:cs typeface="Hepta Slab ExtraBold" pitchFamily="2" charset="0"/>
            </a:endParaRPr>
          </a:p>
        </p:txBody>
      </p:sp>
      <p:sp>
        <p:nvSpPr>
          <p:cNvPr id="6" name="Object5">
            <a:extLst>
              <a:ext uri="{FF2B5EF4-FFF2-40B4-BE49-F238E27FC236}">
                <a16:creationId xmlns:a16="http://schemas.microsoft.com/office/drawing/2014/main" id="{A7DD4E51-F322-986F-6020-382BC91D9779}"/>
              </a:ext>
            </a:extLst>
          </p:cNvPr>
          <p:cNvSpPr/>
          <p:nvPr/>
        </p:nvSpPr>
        <p:spPr>
          <a:xfrm>
            <a:off x="816000" y="4269000"/>
            <a:ext cx="10320000" cy="480000"/>
          </a:xfrm>
          <a:prstGeom prst="rect">
            <a:avLst/>
          </a:prstGeom>
          <a:noFill/>
          <a:ln/>
        </p:spPr>
        <p:txBody>
          <a:bodyPr wrap="square" lIns="0" tIns="0" rIns="0" bIns="0" rtlCol="0" anchor="t"/>
          <a:lstStyle/>
          <a:p>
            <a:pPr defTabSz="304815">
              <a:lnSpc>
                <a:spcPts val="4000"/>
              </a:lnSpc>
              <a:defRPr/>
            </a:pPr>
            <a:r>
              <a:rPr lang="en-US" sz="1867" cap="small" dirty="0">
                <a:solidFill>
                  <a:prstClr val="white"/>
                </a:solidFill>
                <a:latin typeface="Hepta Slab SemiBold" pitchFamily="2" charset="0"/>
                <a:ea typeface="Hepta Slab Regular" pitchFamily="34" charset="-122"/>
                <a:cs typeface="Hepta Slab SemiBold" pitchFamily="2" charset="0"/>
              </a:rPr>
              <a:t>safe </a:t>
            </a:r>
            <a:r>
              <a:rPr lang="en-US" sz="4000" cap="small" dirty="0">
                <a:solidFill>
                  <a:prstClr val="white"/>
                </a:solidFill>
                <a:latin typeface="Hepta Slab SemiBold" pitchFamily="2" charset="0"/>
                <a:ea typeface="Hepta Slab Regular" pitchFamily="34" charset="-122"/>
                <a:cs typeface="Hepta Slab SemiBold" pitchFamily="2" charset="0"/>
              </a:rPr>
              <a:t>.</a:t>
            </a:r>
            <a:r>
              <a:rPr lang="en-US" sz="1867" cap="small" dirty="0">
                <a:solidFill>
                  <a:prstClr val="white"/>
                </a:solidFill>
                <a:latin typeface="Hepta Slab SemiBold" pitchFamily="2" charset="0"/>
                <a:ea typeface="Hepta Slab Regular" pitchFamily="34" charset="-122"/>
                <a:cs typeface="Hepta Slab SemiBold" pitchFamily="2" charset="0"/>
              </a:rPr>
              <a:t> secure </a:t>
            </a:r>
            <a:r>
              <a:rPr lang="en-US" sz="4000" cap="small" dirty="0">
                <a:solidFill>
                  <a:prstClr val="white"/>
                </a:solidFill>
                <a:latin typeface="Hepta Slab SemiBold" pitchFamily="2" charset="0"/>
                <a:ea typeface="Hepta Slab Regular" pitchFamily="34" charset="-122"/>
                <a:cs typeface="Hepta Slab SemiBold" pitchFamily="2" charset="0"/>
              </a:rPr>
              <a:t>.</a:t>
            </a:r>
            <a:r>
              <a:rPr lang="en-US" sz="1867" cap="small" dirty="0">
                <a:solidFill>
                  <a:prstClr val="white"/>
                </a:solidFill>
                <a:latin typeface="Hepta Slab SemiBold" pitchFamily="2" charset="0"/>
                <a:ea typeface="Hepta Slab Regular" pitchFamily="34" charset="-122"/>
                <a:cs typeface="Hepta Slab SemiBold" pitchFamily="2" charset="0"/>
              </a:rPr>
              <a:t> friction free</a:t>
            </a:r>
            <a:endParaRPr lang="en-US" sz="1867" cap="small" dirty="0">
              <a:solidFill>
                <a:prstClr val="white"/>
              </a:solidFill>
              <a:latin typeface="Hepta Slab SemiBold" pitchFamily="2" charset="0"/>
              <a:cs typeface="Hepta Slab SemiBold" pitchFamily="2" charset="0"/>
            </a:endParaRPr>
          </a:p>
        </p:txBody>
      </p:sp>
      <p:grpSp>
        <p:nvGrpSpPr>
          <p:cNvPr id="8" name="Group 7">
            <a:extLst>
              <a:ext uri="{FF2B5EF4-FFF2-40B4-BE49-F238E27FC236}">
                <a16:creationId xmlns:a16="http://schemas.microsoft.com/office/drawing/2014/main" id="{3E33BEFA-E875-77C2-260C-E71EC35AEDFB}"/>
              </a:ext>
            </a:extLst>
          </p:cNvPr>
          <p:cNvGrpSpPr/>
          <p:nvPr/>
        </p:nvGrpSpPr>
        <p:grpSpPr>
          <a:xfrm>
            <a:off x="1" y="6042107"/>
            <a:ext cx="11864037" cy="911852"/>
            <a:chOff x="579560" y="9184073"/>
            <a:chExt cx="18133625" cy="1393723"/>
          </a:xfrm>
        </p:grpSpPr>
        <p:sp>
          <p:nvSpPr>
            <p:cNvPr id="9" name="Title 1">
              <a:extLst>
                <a:ext uri="{FF2B5EF4-FFF2-40B4-BE49-F238E27FC236}">
                  <a16:creationId xmlns:a16="http://schemas.microsoft.com/office/drawing/2014/main" id="{300E1857-3755-20F8-A22E-768DF4F3C1A9}"/>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0" name="Picture 9">
              <a:extLst>
                <a:ext uri="{FF2B5EF4-FFF2-40B4-BE49-F238E27FC236}">
                  <a16:creationId xmlns:a16="http://schemas.microsoft.com/office/drawing/2014/main" id="{44CA9672-CFC6-8682-10FE-32D10330D3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1" name="Picture 10">
              <a:extLst>
                <a:ext uri="{FF2B5EF4-FFF2-40B4-BE49-F238E27FC236}">
                  <a16:creationId xmlns:a16="http://schemas.microsoft.com/office/drawing/2014/main" id="{80D399FC-88BD-E81D-71CD-4C51F66A70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pic>
        <p:nvPicPr>
          <p:cNvPr id="4" name="Graphic 3" descr="Lock with solid fill">
            <a:extLst>
              <a:ext uri="{FF2B5EF4-FFF2-40B4-BE49-F238E27FC236}">
                <a16:creationId xmlns:a16="http://schemas.microsoft.com/office/drawing/2014/main" id="{6C762843-5D88-DD40-3B9B-928A44C62A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6000" y="2819400"/>
            <a:ext cx="609600" cy="609600"/>
          </a:xfrm>
          <a:prstGeom prst="rect">
            <a:avLst/>
          </a:prstGeom>
        </p:spPr>
      </p:pic>
      <p:sp>
        <p:nvSpPr>
          <p:cNvPr id="12" name="TextBox 11">
            <a:extLst>
              <a:ext uri="{FF2B5EF4-FFF2-40B4-BE49-F238E27FC236}">
                <a16:creationId xmlns:a16="http://schemas.microsoft.com/office/drawing/2014/main" id="{F607F882-BE53-BD03-3BA0-26DE9730D508}"/>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32</a:t>
            </a:fld>
            <a:endParaRPr lang="en-US" sz="1333" dirty="0">
              <a:solidFill>
                <a:srgbClr val="0D0D0D"/>
              </a:solidFill>
              <a:latin typeface="Hepta Slab Medium" pitchFamily="2" charset="0"/>
              <a:cs typeface="Hepta Slab Medium" pitchFamily="2" charset="0"/>
            </a:endParaRPr>
          </a:p>
        </p:txBody>
      </p:sp>
      <p:sp>
        <p:nvSpPr>
          <p:cNvPr id="3" name="Object5">
            <a:extLst>
              <a:ext uri="{FF2B5EF4-FFF2-40B4-BE49-F238E27FC236}">
                <a16:creationId xmlns:a16="http://schemas.microsoft.com/office/drawing/2014/main" id="{4165DEFB-AA43-0B15-C38E-537DB5E80797}"/>
              </a:ext>
            </a:extLst>
          </p:cNvPr>
          <p:cNvSpPr/>
          <p:nvPr/>
        </p:nvSpPr>
        <p:spPr>
          <a:xfrm>
            <a:off x="816000" y="624899"/>
            <a:ext cx="7441880" cy="1124101"/>
          </a:xfrm>
          <a:prstGeom prst="rect">
            <a:avLst/>
          </a:prstGeom>
          <a:noFill/>
          <a:ln/>
          <a:effectLst>
            <a:softEdge rad="63500"/>
          </a:effectLst>
        </p:spPr>
        <p:txBody>
          <a:bodyPr wrap="square" lIns="0" tIns="0" rIns="0" bIns="0" rtlCol="0" anchor="t"/>
          <a:lstStyle/>
          <a:p>
            <a:pPr defTabSz="304815">
              <a:lnSpc>
                <a:spcPts val="4000"/>
              </a:lnSpc>
              <a:defRPr/>
            </a:pPr>
            <a:r>
              <a:rPr lang="en-US" sz="2500" cap="small" dirty="0">
                <a:solidFill>
                  <a:srgbClr val="E8A30B"/>
                </a:solidFill>
                <a:latin typeface="Montserrat ExtraBold" panose="00000900000000000000" pitchFamily="2" charset="0"/>
                <a:cs typeface="Hepta Slab SemiBold" pitchFamily="2" charset="0"/>
              </a:rPr>
              <a:t>CELESTA </a:t>
            </a:r>
          </a:p>
          <a:p>
            <a:pPr defTabSz="304815">
              <a:lnSpc>
                <a:spcPts val="4000"/>
              </a:lnSpc>
              <a:defRPr/>
            </a:pPr>
            <a:r>
              <a:rPr lang="en-US" sz="2500" cap="small" dirty="0">
                <a:solidFill>
                  <a:srgbClr val="E8A30B"/>
                </a:solidFill>
                <a:latin typeface="Montserrat ExtraBold" panose="00000900000000000000" pitchFamily="2" charset="0"/>
                <a:cs typeface="Hepta Slab SemiBold" pitchFamily="2" charset="0"/>
              </a:rPr>
              <a:t>CURRENT CUSTOMER : CURRENT NEEDS</a:t>
            </a:r>
          </a:p>
        </p:txBody>
      </p:sp>
      <p:pic>
        <p:nvPicPr>
          <p:cNvPr id="5" name="Picture 4">
            <a:extLst>
              <a:ext uri="{FF2B5EF4-FFF2-40B4-BE49-F238E27FC236}">
                <a16:creationId xmlns:a16="http://schemas.microsoft.com/office/drawing/2014/main" id="{D294C9B9-135C-BA45-0957-54F918F11C0B}"/>
              </a:ext>
            </a:extLst>
          </p:cNvPr>
          <p:cNvPicPr>
            <a:picLocks noChangeAspect="1"/>
          </p:cNvPicPr>
          <p:nvPr/>
        </p:nvPicPr>
        <p:blipFill>
          <a:blip r:embed="rId8">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Tree>
    <p:extLst>
      <p:ext uri="{BB962C8B-B14F-4D97-AF65-F5344CB8AC3E}">
        <p14:creationId xmlns:p14="http://schemas.microsoft.com/office/powerpoint/2010/main" val="2928422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CD45E15C-D7F9-0152-4ECA-3C710435A491}"/>
            </a:ext>
          </a:extLst>
        </p:cNvPr>
        <p:cNvGrpSpPr/>
        <p:nvPr/>
      </p:nvGrpSpPr>
      <p:grpSpPr>
        <a:xfrm>
          <a:off x="0" y="0"/>
          <a:ext cx="0" cy="0"/>
          <a:chOff x="0" y="0"/>
          <a:chExt cx="0" cy="0"/>
        </a:xfrm>
      </p:grpSpPr>
      <p:sp>
        <p:nvSpPr>
          <p:cNvPr id="20" name="Object5">
            <a:extLst>
              <a:ext uri="{FF2B5EF4-FFF2-40B4-BE49-F238E27FC236}">
                <a16:creationId xmlns:a16="http://schemas.microsoft.com/office/drawing/2014/main" id="{748B03BC-8A53-57B4-B27E-5B7D6FE1E87F}"/>
              </a:ext>
            </a:extLst>
          </p:cNvPr>
          <p:cNvSpPr/>
          <p:nvPr/>
        </p:nvSpPr>
        <p:spPr>
          <a:xfrm>
            <a:off x="516000" y="1651952"/>
            <a:ext cx="11201867" cy="4371160"/>
          </a:xfrm>
          <a:prstGeom prst="rect">
            <a:avLst/>
          </a:prstGeom>
          <a:noFill/>
          <a:ln/>
        </p:spPr>
        <p:txBody>
          <a:bodyPr wrap="square" lIns="0" tIns="0" rIns="0" bIns="0" rtlCol="0" anchor="t"/>
          <a:lstStyle/>
          <a:p>
            <a:pPr marR="0" lvl="0" indent="0" defTabSz="304815" fontAlgn="auto">
              <a:lnSpc>
                <a:spcPct val="150000"/>
              </a:lnSpc>
              <a:spcAft>
                <a:spcPts val="1200"/>
              </a:spcAft>
              <a:buClr>
                <a:srgbClr val="FFC000"/>
              </a:buClr>
              <a:buSzTx/>
              <a:buFontTx/>
              <a:buNone/>
              <a:tabLst/>
              <a:defRPr/>
            </a:pPr>
            <a:r>
              <a:rPr lang="en-US" dirty="0">
                <a:solidFill>
                  <a:srgbClr val="002060"/>
                </a:solidFill>
                <a:latin typeface="Hepta Slab Medium" pitchFamily="2" charset="0"/>
                <a:cs typeface="Hepta Slab Medium" pitchFamily="2" charset="0"/>
              </a:rPr>
              <a:t>Digital touchpoints deliver control and empowerment for basic financial transactions (remittances, balance enquiry and such)</a:t>
            </a:r>
          </a:p>
          <a:p>
            <a:pPr marR="0" lvl="0" indent="0" defTabSz="304815" fontAlgn="auto">
              <a:lnSpc>
                <a:spcPct val="150000"/>
              </a:lnSpc>
              <a:spcAft>
                <a:spcPts val="1200"/>
              </a:spcAft>
              <a:buClr>
                <a:srgbClr val="FFC000"/>
              </a:buClr>
              <a:buSzTx/>
              <a:buFontTx/>
              <a:buNone/>
              <a:tabLst/>
              <a:defRPr/>
            </a:pPr>
            <a:r>
              <a:rPr lang="en-US" dirty="0">
                <a:solidFill>
                  <a:srgbClr val="002060"/>
                </a:solidFill>
                <a:latin typeface="Hepta Slab Medium" pitchFamily="2" charset="0"/>
                <a:cs typeface="Hepta Slab Medium" pitchFamily="2" charset="0"/>
              </a:rPr>
              <a:t>“Relationship Manager” is promptly available for support where digital touchpoints fall short</a:t>
            </a:r>
          </a:p>
          <a:p>
            <a:pPr marR="0" lvl="0" indent="0" defTabSz="304815" fontAlgn="auto">
              <a:lnSpc>
                <a:spcPct val="150000"/>
              </a:lnSpc>
              <a:buClr>
                <a:srgbClr val="FFC000"/>
              </a:buClr>
              <a:buSzTx/>
              <a:buFontTx/>
              <a:buNone/>
              <a:tabLst/>
              <a:defRPr/>
            </a:pPr>
            <a:r>
              <a:rPr lang="en-US" dirty="0">
                <a:solidFill>
                  <a:srgbClr val="A9734C"/>
                </a:solidFill>
                <a:latin typeface="Hepta Slab Medium" pitchFamily="2" charset="0"/>
                <a:cs typeface="Hepta Slab Medium" pitchFamily="2" charset="0"/>
              </a:rPr>
              <a:t>While Celesta respondents are happy with their experience of the RM &amp; Digital Touchpoints, ~40% respondents indicate a dissatisfaction with error resolution delays &amp; Call centre support </a:t>
            </a:r>
          </a:p>
          <a:p>
            <a:pPr marR="0" lvl="0" indent="0" defTabSz="304815" fontAlgn="auto">
              <a:lnSpc>
                <a:spcPct val="150000"/>
              </a:lnSpc>
              <a:buClr>
                <a:srgbClr val="FFC000"/>
              </a:buClr>
              <a:buSzTx/>
              <a:buFontTx/>
              <a:buNone/>
              <a:tabLst/>
              <a:defRPr/>
            </a:pPr>
            <a:r>
              <a:rPr lang="en-US" dirty="0">
                <a:solidFill>
                  <a:srgbClr val="A9734C"/>
                </a:solidFill>
                <a:latin typeface="Hepta Slab SemiBold" pitchFamily="2" charset="0"/>
                <a:cs typeface="Hepta Slab SemiBold" pitchFamily="2" charset="0"/>
              </a:rPr>
              <a:t>This is indicative of an over-reliance on “RM”  as primary agent of experience delivery; an approach difficult to scale </a:t>
            </a:r>
          </a:p>
          <a:p>
            <a:pPr marR="0" lvl="0" indent="0" defTabSz="304815" fontAlgn="auto">
              <a:lnSpc>
                <a:spcPct val="150000"/>
              </a:lnSpc>
              <a:spcBef>
                <a:spcPts val="1200"/>
              </a:spcBef>
              <a:spcAft>
                <a:spcPts val="1200"/>
              </a:spcAft>
              <a:buClr>
                <a:srgbClr val="FFC000"/>
              </a:buClr>
              <a:buSzTx/>
              <a:buFontTx/>
              <a:buNone/>
              <a:tabLst/>
              <a:defRPr/>
            </a:pPr>
            <a:endParaRPr lang="en-US" dirty="0">
              <a:solidFill>
                <a:srgbClr val="A9734C"/>
              </a:solidFill>
              <a:latin typeface="Hepta Slab Medium" pitchFamily="2" charset="0"/>
              <a:cs typeface="Hepta Slab Medium" pitchFamily="2" charset="0"/>
            </a:endParaRPr>
          </a:p>
          <a:p>
            <a:pPr marR="0" lvl="0" indent="0" defTabSz="304815" fontAlgn="auto">
              <a:lnSpc>
                <a:spcPct val="150000"/>
              </a:lnSpc>
              <a:spcBef>
                <a:spcPts val="1200"/>
              </a:spcBef>
              <a:spcAft>
                <a:spcPts val="1200"/>
              </a:spcAft>
              <a:buClr>
                <a:srgbClr val="FFC000"/>
              </a:buClr>
              <a:buSzTx/>
              <a:buFontTx/>
              <a:buNone/>
              <a:tabLst/>
              <a:defRPr/>
            </a:pPr>
            <a:endParaRPr lang="en-US" dirty="0">
              <a:solidFill>
                <a:srgbClr val="002060"/>
              </a:solidFill>
              <a:latin typeface="Hepta Slab Medium" pitchFamily="2" charset="0"/>
              <a:cs typeface="Hepta Slab Medium"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7030A0"/>
              </a:solidFill>
              <a:effectLst/>
              <a:uLnTx/>
              <a:uFillTx/>
              <a:latin typeface="Hepta Slab SemiBold" pitchFamily="2" charset="0"/>
              <a:ea typeface="Hepta Slab Regular" pitchFamily="34" charset="-122"/>
              <a:cs typeface="Hepta Slab Semi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7030A0"/>
              </a:solidFill>
              <a:effectLst/>
              <a:uLnTx/>
              <a:uFillTx/>
              <a:latin typeface="Hepta Slab SemiBold" pitchFamily="2" charset="0"/>
              <a:ea typeface="Hepta Slab Regular" pitchFamily="34" charset="-122"/>
              <a:cs typeface="Hepta Slab Semi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rgbClr val="002060"/>
              </a:solidFill>
              <a:effectLst/>
              <a:uLnTx/>
              <a:uFillTx/>
              <a:latin typeface="Hepta Slab Regular" pitchFamily="2" charset="0"/>
              <a:ea typeface="+mn-ea"/>
              <a:cs typeface="Hepta Slab Regular"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7030A0"/>
              </a:solidFill>
              <a:effectLst/>
              <a:uLnTx/>
              <a:uFillTx/>
              <a:latin typeface="Hepta Slab SemiBold" pitchFamily="2" charset="0"/>
              <a:ea typeface="Hepta Slab Regular" pitchFamily="34" charset="-122"/>
              <a:cs typeface="Hepta Slab SemiBold" pitchFamily="2" charset="0"/>
            </a:endParaRPr>
          </a:p>
        </p:txBody>
      </p:sp>
      <p:sp>
        <p:nvSpPr>
          <p:cNvPr id="13" name="Object6">
            <a:extLst>
              <a:ext uri="{FF2B5EF4-FFF2-40B4-BE49-F238E27FC236}">
                <a16:creationId xmlns:a16="http://schemas.microsoft.com/office/drawing/2014/main" id="{27BF3A06-04A2-3693-A37C-455CD3B7F07A}"/>
              </a:ext>
            </a:extLst>
          </p:cNvPr>
          <p:cNvSpPr/>
          <p:nvPr/>
        </p:nvSpPr>
        <p:spPr>
          <a:xfrm>
            <a:off x="516000" y="1280477"/>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2060"/>
                </a:solidFill>
                <a:effectLst/>
                <a:uLnTx/>
                <a:uFillTx/>
                <a:latin typeface="Montserrat ExtraBold" pitchFamily="34" charset="0"/>
                <a:ea typeface="+mn-ea"/>
                <a:cs typeface="+mn-cs"/>
              </a:rPr>
              <a:t>IN A NUTSHELL</a:t>
            </a:r>
            <a:endParaRPr kumimoji="0" lang="en-US" sz="16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7EECAF95-2E34-C53C-259C-A31A118798CD}"/>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C2C89766-80F0-C5B2-3F06-02F05FBE91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5" name="Title 1">
              <a:extLst>
                <a:ext uri="{FF2B5EF4-FFF2-40B4-BE49-F238E27FC236}">
                  <a16:creationId xmlns:a16="http://schemas.microsoft.com/office/drawing/2014/main" id="{46F88296-8459-DF66-FA9D-2C06CB64A936}"/>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6" name="Picture 15">
              <a:extLst>
                <a:ext uri="{FF2B5EF4-FFF2-40B4-BE49-F238E27FC236}">
                  <a16:creationId xmlns:a16="http://schemas.microsoft.com/office/drawing/2014/main" id="{2FBB6B87-C83F-D8E0-C165-36563D4A1D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 name="Object5">
            <a:extLst>
              <a:ext uri="{FF2B5EF4-FFF2-40B4-BE49-F238E27FC236}">
                <a16:creationId xmlns:a16="http://schemas.microsoft.com/office/drawing/2014/main" id="{B8566BC7-3205-B5F1-98B4-3E49494F590A}"/>
              </a:ext>
            </a:extLst>
          </p:cNvPr>
          <p:cNvSpPr/>
          <p:nvPr/>
        </p:nvSpPr>
        <p:spPr>
          <a:xfrm>
            <a:off x="516000" y="702331"/>
            <a:ext cx="5049481" cy="380674"/>
          </a:xfrm>
          <a:prstGeom prst="rect">
            <a:avLst/>
          </a:prstGeom>
          <a:noFill/>
          <a:ln/>
        </p:spPr>
        <p:txBody>
          <a:bodyPr wrap="square" lIns="0" tIns="0" rIns="0" bIns="0" rtlCol="0" anchor="t"/>
          <a:lstStyle/>
          <a:p>
            <a:pPr>
              <a:defRPr/>
            </a:pPr>
            <a:r>
              <a:rPr lang="en-US" sz="2400" cap="all" dirty="0">
                <a:solidFill>
                  <a:srgbClr val="002060"/>
                </a:solidFill>
                <a:latin typeface="Montserrat ExtraBold" pitchFamily="34" charset="0"/>
              </a:rPr>
              <a:t>Safe. Secure. </a:t>
            </a:r>
            <a:r>
              <a:rPr lang="en-US" sz="2400" cap="all" dirty="0">
                <a:solidFill>
                  <a:srgbClr val="A9734C"/>
                </a:solidFill>
                <a:latin typeface="Montserrat ExtraBold" pitchFamily="34" charset="0"/>
              </a:rPr>
              <a:t>Friction Free</a:t>
            </a:r>
          </a:p>
        </p:txBody>
      </p:sp>
      <p:sp>
        <p:nvSpPr>
          <p:cNvPr id="3" name="Object6">
            <a:extLst>
              <a:ext uri="{FF2B5EF4-FFF2-40B4-BE49-F238E27FC236}">
                <a16:creationId xmlns:a16="http://schemas.microsoft.com/office/drawing/2014/main" id="{14E944D0-0986-1A91-7320-CB9E5CDE71F7}"/>
              </a:ext>
            </a:extLst>
          </p:cNvPr>
          <p:cNvSpPr/>
          <p:nvPr/>
        </p:nvSpPr>
        <p:spPr>
          <a:xfrm>
            <a:off x="521760" y="305127"/>
            <a:ext cx="5049481" cy="380675"/>
          </a:xfrm>
          <a:prstGeom prst="rect">
            <a:avLst/>
          </a:prstGeom>
          <a:noFill/>
          <a:ln/>
        </p:spPr>
        <p:txBody>
          <a:bodyPr wrap="square" lIns="0" tIns="0" rIns="0" bIns="0" rtlCol="0" anchor="t"/>
          <a:lstStyle/>
          <a:p>
            <a:pPr marL="0" marR="0" lvl="0" indent="0" algn="l" defTabSz="457200" rtl="0" eaLnBrk="1" fontAlgn="auto" latinLnBrk="0" hangingPunct="1">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ontserrat ExtraBold" pitchFamily="34" charset="-122"/>
                <a:cs typeface="Montserrat ExtraBold" pitchFamily="34" charset="-120"/>
              </a:rPr>
              <a:t>FINANCIAL TRANSACTIONS</a:t>
            </a:r>
            <a:endParaRPr kumimoji="0" lang="en-US" sz="24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4" name="Slide Number Placeholder 4">
            <a:extLst>
              <a:ext uri="{FF2B5EF4-FFF2-40B4-BE49-F238E27FC236}">
                <a16:creationId xmlns:a16="http://schemas.microsoft.com/office/drawing/2014/main" id="{3658BE63-94B3-B2E0-84F2-7177FE4708E0}"/>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065EC30-9185-4A95-ADD8-6385FABF13C0}" type="slidenum">
              <a:rPr lang="en-IN" sz="1000" smtClean="0">
                <a:solidFill>
                  <a:prstClr val="black">
                    <a:lumMod val="50000"/>
                    <a:lumOff val="50000"/>
                  </a:prstClr>
                </a:solidFill>
                <a:latin typeface="Montserrat" panose="00000500000000000000" pitchFamily="2" charset="0"/>
              </a:rPr>
              <a:pPr>
                <a:defRPr/>
              </a:pPr>
              <a:t>33</a:t>
            </a:fld>
            <a:endParaRPr lang="en-IN" sz="1000" dirty="0">
              <a:solidFill>
                <a:prstClr val="black">
                  <a:lumMod val="50000"/>
                  <a:lumOff val="50000"/>
                </a:prstClr>
              </a:solidFill>
              <a:latin typeface="Montserrat" panose="00000500000000000000" pitchFamily="2" charset="0"/>
            </a:endParaRPr>
          </a:p>
        </p:txBody>
      </p:sp>
      <p:sp>
        <p:nvSpPr>
          <p:cNvPr id="5" name="TextBox 4">
            <a:extLst>
              <a:ext uri="{FF2B5EF4-FFF2-40B4-BE49-F238E27FC236}">
                <a16:creationId xmlns:a16="http://schemas.microsoft.com/office/drawing/2014/main" id="{B3173D34-9C43-874B-D979-91D50A11A7C2}"/>
              </a:ext>
            </a:extLst>
          </p:cNvPr>
          <p:cNvSpPr txBox="1"/>
          <p:nvPr/>
        </p:nvSpPr>
        <p:spPr>
          <a:xfrm>
            <a:off x="6905625" y="310798"/>
            <a:ext cx="3932487"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Friction reduction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1429742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30" name="Object6">
            <a:extLst>
              <a:ext uri="{FF2B5EF4-FFF2-40B4-BE49-F238E27FC236}">
                <a16:creationId xmlns:a16="http://schemas.microsoft.com/office/drawing/2014/main" id="{D5B02DD3-572A-6DCB-4CF6-5A62CBCA56B8}"/>
              </a:ext>
            </a:extLst>
          </p:cNvPr>
          <p:cNvSpPr/>
          <p:nvPr/>
        </p:nvSpPr>
        <p:spPr>
          <a:xfrm>
            <a:off x="7866197" y="2622674"/>
            <a:ext cx="2711802" cy="252000"/>
          </a:xfrm>
          <a:prstGeom prst="rect">
            <a:avLst/>
          </a:prstGeom>
          <a:noFill/>
          <a:ln/>
        </p:spPr>
        <p:txBody>
          <a:bodyPr wrap="square" lIns="0" tIns="0" rIns="0" bIns="0" rtlCol="0" anchor="t"/>
          <a:lstStyle/>
          <a:p>
            <a:pPr defTabSz="304815"/>
            <a:r>
              <a:rPr lang="en-US" sz="1600" cap="all" dirty="0">
                <a:solidFill>
                  <a:prstClr val="black">
                    <a:lumMod val="65000"/>
                    <a:lumOff val="35000"/>
                  </a:prstClr>
                </a:solidFill>
                <a:latin typeface="Montserrat ExtraBold" pitchFamily="34" charset="0"/>
              </a:rPr>
              <a:t>Digital self-service</a:t>
            </a:r>
          </a:p>
        </p:txBody>
      </p:sp>
      <p:sp>
        <p:nvSpPr>
          <p:cNvPr id="35" name="Object6">
            <a:extLst>
              <a:ext uri="{FF2B5EF4-FFF2-40B4-BE49-F238E27FC236}">
                <a16:creationId xmlns:a16="http://schemas.microsoft.com/office/drawing/2014/main" id="{1B88B6E4-EAB2-72C9-BD6C-FDB2D476832E}"/>
              </a:ext>
            </a:extLst>
          </p:cNvPr>
          <p:cNvSpPr/>
          <p:nvPr/>
        </p:nvSpPr>
        <p:spPr>
          <a:xfrm>
            <a:off x="2226142" y="2604363"/>
            <a:ext cx="3123470" cy="252000"/>
          </a:xfrm>
          <a:prstGeom prst="rect">
            <a:avLst/>
          </a:prstGeom>
          <a:noFill/>
          <a:ln/>
        </p:spPr>
        <p:txBody>
          <a:bodyPr wrap="square" lIns="0" tIns="0" rIns="0" bIns="0" rtlCol="0" anchor="t"/>
          <a:lstStyle/>
          <a:p>
            <a:pPr defTabSz="304815"/>
            <a:r>
              <a:rPr lang="en-US" sz="1600" cap="all" dirty="0">
                <a:solidFill>
                  <a:prstClr val="black">
                    <a:lumMod val="65000"/>
                    <a:lumOff val="35000"/>
                  </a:prstClr>
                </a:solidFill>
                <a:latin typeface="Montserrat ExtraBold" pitchFamily="34" charset="0"/>
              </a:rPr>
              <a:t>TOUCHPOINT PREFERENCE</a:t>
            </a:r>
          </a:p>
        </p:txBody>
      </p:sp>
      <p:sp>
        <p:nvSpPr>
          <p:cNvPr id="36" name="Object5">
            <a:extLst>
              <a:ext uri="{FF2B5EF4-FFF2-40B4-BE49-F238E27FC236}">
                <a16:creationId xmlns:a16="http://schemas.microsoft.com/office/drawing/2014/main" id="{5A00FC87-C072-A3E9-0850-9A43D33D78DF}"/>
              </a:ext>
            </a:extLst>
          </p:cNvPr>
          <p:cNvSpPr/>
          <p:nvPr/>
        </p:nvSpPr>
        <p:spPr>
          <a:xfrm>
            <a:off x="516000" y="1215183"/>
            <a:ext cx="11562269" cy="769981"/>
          </a:xfrm>
          <a:prstGeom prst="rect">
            <a:avLst/>
          </a:prstGeom>
          <a:noFill/>
          <a:ln/>
        </p:spPr>
        <p:txBody>
          <a:bodyPr wrap="square" lIns="0" tIns="0" rIns="0" bIns="0" rtlCol="0" anchor="t"/>
          <a:lstStyle/>
          <a:p>
            <a:pPr defTabSz="304815">
              <a:lnSpc>
                <a:spcPct val="150000"/>
              </a:lnSpc>
            </a:pPr>
            <a:r>
              <a:rPr lang="en-US" sz="1600" dirty="0">
                <a:solidFill>
                  <a:srgbClr val="A9734C"/>
                </a:solidFill>
                <a:latin typeface="Hepta Slab Medium" pitchFamily="2" charset="0"/>
                <a:ea typeface="Hepta Slab Regular" pitchFamily="34" charset="-122"/>
                <a:cs typeface="Hepta Slab Medium" pitchFamily="2" charset="0"/>
              </a:rPr>
              <a:t>Strong preference for “Self Service” transactions</a:t>
            </a:r>
          </a:p>
          <a:p>
            <a:pPr defTabSz="304815">
              <a:lnSpc>
                <a:spcPct val="150000"/>
              </a:lnSpc>
            </a:pPr>
            <a:r>
              <a:rPr lang="en-US" sz="1600" dirty="0">
                <a:solidFill>
                  <a:srgbClr val="A9734C"/>
                </a:solidFill>
                <a:latin typeface="Hepta Slab Medium" pitchFamily="2" charset="0"/>
                <a:ea typeface="Hepta Slab Regular" pitchFamily="34" charset="-122"/>
                <a:cs typeface="Hepta Slab Medium" pitchFamily="2" charset="0"/>
              </a:rPr>
              <a:t>Federal digital touchpoints are rated better than competition </a:t>
            </a:r>
            <a:endParaRPr lang="en-US" sz="1600" i="0" dirty="0">
              <a:solidFill>
                <a:srgbClr val="A9734C"/>
              </a:solidFill>
              <a:latin typeface="Hepta Slab Medium" pitchFamily="2" charset="0"/>
              <a:ea typeface="Hepta Slab Regular" pitchFamily="34" charset="-122"/>
              <a:cs typeface="Hepta Slab Medium" pitchFamily="2" charset="0"/>
            </a:endParaRPr>
          </a:p>
        </p:txBody>
      </p:sp>
      <p:grpSp>
        <p:nvGrpSpPr>
          <p:cNvPr id="13" name="Group 12">
            <a:extLst>
              <a:ext uri="{FF2B5EF4-FFF2-40B4-BE49-F238E27FC236}">
                <a16:creationId xmlns:a16="http://schemas.microsoft.com/office/drawing/2014/main" id="{7B1E1546-A450-4832-57FF-A7D212918771}"/>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FDB9631B-40C2-B0C8-996A-9DB8AA34F8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5" name="Title 1">
              <a:extLst>
                <a:ext uri="{FF2B5EF4-FFF2-40B4-BE49-F238E27FC236}">
                  <a16:creationId xmlns:a16="http://schemas.microsoft.com/office/drawing/2014/main" id="{6BCF2459-6C27-08D8-4686-D4550C0D4554}"/>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6" name="Picture 15">
              <a:extLst>
                <a:ext uri="{FF2B5EF4-FFF2-40B4-BE49-F238E27FC236}">
                  <a16:creationId xmlns:a16="http://schemas.microsoft.com/office/drawing/2014/main" id="{FE33B3AF-AA30-0663-26F0-E08DF89C24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1" name="TextBox 20">
            <a:extLst>
              <a:ext uri="{FF2B5EF4-FFF2-40B4-BE49-F238E27FC236}">
                <a16:creationId xmlns:a16="http://schemas.microsoft.com/office/drawing/2014/main" id="{3D9FE419-2D83-40A6-9246-2588E6761131}"/>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34</a:t>
            </a:fld>
            <a:endParaRPr lang="en-US" sz="1333" dirty="0">
              <a:solidFill>
                <a:srgbClr val="0D0D0D"/>
              </a:solidFill>
              <a:latin typeface="Hepta Slab Medium" pitchFamily="2" charset="0"/>
              <a:cs typeface="Hepta Slab Medium" pitchFamily="2" charset="0"/>
            </a:endParaRPr>
          </a:p>
        </p:txBody>
      </p:sp>
      <mc:AlternateContent xmlns:mc="http://schemas.openxmlformats.org/markup-compatibility/2006" xmlns:cx2="http://schemas.microsoft.com/office/drawing/2015/10/21/chartex">
        <mc:Choice Requires="cx2">
          <p:graphicFrame>
            <p:nvGraphicFramePr>
              <p:cNvPr id="2" name="Chart 1">
                <a:extLst>
                  <a:ext uri="{FF2B5EF4-FFF2-40B4-BE49-F238E27FC236}">
                    <a16:creationId xmlns:a16="http://schemas.microsoft.com/office/drawing/2014/main" id="{F52FEFB3-D7CA-77CD-B881-6C4D8BFB1F6E}"/>
                  </a:ext>
                </a:extLst>
              </p:cNvPr>
              <p:cNvGraphicFramePr/>
              <p:nvPr>
                <p:extLst>
                  <p:ext uri="{D42A27DB-BD31-4B8C-83A1-F6EECF244321}">
                    <p14:modId xmlns:p14="http://schemas.microsoft.com/office/powerpoint/2010/main" val="1306249481"/>
                  </p:ext>
                </p:extLst>
              </p:nvPr>
            </p:nvGraphicFramePr>
            <p:xfrm>
              <a:off x="504618" y="2984392"/>
              <a:ext cx="5162757" cy="2758532"/>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2" name="Chart 1">
                <a:extLst>
                  <a:ext uri="{FF2B5EF4-FFF2-40B4-BE49-F238E27FC236}">
                    <a16:creationId xmlns:a16="http://schemas.microsoft.com/office/drawing/2014/main" id="{F52FEFB3-D7CA-77CD-B881-6C4D8BFB1F6E}"/>
                  </a:ext>
                </a:extLst>
              </p:cNvPr>
              <p:cNvPicPr>
                <a:picLocks noGrp="1" noRot="1" noChangeAspect="1" noMove="1" noResize="1" noEditPoints="1" noAdjustHandles="1" noChangeArrowheads="1" noChangeShapeType="1"/>
              </p:cNvPicPr>
              <p:nvPr/>
            </p:nvPicPr>
            <p:blipFill>
              <a:blip r:embed="rId6"/>
              <a:stretch>
                <a:fillRect/>
              </a:stretch>
            </p:blipFill>
            <p:spPr>
              <a:xfrm>
                <a:off x="504618" y="2984392"/>
                <a:ext cx="5162757" cy="2758532"/>
              </a:xfrm>
              <a:prstGeom prst="rect">
                <a:avLst/>
              </a:prstGeom>
            </p:spPr>
          </p:pic>
        </mc:Fallback>
      </mc:AlternateContent>
      <p:sp>
        <p:nvSpPr>
          <p:cNvPr id="8" name="TextBox 7">
            <a:extLst>
              <a:ext uri="{FF2B5EF4-FFF2-40B4-BE49-F238E27FC236}">
                <a16:creationId xmlns:a16="http://schemas.microsoft.com/office/drawing/2014/main" id="{4B96F5A3-D23F-079B-A05F-C7CC56843C5B}"/>
              </a:ext>
            </a:extLst>
          </p:cNvPr>
          <p:cNvSpPr txBox="1"/>
          <p:nvPr/>
        </p:nvSpPr>
        <p:spPr>
          <a:xfrm>
            <a:off x="1868158" y="6511383"/>
            <a:ext cx="1335314"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sp>
        <p:nvSpPr>
          <p:cNvPr id="6" name="Object5">
            <a:extLst>
              <a:ext uri="{FF2B5EF4-FFF2-40B4-BE49-F238E27FC236}">
                <a16:creationId xmlns:a16="http://schemas.microsoft.com/office/drawing/2014/main" id="{4AA9056F-851D-C4A8-99BB-53A458B77FFC}"/>
              </a:ext>
            </a:extLst>
          </p:cNvPr>
          <p:cNvSpPr/>
          <p:nvPr/>
        </p:nvSpPr>
        <p:spPr>
          <a:xfrm>
            <a:off x="516000" y="702331"/>
            <a:ext cx="5049481" cy="380674"/>
          </a:xfrm>
          <a:prstGeom prst="rect">
            <a:avLst/>
          </a:prstGeom>
          <a:noFill/>
          <a:ln/>
        </p:spPr>
        <p:txBody>
          <a:bodyPr wrap="square" lIns="0" tIns="0" rIns="0" bIns="0" rtlCol="0" anchor="t"/>
          <a:lstStyle/>
          <a:p>
            <a:pPr>
              <a:defRPr/>
            </a:pPr>
            <a:r>
              <a:rPr lang="en-US" sz="2400" cap="all" dirty="0">
                <a:solidFill>
                  <a:srgbClr val="002060"/>
                </a:solidFill>
                <a:latin typeface="Montserrat ExtraBold" pitchFamily="34" charset="0"/>
              </a:rPr>
              <a:t>Safe. Secure. </a:t>
            </a:r>
            <a:r>
              <a:rPr lang="en-US" sz="2400" cap="all" dirty="0">
                <a:solidFill>
                  <a:srgbClr val="A9734C"/>
                </a:solidFill>
                <a:latin typeface="Montserrat ExtraBold" pitchFamily="34" charset="0"/>
              </a:rPr>
              <a:t>Friction Free</a:t>
            </a:r>
          </a:p>
        </p:txBody>
      </p:sp>
      <p:sp>
        <p:nvSpPr>
          <p:cNvPr id="7" name="Object6">
            <a:extLst>
              <a:ext uri="{FF2B5EF4-FFF2-40B4-BE49-F238E27FC236}">
                <a16:creationId xmlns:a16="http://schemas.microsoft.com/office/drawing/2014/main" id="{EE3CFBB2-5A0F-27CA-5F49-02A49070D297}"/>
              </a:ext>
            </a:extLst>
          </p:cNvPr>
          <p:cNvSpPr/>
          <p:nvPr/>
        </p:nvSpPr>
        <p:spPr>
          <a:xfrm>
            <a:off x="521760" y="305127"/>
            <a:ext cx="5049481" cy="380675"/>
          </a:xfrm>
          <a:prstGeom prst="rect">
            <a:avLst/>
          </a:prstGeom>
          <a:noFill/>
          <a:ln/>
        </p:spPr>
        <p:txBody>
          <a:bodyPr wrap="square" lIns="0" tIns="0" rIns="0" bIns="0" rtlCol="0" anchor="t"/>
          <a:lstStyle/>
          <a:p>
            <a:pPr marL="0" marR="0" lvl="0" indent="0" algn="l" defTabSz="457200" rtl="0" eaLnBrk="1" fontAlgn="auto" latinLnBrk="0" hangingPunct="1">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ontserrat ExtraBold" pitchFamily="34" charset="-122"/>
                <a:cs typeface="Montserrat ExtraBold" pitchFamily="34" charset="-120"/>
              </a:rPr>
              <a:t>FINANCIAL TRANSACTIONS</a:t>
            </a:r>
            <a:endParaRPr kumimoji="0" lang="en-US" sz="24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77BAF1A-1B3F-B9FF-9784-B803D1F03D20}"/>
              </a:ext>
            </a:extLst>
          </p:cNvPr>
          <p:cNvSpPr txBox="1"/>
          <p:nvPr/>
        </p:nvSpPr>
        <p:spPr>
          <a:xfrm>
            <a:off x="8627712" y="6464990"/>
            <a:ext cx="748574"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graphicFrame>
        <p:nvGraphicFramePr>
          <p:cNvPr id="3" name="Chart 2">
            <a:extLst>
              <a:ext uri="{FF2B5EF4-FFF2-40B4-BE49-F238E27FC236}">
                <a16:creationId xmlns:a16="http://schemas.microsoft.com/office/drawing/2014/main" id="{B5756E5C-654E-46F7-8D50-0195AF148B2D}"/>
              </a:ext>
            </a:extLst>
          </p:cNvPr>
          <p:cNvGraphicFramePr>
            <a:graphicFrameLocks/>
          </p:cNvGraphicFramePr>
          <p:nvPr>
            <p:extLst>
              <p:ext uri="{D42A27DB-BD31-4B8C-83A1-F6EECF244321}">
                <p14:modId xmlns:p14="http://schemas.microsoft.com/office/powerpoint/2010/main" val="881231901"/>
              </p:ext>
            </p:extLst>
          </p:nvPr>
        </p:nvGraphicFramePr>
        <p:xfrm>
          <a:off x="7313234" y="2984392"/>
          <a:ext cx="3621466" cy="2718496"/>
        </p:xfrm>
        <a:graphic>
          <a:graphicData uri="http://schemas.openxmlformats.org/drawingml/2006/chart">
            <c:chart xmlns:c="http://schemas.openxmlformats.org/drawingml/2006/chart" xmlns:r="http://schemas.openxmlformats.org/officeDocument/2006/relationships" r:id="rId7"/>
          </a:graphicData>
        </a:graphic>
      </p:graphicFrame>
      <p:sp>
        <p:nvSpPr>
          <p:cNvPr id="4" name="TextBox 3">
            <a:extLst>
              <a:ext uri="{FF2B5EF4-FFF2-40B4-BE49-F238E27FC236}">
                <a16:creationId xmlns:a16="http://schemas.microsoft.com/office/drawing/2014/main" id="{E3659941-46A8-5D1E-430D-B5BE91726B2A}"/>
              </a:ext>
            </a:extLst>
          </p:cNvPr>
          <p:cNvSpPr txBox="1"/>
          <p:nvPr/>
        </p:nvSpPr>
        <p:spPr>
          <a:xfrm>
            <a:off x="6905625" y="310798"/>
            <a:ext cx="3932487"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Friction reduction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671467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31" name="Object6">
            <a:extLst>
              <a:ext uri="{FF2B5EF4-FFF2-40B4-BE49-F238E27FC236}">
                <a16:creationId xmlns:a16="http://schemas.microsoft.com/office/drawing/2014/main" id="{6BACC3C2-BB31-DA69-594F-CCA1E5C825D2}"/>
              </a:ext>
            </a:extLst>
          </p:cNvPr>
          <p:cNvSpPr/>
          <p:nvPr/>
        </p:nvSpPr>
        <p:spPr>
          <a:xfrm>
            <a:off x="6204630" y="2248549"/>
            <a:ext cx="2711802" cy="371475"/>
          </a:xfrm>
          <a:prstGeom prst="rect">
            <a:avLst/>
          </a:prstGeom>
          <a:noFill/>
          <a:ln/>
        </p:spPr>
        <p:txBody>
          <a:bodyPr wrap="square" lIns="0" tIns="0" rIns="0" bIns="0" rtlCol="0" anchor="t"/>
          <a:lstStyle/>
          <a:p>
            <a:pPr defTabSz="304815">
              <a:lnSpc>
                <a:spcPts val="2925"/>
              </a:lnSpc>
            </a:pPr>
            <a:r>
              <a:rPr lang="en-US" sz="1600" cap="all" dirty="0">
                <a:solidFill>
                  <a:prstClr val="black">
                    <a:lumMod val="65000"/>
                    <a:lumOff val="35000"/>
                  </a:prstClr>
                </a:solidFill>
                <a:latin typeface="Montserrat ExtraBold" pitchFamily="34" charset="0"/>
              </a:rPr>
              <a:t>Branch</a:t>
            </a:r>
          </a:p>
        </p:txBody>
      </p:sp>
      <p:sp>
        <p:nvSpPr>
          <p:cNvPr id="32" name="Object6">
            <a:extLst>
              <a:ext uri="{FF2B5EF4-FFF2-40B4-BE49-F238E27FC236}">
                <a16:creationId xmlns:a16="http://schemas.microsoft.com/office/drawing/2014/main" id="{486E8CBD-EDE1-7627-AB28-437A6240F60D}"/>
              </a:ext>
            </a:extLst>
          </p:cNvPr>
          <p:cNvSpPr/>
          <p:nvPr/>
        </p:nvSpPr>
        <p:spPr>
          <a:xfrm>
            <a:off x="516000" y="2248549"/>
            <a:ext cx="3495230" cy="371475"/>
          </a:xfrm>
          <a:prstGeom prst="rect">
            <a:avLst/>
          </a:prstGeom>
          <a:noFill/>
          <a:ln/>
        </p:spPr>
        <p:txBody>
          <a:bodyPr wrap="square" lIns="0" tIns="0" rIns="0" bIns="0" rtlCol="0" anchor="t"/>
          <a:lstStyle/>
          <a:p>
            <a:pPr defTabSz="304815">
              <a:lnSpc>
                <a:spcPts val="2925"/>
              </a:lnSpc>
            </a:pPr>
            <a:r>
              <a:rPr lang="en-US" sz="1600" cap="all" dirty="0">
                <a:solidFill>
                  <a:prstClr val="black">
                    <a:lumMod val="65000"/>
                    <a:lumOff val="35000"/>
                  </a:prstClr>
                </a:solidFill>
                <a:latin typeface="Montserrat ExtraBold" pitchFamily="34" charset="0"/>
              </a:rPr>
              <a:t>Relationship manager</a:t>
            </a:r>
          </a:p>
        </p:txBody>
      </p:sp>
      <p:grpSp>
        <p:nvGrpSpPr>
          <p:cNvPr id="13" name="Group 12">
            <a:extLst>
              <a:ext uri="{FF2B5EF4-FFF2-40B4-BE49-F238E27FC236}">
                <a16:creationId xmlns:a16="http://schemas.microsoft.com/office/drawing/2014/main" id="{E208EC62-961A-97B4-7236-58BB9AF2E78F}"/>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4" name="Object5">
            <a:extLst>
              <a:ext uri="{FF2B5EF4-FFF2-40B4-BE49-F238E27FC236}">
                <a16:creationId xmlns:a16="http://schemas.microsoft.com/office/drawing/2014/main" id="{52BC4C55-993A-4F2D-3564-594DB6F69231}"/>
              </a:ext>
            </a:extLst>
          </p:cNvPr>
          <p:cNvSpPr/>
          <p:nvPr/>
        </p:nvSpPr>
        <p:spPr>
          <a:xfrm>
            <a:off x="7888493" y="5309857"/>
            <a:ext cx="3975545" cy="1588151"/>
          </a:xfrm>
          <a:prstGeom prst="rect">
            <a:avLst/>
          </a:prstGeom>
          <a:noFill/>
          <a:ln/>
        </p:spPr>
        <p:txBody>
          <a:bodyPr wrap="square" lIns="0" tIns="0" rIns="0" bIns="0" rtlCol="0" anchor="t"/>
          <a:lstStyle/>
          <a:p>
            <a:pPr defTabSz="304815"/>
            <a:endParaRPr lang="en-US" sz="1600" b="1" dirty="0">
              <a:solidFill>
                <a:srgbClr val="7030A0"/>
              </a:solidFill>
              <a:latin typeface="Hepta Slab SemiBold" pitchFamily="2" charset="0"/>
              <a:ea typeface="Hepta Slab Regular" pitchFamily="34" charset="-122"/>
              <a:cs typeface="Hepta Slab SemiBold" pitchFamily="2" charset="0"/>
            </a:endParaRPr>
          </a:p>
        </p:txBody>
      </p:sp>
      <p:sp>
        <p:nvSpPr>
          <p:cNvPr id="20" name="TextBox 19">
            <a:extLst>
              <a:ext uri="{FF2B5EF4-FFF2-40B4-BE49-F238E27FC236}">
                <a16:creationId xmlns:a16="http://schemas.microsoft.com/office/drawing/2014/main" id="{09DFB4C4-A814-6CDE-001B-E18E8F29D314}"/>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35</a:t>
            </a:fld>
            <a:endParaRPr lang="en-US" sz="1333" dirty="0">
              <a:solidFill>
                <a:srgbClr val="0D0D0D"/>
              </a:solidFill>
              <a:latin typeface="Hepta Slab Medium" pitchFamily="2" charset="0"/>
              <a:cs typeface="Hepta Slab Medium" pitchFamily="2" charset="0"/>
            </a:endParaRPr>
          </a:p>
        </p:txBody>
      </p:sp>
      <p:sp>
        <p:nvSpPr>
          <p:cNvPr id="5" name="Object5">
            <a:extLst>
              <a:ext uri="{FF2B5EF4-FFF2-40B4-BE49-F238E27FC236}">
                <a16:creationId xmlns:a16="http://schemas.microsoft.com/office/drawing/2014/main" id="{F34A8EAF-5C8D-83E0-F1F3-2BEA185EA40B}"/>
              </a:ext>
            </a:extLst>
          </p:cNvPr>
          <p:cNvSpPr/>
          <p:nvPr/>
        </p:nvSpPr>
        <p:spPr>
          <a:xfrm>
            <a:off x="516000" y="1396793"/>
            <a:ext cx="10343678" cy="454554"/>
          </a:xfrm>
          <a:prstGeom prst="rect">
            <a:avLst/>
          </a:prstGeom>
          <a:noFill/>
          <a:ln/>
        </p:spPr>
        <p:txBody>
          <a:bodyPr wrap="square" lIns="0" tIns="0" rIns="0" bIns="0" rtlCol="0" anchor="t"/>
          <a:lstStyle/>
          <a:p>
            <a:pPr defTabSz="304815">
              <a:lnSpc>
                <a:spcPct val="150000"/>
              </a:lnSpc>
            </a:pPr>
            <a:r>
              <a:rPr lang="en-US" sz="1600" dirty="0">
                <a:solidFill>
                  <a:srgbClr val="A9734C"/>
                </a:solidFill>
                <a:latin typeface="Hepta Slab Medium" pitchFamily="2" charset="0"/>
                <a:cs typeface="Hepta Slab Medium" pitchFamily="2" charset="0"/>
              </a:rPr>
              <a:t>When the digital touchpoints fall short, customers reach out to the RM or the Branch.</a:t>
            </a:r>
          </a:p>
          <a:p>
            <a:pPr algn="l"/>
            <a:r>
              <a:rPr lang="en-US" b="1" dirty="0">
                <a:solidFill>
                  <a:srgbClr val="A9734C"/>
                </a:solidFill>
                <a:latin typeface="Hepta Slab SemiBold" pitchFamily="2" charset="0"/>
                <a:ea typeface="Hepta Slab Regular" pitchFamily="34" charset="-122"/>
                <a:cs typeface="Hepta Slab SemiBold" pitchFamily="2" charset="0"/>
              </a:rPr>
              <a:t> </a:t>
            </a:r>
          </a:p>
        </p:txBody>
      </p:sp>
      <p:sp>
        <p:nvSpPr>
          <p:cNvPr id="9" name="TextBox 8">
            <a:extLst>
              <a:ext uri="{FF2B5EF4-FFF2-40B4-BE49-F238E27FC236}">
                <a16:creationId xmlns:a16="http://schemas.microsoft.com/office/drawing/2014/main" id="{C69237D1-F621-CC03-536A-40AD85CD6E87}"/>
              </a:ext>
            </a:extLst>
          </p:cNvPr>
          <p:cNvSpPr txBox="1"/>
          <p:nvPr/>
        </p:nvSpPr>
        <p:spPr>
          <a:xfrm>
            <a:off x="8424456" y="6465396"/>
            <a:ext cx="748574" cy="261610"/>
          </a:xfrm>
          <a:prstGeom prst="rect">
            <a:avLst/>
          </a:prstGeom>
          <a:noFill/>
        </p:spPr>
        <p:txBody>
          <a:bodyPr wrap="square">
            <a:spAutoFit/>
          </a:bodyPr>
          <a:lstStyle/>
          <a:p>
            <a:r>
              <a:rPr lang="en-GB" sz="1100" dirty="0">
                <a:solidFill>
                  <a:schemeClr val="bg2">
                    <a:lumMod val="75000"/>
                  </a:schemeClr>
                </a:solidFill>
                <a:latin typeface="Montserrat SemiBold" panose="00000700000000000000" pitchFamily="2" charset="0"/>
              </a:rPr>
              <a:t>n= 165</a:t>
            </a:r>
            <a:endParaRPr lang="en-IN" sz="1100" dirty="0">
              <a:solidFill>
                <a:schemeClr val="bg2">
                  <a:lumMod val="75000"/>
                </a:schemeClr>
              </a:solidFill>
              <a:latin typeface="Montserrat SemiBold" panose="00000700000000000000" pitchFamily="2" charset="0"/>
            </a:endParaRPr>
          </a:p>
        </p:txBody>
      </p:sp>
      <p:graphicFrame>
        <p:nvGraphicFramePr>
          <p:cNvPr id="7" name="Chart 6">
            <a:extLst>
              <a:ext uri="{FF2B5EF4-FFF2-40B4-BE49-F238E27FC236}">
                <a16:creationId xmlns:a16="http://schemas.microsoft.com/office/drawing/2014/main" id="{7F9DB10E-42F6-4D8A-B7BD-496298D809CF}"/>
              </a:ext>
            </a:extLst>
          </p:cNvPr>
          <p:cNvGraphicFramePr>
            <a:graphicFrameLocks/>
          </p:cNvGraphicFramePr>
          <p:nvPr>
            <p:extLst>
              <p:ext uri="{D42A27DB-BD31-4B8C-83A1-F6EECF244321}">
                <p14:modId xmlns:p14="http://schemas.microsoft.com/office/powerpoint/2010/main" val="405366415"/>
              </p:ext>
            </p:extLst>
          </p:nvPr>
        </p:nvGraphicFramePr>
        <p:xfrm>
          <a:off x="5722057" y="2591480"/>
          <a:ext cx="3975545" cy="30092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103FCEF7-00A5-401D-8E3D-C43B71234CF8}"/>
              </a:ext>
            </a:extLst>
          </p:cNvPr>
          <p:cNvGraphicFramePr>
            <a:graphicFrameLocks/>
          </p:cNvGraphicFramePr>
          <p:nvPr>
            <p:extLst>
              <p:ext uri="{D42A27DB-BD31-4B8C-83A1-F6EECF244321}">
                <p14:modId xmlns:p14="http://schemas.microsoft.com/office/powerpoint/2010/main" val="1797666900"/>
              </p:ext>
            </p:extLst>
          </p:nvPr>
        </p:nvGraphicFramePr>
        <p:xfrm>
          <a:off x="516000" y="2591480"/>
          <a:ext cx="4221913" cy="2759173"/>
        </p:xfrm>
        <a:graphic>
          <a:graphicData uri="http://schemas.openxmlformats.org/drawingml/2006/chart">
            <c:chart xmlns:c="http://schemas.openxmlformats.org/drawingml/2006/chart" xmlns:r="http://schemas.openxmlformats.org/officeDocument/2006/relationships" r:id="rId6"/>
          </a:graphicData>
        </a:graphic>
      </p:graphicFrame>
      <p:sp>
        <p:nvSpPr>
          <p:cNvPr id="3" name="TextBox 2">
            <a:extLst>
              <a:ext uri="{FF2B5EF4-FFF2-40B4-BE49-F238E27FC236}">
                <a16:creationId xmlns:a16="http://schemas.microsoft.com/office/drawing/2014/main" id="{EBA6EB06-95CC-AD37-3393-B29A18BE5D92}"/>
              </a:ext>
            </a:extLst>
          </p:cNvPr>
          <p:cNvSpPr txBox="1"/>
          <p:nvPr/>
        </p:nvSpPr>
        <p:spPr>
          <a:xfrm>
            <a:off x="1604797" y="6477577"/>
            <a:ext cx="748574" cy="261610"/>
          </a:xfrm>
          <a:prstGeom prst="rect">
            <a:avLst/>
          </a:prstGeom>
          <a:noFill/>
        </p:spPr>
        <p:txBody>
          <a:bodyPr wrap="square">
            <a:spAutoFit/>
          </a:bodyPr>
          <a:lstStyle/>
          <a:p>
            <a:r>
              <a:rPr lang="en-GB" sz="1100" dirty="0">
                <a:solidFill>
                  <a:schemeClr val="bg2">
                    <a:lumMod val="75000"/>
                  </a:schemeClr>
                </a:solidFill>
                <a:latin typeface="Montserrat SemiBold" panose="00000700000000000000" pitchFamily="2" charset="0"/>
              </a:rPr>
              <a:t>n= 165</a:t>
            </a:r>
            <a:endParaRPr lang="en-IN" sz="1100" dirty="0">
              <a:solidFill>
                <a:schemeClr val="bg2">
                  <a:lumMod val="75000"/>
                </a:schemeClr>
              </a:solidFill>
              <a:latin typeface="Montserrat SemiBold" panose="00000700000000000000" pitchFamily="2" charset="0"/>
            </a:endParaRPr>
          </a:p>
        </p:txBody>
      </p:sp>
      <p:sp>
        <p:nvSpPr>
          <p:cNvPr id="2" name="Object5">
            <a:extLst>
              <a:ext uri="{FF2B5EF4-FFF2-40B4-BE49-F238E27FC236}">
                <a16:creationId xmlns:a16="http://schemas.microsoft.com/office/drawing/2014/main" id="{68166363-B668-B4DA-DAD4-1BC6CB4E93C3}"/>
              </a:ext>
            </a:extLst>
          </p:cNvPr>
          <p:cNvSpPr/>
          <p:nvPr/>
        </p:nvSpPr>
        <p:spPr>
          <a:xfrm>
            <a:off x="516000" y="702331"/>
            <a:ext cx="5049481" cy="380674"/>
          </a:xfrm>
          <a:prstGeom prst="rect">
            <a:avLst/>
          </a:prstGeom>
          <a:noFill/>
          <a:ln/>
        </p:spPr>
        <p:txBody>
          <a:bodyPr wrap="square" lIns="0" tIns="0" rIns="0" bIns="0" rtlCol="0" anchor="t"/>
          <a:lstStyle/>
          <a:p>
            <a:pPr>
              <a:defRPr/>
            </a:pPr>
            <a:r>
              <a:rPr lang="en-US" sz="2400" cap="all" dirty="0">
                <a:solidFill>
                  <a:srgbClr val="002060"/>
                </a:solidFill>
                <a:latin typeface="Montserrat ExtraBold" pitchFamily="34" charset="0"/>
              </a:rPr>
              <a:t>Safe. Secure. </a:t>
            </a:r>
            <a:r>
              <a:rPr lang="en-US" sz="2400" cap="all" dirty="0">
                <a:solidFill>
                  <a:srgbClr val="A9734C"/>
                </a:solidFill>
                <a:latin typeface="Montserrat ExtraBold" pitchFamily="34" charset="0"/>
              </a:rPr>
              <a:t>Friction Free</a:t>
            </a:r>
          </a:p>
        </p:txBody>
      </p:sp>
      <p:sp>
        <p:nvSpPr>
          <p:cNvPr id="4" name="Object6">
            <a:extLst>
              <a:ext uri="{FF2B5EF4-FFF2-40B4-BE49-F238E27FC236}">
                <a16:creationId xmlns:a16="http://schemas.microsoft.com/office/drawing/2014/main" id="{9299722B-7C9C-F8BC-A08A-79C800E0E784}"/>
              </a:ext>
            </a:extLst>
          </p:cNvPr>
          <p:cNvSpPr/>
          <p:nvPr/>
        </p:nvSpPr>
        <p:spPr>
          <a:xfrm>
            <a:off x="521760" y="305127"/>
            <a:ext cx="5049481" cy="380675"/>
          </a:xfrm>
          <a:prstGeom prst="rect">
            <a:avLst/>
          </a:prstGeom>
          <a:noFill/>
          <a:ln/>
        </p:spPr>
        <p:txBody>
          <a:bodyPr wrap="square" lIns="0" tIns="0" rIns="0" bIns="0" rtlCol="0" anchor="t"/>
          <a:lstStyle/>
          <a:p>
            <a:pPr marL="0" marR="0" lvl="0" indent="0" algn="l" defTabSz="457200" rtl="0" eaLnBrk="1" fontAlgn="auto" latinLnBrk="0" hangingPunct="1">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ontserrat ExtraBold" pitchFamily="34" charset="-122"/>
                <a:cs typeface="Montserrat ExtraBold" pitchFamily="34" charset="-120"/>
              </a:rPr>
              <a:t>FINANCIAL TRANSACTIONS</a:t>
            </a:r>
            <a:endParaRPr kumimoji="0" lang="en-US" sz="24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537D25F-3061-79E7-BAD0-40ADC75ECB3C}"/>
              </a:ext>
            </a:extLst>
          </p:cNvPr>
          <p:cNvSpPr txBox="1"/>
          <p:nvPr/>
        </p:nvSpPr>
        <p:spPr>
          <a:xfrm>
            <a:off x="6905625" y="310798"/>
            <a:ext cx="3932487"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Friction reduction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1024823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1" name="Object6">
            <a:extLst>
              <a:ext uri="{FF2B5EF4-FFF2-40B4-BE49-F238E27FC236}">
                <a16:creationId xmlns:a16="http://schemas.microsoft.com/office/drawing/2014/main" id="{FEC3C54D-1435-D89E-BBA4-F512539DF721}"/>
              </a:ext>
            </a:extLst>
          </p:cNvPr>
          <p:cNvSpPr/>
          <p:nvPr/>
        </p:nvSpPr>
        <p:spPr>
          <a:xfrm>
            <a:off x="516000" y="1814658"/>
            <a:ext cx="2711802" cy="371475"/>
          </a:xfrm>
          <a:prstGeom prst="rect">
            <a:avLst/>
          </a:prstGeom>
          <a:noFill/>
          <a:ln/>
        </p:spPr>
        <p:txBody>
          <a:bodyPr wrap="square" lIns="0" tIns="0" rIns="0" bIns="0" rtlCol="0" anchor="t"/>
          <a:lstStyle/>
          <a:p>
            <a:pPr defTabSz="304815">
              <a:lnSpc>
                <a:spcPts val="2925"/>
              </a:lnSpc>
            </a:pPr>
            <a:r>
              <a:rPr lang="en-US" sz="1600" cap="all" dirty="0">
                <a:solidFill>
                  <a:prstClr val="black">
                    <a:lumMod val="65000"/>
                    <a:lumOff val="35000"/>
                  </a:prstClr>
                </a:solidFill>
                <a:latin typeface="Montserrat ExtraBold" pitchFamily="34" charset="0"/>
              </a:rPr>
              <a:t>SERVICE RECOVERY</a:t>
            </a:r>
          </a:p>
        </p:txBody>
      </p:sp>
      <p:sp>
        <p:nvSpPr>
          <p:cNvPr id="23" name="Object5">
            <a:extLst>
              <a:ext uri="{FF2B5EF4-FFF2-40B4-BE49-F238E27FC236}">
                <a16:creationId xmlns:a16="http://schemas.microsoft.com/office/drawing/2014/main" id="{82108557-741E-4F90-0A97-136E8515DA55}"/>
              </a:ext>
            </a:extLst>
          </p:cNvPr>
          <p:cNvSpPr/>
          <p:nvPr/>
        </p:nvSpPr>
        <p:spPr>
          <a:xfrm>
            <a:off x="7888493" y="4122017"/>
            <a:ext cx="3975545" cy="1588151"/>
          </a:xfrm>
          <a:prstGeom prst="rect">
            <a:avLst/>
          </a:prstGeom>
          <a:noFill/>
          <a:ln/>
        </p:spPr>
        <p:txBody>
          <a:bodyPr wrap="square" lIns="0" tIns="0" rIns="0" bIns="0" rtlCol="0" anchor="t"/>
          <a:lstStyle/>
          <a:p>
            <a:pPr defTabSz="304815"/>
            <a:endParaRPr lang="en-US" sz="1600" b="1" dirty="0">
              <a:solidFill>
                <a:srgbClr val="7030A0"/>
              </a:solidFill>
              <a:latin typeface="Hepta Slab SemiBold" pitchFamily="2" charset="0"/>
              <a:ea typeface="Hepta Slab Regular" pitchFamily="34" charset="-122"/>
              <a:cs typeface="Hepta Slab SemiBold" pitchFamily="2" charset="0"/>
            </a:endParaRPr>
          </a:p>
        </p:txBody>
      </p:sp>
      <p:sp>
        <p:nvSpPr>
          <p:cNvPr id="20" name="TextBox 19">
            <a:extLst>
              <a:ext uri="{FF2B5EF4-FFF2-40B4-BE49-F238E27FC236}">
                <a16:creationId xmlns:a16="http://schemas.microsoft.com/office/drawing/2014/main" id="{09DFB4C4-A814-6CDE-001B-E18E8F29D314}"/>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36</a:t>
            </a:fld>
            <a:endParaRPr lang="en-US" sz="1333" dirty="0">
              <a:solidFill>
                <a:srgbClr val="0D0D0D"/>
              </a:solidFill>
              <a:latin typeface="Hepta Slab Medium" pitchFamily="2" charset="0"/>
              <a:cs typeface="Hepta Slab Medium" pitchFamily="2" charset="0"/>
            </a:endParaRPr>
          </a:p>
        </p:txBody>
      </p:sp>
      <p:sp>
        <p:nvSpPr>
          <p:cNvPr id="7" name="Object5">
            <a:extLst>
              <a:ext uri="{FF2B5EF4-FFF2-40B4-BE49-F238E27FC236}">
                <a16:creationId xmlns:a16="http://schemas.microsoft.com/office/drawing/2014/main" id="{038B1636-7788-C33A-C3AE-EA20357EE654}"/>
              </a:ext>
            </a:extLst>
          </p:cNvPr>
          <p:cNvSpPr/>
          <p:nvPr/>
        </p:nvSpPr>
        <p:spPr>
          <a:xfrm>
            <a:off x="6574441" y="1408443"/>
            <a:ext cx="5264526" cy="1631750"/>
          </a:xfrm>
          <a:prstGeom prst="rect">
            <a:avLst/>
          </a:prstGeom>
          <a:noFill/>
          <a:ln/>
        </p:spPr>
        <p:txBody>
          <a:bodyPr wrap="square" lIns="0" tIns="0" rIns="0" bIns="0" rtlCol="0" anchor="t"/>
          <a:lstStyle/>
          <a:p>
            <a:pPr algn="l">
              <a:lnSpc>
                <a:spcPct val="150000"/>
              </a:lnSpc>
              <a:spcAft>
                <a:spcPts val="1200"/>
              </a:spcAft>
            </a:pPr>
            <a:r>
              <a:rPr lang="en-GB" sz="1600" dirty="0">
                <a:solidFill>
                  <a:srgbClr val="A9734C"/>
                </a:solidFill>
                <a:latin typeface="Hepta Slab Medium" pitchFamily="2" charset="0"/>
                <a:cs typeface="Hepta Slab Medium" pitchFamily="2" charset="0"/>
              </a:rPr>
              <a:t>While respondents perceive service recovery to be satisfactory, there is headroom for improvement in Call Centre performance and in addressing errors &amp; delays.</a:t>
            </a:r>
          </a:p>
        </p:txBody>
      </p:sp>
      <p:graphicFrame>
        <p:nvGraphicFramePr>
          <p:cNvPr id="6" name="Chart 5">
            <a:extLst>
              <a:ext uri="{FF2B5EF4-FFF2-40B4-BE49-F238E27FC236}">
                <a16:creationId xmlns:a16="http://schemas.microsoft.com/office/drawing/2014/main" id="{D28429B8-7662-43D8-8564-63E0916444B3}"/>
              </a:ext>
            </a:extLst>
          </p:cNvPr>
          <p:cNvGraphicFramePr>
            <a:graphicFrameLocks/>
          </p:cNvGraphicFramePr>
          <p:nvPr>
            <p:extLst>
              <p:ext uri="{D42A27DB-BD31-4B8C-83A1-F6EECF244321}">
                <p14:modId xmlns:p14="http://schemas.microsoft.com/office/powerpoint/2010/main" val="1533311480"/>
              </p:ext>
            </p:extLst>
          </p:nvPr>
        </p:nvGraphicFramePr>
        <p:xfrm>
          <a:off x="516000" y="2661879"/>
          <a:ext cx="4955277" cy="3118184"/>
        </p:xfrm>
        <a:graphic>
          <a:graphicData uri="http://schemas.openxmlformats.org/drawingml/2006/chart">
            <c:chart xmlns:c="http://schemas.openxmlformats.org/drawingml/2006/chart" xmlns:r="http://schemas.openxmlformats.org/officeDocument/2006/relationships" r:id="rId5"/>
          </a:graphicData>
        </a:graphic>
      </p:graphicFrame>
      <p:sp>
        <p:nvSpPr>
          <p:cNvPr id="4" name="TextBox 3">
            <a:extLst>
              <a:ext uri="{FF2B5EF4-FFF2-40B4-BE49-F238E27FC236}">
                <a16:creationId xmlns:a16="http://schemas.microsoft.com/office/drawing/2014/main" id="{DA60B373-A98A-A3AE-4A9D-5E7DD7C710BE}"/>
              </a:ext>
            </a:extLst>
          </p:cNvPr>
          <p:cNvSpPr txBox="1"/>
          <p:nvPr/>
        </p:nvSpPr>
        <p:spPr>
          <a:xfrm>
            <a:off x="1629395" y="6510409"/>
            <a:ext cx="748574" cy="261610"/>
          </a:xfrm>
          <a:prstGeom prst="rect">
            <a:avLst/>
          </a:prstGeom>
          <a:noFill/>
        </p:spPr>
        <p:txBody>
          <a:bodyPr wrap="square">
            <a:spAutoFit/>
          </a:bodyPr>
          <a:lstStyle/>
          <a:p>
            <a:r>
              <a:rPr lang="en-GB" sz="1100" dirty="0">
                <a:solidFill>
                  <a:schemeClr val="bg2">
                    <a:lumMod val="75000"/>
                  </a:schemeClr>
                </a:solidFill>
                <a:latin typeface="Montserrat SemiBold" panose="00000700000000000000" pitchFamily="2" charset="0"/>
              </a:rPr>
              <a:t>n= 165</a:t>
            </a:r>
            <a:endParaRPr lang="en-IN" sz="1100" dirty="0">
              <a:solidFill>
                <a:schemeClr val="bg2">
                  <a:lumMod val="75000"/>
                </a:schemeClr>
              </a:solidFill>
              <a:latin typeface="Montserrat SemiBold" panose="00000700000000000000" pitchFamily="2" charset="0"/>
            </a:endParaRPr>
          </a:p>
        </p:txBody>
      </p:sp>
      <p:sp>
        <p:nvSpPr>
          <p:cNvPr id="3" name="Object5">
            <a:extLst>
              <a:ext uri="{FF2B5EF4-FFF2-40B4-BE49-F238E27FC236}">
                <a16:creationId xmlns:a16="http://schemas.microsoft.com/office/drawing/2014/main" id="{917C6A62-25A3-5291-1D67-1FE7C9FFEE8C}"/>
              </a:ext>
            </a:extLst>
          </p:cNvPr>
          <p:cNvSpPr/>
          <p:nvPr/>
        </p:nvSpPr>
        <p:spPr>
          <a:xfrm>
            <a:off x="516000" y="702331"/>
            <a:ext cx="5049481" cy="380674"/>
          </a:xfrm>
          <a:prstGeom prst="rect">
            <a:avLst/>
          </a:prstGeom>
          <a:noFill/>
          <a:ln/>
        </p:spPr>
        <p:txBody>
          <a:bodyPr wrap="square" lIns="0" tIns="0" rIns="0" bIns="0" rtlCol="0" anchor="t"/>
          <a:lstStyle/>
          <a:p>
            <a:pPr>
              <a:defRPr/>
            </a:pPr>
            <a:r>
              <a:rPr lang="en-US" sz="2400" cap="all" dirty="0">
                <a:solidFill>
                  <a:srgbClr val="002060"/>
                </a:solidFill>
                <a:latin typeface="Montserrat ExtraBold" pitchFamily="34" charset="0"/>
              </a:rPr>
              <a:t>Safe. Secure. </a:t>
            </a:r>
            <a:r>
              <a:rPr lang="en-US" sz="2400" cap="all" dirty="0">
                <a:solidFill>
                  <a:srgbClr val="A9734C"/>
                </a:solidFill>
                <a:latin typeface="Montserrat ExtraBold" pitchFamily="34" charset="0"/>
              </a:rPr>
              <a:t>Friction Free</a:t>
            </a:r>
          </a:p>
        </p:txBody>
      </p:sp>
      <p:sp>
        <p:nvSpPr>
          <p:cNvPr id="5" name="Object6">
            <a:extLst>
              <a:ext uri="{FF2B5EF4-FFF2-40B4-BE49-F238E27FC236}">
                <a16:creationId xmlns:a16="http://schemas.microsoft.com/office/drawing/2014/main" id="{4D899773-FC24-92DB-1C11-7098BBD8E7D2}"/>
              </a:ext>
            </a:extLst>
          </p:cNvPr>
          <p:cNvSpPr/>
          <p:nvPr/>
        </p:nvSpPr>
        <p:spPr>
          <a:xfrm>
            <a:off x="521760" y="305127"/>
            <a:ext cx="5049481" cy="380675"/>
          </a:xfrm>
          <a:prstGeom prst="rect">
            <a:avLst/>
          </a:prstGeom>
          <a:noFill/>
          <a:ln/>
        </p:spPr>
        <p:txBody>
          <a:bodyPr wrap="square" lIns="0" tIns="0" rIns="0" bIns="0" rtlCol="0" anchor="t"/>
          <a:lstStyle/>
          <a:p>
            <a:pPr marL="0" marR="0" lvl="0" indent="0" algn="l" defTabSz="457200" rtl="0" eaLnBrk="1" fontAlgn="auto" latinLnBrk="0" hangingPunct="1">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ontserrat ExtraBold" pitchFamily="34" charset="-122"/>
                <a:cs typeface="Montserrat ExtraBold" pitchFamily="34" charset="-120"/>
              </a:rPr>
              <a:t>FINANCIAL TRANSACTIONS</a:t>
            </a:r>
            <a:endParaRPr kumimoji="0" lang="en-US" sz="24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AD5C81C-A3AE-6FA5-4B7F-09F6D636BC6C}"/>
              </a:ext>
            </a:extLst>
          </p:cNvPr>
          <p:cNvSpPr txBox="1"/>
          <p:nvPr/>
        </p:nvSpPr>
        <p:spPr>
          <a:xfrm>
            <a:off x="6905625" y="310798"/>
            <a:ext cx="3932487"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Friction reduction is an opportunity area</a:t>
            </a:r>
            <a:endParaRPr lang="en-IN" sz="1400" dirty="0">
              <a:solidFill>
                <a:srgbClr val="A9734C"/>
              </a:solidFill>
              <a:latin typeface="Montserrat SemiBold" panose="00000700000000000000" pitchFamily="2" charset="0"/>
            </a:endParaRPr>
          </a:p>
        </p:txBody>
      </p:sp>
      <p:sp>
        <p:nvSpPr>
          <p:cNvPr id="8" name="Rectangle: Rounded Corners 7">
            <a:extLst>
              <a:ext uri="{FF2B5EF4-FFF2-40B4-BE49-F238E27FC236}">
                <a16:creationId xmlns:a16="http://schemas.microsoft.com/office/drawing/2014/main" id="{A788ECF7-1039-57B3-CC76-ADC2CD21ABE7}"/>
              </a:ext>
            </a:extLst>
          </p:cNvPr>
          <p:cNvSpPr/>
          <p:nvPr/>
        </p:nvSpPr>
        <p:spPr>
          <a:xfrm>
            <a:off x="6574441" y="3975100"/>
            <a:ext cx="3798702" cy="140847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304815"/>
            <a:r>
              <a:rPr lang="en-US" sz="1600" dirty="0">
                <a:solidFill>
                  <a:srgbClr val="002060"/>
                </a:solidFill>
                <a:latin typeface="Montserrat Medium" panose="00000600000000000000" pitchFamily="2" charset="0"/>
              </a:rPr>
              <a:t>“During this PIS delays and everything, they were not responding properly”</a:t>
            </a:r>
            <a:endParaRPr lang="en-GB" sz="1600" dirty="0">
              <a:solidFill>
                <a:srgbClr val="002060"/>
              </a:solidFill>
              <a:latin typeface="Montserrat Medium" panose="00000600000000000000" pitchFamily="2" charset="0"/>
            </a:endParaRPr>
          </a:p>
        </p:txBody>
      </p:sp>
    </p:spTree>
    <p:extLst>
      <p:ext uri="{BB962C8B-B14F-4D97-AF65-F5344CB8AC3E}">
        <p14:creationId xmlns:p14="http://schemas.microsoft.com/office/powerpoint/2010/main" val="3772666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6" name="Object5">
            <a:extLst>
              <a:ext uri="{FF2B5EF4-FFF2-40B4-BE49-F238E27FC236}">
                <a16:creationId xmlns:a16="http://schemas.microsoft.com/office/drawing/2014/main" id="{87A261E6-505A-B682-73B9-BF87C12ECF6E}"/>
              </a:ext>
            </a:extLst>
          </p:cNvPr>
          <p:cNvSpPr/>
          <p:nvPr/>
        </p:nvSpPr>
        <p:spPr>
          <a:xfrm>
            <a:off x="3563664" y="2224743"/>
            <a:ext cx="1745118" cy="101333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7030A0"/>
              </a:solidFill>
              <a:effectLst/>
              <a:uLnTx/>
              <a:uFillTx/>
              <a:latin typeface="Montserrat Medium" pitchFamily="2" charset="0"/>
              <a:ea typeface="+mn-ea"/>
              <a:cs typeface="Hepta Slab Medium" pitchFamily="2" charset="0"/>
            </a:endParaRPr>
          </a:p>
        </p:txBody>
      </p:sp>
      <p:sp>
        <p:nvSpPr>
          <p:cNvPr id="18" name="Object5">
            <a:extLst>
              <a:ext uri="{FF2B5EF4-FFF2-40B4-BE49-F238E27FC236}">
                <a16:creationId xmlns:a16="http://schemas.microsoft.com/office/drawing/2014/main" id="{49F92F15-9931-16D6-6EC2-DBD583F6F48D}"/>
              </a:ext>
            </a:extLst>
          </p:cNvPr>
          <p:cNvSpPr/>
          <p:nvPr/>
        </p:nvSpPr>
        <p:spPr>
          <a:xfrm>
            <a:off x="335997" y="3987198"/>
            <a:ext cx="2635685" cy="91450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7030A0"/>
              </a:solidFill>
              <a:effectLst/>
              <a:uLnTx/>
              <a:uFillTx/>
              <a:latin typeface="Montserrat Medium" pitchFamily="2" charset="0"/>
              <a:ea typeface="+mn-ea"/>
              <a:cs typeface="Hepta Slab Medium" pitchFamily="2" charset="0"/>
            </a:endParaRPr>
          </a:p>
        </p:txBody>
      </p:sp>
      <p:sp>
        <p:nvSpPr>
          <p:cNvPr id="19" name="Object5">
            <a:extLst>
              <a:ext uri="{FF2B5EF4-FFF2-40B4-BE49-F238E27FC236}">
                <a16:creationId xmlns:a16="http://schemas.microsoft.com/office/drawing/2014/main" id="{566793F4-4656-20E2-E680-70DEA63E1F61}"/>
              </a:ext>
            </a:extLst>
          </p:cNvPr>
          <p:cNvSpPr/>
          <p:nvPr/>
        </p:nvSpPr>
        <p:spPr>
          <a:xfrm>
            <a:off x="6413444" y="2224743"/>
            <a:ext cx="1881639" cy="817385"/>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7030A0"/>
              </a:solidFill>
              <a:effectLst/>
              <a:uLnTx/>
              <a:uFillTx/>
              <a:latin typeface="Montserrat Medium" pitchFamily="2" charset="0"/>
              <a:ea typeface="+mn-ea"/>
              <a:cs typeface="Hepta Slab Medium" pitchFamily="2" charset="0"/>
            </a:endParaRPr>
          </a:p>
        </p:txBody>
      </p:sp>
      <p:grpSp>
        <p:nvGrpSpPr>
          <p:cNvPr id="23" name="Group 22">
            <a:extLst>
              <a:ext uri="{FF2B5EF4-FFF2-40B4-BE49-F238E27FC236}">
                <a16:creationId xmlns:a16="http://schemas.microsoft.com/office/drawing/2014/main" id="{9AA8A6D9-FF05-8F59-EB7A-B3DE044A6EE5}"/>
              </a:ext>
            </a:extLst>
          </p:cNvPr>
          <p:cNvGrpSpPr/>
          <p:nvPr/>
        </p:nvGrpSpPr>
        <p:grpSpPr>
          <a:xfrm>
            <a:off x="-61290" y="6133095"/>
            <a:ext cx="12253290" cy="971832"/>
            <a:chOff x="-187799" y="8336784"/>
            <a:chExt cx="18379935" cy="1457748"/>
          </a:xfrm>
        </p:grpSpPr>
        <p:pic>
          <p:nvPicPr>
            <p:cNvPr id="24" name="Picture 23">
              <a:extLst>
                <a:ext uri="{FF2B5EF4-FFF2-40B4-BE49-F238E27FC236}">
                  <a16:creationId xmlns:a16="http://schemas.microsoft.com/office/drawing/2014/main" id="{9F52155D-9448-6948-2FEB-223BF3F73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6" name="Title 1">
              <a:extLst>
                <a:ext uri="{FF2B5EF4-FFF2-40B4-BE49-F238E27FC236}">
                  <a16:creationId xmlns:a16="http://schemas.microsoft.com/office/drawing/2014/main" id="{884F040B-A092-0059-4904-EE3B2BC43661}"/>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7" name="Picture 26">
              <a:extLst>
                <a:ext uri="{FF2B5EF4-FFF2-40B4-BE49-F238E27FC236}">
                  <a16:creationId xmlns:a16="http://schemas.microsoft.com/office/drawing/2014/main" id="{AB068AE5-39DA-8414-AAE6-783F9F069A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4" name="Object5">
            <a:extLst>
              <a:ext uri="{FF2B5EF4-FFF2-40B4-BE49-F238E27FC236}">
                <a16:creationId xmlns:a16="http://schemas.microsoft.com/office/drawing/2014/main" id="{3A49471A-C065-B45F-DFD1-EC1B4E552C78}"/>
              </a:ext>
            </a:extLst>
          </p:cNvPr>
          <p:cNvSpPr/>
          <p:nvPr/>
        </p:nvSpPr>
        <p:spPr>
          <a:xfrm>
            <a:off x="516000" y="702331"/>
            <a:ext cx="5049481" cy="38067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Safe. Secure. </a:t>
            </a:r>
            <a:r>
              <a:rPr kumimoji="0" lang="en-US" sz="2400" b="0" i="0" u="none" strike="noStrike" kern="1200" cap="all" spc="0" normalizeH="0" baseline="0" noProof="0" dirty="0">
                <a:ln>
                  <a:noFill/>
                </a:ln>
                <a:solidFill>
                  <a:srgbClr val="A9734C"/>
                </a:solidFill>
                <a:effectLst/>
                <a:uLnTx/>
                <a:uFillTx/>
                <a:latin typeface="Montserrat ExtraBold" pitchFamily="34" charset="0"/>
                <a:ea typeface="+mn-ea"/>
                <a:cs typeface="+mn-cs"/>
              </a:rPr>
              <a:t>Friction Free</a:t>
            </a:r>
          </a:p>
        </p:txBody>
      </p:sp>
      <p:sp>
        <p:nvSpPr>
          <p:cNvPr id="5" name="Object6">
            <a:extLst>
              <a:ext uri="{FF2B5EF4-FFF2-40B4-BE49-F238E27FC236}">
                <a16:creationId xmlns:a16="http://schemas.microsoft.com/office/drawing/2014/main" id="{B5A93973-DE56-BF98-A8D4-406B83A4F6D6}"/>
              </a:ext>
            </a:extLst>
          </p:cNvPr>
          <p:cNvSpPr/>
          <p:nvPr/>
        </p:nvSpPr>
        <p:spPr>
          <a:xfrm>
            <a:off x="521760" y="305127"/>
            <a:ext cx="5049481" cy="380675"/>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ontserrat ExtraBold" pitchFamily="34" charset="-122"/>
                <a:cs typeface="Montserrat ExtraBold" pitchFamily="34" charset="-120"/>
              </a:rPr>
              <a:t>FINANCIAL TRANSACTIONS</a:t>
            </a:r>
            <a:endParaRPr kumimoji="0" lang="en-US" sz="24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3" name="Slide Number Placeholder 4">
            <a:extLst>
              <a:ext uri="{FF2B5EF4-FFF2-40B4-BE49-F238E27FC236}">
                <a16:creationId xmlns:a16="http://schemas.microsoft.com/office/drawing/2014/main" id="{B5747C2E-AD8A-4E8F-13B0-D663CF8E92E6}"/>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grpSp>
        <p:nvGrpSpPr>
          <p:cNvPr id="12" name="Group 11">
            <a:extLst>
              <a:ext uri="{FF2B5EF4-FFF2-40B4-BE49-F238E27FC236}">
                <a16:creationId xmlns:a16="http://schemas.microsoft.com/office/drawing/2014/main" id="{AC61EECF-B85E-49DE-72C1-12C51A849899}"/>
              </a:ext>
            </a:extLst>
          </p:cNvPr>
          <p:cNvGrpSpPr/>
          <p:nvPr/>
        </p:nvGrpSpPr>
        <p:grpSpPr>
          <a:xfrm>
            <a:off x="590788" y="2017327"/>
            <a:ext cx="2507239" cy="1476963"/>
            <a:chOff x="590788" y="2017327"/>
            <a:chExt cx="2507239" cy="1476963"/>
          </a:xfrm>
        </p:grpSpPr>
        <p:sp>
          <p:nvSpPr>
            <p:cNvPr id="2" name="Rectangle: Rounded Corners 1">
              <a:extLst>
                <a:ext uri="{FF2B5EF4-FFF2-40B4-BE49-F238E27FC236}">
                  <a16:creationId xmlns:a16="http://schemas.microsoft.com/office/drawing/2014/main" id="{84EAC031-2225-110E-E5AA-731619388D3C}"/>
                </a:ext>
              </a:extLst>
            </p:cNvPr>
            <p:cNvSpPr/>
            <p:nvPr/>
          </p:nvSpPr>
          <p:spPr>
            <a:xfrm>
              <a:off x="590788" y="2017327"/>
              <a:ext cx="2507239" cy="147696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"I use mobile banking more than the web version"</a:t>
              </a:r>
              <a:endPar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6" name="TextBox 5">
              <a:extLst>
                <a:ext uri="{FF2B5EF4-FFF2-40B4-BE49-F238E27FC236}">
                  <a16:creationId xmlns:a16="http://schemas.microsoft.com/office/drawing/2014/main" id="{2DC88EBC-5A44-DF3F-6FB6-DA5EC7F780CC}"/>
                </a:ext>
              </a:extLst>
            </p:cNvPr>
            <p:cNvSpPr txBox="1"/>
            <p:nvPr/>
          </p:nvSpPr>
          <p:spPr>
            <a:xfrm>
              <a:off x="2222500" y="3238082"/>
              <a:ext cx="874078" cy="2308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Female</a:t>
              </a:r>
              <a:endParaRPr kumimoji="0" lang="en-IN" sz="9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grpSp>
      <p:grpSp>
        <p:nvGrpSpPr>
          <p:cNvPr id="17" name="Group 16">
            <a:extLst>
              <a:ext uri="{FF2B5EF4-FFF2-40B4-BE49-F238E27FC236}">
                <a16:creationId xmlns:a16="http://schemas.microsoft.com/office/drawing/2014/main" id="{021237AC-3317-2A73-7A9C-CE4CF4512A74}"/>
              </a:ext>
            </a:extLst>
          </p:cNvPr>
          <p:cNvGrpSpPr/>
          <p:nvPr/>
        </p:nvGrpSpPr>
        <p:grpSpPr>
          <a:xfrm>
            <a:off x="595028" y="3699731"/>
            <a:ext cx="5406479" cy="2074434"/>
            <a:chOff x="4941972" y="3840091"/>
            <a:chExt cx="5406479" cy="2074434"/>
          </a:xfrm>
        </p:grpSpPr>
        <p:sp>
          <p:nvSpPr>
            <p:cNvPr id="22" name="Rectangle: Rounded Corners 21">
              <a:extLst>
                <a:ext uri="{FF2B5EF4-FFF2-40B4-BE49-F238E27FC236}">
                  <a16:creationId xmlns:a16="http://schemas.microsoft.com/office/drawing/2014/main" id="{5DA7E295-38A0-2290-B4DF-AA46806DA128}"/>
                </a:ext>
              </a:extLst>
            </p:cNvPr>
            <p:cNvSpPr/>
            <p:nvPr/>
          </p:nvSpPr>
          <p:spPr>
            <a:xfrm>
              <a:off x="4941972" y="3840091"/>
              <a:ext cx="5406479" cy="207443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"Very frequently I'm using that mobile app, which is excellent. I would say that it is second to none. Most of the things get done through </a:t>
              </a:r>
              <a:r>
                <a:rPr kumimoji="0" lang="en-GB" sz="16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FedMobile</a:t>
              </a:r>
              <a:r>
                <a:rPr kumimoji="0" lang="en-GB"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 90% of my transactions Have been through </a:t>
              </a:r>
              <a:r>
                <a:rPr kumimoji="0" lang="en-GB" sz="16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FedMobile</a:t>
              </a:r>
              <a:r>
                <a:rPr kumimoji="0" lang="en-GB"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a:t>
              </a:r>
              <a:endPar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8" name="TextBox 7">
              <a:extLst>
                <a:ext uri="{FF2B5EF4-FFF2-40B4-BE49-F238E27FC236}">
                  <a16:creationId xmlns:a16="http://schemas.microsoft.com/office/drawing/2014/main" id="{7D7BDE07-CC2E-6325-F4B5-5C376AA12CC9}"/>
                </a:ext>
              </a:extLst>
            </p:cNvPr>
            <p:cNvSpPr txBox="1"/>
            <p:nvPr/>
          </p:nvSpPr>
          <p:spPr>
            <a:xfrm>
              <a:off x="9080500" y="5652915"/>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50-65</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grpSp>
      <p:grpSp>
        <p:nvGrpSpPr>
          <p:cNvPr id="11" name="Group 10">
            <a:extLst>
              <a:ext uri="{FF2B5EF4-FFF2-40B4-BE49-F238E27FC236}">
                <a16:creationId xmlns:a16="http://schemas.microsoft.com/office/drawing/2014/main" id="{267DF9F0-B893-187C-4EF7-9D0105C3A3B6}"/>
              </a:ext>
            </a:extLst>
          </p:cNvPr>
          <p:cNvGrpSpPr/>
          <p:nvPr/>
        </p:nvGrpSpPr>
        <p:grpSpPr>
          <a:xfrm>
            <a:off x="3363184" y="2017327"/>
            <a:ext cx="4038601" cy="1463075"/>
            <a:chOff x="6210300" y="1965925"/>
            <a:chExt cx="4038601" cy="1463075"/>
          </a:xfrm>
        </p:grpSpPr>
        <p:sp>
          <p:nvSpPr>
            <p:cNvPr id="15" name="Rectangle: Rounded Corners 14">
              <a:extLst>
                <a:ext uri="{FF2B5EF4-FFF2-40B4-BE49-F238E27FC236}">
                  <a16:creationId xmlns:a16="http://schemas.microsoft.com/office/drawing/2014/main" id="{62527F98-DA8B-83C1-F354-91FE280AB8FF}"/>
                </a:ext>
              </a:extLst>
            </p:cNvPr>
            <p:cNvSpPr/>
            <p:nvPr/>
          </p:nvSpPr>
          <p:spPr>
            <a:xfrm>
              <a:off x="6210300" y="1965925"/>
              <a:ext cx="4038600" cy="146307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“Especially with net banking, </a:t>
              </a: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certain </a:t>
              </a:r>
              <a:r>
                <a:rPr kumimoji="0" lang="en-US" sz="16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PoS</a:t>
              </a: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 It sometimes takes so long and then it times out or it says server not available”</a:t>
              </a:r>
              <a:endPar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7" name="TextBox 6">
              <a:extLst>
                <a:ext uri="{FF2B5EF4-FFF2-40B4-BE49-F238E27FC236}">
                  <a16:creationId xmlns:a16="http://schemas.microsoft.com/office/drawing/2014/main" id="{510E97A3-7EB0-0240-4CAC-42B2701D0FA9}"/>
                </a:ext>
              </a:extLst>
            </p:cNvPr>
            <p:cNvSpPr txBox="1"/>
            <p:nvPr/>
          </p:nvSpPr>
          <p:spPr>
            <a:xfrm>
              <a:off x="8826501" y="3167390"/>
              <a:ext cx="1422400"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grpSp>
      <p:sp>
        <p:nvSpPr>
          <p:cNvPr id="21" name="Rectangle: Rounded Corners 20">
            <a:extLst>
              <a:ext uri="{FF2B5EF4-FFF2-40B4-BE49-F238E27FC236}">
                <a16:creationId xmlns:a16="http://schemas.microsoft.com/office/drawing/2014/main" id="{2BEB2CE1-238C-6E04-9896-1CFB6A4414DB}"/>
              </a:ext>
            </a:extLst>
          </p:cNvPr>
          <p:cNvSpPr/>
          <p:nvPr/>
        </p:nvSpPr>
        <p:spPr>
          <a:xfrm>
            <a:off x="6260539" y="3657066"/>
            <a:ext cx="2794562" cy="21170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rPr>
              <a:t>“You have an upgraded mobile app. For FDs, It was automatic renewal always, but now it is an upgraded app”</a:t>
            </a:r>
            <a:endParaRPr kumimoji="0" lang="en-IN"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0" name="TextBox 9">
            <a:extLst>
              <a:ext uri="{FF2B5EF4-FFF2-40B4-BE49-F238E27FC236}">
                <a16:creationId xmlns:a16="http://schemas.microsoft.com/office/drawing/2014/main" id="{AF911764-9378-115C-1B08-8ED418568A9C}"/>
              </a:ext>
            </a:extLst>
          </p:cNvPr>
          <p:cNvSpPr txBox="1"/>
          <p:nvPr/>
        </p:nvSpPr>
        <p:spPr>
          <a:xfrm>
            <a:off x="7787150" y="5512555"/>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Female</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9" name="TextBox 8">
            <a:extLst>
              <a:ext uri="{FF2B5EF4-FFF2-40B4-BE49-F238E27FC236}">
                <a16:creationId xmlns:a16="http://schemas.microsoft.com/office/drawing/2014/main" id="{E21C9DAF-1BE4-2310-3CB2-458260A5CF7F}"/>
              </a:ext>
            </a:extLst>
          </p:cNvPr>
          <p:cNvSpPr txBox="1"/>
          <p:nvPr/>
        </p:nvSpPr>
        <p:spPr>
          <a:xfrm>
            <a:off x="6905625" y="310798"/>
            <a:ext cx="3932487"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Friction reduction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29074493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6F26F0F3-72F6-03BA-D20F-AC3D344610AF}"/>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0A99B950-D20C-C168-F9FC-878A45ABFDA2}"/>
              </a:ext>
            </a:extLst>
          </p:cNvPr>
          <p:cNvSpPr/>
          <p:nvPr/>
        </p:nvSpPr>
        <p:spPr>
          <a:xfrm>
            <a:off x="516000" y="3987198"/>
            <a:ext cx="4616245" cy="200190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“With net banking, sometimes you find that certain </a:t>
            </a:r>
            <a:r>
              <a:rPr kumimoji="0" lang="en-US" sz="16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PoS</a:t>
            </a: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 I'm not saying everywhere, but certain </a:t>
            </a:r>
            <a:r>
              <a:rPr kumimoji="0" lang="en-US" sz="16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PoS</a:t>
            </a: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 It sometimes takes so long and then it times out or it says server not available, things like that.”</a:t>
            </a:r>
          </a:p>
        </p:txBody>
      </p:sp>
      <p:sp>
        <p:nvSpPr>
          <p:cNvPr id="15" name="Rectangle: Rounded Corners 14">
            <a:extLst>
              <a:ext uri="{FF2B5EF4-FFF2-40B4-BE49-F238E27FC236}">
                <a16:creationId xmlns:a16="http://schemas.microsoft.com/office/drawing/2014/main" id="{024E1939-E93C-6754-F48B-C43588BEA62C}"/>
              </a:ext>
            </a:extLst>
          </p:cNvPr>
          <p:cNvSpPr/>
          <p:nvPr/>
        </p:nvSpPr>
        <p:spPr>
          <a:xfrm>
            <a:off x="5727390" y="1965925"/>
            <a:ext cx="3416609" cy="162407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“I cannot make any one-time mandate for purchasing any mutual fund with any other AMCs”</a:t>
            </a:r>
          </a:p>
        </p:txBody>
      </p:sp>
      <p:sp>
        <p:nvSpPr>
          <p:cNvPr id="2" name="Rectangle: Rounded Corners 1">
            <a:extLst>
              <a:ext uri="{FF2B5EF4-FFF2-40B4-BE49-F238E27FC236}">
                <a16:creationId xmlns:a16="http://schemas.microsoft.com/office/drawing/2014/main" id="{D4CC0EC8-1976-FAD5-DE74-3639F10E89CE}"/>
              </a:ext>
            </a:extLst>
          </p:cNvPr>
          <p:cNvSpPr/>
          <p:nvPr/>
        </p:nvSpPr>
        <p:spPr>
          <a:xfrm>
            <a:off x="464442" y="1965925"/>
            <a:ext cx="5049481" cy="162407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“You need to access things quick and you need to know at any point in time what's happening, right? So, that accessibility matters. So, that facility of tracking was not so great in terms of online platforms”</a:t>
            </a:r>
          </a:p>
        </p:txBody>
      </p:sp>
      <p:sp>
        <p:nvSpPr>
          <p:cNvPr id="16" name="Object5">
            <a:extLst>
              <a:ext uri="{FF2B5EF4-FFF2-40B4-BE49-F238E27FC236}">
                <a16:creationId xmlns:a16="http://schemas.microsoft.com/office/drawing/2014/main" id="{D40D06BF-53BF-87B6-8A1E-7995F88D151D}"/>
              </a:ext>
            </a:extLst>
          </p:cNvPr>
          <p:cNvSpPr/>
          <p:nvPr/>
        </p:nvSpPr>
        <p:spPr>
          <a:xfrm>
            <a:off x="3563664" y="2224743"/>
            <a:ext cx="1745118" cy="101333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7030A0"/>
              </a:solidFill>
              <a:effectLst/>
              <a:uLnTx/>
              <a:uFillTx/>
              <a:latin typeface="Montserrat Medium" pitchFamily="2" charset="0"/>
              <a:ea typeface="+mn-ea"/>
              <a:cs typeface="Hepta Slab Medium" pitchFamily="2" charset="0"/>
            </a:endParaRPr>
          </a:p>
        </p:txBody>
      </p:sp>
      <p:sp>
        <p:nvSpPr>
          <p:cNvPr id="18" name="Object5">
            <a:extLst>
              <a:ext uri="{FF2B5EF4-FFF2-40B4-BE49-F238E27FC236}">
                <a16:creationId xmlns:a16="http://schemas.microsoft.com/office/drawing/2014/main" id="{2A1A0B37-F51B-607B-B91A-20FBEC515FCA}"/>
              </a:ext>
            </a:extLst>
          </p:cNvPr>
          <p:cNvSpPr/>
          <p:nvPr/>
        </p:nvSpPr>
        <p:spPr>
          <a:xfrm>
            <a:off x="335997" y="3987198"/>
            <a:ext cx="2635685" cy="91450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7030A0"/>
              </a:solidFill>
              <a:effectLst/>
              <a:uLnTx/>
              <a:uFillTx/>
              <a:latin typeface="Montserrat Medium" pitchFamily="2" charset="0"/>
              <a:ea typeface="+mn-ea"/>
              <a:cs typeface="Hepta Slab Medium" pitchFamily="2" charset="0"/>
            </a:endParaRPr>
          </a:p>
        </p:txBody>
      </p:sp>
      <p:sp>
        <p:nvSpPr>
          <p:cNvPr id="19" name="Object5">
            <a:extLst>
              <a:ext uri="{FF2B5EF4-FFF2-40B4-BE49-F238E27FC236}">
                <a16:creationId xmlns:a16="http://schemas.microsoft.com/office/drawing/2014/main" id="{9124C8BA-2303-E18D-552D-92C05FD2E122}"/>
              </a:ext>
            </a:extLst>
          </p:cNvPr>
          <p:cNvSpPr/>
          <p:nvPr/>
        </p:nvSpPr>
        <p:spPr>
          <a:xfrm>
            <a:off x="6413444" y="2224743"/>
            <a:ext cx="1881639" cy="817385"/>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7030A0"/>
              </a:solidFill>
              <a:effectLst/>
              <a:uLnTx/>
              <a:uFillTx/>
              <a:latin typeface="Montserrat Medium" pitchFamily="2" charset="0"/>
              <a:ea typeface="+mn-ea"/>
              <a:cs typeface="Hepta Slab Medium" pitchFamily="2" charset="0"/>
            </a:endParaRPr>
          </a:p>
        </p:txBody>
      </p:sp>
      <p:grpSp>
        <p:nvGrpSpPr>
          <p:cNvPr id="23" name="Group 22">
            <a:extLst>
              <a:ext uri="{FF2B5EF4-FFF2-40B4-BE49-F238E27FC236}">
                <a16:creationId xmlns:a16="http://schemas.microsoft.com/office/drawing/2014/main" id="{25A8EF5B-08E6-8875-5AC7-195EC02D3A2F}"/>
              </a:ext>
            </a:extLst>
          </p:cNvPr>
          <p:cNvGrpSpPr/>
          <p:nvPr/>
        </p:nvGrpSpPr>
        <p:grpSpPr>
          <a:xfrm>
            <a:off x="-61290" y="6133095"/>
            <a:ext cx="12253290" cy="971832"/>
            <a:chOff x="-187799" y="8336784"/>
            <a:chExt cx="18379935" cy="1457748"/>
          </a:xfrm>
        </p:grpSpPr>
        <p:pic>
          <p:nvPicPr>
            <p:cNvPr id="24" name="Picture 23">
              <a:extLst>
                <a:ext uri="{FF2B5EF4-FFF2-40B4-BE49-F238E27FC236}">
                  <a16:creationId xmlns:a16="http://schemas.microsoft.com/office/drawing/2014/main" id="{2A2260C5-A2B1-3F54-444A-B3BD6E0014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6" name="Title 1">
              <a:extLst>
                <a:ext uri="{FF2B5EF4-FFF2-40B4-BE49-F238E27FC236}">
                  <a16:creationId xmlns:a16="http://schemas.microsoft.com/office/drawing/2014/main" id="{E98C6C08-B0E5-F30A-AEC5-A329A4FF7A7C}"/>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7" name="Picture 26">
              <a:extLst>
                <a:ext uri="{FF2B5EF4-FFF2-40B4-BE49-F238E27FC236}">
                  <a16:creationId xmlns:a16="http://schemas.microsoft.com/office/drawing/2014/main" id="{560A9DAE-7D60-D6A8-24FC-1A6D36F7CB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4" name="Object5">
            <a:extLst>
              <a:ext uri="{FF2B5EF4-FFF2-40B4-BE49-F238E27FC236}">
                <a16:creationId xmlns:a16="http://schemas.microsoft.com/office/drawing/2014/main" id="{33DBFDD3-3B0E-3C08-4FBB-B48492A6A175}"/>
              </a:ext>
            </a:extLst>
          </p:cNvPr>
          <p:cNvSpPr/>
          <p:nvPr/>
        </p:nvSpPr>
        <p:spPr>
          <a:xfrm>
            <a:off x="516000" y="702331"/>
            <a:ext cx="5049481" cy="38067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Safe. Secure. </a:t>
            </a:r>
            <a:r>
              <a:rPr kumimoji="0" lang="en-US" sz="2400" b="0" i="0" u="none" strike="noStrike" kern="1200" cap="all" spc="0" normalizeH="0" baseline="0" noProof="0" dirty="0">
                <a:ln>
                  <a:noFill/>
                </a:ln>
                <a:solidFill>
                  <a:srgbClr val="A9734C"/>
                </a:solidFill>
                <a:effectLst/>
                <a:uLnTx/>
                <a:uFillTx/>
                <a:latin typeface="Montserrat ExtraBold" pitchFamily="34" charset="0"/>
                <a:ea typeface="+mn-ea"/>
                <a:cs typeface="+mn-cs"/>
              </a:rPr>
              <a:t>Friction Free</a:t>
            </a:r>
          </a:p>
        </p:txBody>
      </p:sp>
      <p:sp>
        <p:nvSpPr>
          <p:cNvPr id="5" name="Object6">
            <a:extLst>
              <a:ext uri="{FF2B5EF4-FFF2-40B4-BE49-F238E27FC236}">
                <a16:creationId xmlns:a16="http://schemas.microsoft.com/office/drawing/2014/main" id="{F97082F3-E74C-22E5-381D-15839BFCECA4}"/>
              </a:ext>
            </a:extLst>
          </p:cNvPr>
          <p:cNvSpPr/>
          <p:nvPr/>
        </p:nvSpPr>
        <p:spPr>
          <a:xfrm>
            <a:off x="521760" y="305127"/>
            <a:ext cx="5049481" cy="380675"/>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ontserrat ExtraBold" pitchFamily="34" charset="-122"/>
                <a:cs typeface="Montserrat ExtraBold" pitchFamily="34" charset="-120"/>
              </a:rPr>
              <a:t>FINANCIAL TRANSACTIONS</a:t>
            </a:r>
            <a:endParaRPr kumimoji="0" lang="en-US" sz="24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3" name="Slide Number Placeholder 4">
            <a:extLst>
              <a:ext uri="{FF2B5EF4-FFF2-40B4-BE49-F238E27FC236}">
                <a16:creationId xmlns:a16="http://schemas.microsoft.com/office/drawing/2014/main" id="{6159E27A-6C74-363A-AD21-A24A43BE19C6}"/>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
        <p:nvSpPr>
          <p:cNvPr id="6" name="TextBox 5">
            <a:extLst>
              <a:ext uri="{FF2B5EF4-FFF2-40B4-BE49-F238E27FC236}">
                <a16:creationId xmlns:a16="http://schemas.microsoft.com/office/drawing/2014/main" id="{BFC04E91-7EE7-6F0A-C828-7434338C6C76}"/>
              </a:ext>
            </a:extLst>
          </p:cNvPr>
          <p:cNvSpPr txBox="1"/>
          <p:nvPr/>
        </p:nvSpPr>
        <p:spPr>
          <a:xfrm>
            <a:off x="4639845" y="3339752"/>
            <a:ext cx="874078" cy="2308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Female</a:t>
            </a:r>
            <a:endParaRPr kumimoji="0" lang="en-IN" sz="9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7" name="TextBox 6">
            <a:extLst>
              <a:ext uri="{FF2B5EF4-FFF2-40B4-BE49-F238E27FC236}">
                <a16:creationId xmlns:a16="http://schemas.microsoft.com/office/drawing/2014/main" id="{8E2327CF-300A-3948-5022-50C55D601006}"/>
              </a:ext>
            </a:extLst>
          </p:cNvPr>
          <p:cNvSpPr txBox="1"/>
          <p:nvPr/>
        </p:nvSpPr>
        <p:spPr>
          <a:xfrm>
            <a:off x="7876048" y="3332057"/>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40-50</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8" name="TextBox 7">
            <a:extLst>
              <a:ext uri="{FF2B5EF4-FFF2-40B4-BE49-F238E27FC236}">
                <a16:creationId xmlns:a16="http://schemas.microsoft.com/office/drawing/2014/main" id="{B6467A18-5D21-CD91-44F2-6147F833F935}"/>
              </a:ext>
            </a:extLst>
          </p:cNvPr>
          <p:cNvSpPr txBox="1"/>
          <p:nvPr/>
        </p:nvSpPr>
        <p:spPr>
          <a:xfrm>
            <a:off x="3709845" y="5742886"/>
            <a:ext cx="1422400"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9" name="TextBox 8">
            <a:extLst>
              <a:ext uri="{FF2B5EF4-FFF2-40B4-BE49-F238E27FC236}">
                <a16:creationId xmlns:a16="http://schemas.microsoft.com/office/drawing/2014/main" id="{D4B39CB1-5929-2567-2C44-DE00098C7201}"/>
              </a:ext>
            </a:extLst>
          </p:cNvPr>
          <p:cNvSpPr txBox="1"/>
          <p:nvPr/>
        </p:nvSpPr>
        <p:spPr>
          <a:xfrm>
            <a:off x="6905625" y="310798"/>
            <a:ext cx="3932487"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Friction reduction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4283496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A7FCBD90-2143-0849-5629-8EDB3A9D2598}"/>
            </a:ext>
          </a:extLst>
        </p:cNvPr>
        <p:cNvGrpSpPr/>
        <p:nvPr/>
      </p:nvGrpSpPr>
      <p:grpSpPr>
        <a:xfrm>
          <a:off x="0" y="0"/>
          <a:ext cx="0" cy="0"/>
          <a:chOff x="0" y="0"/>
          <a:chExt cx="0" cy="0"/>
        </a:xfrm>
      </p:grpSpPr>
      <p:sp>
        <p:nvSpPr>
          <p:cNvPr id="16" name="Object5">
            <a:extLst>
              <a:ext uri="{FF2B5EF4-FFF2-40B4-BE49-F238E27FC236}">
                <a16:creationId xmlns:a16="http://schemas.microsoft.com/office/drawing/2014/main" id="{6BB24C69-D8CF-F379-93ED-4C88779D7199}"/>
              </a:ext>
            </a:extLst>
          </p:cNvPr>
          <p:cNvSpPr/>
          <p:nvPr/>
        </p:nvSpPr>
        <p:spPr>
          <a:xfrm>
            <a:off x="3563664" y="2224743"/>
            <a:ext cx="1745118" cy="1013339"/>
          </a:xfrm>
          <a:prstGeom prst="rect">
            <a:avLst/>
          </a:prstGeom>
          <a:noFill/>
          <a:ln/>
        </p:spPr>
        <p:txBody>
          <a:bodyPr wrap="square" lIns="0" tIns="0" rIns="0" bIns="0" rtlCol="0" anchor="t"/>
          <a:lstStyle/>
          <a:p>
            <a:pPr defTabSz="304815">
              <a:defRPr/>
            </a:pPr>
            <a:endParaRPr lang="en-US" sz="1600" dirty="0">
              <a:solidFill>
                <a:srgbClr val="7030A0"/>
              </a:solidFill>
              <a:latin typeface="Montserrat Medium" pitchFamily="2" charset="0"/>
              <a:cs typeface="Hepta Slab Medium" pitchFamily="2" charset="0"/>
            </a:endParaRPr>
          </a:p>
        </p:txBody>
      </p:sp>
      <p:sp>
        <p:nvSpPr>
          <p:cNvPr id="18" name="Object5">
            <a:extLst>
              <a:ext uri="{FF2B5EF4-FFF2-40B4-BE49-F238E27FC236}">
                <a16:creationId xmlns:a16="http://schemas.microsoft.com/office/drawing/2014/main" id="{42A2CE82-0565-D495-1AC9-D7D9FA8C2465}"/>
              </a:ext>
            </a:extLst>
          </p:cNvPr>
          <p:cNvSpPr/>
          <p:nvPr/>
        </p:nvSpPr>
        <p:spPr>
          <a:xfrm>
            <a:off x="335997" y="3987198"/>
            <a:ext cx="2635685" cy="914508"/>
          </a:xfrm>
          <a:prstGeom prst="rect">
            <a:avLst/>
          </a:prstGeom>
          <a:noFill/>
          <a:ln/>
        </p:spPr>
        <p:txBody>
          <a:bodyPr wrap="square" lIns="0" tIns="0" rIns="0" bIns="0" rtlCol="0" anchor="t"/>
          <a:lstStyle/>
          <a:p>
            <a:pPr defTabSz="304815">
              <a:defRPr/>
            </a:pPr>
            <a:endParaRPr lang="en-US" sz="1600" dirty="0">
              <a:solidFill>
                <a:srgbClr val="7030A0"/>
              </a:solidFill>
              <a:latin typeface="Montserrat Medium" pitchFamily="2" charset="0"/>
              <a:cs typeface="Hepta Slab Medium" pitchFamily="2" charset="0"/>
            </a:endParaRPr>
          </a:p>
        </p:txBody>
      </p:sp>
      <p:sp>
        <p:nvSpPr>
          <p:cNvPr id="19" name="Object5">
            <a:extLst>
              <a:ext uri="{FF2B5EF4-FFF2-40B4-BE49-F238E27FC236}">
                <a16:creationId xmlns:a16="http://schemas.microsoft.com/office/drawing/2014/main" id="{E05A9004-D673-B379-6971-8BBF7DA51C4C}"/>
              </a:ext>
            </a:extLst>
          </p:cNvPr>
          <p:cNvSpPr/>
          <p:nvPr/>
        </p:nvSpPr>
        <p:spPr>
          <a:xfrm>
            <a:off x="6413444" y="2224743"/>
            <a:ext cx="1881639" cy="817385"/>
          </a:xfrm>
          <a:prstGeom prst="rect">
            <a:avLst/>
          </a:prstGeom>
          <a:noFill/>
          <a:ln/>
        </p:spPr>
        <p:txBody>
          <a:bodyPr wrap="square" lIns="0" tIns="0" rIns="0" bIns="0" rtlCol="0" anchor="t"/>
          <a:lstStyle/>
          <a:p>
            <a:pPr defTabSz="304815">
              <a:defRPr/>
            </a:pPr>
            <a:endParaRPr lang="en-US" sz="1600" dirty="0">
              <a:solidFill>
                <a:srgbClr val="7030A0"/>
              </a:solidFill>
              <a:latin typeface="Montserrat Medium" pitchFamily="2" charset="0"/>
              <a:cs typeface="Hepta Slab Medium" pitchFamily="2" charset="0"/>
            </a:endParaRPr>
          </a:p>
        </p:txBody>
      </p:sp>
      <p:grpSp>
        <p:nvGrpSpPr>
          <p:cNvPr id="23" name="Group 22">
            <a:extLst>
              <a:ext uri="{FF2B5EF4-FFF2-40B4-BE49-F238E27FC236}">
                <a16:creationId xmlns:a16="http://schemas.microsoft.com/office/drawing/2014/main" id="{6743B835-6DB6-F0D1-C797-3A45789AA3B2}"/>
              </a:ext>
            </a:extLst>
          </p:cNvPr>
          <p:cNvGrpSpPr/>
          <p:nvPr/>
        </p:nvGrpSpPr>
        <p:grpSpPr>
          <a:xfrm>
            <a:off x="-61290" y="6133095"/>
            <a:ext cx="12253290" cy="971832"/>
            <a:chOff x="-187799" y="8336784"/>
            <a:chExt cx="18379935" cy="1457748"/>
          </a:xfrm>
        </p:grpSpPr>
        <p:pic>
          <p:nvPicPr>
            <p:cNvPr id="24" name="Picture 23">
              <a:extLst>
                <a:ext uri="{FF2B5EF4-FFF2-40B4-BE49-F238E27FC236}">
                  <a16:creationId xmlns:a16="http://schemas.microsoft.com/office/drawing/2014/main" id="{010C03EE-8FF6-55B9-F9F0-2D8A637DE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6" name="Title 1">
              <a:extLst>
                <a:ext uri="{FF2B5EF4-FFF2-40B4-BE49-F238E27FC236}">
                  <a16:creationId xmlns:a16="http://schemas.microsoft.com/office/drawing/2014/main" id="{65F17E0C-2C13-0EEB-1774-E19BB280563E}"/>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27" name="Picture 26">
              <a:extLst>
                <a:ext uri="{FF2B5EF4-FFF2-40B4-BE49-F238E27FC236}">
                  <a16:creationId xmlns:a16="http://schemas.microsoft.com/office/drawing/2014/main" id="{271BC459-2D6C-06C7-9B88-2C213EB4BF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4" name="Object5">
            <a:extLst>
              <a:ext uri="{FF2B5EF4-FFF2-40B4-BE49-F238E27FC236}">
                <a16:creationId xmlns:a16="http://schemas.microsoft.com/office/drawing/2014/main" id="{D9561659-70B5-E8DA-2742-751C9E2BDF8C}"/>
              </a:ext>
            </a:extLst>
          </p:cNvPr>
          <p:cNvSpPr/>
          <p:nvPr/>
        </p:nvSpPr>
        <p:spPr>
          <a:xfrm>
            <a:off x="516000" y="702331"/>
            <a:ext cx="5049481" cy="380674"/>
          </a:xfrm>
          <a:prstGeom prst="rect">
            <a:avLst/>
          </a:prstGeom>
          <a:noFill/>
          <a:ln/>
        </p:spPr>
        <p:txBody>
          <a:bodyPr wrap="square" lIns="0" tIns="0" rIns="0" bIns="0" rtlCol="0" anchor="t"/>
          <a:lstStyle/>
          <a:p>
            <a:pPr>
              <a:defRPr/>
            </a:pPr>
            <a:r>
              <a:rPr lang="en-US" sz="2400" cap="all" dirty="0">
                <a:solidFill>
                  <a:srgbClr val="002060"/>
                </a:solidFill>
                <a:latin typeface="Montserrat ExtraBold" pitchFamily="34" charset="0"/>
              </a:rPr>
              <a:t>Safe. Secure. </a:t>
            </a:r>
            <a:r>
              <a:rPr lang="en-US" sz="2400" cap="all" dirty="0">
                <a:solidFill>
                  <a:srgbClr val="A9734C"/>
                </a:solidFill>
                <a:latin typeface="Montserrat ExtraBold" pitchFamily="34" charset="0"/>
              </a:rPr>
              <a:t>Friction Free</a:t>
            </a:r>
          </a:p>
        </p:txBody>
      </p:sp>
      <p:sp>
        <p:nvSpPr>
          <p:cNvPr id="5" name="Object6">
            <a:extLst>
              <a:ext uri="{FF2B5EF4-FFF2-40B4-BE49-F238E27FC236}">
                <a16:creationId xmlns:a16="http://schemas.microsoft.com/office/drawing/2014/main" id="{B582D1BF-6571-1502-7B3B-89E85549AAA9}"/>
              </a:ext>
            </a:extLst>
          </p:cNvPr>
          <p:cNvSpPr/>
          <p:nvPr/>
        </p:nvSpPr>
        <p:spPr>
          <a:xfrm>
            <a:off x="521760" y="305127"/>
            <a:ext cx="5049481" cy="380675"/>
          </a:xfrm>
          <a:prstGeom prst="rect">
            <a:avLst/>
          </a:prstGeom>
          <a:noFill/>
          <a:ln/>
        </p:spPr>
        <p:txBody>
          <a:bodyPr wrap="square" lIns="0" tIns="0" rIns="0" bIns="0" rtlCol="0" anchor="t"/>
          <a:lstStyle/>
          <a:p>
            <a:pPr marL="0" marR="0" lvl="0" indent="0" algn="l" defTabSz="457200" rtl="0" eaLnBrk="1" fontAlgn="auto" latinLnBrk="0" hangingPunct="1">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ontserrat ExtraBold" pitchFamily="34" charset="-122"/>
                <a:cs typeface="Montserrat ExtraBold" pitchFamily="34" charset="-120"/>
              </a:rPr>
              <a:t>FINANCIAL TRANSACTIONS</a:t>
            </a:r>
            <a:endParaRPr kumimoji="0" lang="en-US" sz="24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3" name="Slide Number Placeholder 4">
            <a:extLst>
              <a:ext uri="{FF2B5EF4-FFF2-40B4-BE49-F238E27FC236}">
                <a16:creationId xmlns:a16="http://schemas.microsoft.com/office/drawing/2014/main" id="{0F13AD61-1CA1-DF62-011F-666D5408FCBD}"/>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065EC30-9185-4A95-ADD8-6385FABF13C0}" type="slidenum">
              <a:rPr lang="en-IN" sz="1000" smtClean="0">
                <a:solidFill>
                  <a:prstClr val="black">
                    <a:lumMod val="50000"/>
                    <a:lumOff val="50000"/>
                  </a:prstClr>
                </a:solidFill>
                <a:latin typeface="Montserrat" panose="00000500000000000000" pitchFamily="2" charset="0"/>
              </a:rPr>
              <a:pPr>
                <a:defRPr/>
              </a:pPr>
              <a:t>39</a:t>
            </a:fld>
            <a:endParaRPr lang="en-IN" sz="1000" dirty="0">
              <a:solidFill>
                <a:prstClr val="black">
                  <a:lumMod val="50000"/>
                  <a:lumOff val="50000"/>
                </a:prstClr>
              </a:solidFill>
              <a:latin typeface="Montserrat" panose="00000500000000000000" pitchFamily="2" charset="0"/>
            </a:endParaRPr>
          </a:p>
        </p:txBody>
      </p:sp>
      <p:pic>
        <p:nvPicPr>
          <p:cNvPr id="14" name="Picture 13">
            <a:extLst>
              <a:ext uri="{FF2B5EF4-FFF2-40B4-BE49-F238E27FC236}">
                <a16:creationId xmlns:a16="http://schemas.microsoft.com/office/drawing/2014/main" id="{BCB909C5-4E67-5870-3714-47A083559299}"/>
              </a:ext>
            </a:extLst>
          </p:cNvPr>
          <p:cNvPicPr>
            <a:picLocks noChangeAspect="1"/>
          </p:cNvPicPr>
          <p:nvPr/>
        </p:nvPicPr>
        <p:blipFill>
          <a:blip r:embed="rId5"/>
          <a:srcRect l="7154" t="47061" r="4778" b="20816"/>
          <a:stretch/>
        </p:blipFill>
        <p:spPr>
          <a:xfrm>
            <a:off x="516000" y="1531944"/>
            <a:ext cx="10737410" cy="2202981"/>
          </a:xfrm>
          <a:prstGeom prst="rect">
            <a:avLst/>
          </a:prstGeom>
        </p:spPr>
      </p:pic>
      <p:sp>
        <p:nvSpPr>
          <p:cNvPr id="7" name="Object5">
            <a:extLst>
              <a:ext uri="{FF2B5EF4-FFF2-40B4-BE49-F238E27FC236}">
                <a16:creationId xmlns:a16="http://schemas.microsoft.com/office/drawing/2014/main" id="{D4F13B40-7B09-6735-B59D-5E3BC35FB6BB}"/>
              </a:ext>
            </a:extLst>
          </p:cNvPr>
          <p:cNvSpPr/>
          <p:nvPr/>
        </p:nvSpPr>
        <p:spPr>
          <a:xfrm>
            <a:off x="515999" y="3921231"/>
            <a:ext cx="10737409" cy="2234437"/>
          </a:xfrm>
          <a:prstGeom prst="rect">
            <a:avLst/>
          </a:prstGeom>
          <a:noFill/>
          <a:ln/>
        </p:spPr>
        <p:txBody>
          <a:bodyPr wrap="square" lIns="0" tIns="0" rIns="0" bIns="0" rtlCol="0" anchor="t"/>
          <a:lstStyle/>
          <a:p>
            <a:pPr algn="l">
              <a:lnSpc>
                <a:spcPct val="150000"/>
              </a:lnSpc>
              <a:spcAft>
                <a:spcPts val="1200"/>
              </a:spcAft>
            </a:pPr>
            <a:r>
              <a:rPr lang="en-GB" sz="1600" dirty="0">
                <a:solidFill>
                  <a:srgbClr val="264161"/>
                </a:solidFill>
                <a:latin typeface="Hepta Slab Medium" pitchFamily="2" charset="0"/>
                <a:cs typeface="Hepta Slab Medium" pitchFamily="2" charset="0"/>
              </a:rPr>
              <a:t>Federal Bank presents little to negligible Physical and Time friction to its customers</a:t>
            </a:r>
          </a:p>
          <a:p>
            <a:pPr algn="l">
              <a:lnSpc>
                <a:spcPct val="150000"/>
              </a:lnSpc>
              <a:spcAft>
                <a:spcPts val="1200"/>
              </a:spcAft>
            </a:pPr>
            <a:r>
              <a:rPr lang="en-GB" sz="1600" dirty="0">
                <a:solidFill>
                  <a:srgbClr val="A9734C"/>
                </a:solidFill>
                <a:latin typeface="Hepta Slab Medium" pitchFamily="2" charset="0"/>
                <a:cs typeface="Hepta Slab Medium" pitchFamily="2" charset="0"/>
              </a:rPr>
              <a:t>Cognitive Friction experienced by the customers is attenuated largely by the personal attention from the RM teams</a:t>
            </a:r>
          </a:p>
          <a:p>
            <a:pPr algn="l">
              <a:lnSpc>
                <a:spcPct val="150000"/>
              </a:lnSpc>
              <a:spcAft>
                <a:spcPts val="1200"/>
              </a:spcAft>
            </a:pPr>
            <a:r>
              <a:rPr lang="en-GB" sz="1600" dirty="0">
                <a:solidFill>
                  <a:srgbClr val="A9734C"/>
                </a:solidFill>
                <a:latin typeface="Hepta Slab Medium" pitchFamily="2" charset="0"/>
                <a:cs typeface="Hepta Slab Medium" pitchFamily="2" charset="0"/>
              </a:rPr>
              <a:t>Customers experience high Perceived Friction in their “Premium Banking” journeys</a:t>
            </a:r>
          </a:p>
        </p:txBody>
      </p:sp>
    </p:spTree>
    <p:extLst>
      <p:ext uri="{BB962C8B-B14F-4D97-AF65-F5344CB8AC3E}">
        <p14:creationId xmlns:p14="http://schemas.microsoft.com/office/powerpoint/2010/main" val="4140466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3CE8FA-0F58-A7A7-F368-6C4113E8B36B}"/>
              </a:ext>
            </a:extLst>
          </p:cNvPr>
          <p:cNvPicPr>
            <a:picLocks noChangeAspect="1"/>
          </p:cNvPicPr>
          <p:nvPr/>
        </p:nvPicPr>
        <p:blipFill>
          <a:blip r:embed="rId2">
            <a:duotone>
              <a:prstClr val="black"/>
              <a:schemeClr val="accent1">
                <a:tint val="45000"/>
                <a:satMod val="400000"/>
              </a:schemeClr>
            </a:duotone>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Object6">
            <a:extLst>
              <a:ext uri="{FF2B5EF4-FFF2-40B4-BE49-F238E27FC236}">
                <a16:creationId xmlns:a16="http://schemas.microsoft.com/office/drawing/2014/main" id="{7FF1EF97-377A-4E2F-B4BC-0ECF24D2D3D4}"/>
              </a:ext>
            </a:extLst>
          </p:cNvPr>
          <p:cNvSpPr/>
          <p:nvPr/>
        </p:nvSpPr>
        <p:spPr>
          <a:xfrm>
            <a:off x="816000" y="2217420"/>
            <a:ext cx="11040000" cy="1937720"/>
          </a:xfrm>
          <a:prstGeom prst="rect">
            <a:avLst/>
          </a:prstGeom>
          <a:noFill/>
          <a:ln/>
        </p:spPr>
        <p:txBody>
          <a:bodyPr wrap="square" lIns="0" tIns="0" rIns="0" bIns="0" rtlCol="0" anchor="b">
            <a:noAutofit/>
          </a:bodyPr>
          <a:lstStyle/>
          <a:p>
            <a:pPr defTabSz="304815">
              <a:defRPr/>
            </a:pPr>
            <a:r>
              <a:rPr lang="en-US" sz="6400" dirty="0">
                <a:solidFill>
                  <a:prstClr val="white"/>
                </a:solidFill>
                <a:latin typeface="Hepta Slab ExtraLight" pitchFamily="2" charset="0"/>
                <a:cs typeface="Hepta Slab ExtraLight" pitchFamily="2" charset="0"/>
              </a:rPr>
              <a:t>Help me grow </a:t>
            </a:r>
            <a:br>
              <a:rPr lang="en-US" sz="6400" dirty="0">
                <a:solidFill>
                  <a:prstClr val="white"/>
                </a:solidFill>
                <a:latin typeface="Hepta Slab ExtraLight" pitchFamily="2" charset="0"/>
                <a:cs typeface="Hepta Slab ExtraLight" pitchFamily="2" charset="0"/>
              </a:rPr>
            </a:br>
            <a:r>
              <a:rPr lang="en-US" sz="6400" dirty="0">
                <a:solidFill>
                  <a:prstClr val="white"/>
                </a:solidFill>
                <a:latin typeface="Hepta Slab ExtraLight" pitchFamily="2" charset="0"/>
                <a:cs typeface="Hepta Slab ExtraLight" pitchFamily="2" charset="0"/>
              </a:rPr>
              <a:t>my money</a:t>
            </a:r>
          </a:p>
        </p:txBody>
      </p:sp>
      <p:sp>
        <p:nvSpPr>
          <p:cNvPr id="4" name="Object5">
            <a:extLst>
              <a:ext uri="{FF2B5EF4-FFF2-40B4-BE49-F238E27FC236}">
                <a16:creationId xmlns:a16="http://schemas.microsoft.com/office/drawing/2014/main" id="{606105C3-7BB7-41A4-5338-79EF59F4D43B}"/>
              </a:ext>
            </a:extLst>
          </p:cNvPr>
          <p:cNvSpPr/>
          <p:nvPr/>
        </p:nvSpPr>
        <p:spPr>
          <a:xfrm>
            <a:off x="926621" y="4629000"/>
            <a:ext cx="11760000" cy="480000"/>
          </a:xfrm>
          <a:prstGeom prst="rect">
            <a:avLst/>
          </a:prstGeom>
          <a:noFill/>
          <a:ln/>
        </p:spPr>
        <p:txBody>
          <a:bodyPr wrap="square" lIns="0" tIns="0" rIns="0" bIns="0" rtlCol="0" anchor="t"/>
          <a:lstStyle/>
          <a:p>
            <a:pPr defTabSz="304815">
              <a:lnSpc>
                <a:spcPts val="4000"/>
              </a:lnSpc>
              <a:defRPr/>
            </a:pPr>
            <a:endParaRPr lang="en-US" sz="1600" b="1" dirty="0">
              <a:solidFill>
                <a:srgbClr val="7030A0"/>
              </a:solidFill>
              <a:latin typeface="Hepta Slab SemiBold" pitchFamily="2" charset="0"/>
              <a:cs typeface="Hepta Slab SemiBold" pitchFamily="2" charset="0"/>
            </a:endParaRPr>
          </a:p>
        </p:txBody>
      </p:sp>
      <p:sp>
        <p:nvSpPr>
          <p:cNvPr id="5" name="Object5">
            <a:extLst>
              <a:ext uri="{FF2B5EF4-FFF2-40B4-BE49-F238E27FC236}">
                <a16:creationId xmlns:a16="http://schemas.microsoft.com/office/drawing/2014/main" id="{67073DFC-4E94-92C1-62BA-D80F1E108E9E}"/>
              </a:ext>
            </a:extLst>
          </p:cNvPr>
          <p:cNvSpPr/>
          <p:nvPr/>
        </p:nvSpPr>
        <p:spPr>
          <a:xfrm>
            <a:off x="936000" y="5349000"/>
            <a:ext cx="9590621" cy="480000"/>
          </a:xfrm>
          <a:prstGeom prst="rect">
            <a:avLst/>
          </a:prstGeom>
          <a:noFill/>
          <a:ln/>
        </p:spPr>
        <p:txBody>
          <a:bodyPr wrap="square" lIns="0" tIns="0" rIns="0" bIns="0" rtlCol="0" anchor="t"/>
          <a:lstStyle/>
          <a:p>
            <a:pPr defTabSz="304815">
              <a:lnSpc>
                <a:spcPts val="4000"/>
              </a:lnSpc>
              <a:defRPr/>
            </a:pPr>
            <a:endParaRPr lang="en-US" sz="1600" b="1" dirty="0">
              <a:solidFill>
                <a:srgbClr val="7030A0"/>
              </a:solidFill>
              <a:latin typeface="Hepta Slab SemiBold" pitchFamily="2" charset="0"/>
              <a:cs typeface="Hepta Slab SemiBold" pitchFamily="2" charset="0"/>
            </a:endParaRPr>
          </a:p>
        </p:txBody>
      </p:sp>
      <p:sp>
        <p:nvSpPr>
          <p:cNvPr id="7" name="Object5">
            <a:extLst>
              <a:ext uri="{FF2B5EF4-FFF2-40B4-BE49-F238E27FC236}">
                <a16:creationId xmlns:a16="http://schemas.microsoft.com/office/drawing/2014/main" id="{778B1278-323C-A18C-C048-021C5B08E025}"/>
              </a:ext>
            </a:extLst>
          </p:cNvPr>
          <p:cNvSpPr/>
          <p:nvPr/>
        </p:nvSpPr>
        <p:spPr>
          <a:xfrm>
            <a:off x="816000" y="5199000"/>
            <a:ext cx="10320000" cy="480000"/>
          </a:xfrm>
          <a:prstGeom prst="rect">
            <a:avLst/>
          </a:prstGeom>
          <a:noFill/>
          <a:ln/>
        </p:spPr>
        <p:txBody>
          <a:bodyPr wrap="square" lIns="0" tIns="0" rIns="0" bIns="0" rtlCol="0" anchor="t"/>
          <a:lstStyle/>
          <a:p>
            <a:pPr defTabSz="304815">
              <a:lnSpc>
                <a:spcPts val="4000"/>
              </a:lnSpc>
              <a:defRPr/>
            </a:pPr>
            <a:r>
              <a:rPr lang="en-US" sz="2133" b="1" cap="small" dirty="0">
                <a:solidFill>
                  <a:prstClr val="white"/>
                </a:solidFill>
                <a:latin typeface="Hepta Slab SemiBold" pitchFamily="2" charset="0"/>
                <a:cs typeface="Hepta Slab SemiBold" pitchFamily="2" charset="0"/>
              </a:rPr>
              <a:t>contextual</a:t>
            </a:r>
            <a:r>
              <a:rPr lang="en-US" sz="4000" cap="small" dirty="0">
                <a:solidFill>
                  <a:prstClr val="white"/>
                </a:solidFill>
                <a:latin typeface="Hepta Slab SemiBold" pitchFamily="2" charset="0"/>
                <a:ea typeface="Hepta Slab Regular" pitchFamily="34" charset="-122"/>
                <a:cs typeface="Hepta Slab SemiBold" pitchFamily="2" charset="0"/>
              </a:rPr>
              <a:t> .</a:t>
            </a:r>
            <a:r>
              <a:rPr lang="en-US" sz="2133" b="1" cap="small" dirty="0">
                <a:solidFill>
                  <a:prstClr val="white"/>
                </a:solidFill>
                <a:latin typeface="Hepta Slab SemiBold" pitchFamily="2" charset="0"/>
                <a:cs typeface="Hepta Slab SemiBold" pitchFamily="2" charset="0"/>
              </a:rPr>
              <a:t> consistent </a:t>
            </a:r>
            <a:r>
              <a:rPr lang="en-US" sz="4000" cap="small" dirty="0">
                <a:solidFill>
                  <a:prstClr val="white"/>
                </a:solidFill>
                <a:latin typeface="Hepta Slab SemiBold" pitchFamily="2" charset="0"/>
                <a:ea typeface="Hepta Slab Regular" pitchFamily="34" charset="-122"/>
                <a:cs typeface="Hepta Slab SemiBold" pitchFamily="2" charset="0"/>
              </a:rPr>
              <a:t>.</a:t>
            </a:r>
            <a:r>
              <a:rPr lang="en-US" sz="2133" b="1" cap="small" dirty="0">
                <a:solidFill>
                  <a:prstClr val="white"/>
                </a:solidFill>
                <a:latin typeface="Hepta Slab SemiBold" pitchFamily="2" charset="0"/>
                <a:cs typeface="Hepta Slab SemiBold" pitchFamily="2" charset="0"/>
              </a:rPr>
              <a:t> transparent</a:t>
            </a:r>
            <a:endParaRPr lang="en-US" sz="2133" cap="small" dirty="0">
              <a:solidFill>
                <a:prstClr val="white"/>
              </a:solidFill>
              <a:latin typeface="Hepta Slab SemiBold" pitchFamily="2" charset="0"/>
              <a:cs typeface="Hepta Slab SemiBold" pitchFamily="2" charset="0"/>
            </a:endParaRPr>
          </a:p>
        </p:txBody>
      </p:sp>
      <p:grpSp>
        <p:nvGrpSpPr>
          <p:cNvPr id="8" name="Group 7">
            <a:extLst>
              <a:ext uri="{FF2B5EF4-FFF2-40B4-BE49-F238E27FC236}">
                <a16:creationId xmlns:a16="http://schemas.microsoft.com/office/drawing/2014/main" id="{E89E36F7-CD26-3290-8433-D5B9DD747A44}"/>
              </a:ext>
            </a:extLst>
          </p:cNvPr>
          <p:cNvGrpSpPr/>
          <p:nvPr/>
        </p:nvGrpSpPr>
        <p:grpSpPr>
          <a:xfrm>
            <a:off x="1" y="6042107"/>
            <a:ext cx="11864037" cy="911852"/>
            <a:chOff x="579560" y="9184073"/>
            <a:chExt cx="18133625" cy="1393723"/>
          </a:xfrm>
        </p:grpSpPr>
        <p:sp>
          <p:nvSpPr>
            <p:cNvPr id="9" name="Title 1">
              <a:extLst>
                <a:ext uri="{FF2B5EF4-FFF2-40B4-BE49-F238E27FC236}">
                  <a16:creationId xmlns:a16="http://schemas.microsoft.com/office/drawing/2014/main" id="{0C015E2C-13CB-3F93-46F3-0E07112242A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0" name="Picture 9">
              <a:extLst>
                <a:ext uri="{FF2B5EF4-FFF2-40B4-BE49-F238E27FC236}">
                  <a16:creationId xmlns:a16="http://schemas.microsoft.com/office/drawing/2014/main" id="{9D8CC953-431B-A01A-9F54-A42561A30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1" name="Picture 10">
              <a:extLst>
                <a:ext uri="{FF2B5EF4-FFF2-40B4-BE49-F238E27FC236}">
                  <a16:creationId xmlns:a16="http://schemas.microsoft.com/office/drawing/2014/main" id="{CC9EB4BE-F705-3C55-D6BB-CC016022A8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3" name="Object5">
            <a:extLst>
              <a:ext uri="{FF2B5EF4-FFF2-40B4-BE49-F238E27FC236}">
                <a16:creationId xmlns:a16="http://schemas.microsoft.com/office/drawing/2014/main" id="{FC76699F-92AF-5D5A-82F9-B120ADB81AFE}"/>
              </a:ext>
            </a:extLst>
          </p:cNvPr>
          <p:cNvSpPr/>
          <p:nvPr/>
        </p:nvSpPr>
        <p:spPr>
          <a:xfrm>
            <a:off x="816000" y="624899"/>
            <a:ext cx="7441880" cy="1124101"/>
          </a:xfrm>
          <a:prstGeom prst="rect">
            <a:avLst/>
          </a:prstGeom>
          <a:noFill/>
          <a:ln/>
          <a:effectLst>
            <a:softEdge rad="63500"/>
          </a:effectLst>
        </p:spPr>
        <p:txBody>
          <a:bodyPr wrap="square" lIns="0" tIns="0" rIns="0" bIns="0" rtlCol="0" anchor="t"/>
          <a:lstStyle/>
          <a:p>
            <a:pPr defTabSz="304815">
              <a:lnSpc>
                <a:spcPts val="4000"/>
              </a:lnSpc>
              <a:defRPr/>
            </a:pPr>
            <a:r>
              <a:rPr lang="en-US" sz="2500" cap="small" dirty="0">
                <a:solidFill>
                  <a:srgbClr val="E8A30B"/>
                </a:solidFill>
                <a:latin typeface="Montserrat ExtraBold" panose="00000900000000000000" pitchFamily="2" charset="0"/>
                <a:ea typeface="Hepta Slab Regular" pitchFamily="34" charset="-122"/>
                <a:cs typeface="Hepta Slab SemiBold" pitchFamily="2" charset="0"/>
              </a:rPr>
              <a:t>CELESTA </a:t>
            </a:r>
          </a:p>
          <a:p>
            <a:pPr defTabSz="304815">
              <a:lnSpc>
                <a:spcPts val="4000"/>
              </a:lnSpc>
              <a:defRPr/>
            </a:pPr>
            <a:r>
              <a:rPr lang="en-US" sz="2500" cap="small" dirty="0">
                <a:solidFill>
                  <a:srgbClr val="E8A30B"/>
                </a:solidFill>
                <a:latin typeface="Montserrat ExtraBold" panose="00000900000000000000" pitchFamily="2" charset="0"/>
                <a:ea typeface="Hepta Slab Regular" pitchFamily="34" charset="-122"/>
                <a:cs typeface="Hepta Slab SemiBold" pitchFamily="2" charset="0"/>
              </a:rPr>
              <a:t>CURRENT CUSTOMER : GROWING NEEDS</a:t>
            </a:r>
            <a:endParaRPr lang="en-US" sz="2500" cap="small" dirty="0">
              <a:solidFill>
                <a:srgbClr val="E8A30B"/>
              </a:solidFill>
              <a:latin typeface="Montserrat ExtraBold" panose="00000900000000000000" pitchFamily="2" charset="0"/>
              <a:cs typeface="Hepta Slab SemiBold" pitchFamily="2" charset="0"/>
            </a:endParaRPr>
          </a:p>
        </p:txBody>
      </p:sp>
      <p:pic>
        <p:nvPicPr>
          <p:cNvPr id="12" name="Picture 11">
            <a:extLst>
              <a:ext uri="{FF2B5EF4-FFF2-40B4-BE49-F238E27FC236}">
                <a16:creationId xmlns:a16="http://schemas.microsoft.com/office/drawing/2014/main" id="{C6A5C3CA-F349-9CBD-728B-060801D5B178}"/>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Tree>
    <p:extLst>
      <p:ext uri="{BB962C8B-B14F-4D97-AF65-F5344CB8AC3E}">
        <p14:creationId xmlns:p14="http://schemas.microsoft.com/office/powerpoint/2010/main" val="2480844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099912FD-CE45-FF00-7C56-749DE69A579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7940D24-D1FF-4407-FE51-BC0156F98B0B}"/>
              </a:ext>
            </a:extLst>
          </p:cNvPr>
          <p:cNvGrpSpPr/>
          <p:nvPr/>
        </p:nvGrpSpPr>
        <p:grpSpPr>
          <a:xfrm>
            <a:off x="-61290" y="6053155"/>
            <a:ext cx="12253290" cy="971832"/>
            <a:chOff x="-187799" y="8336784"/>
            <a:chExt cx="18379935" cy="1457748"/>
          </a:xfrm>
        </p:grpSpPr>
        <p:pic>
          <p:nvPicPr>
            <p:cNvPr id="13" name="Picture 12">
              <a:extLst>
                <a:ext uri="{FF2B5EF4-FFF2-40B4-BE49-F238E27FC236}">
                  <a16:creationId xmlns:a16="http://schemas.microsoft.com/office/drawing/2014/main" id="{CD5AD86D-F536-9AB2-F536-0E66E57784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4" name="Title 1">
              <a:extLst>
                <a:ext uri="{FF2B5EF4-FFF2-40B4-BE49-F238E27FC236}">
                  <a16:creationId xmlns:a16="http://schemas.microsoft.com/office/drawing/2014/main" id="{D8A37D25-E079-3D8B-3A48-C6A3F68335DD}"/>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solidFill>
                  <a:effectLst/>
                  <a:uLnTx/>
                  <a:uFillTx/>
                  <a:latin typeface="Montserrat Medium" pitchFamily="2" charset="0"/>
                  <a:ea typeface="+mn-ea"/>
                  <a:cs typeface="Hepta Slab" pitchFamily="2" charset="0"/>
                </a:rPr>
                <a:t>TERRAGNI CONSULTING (P) LTD PRIVATE AND CONFIDENTIAL</a:t>
              </a:r>
            </a:p>
          </p:txBody>
        </p:sp>
        <p:pic>
          <p:nvPicPr>
            <p:cNvPr id="16" name="Picture 15">
              <a:extLst>
                <a:ext uri="{FF2B5EF4-FFF2-40B4-BE49-F238E27FC236}">
                  <a16:creationId xmlns:a16="http://schemas.microsoft.com/office/drawing/2014/main" id="{A6F98564-C220-AA7E-E406-FCE827F19E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9" name="Object5">
            <a:extLst>
              <a:ext uri="{FF2B5EF4-FFF2-40B4-BE49-F238E27FC236}">
                <a16:creationId xmlns:a16="http://schemas.microsoft.com/office/drawing/2014/main" id="{51F47ED3-956F-F234-DEEF-51074CEC36E9}"/>
              </a:ext>
            </a:extLst>
          </p:cNvPr>
          <p:cNvSpPr/>
          <p:nvPr/>
        </p:nvSpPr>
        <p:spPr>
          <a:xfrm>
            <a:off x="473867" y="2589001"/>
            <a:ext cx="4309148" cy="3206888"/>
          </a:xfrm>
          <a:prstGeom prst="rect">
            <a:avLst/>
          </a:prstGeom>
          <a:noFill/>
          <a:ln/>
        </p:spPr>
        <p:txBody>
          <a:bodyPr wrap="square" lIns="0" tIns="0" rIns="0" bIns="0" rtlCol="0" anchor="t"/>
          <a:lstStyle/>
          <a:p>
            <a:pPr marL="609630" marR="0" lvl="2" indent="0" algn="l" defTabSz="304815"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endParaRPr>
          </a:p>
        </p:txBody>
      </p:sp>
      <p:sp>
        <p:nvSpPr>
          <p:cNvPr id="12" name="TextBox 11">
            <a:extLst>
              <a:ext uri="{FF2B5EF4-FFF2-40B4-BE49-F238E27FC236}">
                <a16:creationId xmlns:a16="http://schemas.microsoft.com/office/drawing/2014/main" id="{69612459-F4EB-76D5-3A3D-239ECD7D3759}"/>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prstClr val="black"/>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41</a:t>
            </a:fld>
            <a:endParaRPr kumimoji="0" lang="en-US" sz="1333" b="0" i="0" u="none" strike="noStrike" kern="1200" cap="none" spc="0" normalizeH="0" baseline="0" noProof="0" dirty="0">
              <a:ln>
                <a:noFill/>
              </a:ln>
              <a:solidFill>
                <a:prstClr val="black"/>
              </a:solidFill>
              <a:effectLst/>
              <a:uLnTx/>
              <a:uFillTx/>
              <a:latin typeface="Hepta Slab Medium" pitchFamily="2" charset="0"/>
              <a:ea typeface="+mn-ea"/>
              <a:cs typeface="Hepta Slab Medium" pitchFamily="2" charset="0"/>
            </a:endParaRPr>
          </a:p>
        </p:txBody>
      </p:sp>
      <p:sp>
        <p:nvSpPr>
          <p:cNvPr id="6" name="Object5">
            <a:extLst>
              <a:ext uri="{FF2B5EF4-FFF2-40B4-BE49-F238E27FC236}">
                <a16:creationId xmlns:a16="http://schemas.microsoft.com/office/drawing/2014/main" id="{5A3A70B1-CCFC-29CE-44FF-CD9728C4BC59}"/>
              </a:ext>
            </a:extLst>
          </p:cNvPr>
          <p:cNvSpPr/>
          <p:nvPr/>
        </p:nvSpPr>
        <p:spPr>
          <a:xfrm>
            <a:off x="547814" y="805145"/>
            <a:ext cx="7408536" cy="371475"/>
          </a:xfrm>
          <a:prstGeom prst="rect">
            <a:avLst/>
          </a:prstGeom>
          <a:noFill/>
          <a:ln/>
        </p:spPr>
        <p:txBody>
          <a:bodyPr wrap="square" lIns="0" tIns="0" rIns="0" bIns="0" rtlCol="0" anchor="t"/>
          <a:lstStyle/>
          <a:p>
            <a:pPr>
              <a:lnSpc>
                <a:spcPts val="2925"/>
              </a:lnSpc>
              <a:defRPr/>
            </a:pPr>
            <a:r>
              <a:rPr lang="en-US" sz="2400" cap="all" dirty="0">
                <a:solidFill>
                  <a:srgbClr val="A9734C"/>
                </a:solidFill>
                <a:latin typeface="Montserrat ExtraBold" pitchFamily="34" charset="0"/>
              </a:rPr>
              <a:t>CONTEXTUAL</a:t>
            </a:r>
            <a:r>
              <a:rPr lang="en-US" sz="2400" cap="all" dirty="0">
                <a:solidFill>
                  <a:srgbClr val="002060"/>
                </a:solidFill>
                <a:latin typeface="Montserrat ExtraBold" pitchFamily="34" charset="0"/>
              </a:rPr>
              <a:t> . CONSISTENT . TRANSPARENT</a:t>
            </a:r>
          </a:p>
        </p:txBody>
      </p:sp>
      <p:sp>
        <p:nvSpPr>
          <p:cNvPr id="7" name="Object6">
            <a:extLst>
              <a:ext uri="{FF2B5EF4-FFF2-40B4-BE49-F238E27FC236}">
                <a16:creationId xmlns:a16="http://schemas.microsoft.com/office/drawing/2014/main" id="{4B61CF4A-8652-652D-AC35-F2376D2EDE43}"/>
              </a:ext>
            </a:extLst>
          </p:cNvPr>
          <p:cNvSpPr/>
          <p:nvPr/>
        </p:nvSpPr>
        <p:spPr>
          <a:xfrm>
            <a:off x="547813" y="484254"/>
            <a:ext cx="5156160" cy="320891"/>
          </a:xfrm>
          <a:prstGeom prst="rect">
            <a:avLst/>
          </a:prstGeom>
          <a:noFill/>
          <a:ln/>
        </p:spPr>
        <p:txBody>
          <a:bodyPr wrap="square" lIns="0" tIns="0" rIns="0" bIns="0" rtlCol="0" anchor="t"/>
          <a:lstStyle/>
          <a:p>
            <a:pPr defTabSz="457200">
              <a:lnSpc>
                <a:spcPts val="2925"/>
              </a:lnSpc>
              <a:defRPr/>
            </a:pPr>
            <a:r>
              <a:rPr lang="en-US" sz="2400" cap="all" dirty="0">
                <a:solidFill>
                  <a:srgbClr val="002060"/>
                </a:solidFill>
                <a:latin typeface="Montserrat ExtraBold" pitchFamily="34" charset="0"/>
              </a:rPr>
              <a:t>HELP ME GROW MY MONEY</a:t>
            </a:r>
          </a:p>
        </p:txBody>
      </p:sp>
      <p:sp>
        <p:nvSpPr>
          <p:cNvPr id="8" name="Object5">
            <a:extLst>
              <a:ext uri="{FF2B5EF4-FFF2-40B4-BE49-F238E27FC236}">
                <a16:creationId xmlns:a16="http://schemas.microsoft.com/office/drawing/2014/main" id="{B0423389-4657-800D-106E-DA6AE07641D9}"/>
              </a:ext>
            </a:extLst>
          </p:cNvPr>
          <p:cNvSpPr/>
          <p:nvPr/>
        </p:nvSpPr>
        <p:spPr>
          <a:xfrm>
            <a:off x="516000" y="1651952"/>
            <a:ext cx="11201867" cy="2793048"/>
          </a:xfrm>
          <a:prstGeom prst="rect">
            <a:avLst/>
          </a:prstGeom>
          <a:noFill/>
          <a:ln/>
        </p:spPr>
        <p:txBody>
          <a:bodyPr wrap="square" lIns="0" tIns="0" rIns="0" bIns="0" rtlCol="0" anchor="t"/>
          <a:lstStyle/>
          <a:p>
            <a:pPr>
              <a:lnSpc>
                <a:spcPct val="150000"/>
              </a:lnSpc>
              <a:spcAft>
                <a:spcPts val="1200"/>
              </a:spcAft>
            </a:pPr>
            <a:r>
              <a:rPr lang="en-US" sz="1600" dirty="0">
                <a:solidFill>
                  <a:srgbClr val="A9734C"/>
                </a:solidFill>
                <a:latin typeface="Hepta Slab Medium" pitchFamily="2" charset="0"/>
                <a:ea typeface="Hepta Slab Regular" pitchFamily="34" charset="-122"/>
                <a:cs typeface="Hepta Slab Medium" pitchFamily="2" charset="0"/>
              </a:rPr>
              <a:t>Celesta respondents do not perceive Celesta to be an option for their wealth management &amp; investment planning requirements</a:t>
            </a:r>
          </a:p>
          <a:p>
            <a:pPr>
              <a:lnSpc>
                <a:spcPct val="150000"/>
              </a:lnSpc>
              <a:spcAft>
                <a:spcPts val="1200"/>
              </a:spcAft>
            </a:pPr>
            <a:r>
              <a:rPr lang="en-US" sz="1600" dirty="0">
                <a:solidFill>
                  <a:srgbClr val="A9734C"/>
                </a:solidFill>
                <a:latin typeface="Hepta Slab Medium" pitchFamily="2" charset="0"/>
                <a:ea typeface="Hepta Slab Regular" pitchFamily="34" charset="-122"/>
                <a:cs typeface="Hepta Slab Medium" pitchFamily="2" charset="0"/>
              </a:rPr>
              <a:t>Lack of options, advice that is not aligned to their context &amp; goals drives a high sense of friction when engaging with the premium banking features</a:t>
            </a:r>
          </a:p>
          <a:p>
            <a:pPr>
              <a:lnSpc>
                <a:spcPct val="150000"/>
              </a:lnSpc>
              <a:spcAft>
                <a:spcPts val="1200"/>
              </a:spcAft>
            </a:pPr>
            <a:r>
              <a:rPr lang="en-US" sz="1600" dirty="0">
                <a:solidFill>
                  <a:srgbClr val="A9734C"/>
                </a:solidFill>
                <a:latin typeface="Hepta Slab Medium" pitchFamily="2" charset="0"/>
                <a:ea typeface="Hepta Slab Regular" pitchFamily="34" charset="-122"/>
                <a:cs typeface="Hepta Slab Medium" pitchFamily="2" charset="0"/>
              </a:rPr>
              <a:t>Having to engage with a 3</a:t>
            </a:r>
            <a:r>
              <a:rPr lang="en-US" sz="1600" baseline="30000" dirty="0">
                <a:solidFill>
                  <a:srgbClr val="A9734C"/>
                </a:solidFill>
                <a:latin typeface="Hepta Slab Medium" pitchFamily="2" charset="0"/>
                <a:ea typeface="Hepta Slab Regular" pitchFamily="34" charset="-122"/>
                <a:cs typeface="Hepta Slab Medium" pitchFamily="2" charset="0"/>
              </a:rPr>
              <a:t>rd</a:t>
            </a:r>
            <a:r>
              <a:rPr lang="en-US" sz="1600" dirty="0">
                <a:solidFill>
                  <a:srgbClr val="A9734C"/>
                </a:solidFill>
                <a:latin typeface="Hepta Slab Medium" pitchFamily="2" charset="0"/>
                <a:ea typeface="Hepta Slab Regular" pitchFamily="34" charset="-122"/>
                <a:cs typeface="Hepta Slab Medium" pitchFamily="2" charset="0"/>
              </a:rPr>
              <a:t> party (Equirus) adds to the perception of friction</a:t>
            </a:r>
          </a:p>
          <a:p>
            <a:pPr>
              <a:lnSpc>
                <a:spcPct val="150000"/>
              </a:lnSpc>
            </a:pPr>
            <a:r>
              <a:rPr lang="en-US" sz="1600" dirty="0">
                <a:solidFill>
                  <a:srgbClr val="A9734C"/>
                </a:solidFill>
                <a:latin typeface="Hepta Slab Medium" pitchFamily="2" charset="0"/>
                <a:ea typeface="Hepta Slab Regular" pitchFamily="34" charset="-122"/>
                <a:cs typeface="Hepta Slab Medium" pitchFamily="2" charset="0"/>
              </a:rPr>
              <a:t>Consequently, Celesta is perceived to fall short on investment advisory and wealth management features.</a:t>
            </a:r>
          </a:p>
          <a:p>
            <a:pPr marL="609630" marR="0" lvl="2" indent="0" algn="l" defTabSz="304815"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endParaRPr>
          </a:p>
        </p:txBody>
      </p:sp>
      <p:sp>
        <p:nvSpPr>
          <p:cNvPr id="9" name="Object6">
            <a:extLst>
              <a:ext uri="{FF2B5EF4-FFF2-40B4-BE49-F238E27FC236}">
                <a16:creationId xmlns:a16="http://schemas.microsoft.com/office/drawing/2014/main" id="{39370A64-183D-EDA9-8E0B-2B936D502BAE}"/>
              </a:ext>
            </a:extLst>
          </p:cNvPr>
          <p:cNvSpPr/>
          <p:nvPr/>
        </p:nvSpPr>
        <p:spPr>
          <a:xfrm>
            <a:off x="516000" y="1280477"/>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2060"/>
                </a:solidFill>
                <a:effectLst/>
                <a:uLnTx/>
                <a:uFillTx/>
                <a:latin typeface="Montserrat ExtraBold" pitchFamily="34" charset="0"/>
                <a:ea typeface="+mn-ea"/>
                <a:cs typeface="+mn-cs"/>
              </a:rPr>
              <a:t>IN A NUTSHELL</a:t>
            </a:r>
            <a:endParaRPr kumimoji="0" lang="en-US" sz="16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0111439C-E232-FFC9-B8E6-BEB10CA0E41B}"/>
              </a:ext>
            </a:extLst>
          </p:cNvPr>
          <p:cNvSpPr txBox="1"/>
          <p:nvPr/>
        </p:nvSpPr>
        <p:spPr>
          <a:xfrm>
            <a:off x="6905625" y="310798"/>
            <a:ext cx="4296369"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Contextual alignment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2258605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0AF287C0-D4E6-E7A8-5DA5-0E3606A39CF0}"/>
            </a:ext>
          </a:extLst>
        </p:cNvPr>
        <p:cNvGrpSpPr/>
        <p:nvPr/>
      </p:nvGrpSpPr>
      <p:grpSpPr>
        <a:xfrm>
          <a:off x="0" y="0"/>
          <a:ext cx="0" cy="0"/>
          <a:chOff x="0" y="0"/>
          <a:chExt cx="0" cy="0"/>
        </a:xfrm>
      </p:grpSpPr>
      <p:sp>
        <p:nvSpPr>
          <p:cNvPr id="11" name="Object5">
            <a:extLst>
              <a:ext uri="{FF2B5EF4-FFF2-40B4-BE49-F238E27FC236}">
                <a16:creationId xmlns:a16="http://schemas.microsoft.com/office/drawing/2014/main" id="{33FC4566-0799-87EC-7381-553CF844F73D}"/>
              </a:ext>
            </a:extLst>
          </p:cNvPr>
          <p:cNvSpPr/>
          <p:nvPr/>
        </p:nvSpPr>
        <p:spPr>
          <a:xfrm>
            <a:off x="1716214" y="757601"/>
            <a:ext cx="7408536" cy="371475"/>
          </a:xfrm>
          <a:prstGeom prst="rect">
            <a:avLst/>
          </a:prstGeom>
          <a:noFill/>
          <a:ln/>
        </p:spPr>
        <p:txBody>
          <a:bodyPr wrap="square" lIns="0" tIns="0" rIns="0" bIns="0" rtlCol="0" anchor="t"/>
          <a:lstStyle/>
          <a:p>
            <a:pPr>
              <a:lnSpc>
                <a:spcPts val="2925"/>
              </a:lnSpc>
              <a:defRPr/>
            </a:pPr>
            <a:r>
              <a:rPr lang="en-US" sz="2400" cap="all" dirty="0">
                <a:solidFill>
                  <a:srgbClr val="A9734C"/>
                </a:solidFill>
                <a:latin typeface="Montserrat ExtraBold" pitchFamily="34" charset="0"/>
              </a:rPr>
              <a:t>CONTEXTUAL</a:t>
            </a:r>
            <a:r>
              <a:rPr lang="en-US" sz="2400" cap="all" dirty="0">
                <a:solidFill>
                  <a:srgbClr val="002060"/>
                </a:solidFill>
                <a:latin typeface="Montserrat ExtraBold" pitchFamily="34" charset="0"/>
              </a:rPr>
              <a:t> . CONSISTENT . TRANSPARENT</a:t>
            </a:r>
          </a:p>
        </p:txBody>
      </p:sp>
      <p:sp>
        <p:nvSpPr>
          <p:cNvPr id="12" name="Object6">
            <a:extLst>
              <a:ext uri="{FF2B5EF4-FFF2-40B4-BE49-F238E27FC236}">
                <a16:creationId xmlns:a16="http://schemas.microsoft.com/office/drawing/2014/main" id="{14BF287C-958B-77A6-E619-0A3346D4ADBE}"/>
              </a:ext>
            </a:extLst>
          </p:cNvPr>
          <p:cNvSpPr/>
          <p:nvPr/>
        </p:nvSpPr>
        <p:spPr>
          <a:xfrm>
            <a:off x="1716213" y="436710"/>
            <a:ext cx="5156160" cy="320891"/>
          </a:xfrm>
          <a:prstGeom prst="rect">
            <a:avLst/>
          </a:prstGeom>
          <a:noFill/>
          <a:ln/>
        </p:spPr>
        <p:txBody>
          <a:bodyPr wrap="square" lIns="0" tIns="0" rIns="0" bIns="0" rtlCol="0" anchor="t"/>
          <a:lstStyle/>
          <a:p>
            <a:pPr defTabSz="457200">
              <a:lnSpc>
                <a:spcPts val="2925"/>
              </a:lnSpc>
              <a:defRPr/>
            </a:pPr>
            <a:r>
              <a:rPr lang="en-US" sz="2400" cap="all" dirty="0">
                <a:solidFill>
                  <a:srgbClr val="002060"/>
                </a:solidFill>
                <a:latin typeface="Montserrat ExtraBold" pitchFamily="34" charset="0"/>
              </a:rPr>
              <a:t>HELP ME GROW MY MONEY</a:t>
            </a:r>
          </a:p>
        </p:txBody>
      </p:sp>
      <p:sp>
        <p:nvSpPr>
          <p:cNvPr id="14" name="Object6">
            <a:extLst>
              <a:ext uri="{FF2B5EF4-FFF2-40B4-BE49-F238E27FC236}">
                <a16:creationId xmlns:a16="http://schemas.microsoft.com/office/drawing/2014/main" id="{86C99C5C-FAC7-8EC8-90F9-A1141B214E0A}"/>
              </a:ext>
            </a:extLst>
          </p:cNvPr>
          <p:cNvSpPr/>
          <p:nvPr/>
        </p:nvSpPr>
        <p:spPr>
          <a:xfrm>
            <a:off x="759690" y="1659737"/>
            <a:ext cx="6056373" cy="371475"/>
          </a:xfrm>
          <a:prstGeom prst="rect">
            <a:avLst/>
          </a:prstGeom>
          <a:noFill/>
          <a:ln/>
        </p:spPr>
        <p:txBody>
          <a:bodyPr wrap="square" lIns="0" tIns="0" rIns="0" bIns="0" rtlCol="0" anchor="t"/>
          <a:lstStyle/>
          <a:p>
            <a:pPr defTabSz="304815">
              <a:lnSpc>
                <a:spcPts val="2925"/>
              </a:lnSpc>
            </a:pPr>
            <a:r>
              <a:rPr lang="en-US" sz="1600" cap="all" dirty="0">
                <a:solidFill>
                  <a:srgbClr val="0D0D0D"/>
                </a:solidFill>
                <a:latin typeface="Montserrat ExtraBold" pitchFamily="34" charset="0"/>
              </a:rPr>
              <a:t>Emotional affinity of premium banking services</a:t>
            </a:r>
          </a:p>
        </p:txBody>
      </p:sp>
      <p:grpSp>
        <p:nvGrpSpPr>
          <p:cNvPr id="18" name="Group 17">
            <a:extLst>
              <a:ext uri="{FF2B5EF4-FFF2-40B4-BE49-F238E27FC236}">
                <a16:creationId xmlns:a16="http://schemas.microsoft.com/office/drawing/2014/main" id="{1182488F-29BD-3B25-44ED-752E6917625B}"/>
              </a:ext>
            </a:extLst>
          </p:cNvPr>
          <p:cNvGrpSpPr/>
          <p:nvPr/>
        </p:nvGrpSpPr>
        <p:grpSpPr>
          <a:xfrm>
            <a:off x="-61290" y="6053155"/>
            <a:ext cx="12253290" cy="971832"/>
            <a:chOff x="-187799" y="8336784"/>
            <a:chExt cx="18379935" cy="1457748"/>
          </a:xfrm>
        </p:grpSpPr>
        <p:pic>
          <p:nvPicPr>
            <p:cNvPr id="19" name="Picture 18">
              <a:extLst>
                <a:ext uri="{FF2B5EF4-FFF2-40B4-BE49-F238E27FC236}">
                  <a16:creationId xmlns:a16="http://schemas.microsoft.com/office/drawing/2014/main" id="{B0516A42-22A1-F465-1F04-10F26F1D19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0" name="Title 1">
              <a:extLst>
                <a:ext uri="{FF2B5EF4-FFF2-40B4-BE49-F238E27FC236}">
                  <a16:creationId xmlns:a16="http://schemas.microsoft.com/office/drawing/2014/main" id="{C626C4B2-DFF9-AD94-BA4C-F8F56B19EB3A}"/>
                </a:ext>
              </a:extLst>
            </p:cNvPr>
            <p:cNvSpPr txBox="1">
              <a:spLocks/>
            </p:cNvSpPr>
            <p:nvPr/>
          </p:nvSpPr>
          <p:spPr>
            <a:xfrm>
              <a:off x="5585952" y="9102749"/>
              <a:ext cx="6924368" cy="295208"/>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21" name="Picture 20">
              <a:extLst>
                <a:ext uri="{FF2B5EF4-FFF2-40B4-BE49-F238E27FC236}">
                  <a16:creationId xmlns:a16="http://schemas.microsoft.com/office/drawing/2014/main" id="{40B03838-44EA-BB0B-F3C7-A619CF06F4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9" name="TextBox 28">
            <a:extLst>
              <a:ext uri="{FF2B5EF4-FFF2-40B4-BE49-F238E27FC236}">
                <a16:creationId xmlns:a16="http://schemas.microsoft.com/office/drawing/2014/main" id="{DD44F018-2B23-2551-C8CC-EE2B99EE081A}"/>
              </a:ext>
            </a:extLst>
          </p:cNvPr>
          <p:cNvSpPr txBox="1"/>
          <p:nvPr/>
        </p:nvSpPr>
        <p:spPr>
          <a:xfrm>
            <a:off x="7845798" y="6529771"/>
            <a:ext cx="1611787"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pic>
        <p:nvPicPr>
          <p:cNvPr id="16" name="Picture 15" descr="A blue brain with a blue background&#10;&#10;Description automatically generated">
            <a:extLst>
              <a:ext uri="{FF2B5EF4-FFF2-40B4-BE49-F238E27FC236}">
                <a16:creationId xmlns:a16="http://schemas.microsoft.com/office/drawing/2014/main" id="{2DE8E4E1-D864-76BF-2300-3F5E98E23C90}"/>
              </a:ext>
            </a:extLst>
          </p:cNvPr>
          <p:cNvPicPr>
            <a:picLocks noChangeAspect="1"/>
          </p:cNvPicPr>
          <p:nvPr/>
        </p:nvPicPr>
        <p:blipFill>
          <a:blip r:embed="rId5" cstate="print">
            <a:extLst>
              <a:ext uri="{28A0092B-C50C-407E-A947-70E740481C1C}">
                <a14:useLocalDpi xmlns:a14="http://schemas.microsoft.com/office/drawing/2010/main" val="0"/>
              </a:ext>
            </a:extLst>
          </a:blip>
          <a:srcRect l="24683" r="24684"/>
          <a:stretch/>
        </p:blipFill>
        <p:spPr>
          <a:xfrm>
            <a:off x="457200" y="365124"/>
            <a:ext cx="914402" cy="8458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Slide Number Placeholder 4">
            <a:extLst>
              <a:ext uri="{FF2B5EF4-FFF2-40B4-BE49-F238E27FC236}">
                <a16:creationId xmlns:a16="http://schemas.microsoft.com/office/drawing/2014/main" id="{2FAC108E-EBBC-AA1A-F463-E2F16EE116A7}"/>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065EC30-9185-4A95-ADD8-6385FABF13C0}" type="slidenum">
              <a:rPr lang="en-IN" sz="1000" smtClean="0">
                <a:solidFill>
                  <a:prstClr val="black">
                    <a:lumMod val="50000"/>
                    <a:lumOff val="50000"/>
                  </a:prstClr>
                </a:solidFill>
                <a:latin typeface="Montserrat" panose="00000500000000000000" pitchFamily="2" charset="0"/>
              </a:rPr>
              <a:pPr>
                <a:defRPr/>
              </a:pPr>
              <a:t>42</a:t>
            </a:fld>
            <a:endParaRPr lang="en-IN" sz="1000" dirty="0">
              <a:solidFill>
                <a:prstClr val="black">
                  <a:lumMod val="50000"/>
                  <a:lumOff val="50000"/>
                </a:prstClr>
              </a:solidFill>
              <a:latin typeface="Montserrat" panose="00000500000000000000" pitchFamily="2" charset="0"/>
            </a:endParaRPr>
          </a:p>
        </p:txBody>
      </p:sp>
      <p:sp>
        <p:nvSpPr>
          <p:cNvPr id="3" name="TextBox 2">
            <a:extLst>
              <a:ext uri="{FF2B5EF4-FFF2-40B4-BE49-F238E27FC236}">
                <a16:creationId xmlns:a16="http://schemas.microsoft.com/office/drawing/2014/main" id="{762B09B5-6E90-353C-5304-05AA2FB8265E}"/>
              </a:ext>
            </a:extLst>
          </p:cNvPr>
          <p:cNvSpPr txBox="1"/>
          <p:nvPr/>
        </p:nvSpPr>
        <p:spPr>
          <a:xfrm>
            <a:off x="6905625" y="310798"/>
            <a:ext cx="4296369"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Contextual alignment is an opportunity area</a:t>
            </a:r>
            <a:endParaRPr lang="en-IN" sz="1400" dirty="0">
              <a:solidFill>
                <a:srgbClr val="A9734C"/>
              </a:solidFill>
              <a:latin typeface="Montserrat SemiBold" panose="00000700000000000000" pitchFamily="2" charset="0"/>
            </a:endParaRPr>
          </a:p>
        </p:txBody>
      </p:sp>
      <p:sp>
        <p:nvSpPr>
          <p:cNvPr id="4" name="TextBox 3">
            <a:extLst>
              <a:ext uri="{FF2B5EF4-FFF2-40B4-BE49-F238E27FC236}">
                <a16:creationId xmlns:a16="http://schemas.microsoft.com/office/drawing/2014/main" id="{9ABBD18E-B535-B8A8-8E1E-0E05F346D115}"/>
              </a:ext>
            </a:extLst>
          </p:cNvPr>
          <p:cNvSpPr txBox="1"/>
          <p:nvPr/>
        </p:nvSpPr>
        <p:spPr>
          <a:xfrm>
            <a:off x="644549" y="2048226"/>
            <a:ext cx="9623401" cy="2791020"/>
          </a:xfrm>
          <a:prstGeom prst="rect">
            <a:avLst/>
          </a:prstGeom>
          <a:noFill/>
        </p:spPr>
        <p:txBody>
          <a:bodyPr wrap="square" rtlCol="0">
            <a:spAutoFit/>
          </a:bodyPr>
          <a:lstStyle/>
          <a:p>
            <a:pPr>
              <a:lnSpc>
                <a:spcPct val="150000"/>
              </a:lnSpc>
            </a:pPr>
            <a:r>
              <a:rPr lang="en-US" sz="1600" dirty="0">
                <a:solidFill>
                  <a:srgbClr val="264161"/>
                </a:solidFill>
                <a:latin typeface="Hepta Slab Medium" pitchFamily="2" charset="0"/>
                <a:cs typeface="Hepta Slab Medium" pitchFamily="2" charset="0"/>
              </a:rPr>
              <a:t>For the current Celesta customer base </a:t>
            </a:r>
            <a:r>
              <a:rPr lang="en-US" sz="1600" dirty="0">
                <a:solidFill>
                  <a:srgbClr val="264161"/>
                </a:solidFill>
                <a:latin typeface="Hepta Slab SemiBold" pitchFamily="2" charset="0"/>
                <a:cs typeface="Hepta Slab SemiBold" pitchFamily="2" charset="0"/>
              </a:rPr>
              <a:t>most salient features</a:t>
            </a:r>
            <a:r>
              <a:rPr lang="en-US" sz="1600" dirty="0">
                <a:solidFill>
                  <a:srgbClr val="264161"/>
                </a:solidFill>
                <a:latin typeface="Hepta Slab Medium" pitchFamily="2" charset="0"/>
                <a:cs typeface="Hepta Slab Medium" pitchFamily="2" charset="0"/>
              </a:rPr>
              <a:t>, of a premium banking features are : </a:t>
            </a:r>
          </a:p>
          <a:p>
            <a:pPr>
              <a:lnSpc>
                <a:spcPct val="150000"/>
              </a:lnSpc>
            </a:pPr>
            <a:r>
              <a:rPr lang="en-IN" sz="1600" dirty="0">
                <a:solidFill>
                  <a:srgbClr val="264161"/>
                </a:solidFill>
                <a:latin typeface="Hepta Slab Medium" pitchFamily="2" charset="0"/>
                <a:cs typeface="Hepta Slab Medium" pitchFamily="2" charset="0"/>
              </a:rPr>
              <a:t>Reduced transaction fees, Investment wealth advisory</a:t>
            </a:r>
          </a:p>
          <a:p>
            <a:pPr>
              <a:lnSpc>
                <a:spcPct val="150000"/>
              </a:lnSpc>
            </a:pPr>
            <a:endParaRPr lang="en-IN" sz="1600" dirty="0">
              <a:solidFill>
                <a:srgbClr val="264161"/>
              </a:solidFill>
              <a:latin typeface="Hepta Slab Medium" pitchFamily="2" charset="0"/>
              <a:cs typeface="Hepta Slab Medium" pitchFamily="2" charset="0"/>
            </a:endParaRPr>
          </a:p>
          <a:p>
            <a:pPr>
              <a:lnSpc>
                <a:spcPct val="150000"/>
              </a:lnSpc>
              <a:spcAft>
                <a:spcPts val="1200"/>
              </a:spcAft>
            </a:pPr>
            <a:r>
              <a:rPr lang="en-IN" sz="1600" dirty="0">
                <a:solidFill>
                  <a:srgbClr val="A9734C"/>
                </a:solidFill>
                <a:latin typeface="Hepta Slab Medium" pitchFamily="2" charset="0"/>
                <a:cs typeface="Hepta Slab Medium" pitchFamily="2" charset="0"/>
              </a:rPr>
              <a:t>On the other hand, Current account servicing, Doorstep banking, Foreign Exchange has the </a:t>
            </a:r>
            <a:r>
              <a:rPr lang="en-IN" sz="1600" dirty="0">
                <a:solidFill>
                  <a:srgbClr val="A9734C"/>
                </a:solidFill>
                <a:latin typeface="Hepta Slab SemiBold" pitchFamily="2" charset="0"/>
                <a:cs typeface="Hepta Slab SemiBold" pitchFamily="2" charset="0"/>
              </a:rPr>
              <a:t>weakest salience</a:t>
            </a:r>
          </a:p>
          <a:p>
            <a:pPr>
              <a:lnSpc>
                <a:spcPct val="150000"/>
              </a:lnSpc>
            </a:pPr>
            <a:r>
              <a:rPr lang="en-IN" sz="1600" dirty="0">
                <a:solidFill>
                  <a:srgbClr val="264161"/>
                </a:solidFill>
                <a:latin typeface="Hepta Slab Medium" pitchFamily="2" charset="0"/>
                <a:cs typeface="Hepta Slab Medium" pitchFamily="2" charset="0"/>
              </a:rPr>
              <a:t>For salience strength tables please see slide &lt;&lt;&gt;&gt; in annexures</a:t>
            </a:r>
          </a:p>
        </p:txBody>
      </p:sp>
    </p:spTree>
    <p:extLst>
      <p:ext uri="{BB962C8B-B14F-4D97-AF65-F5344CB8AC3E}">
        <p14:creationId xmlns:p14="http://schemas.microsoft.com/office/powerpoint/2010/main" val="9608239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4BFAA1C9-4899-CCC1-F58B-D7973AB47D5A}"/>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AD98B6D-FF63-EA0B-823F-2BF35FAD713E}"/>
              </a:ext>
            </a:extLst>
          </p:cNvPr>
          <p:cNvGrpSpPr/>
          <p:nvPr/>
        </p:nvGrpSpPr>
        <p:grpSpPr>
          <a:xfrm>
            <a:off x="-61290" y="6053155"/>
            <a:ext cx="12253290" cy="971832"/>
            <a:chOff x="-187799" y="8336784"/>
            <a:chExt cx="18379935" cy="1457748"/>
          </a:xfrm>
        </p:grpSpPr>
        <p:pic>
          <p:nvPicPr>
            <p:cNvPr id="11" name="Picture 10">
              <a:extLst>
                <a:ext uri="{FF2B5EF4-FFF2-40B4-BE49-F238E27FC236}">
                  <a16:creationId xmlns:a16="http://schemas.microsoft.com/office/drawing/2014/main" id="{300CF0D0-5185-705E-BCAD-79211BB89C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2" name="Title 1">
              <a:extLst>
                <a:ext uri="{FF2B5EF4-FFF2-40B4-BE49-F238E27FC236}">
                  <a16:creationId xmlns:a16="http://schemas.microsoft.com/office/drawing/2014/main" id="{CEA257BA-3267-8551-B64F-8C705F0F6FD7}"/>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3" name="Picture 12">
              <a:extLst>
                <a:ext uri="{FF2B5EF4-FFF2-40B4-BE49-F238E27FC236}">
                  <a16:creationId xmlns:a16="http://schemas.microsoft.com/office/drawing/2014/main" id="{58E55830-BD1B-2BAF-B7E7-0E93201F0C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6" name="TextBox 15">
            <a:extLst>
              <a:ext uri="{FF2B5EF4-FFF2-40B4-BE49-F238E27FC236}">
                <a16:creationId xmlns:a16="http://schemas.microsoft.com/office/drawing/2014/main" id="{F25E4192-5B64-0D30-B427-4D187D23DA16}"/>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43</a:t>
            </a:fld>
            <a:endParaRPr lang="en-US" sz="1333" dirty="0">
              <a:solidFill>
                <a:srgbClr val="0D0D0D"/>
              </a:solidFill>
              <a:latin typeface="Hepta Slab Medium" pitchFamily="2" charset="0"/>
              <a:cs typeface="Hepta Slab Medium" pitchFamily="2" charset="0"/>
            </a:endParaRPr>
          </a:p>
        </p:txBody>
      </p:sp>
      <p:sp>
        <p:nvSpPr>
          <p:cNvPr id="17" name="Object6">
            <a:extLst>
              <a:ext uri="{FF2B5EF4-FFF2-40B4-BE49-F238E27FC236}">
                <a16:creationId xmlns:a16="http://schemas.microsoft.com/office/drawing/2014/main" id="{F183DCCF-4303-47CC-842F-98C693CF3F22}"/>
              </a:ext>
            </a:extLst>
          </p:cNvPr>
          <p:cNvSpPr/>
          <p:nvPr/>
        </p:nvSpPr>
        <p:spPr>
          <a:xfrm>
            <a:off x="547813" y="1437503"/>
            <a:ext cx="5156160" cy="371475"/>
          </a:xfrm>
          <a:prstGeom prst="rect">
            <a:avLst/>
          </a:prstGeom>
          <a:noFill/>
          <a:ln/>
        </p:spPr>
        <p:txBody>
          <a:bodyPr wrap="square" lIns="0" tIns="0" rIns="0" bIns="0" rtlCol="0" anchor="t"/>
          <a:lstStyle/>
          <a:p>
            <a:pPr defTabSz="304815">
              <a:lnSpc>
                <a:spcPts val="2925"/>
              </a:lnSpc>
            </a:pPr>
            <a:r>
              <a:rPr lang="en-US" sz="1600" cap="all" dirty="0">
                <a:solidFill>
                  <a:srgbClr val="A9734C"/>
                </a:solidFill>
                <a:latin typeface="Montserrat ExtraBold" pitchFamily="34" charset="0"/>
              </a:rPr>
              <a:t>premium banking services - experience</a:t>
            </a:r>
          </a:p>
        </p:txBody>
      </p:sp>
      <p:sp>
        <p:nvSpPr>
          <p:cNvPr id="5" name="TextBox 4">
            <a:extLst>
              <a:ext uri="{FF2B5EF4-FFF2-40B4-BE49-F238E27FC236}">
                <a16:creationId xmlns:a16="http://schemas.microsoft.com/office/drawing/2014/main" id="{F375C7DE-0E8F-9A4F-48C8-8861760194AA}"/>
              </a:ext>
            </a:extLst>
          </p:cNvPr>
          <p:cNvSpPr txBox="1"/>
          <p:nvPr/>
        </p:nvSpPr>
        <p:spPr>
          <a:xfrm>
            <a:off x="8051812" y="6450594"/>
            <a:ext cx="1611787"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sp>
        <p:nvSpPr>
          <p:cNvPr id="4" name="Object5">
            <a:extLst>
              <a:ext uri="{FF2B5EF4-FFF2-40B4-BE49-F238E27FC236}">
                <a16:creationId xmlns:a16="http://schemas.microsoft.com/office/drawing/2014/main" id="{B26E42E6-F319-5A67-8A12-F7C729F50982}"/>
              </a:ext>
            </a:extLst>
          </p:cNvPr>
          <p:cNvSpPr/>
          <p:nvPr/>
        </p:nvSpPr>
        <p:spPr>
          <a:xfrm>
            <a:off x="7010400" y="1987831"/>
            <a:ext cx="4721759" cy="2482569"/>
          </a:xfrm>
          <a:prstGeom prst="rect">
            <a:avLst/>
          </a:prstGeom>
          <a:noFill/>
          <a:ln/>
        </p:spPr>
        <p:txBody>
          <a:bodyPr wrap="square" lIns="0" tIns="0" rIns="0" bIns="0" rtlCol="0" anchor="t"/>
          <a:lstStyle/>
          <a:p>
            <a:pPr>
              <a:lnSpc>
                <a:spcPct val="150000"/>
              </a:lnSpc>
              <a:spcAft>
                <a:spcPts val="1200"/>
              </a:spcAft>
            </a:pPr>
            <a:r>
              <a:rPr lang="en-US" sz="1600" dirty="0">
                <a:solidFill>
                  <a:srgbClr val="A9734C"/>
                </a:solidFill>
                <a:latin typeface="Hepta Slab Medium" pitchFamily="2" charset="0"/>
                <a:ea typeface="Hepta Slab Regular" pitchFamily="34" charset="-122"/>
                <a:cs typeface="Hepta Slab Medium" pitchFamily="2" charset="0"/>
              </a:rPr>
              <a:t>60-70% Celesta respondents have experienced premium banking services.</a:t>
            </a:r>
          </a:p>
          <a:p>
            <a:pPr>
              <a:lnSpc>
                <a:spcPct val="150000"/>
              </a:lnSpc>
              <a:spcAft>
                <a:spcPts val="1200"/>
              </a:spcAft>
            </a:pPr>
            <a:r>
              <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Of those who have experienced premium banking services, nearly 1/3rd perceive the competition to be better</a:t>
            </a:r>
            <a:endParaRPr lang="en-US" sz="1600" dirty="0">
              <a:solidFill>
                <a:srgbClr val="A9734C"/>
              </a:solidFill>
              <a:latin typeface="Hepta Slab Medium" pitchFamily="2" charset="0"/>
              <a:ea typeface="Hepta Slab Regular" pitchFamily="34" charset="-122"/>
              <a:cs typeface="Hepta Slab Medium" pitchFamily="2" charset="0"/>
            </a:endParaRPr>
          </a:p>
          <a:p>
            <a:endParaRPr lang="en-US" sz="1600" dirty="0">
              <a:solidFill>
                <a:srgbClr val="A9734C"/>
              </a:solidFill>
              <a:latin typeface="Hepta Slab Medium" pitchFamily="2" charset="0"/>
              <a:ea typeface="Hepta Slab Regular" pitchFamily="34" charset="-122"/>
              <a:cs typeface="Hepta Slab Medium" pitchFamily="2" charset="0"/>
            </a:endParaRPr>
          </a:p>
          <a:p>
            <a:r>
              <a:rPr lang="en-US" sz="1600" dirty="0">
                <a:solidFill>
                  <a:srgbClr val="A9734C"/>
                </a:solidFill>
                <a:latin typeface="Hepta Slab Medium" pitchFamily="2" charset="0"/>
                <a:ea typeface="Hepta Slab Regular" pitchFamily="34" charset="-122"/>
                <a:cs typeface="Hepta Slab Medium" pitchFamily="2" charset="0"/>
              </a:rPr>
              <a:t> </a:t>
            </a:r>
          </a:p>
          <a:p>
            <a:pPr algn="l"/>
            <a:endParaRPr lang="en-US" sz="1600" dirty="0">
              <a:solidFill>
                <a:srgbClr val="A9734C"/>
              </a:solidFill>
              <a:latin typeface="Hepta Slab Medium" pitchFamily="2" charset="0"/>
              <a:ea typeface="Hepta Slab Regular" pitchFamily="34" charset="-122"/>
              <a:cs typeface="Hepta Slab Medium" pitchFamily="2" charset="0"/>
            </a:endParaRPr>
          </a:p>
        </p:txBody>
      </p:sp>
      <p:sp>
        <p:nvSpPr>
          <p:cNvPr id="8" name="Object5">
            <a:extLst>
              <a:ext uri="{FF2B5EF4-FFF2-40B4-BE49-F238E27FC236}">
                <a16:creationId xmlns:a16="http://schemas.microsoft.com/office/drawing/2014/main" id="{8114E80F-4E3A-810D-DC64-494AFCDA481D}"/>
              </a:ext>
            </a:extLst>
          </p:cNvPr>
          <p:cNvSpPr/>
          <p:nvPr/>
        </p:nvSpPr>
        <p:spPr>
          <a:xfrm>
            <a:off x="547814" y="805145"/>
            <a:ext cx="7408536" cy="371475"/>
          </a:xfrm>
          <a:prstGeom prst="rect">
            <a:avLst/>
          </a:prstGeom>
          <a:noFill/>
          <a:ln/>
        </p:spPr>
        <p:txBody>
          <a:bodyPr wrap="square" lIns="0" tIns="0" rIns="0" bIns="0" rtlCol="0" anchor="t"/>
          <a:lstStyle/>
          <a:p>
            <a:pPr>
              <a:lnSpc>
                <a:spcPts val="2925"/>
              </a:lnSpc>
              <a:defRPr/>
            </a:pPr>
            <a:r>
              <a:rPr lang="en-US" sz="2400" cap="all" dirty="0">
                <a:solidFill>
                  <a:srgbClr val="A9734C"/>
                </a:solidFill>
                <a:latin typeface="Montserrat ExtraBold" pitchFamily="34" charset="0"/>
              </a:rPr>
              <a:t>CONTEXTUAL</a:t>
            </a:r>
            <a:r>
              <a:rPr lang="en-US" sz="2400" cap="all" dirty="0">
                <a:solidFill>
                  <a:srgbClr val="002060"/>
                </a:solidFill>
                <a:latin typeface="Montserrat ExtraBold" pitchFamily="34" charset="0"/>
              </a:rPr>
              <a:t> . CONSISTENT . TRANSPARENT</a:t>
            </a:r>
          </a:p>
        </p:txBody>
      </p:sp>
      <p:sp>
        <p:nvSpPr>
          <p:cNvPr id="9" name="Object6">
            <a:extLst>
              <a:ext uri="{FF2B5EF4-FFF2-40B4-BE49-F238E27FC236}">
                <a16:creationId xmlns:a16="http://schemas.microsoft.com/office/drawing/2014/main" id="{33A0230B-BC92-13C6-9913-128DA54E57BC}"/>
              </a:ext>
            </a:extLst>
          </p:cNvPr>
          <p:cNvSpPr/>
          <p:nvPr/>
        </p:nvSpPr>
        <p:spPr>
          <a:xfrm>
            <a:off x="547813" y="484254"/>
            <a:ext cx="5156160" cy="320891"/>
          </a:xfrm>
          <a:prstGeom prst="rect">
            <a:avLst/>
          </a:prstGeom>
          <a:noFill/>
          <a:ln/>
        </p:spPr>
        <p:txBody>
          <a:bodyPr wrap="square" lIns="0" tIns="0" rIns="0" bIns="0" rtlCol="0" anchor="t"/>
          <a:lstStyle/>
          <a:p>
            <a:pPr defTabSz="457200">
              <a:lnSpc>
                <a:spcPts val="2925"/>
              </a:lnSpc>
              <a:defRPr/>
            </a:pPr>
            <a:r>
              <a:rPr lang="en-US" sz="2400" cap="all" dirty="0">
                <a:solidFill>
                  <a:srgbClr val="002060"/>
                </a:solidFill>
                <a:latin typeface="Montserrat ExtraBold" pitchFamily="34" charset="0"/>
              </a:rPr>
              <a:t>HELP ME GROW MY MONEY</a:t>
            </a:r>
          </a:p>
        </p:txBody>
      </p:sp>
      <p:graphicFrame>
        <p:nvGraphicFramePr>
          <p:cNvPr id="2" name="Chart 1">
            <a:extLst>
              <a:ext uri="{FF2B5EF4-FFF2-40B4-BE49-F238E27FC236}">
                <a16:creationId xmlns:a16="http://schemas.microsoft.com/office/drawing/2014/main" id="{B9BC19B5-F279-3FBB-BAA9-B3904249223A}"/>
              </a:ext>
            </a:extLst>
          </p:cNvPr>
          <p:cNvGraphicFramePr>
            <a:graphicFrameLocks/>
          </p:cNvGraphicFramePr>
          <p:nvPr>
            <p:extLst>
              <p:ext uri="{D42A27DB-BD31-4B8C-83A1-F6EECF244321}">
                <p14:modId xmlns:p14="http://schemas.microsoft.com/office/powerpoint/2010/main" val="750192021"/>
              </p:ext>
            </p:extLst>
          </p:nvPr>
        </p:nvGraphicFramePr>
        <p:xfrm>
          <a:off x="346180" y="2069860"/>
          <a:ext cx="6328220" cy="4303885"/>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780DC3E8-139E-217A-6105-3A2ECCCBD4F7}"/>
              </a:ext>
            </a:extLst>
          </p:cNvPr>
          <p:cNvSpPr txBox="1"/>
          <p:nvPr/>
        </p:nvSpPr>
        <p:spPr>
          <a:xfrm>
            <a:off x="6905625" y="310798"/>
            <a:ext cx="4296369"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Contextual alignment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20646370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E72E382-395F-219F-1296-B74C82374F08}"/>
              </a:ext>
            </a:extLst>
          </p:cNvPr>
          <p:cNvGrpSpPr/>
          <p:nvPr/>
        </p:nvGrpSpPr>
        <p:grpSpPr>
          <a:xfrm>
            <a:off x="-61290" y="6053155"/>
            <a:ext cx="12253290" cy="971832"/>
            <a:chOff x="-187799" y="8336784"/>
            <a:chExt cx="18379935" cy="1457748"/>
          </a:xfrm>
        </p:grpSpPr>
        <p:pic>
          <p:nvPicPr>
            <p:cNvPr id="11" name="Picture 10">
              <a:extLst>
                <a:ext uri="{FF2B5EF4-FFF2-40B4-BE49-F238E27FC236}">
                  <a16:creationId xmlns:a16="http://schemas.microsoft.com/office/drawing/2014/main" id="{840A80F1-74E1-8FEA-9337-2CC42FAA5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2" name="Title 1">
              <a:extLst>
                <a:ext uri="{FF2B5EF4-FFF2-40B4-BE49-F238E27FC236}">
                  <a16:creationId xmlns:a16="http://schemas.microsoft.com/office/drawing/2014/main" id="{75F52ED7-5AAB-55A4-93B5-A412C04A6BAA}"/>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3" name="Picture 12">
              <a:extLst>
                <a:ext uri="{FF2B5EF4-FFF2-40B4-BE49-F238E27FC236}">
                  <a16:creationId xmlns:a16="http://schemas.microsoft.com/office/drawing/2014/main" id="{968CB5EE-8B26-986C-154C-FFA8B34A5C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6" name="TextBox 15">
            <a:extLst>
              <a:ext uri="{FF2B5EF4-FFF2-40B4-BE49-F238E27FC236}">
                <a16:creationId xmlns:a16="http://schemas.microsoft.com/office/drawing/2014/main" id="{46EF2FDC-985D-A46F-A7F8-BDAF3ADC49AC}"/>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44</a:t>
            </a:fld>
            <a:endParaRPr lang="en-US" sz="1333" dirty="0">
              <a:solidFill>
                <a:srgbClr val="0D0D0D"/>
              </a:solidFill>
              <a:latin typeface="Hepta Slab Medium" pitchFamily="2" charset="0"/>
              <a:cs typeface="Hepta Slab Medium" pitchFamily="2" charset="0"/>
            </a:endParaRPr>
          </a:p>
        </p:txBody>
      </p:sp>
      <p:sp>
        <p:nvSpPr>
          <p:cNvPr id="5" name="TextBox 4">
            <a:extLst>
              <a:ext uri="{FF2B5EF4-FFF2-40B4-BE49-F238E27FC236}">
                <a16:creationId xmlns:a16="http://schemas.microsoft.com/office/drawing/2014/main" id="{249F6E72-A4EA-2053-501B-EE641FD871BD}"/>
              </a:ext>
            </a:extLst>
          </p:cNvPr>
          <p:cNvSpPr txBox="1"/>
          <p:nvPr/>
        </p:nvSpPr>
        <p:spPr>
          <a:xfrm>
            <a:off x="8051812" y="6450594"/>
            <a:ext cx="1611787"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sp>
        <p:nvSpPr>
          <p:cNvPr id="4" name="Object5">
            <a:extLst>
              <a:ext uri="{FF2B5EF4-FFF2-40B4-BE49-F238E27FC236}">
                <a16:creationId xmlns:a16="http://schemas.microsoft.com/office/drawing/2014/main" id="{5D95C9D3-418B-4C1E-93A3-383529A64C85}"/>
              </a:ext>
            </a:extLst>
          </p:cNvPr>
          <p:cNvSpPr/>
          <p:nvPr/>
        </p:nvSpPr>
        <p:spPr>
          <a:xfrm>
            <a:off x="547813" y="1605095"/>
            <a:ext cx="11209936" cy="459327"/>
          </a:xfrm>
          <a:prstGeom prst="rect">
            <a:avLst/>
          </a:prstGeom>
          <a:noFill/>
          <a:ln/>
        </p:spPr>
        <p:txBody>
          <a:bodyPr wrap="square" lIns="0" tIns="0" rIns="0" bIns="0" rtlCol="0" anchor="t"/>
          <a:lstStyle/>
          <a:p>
            <a:pPr>
              <a:lnSpc>
                <a:spcPct val="150000"/>
              </a:lnSpc>
              <a:spcAft>
                <a:spcPts val="1200"/>
              </a:spcAft>
            </a:pPr>
            <a:r>
              <a:rPr lang="en-US" sz="1600" dirty="0">
                <a:solidFill>
                  <a:srgbClr val="A9734C"/>
                </a:solidFill>
                <a:latin typeface="Hepta Slab Medium" pitchFamily="2" charset="0"/>
                <a:ea typeface="Hepta Slab Regular" pitchFamily="34" charset="-122"/>
                <a:cs typeface="Hepta Slab Medium" pitchFamily="2" charset="0"/>
              </a:rPr>
              <a:t>At 40%, dissatisfaction with investment advisory services is the key challenge area for Celesta respondents </a:t>
            </a:r>
          </a:p>
        </p:txBody>
      </p:sp>
      <p:graphicFrame>
        <p:nvGraphicFramePr>
          <p:cNvPr id="7" name="Chart 6">
            <a:extLst>
              <a:ext uri="{FF2B5EF4-FFF2-40B4-BE49-F238E27FC236}">
                <a16:creationId xmlns:a16="http://schemas.microsoft.com/office/drawing/2014/main" id="{E3FD7E48-2756-E7A7-0E90-38FB4389F0DC}"/>
              </a:ext>
            </a:extLst>
          </p:cNvPr>
          <p:cNvGraphicFramePr>
            <a:graphicFrameLocks/>
          </p:cNvGraphicFramePr>
          <p:nvPr>
            <p:extLst>
              <p:ext uri="{D42A27DB-BD31-4B8C-83A1-F6EECF244321}">
                <p14:modId xmlns:p14="http://schemas.microsoft.com/office/powerpoint/2010/main" val="3439361323"/>
              </p:ext>
            </p:extLst>
          </p:nvPr>
        </p:nvGraphicFramePr>
        <p:xfrm>
          <a:off x="526064" y="2371725"/>
          <a:ext cx="6060474" cy="3967025"/>
        </p:xfrm>
        <a:graphic>
          <a:graphicData uri="http://schemas.openxmlformats.org/drawingml/2006/chart">
            <c:chart xmlns:c="http://schemas.openxmlformats.org/drawingml/2006/chart" xmlns:r="http://schemas.openxmlformats.org/officeDocument/2006/relationships" r:id="rId5"/>
          </a:graphicData>
        </a:graphic>
      </p:graphicFrame>
      <p:pic>
        <p:nvPicPr>
          <p:cNvPr id="8" name="chart">
            <a:extLst>
              <a:ext uri="{FF2B5EF4-FFF2-40B4-BE49-F238E27FC236}">
                <a16:creationId xmlns:a16="http://schemas.microsoft.com/office/drawing/2014/main" id="{3B4C083C-4986-032D-2273-049C6E681FB9}"/>
              </a:ext>
            </a:extLst>
          </p:cNvPr>
          <p:cNvPicPr>
            <a:picLocks noChangeAspect="1"/>
          </p:cNvPicPr>
          <p:nvPr/>
        </p:nvPicPr>
        <p:blipFill>
          <a:blip r:embed="rId6"/>
          <a:stretch>
            <a:fillRect/>
          </a:stretch>
        </p:blipFill>
        <p:spPr>
          <a:xfrm>
            <a:off x="6728749" y="2492897"/>
            <a:ext cx="5370021" cy="3339390"/>
          </a:xfrm>
          <a:prstGeom prst="rect">
            <a:avLst/>
          </a:prstGeom>
        </p:spPr>
      </p:pic>
      <p:sp>
        <p:nvSpPr>
          <p:cNvPr id="9" name="Object6">
            <a:extLst>
              <a:ext uri="{FF2B5EF4-FFF2-40B4-BE49-F238E27FC236}">
                <a16:creationId xmlns:a16="http://schemas.microsoft.com/office/drawing/2014/main" id="{A785D449-B383-C270-6B73-81004D48069D}"/>
              </a:ext>
            </a:extLst>
          </p:cNvPr>
          <p:cNvSpPr/>
          <p:nvPr/>
        </p:nvSpPr>
        <p:spPr>
          <a:xfrm>
            <a:off x="547813" y="1108485"/>
            <a:ext cx="5156160" cy="371475"/>
          </a:xfrm>
          <a:prstGeom prst="rect">
            <a:avLst/>
          </a:prstGeom>
          <a:noFill/>
          <a:ln/>
        </p:spPr>
        <p:txBody>
          <a:bodyPr wrap="square" lIns="0" tIns="0" rIns="0" bIns="0" rtlCol="0" anchor="t"/>
          <a:lstStyle/>
          <a:p>
            <a:pPr defTabSz="304815">
              <a:lnSpc>
                <a:spcPts val="2925"/>
              </a:lnSpc>
            </a:pPr>
            <a:r>
              <a:rPr lang="en-US" sz="1600" cap="all" dirty="0">
                <a:solidFill>
                  <a:srgbClr val="A9734C"/>
                </a:solidFill>
                <a:latin typeface="Montserrat ExtraBold" pitchFamily="34" charset="0"/>
              </a:rPr>
              <a:t>premium banking services - experience</a:t>
            </a:r>
          </a:p>
        </p:txBody>
      </p:sp>
      <p:sp>
        <p:nvSpPr>
          <p:cNvPr id="14" name="Object5">
            <a:extLst>
              <a:ext uri="{FF2B5EF4-FFF2-40B4-BE49-F238E27FC236}">
                <a16:creationId xmlns:a16="http://schemas.microsoft.com/office/drawing/2014/main" id="{E57CD07B-8B2A-BB6A-C97C-FBCF8A9C3486}"/>
              </a:ext>
            </a:extLst>
          </p:cNvPr>
          <p:cNvSpPr/>
          <p:nvPr/>
        </p:nvSpPr>
        <p:spPr>
          <a:xfrm>
            <a:off x="547814" y="805145"/>
            <a:ext cx="7408536" cy="371475"/>
          </a:xfrm>
          <a:prstGeom prst="rect">
            <a:avLst/>
          </a:prstGeom>
          <a:noFill/>
          <a:ln/>
        </p:spPr>
        <p:txBody>
          <a:bodyPr wrap="square" lIns="0" tIns="0" rIns="0" bIns="0" rtlCol="0" anchor="t"/>
          <a:lstStyle/>
          <a:p>
            <a:pPr>
              <a:lnSpc>
                <a:spcPts val="2925"/>
              </a:lnSpc>
              <a:defRPr/>
            </a:pPr>
            <a:r>
              <a:rPr lang="en-US" sz="2400" cap="all" dirty="0">
                <a:solidFill>
                  <a:srgbClr val="A9734C"/>
                </a:solidFill>
                <a:latin typeface="Montserrat ExtraBold" pitchFamily="34" charset="0"/>
              </a:rPr>
              <a:t>CONTEXTUAL</a:t>
            </a:r>
            <a:r>
              <a:rPr lang="en-US" sz="2400" cap="all" dirty="0">
                <a:solidFill>
                  <a:srgbClr val="002060"/>
                </a:solidFill>
                <a:latin typeface="Montserrat ExtraBold" pitchFamily="34" charset="0"/>
              </a:rPr>
              <a:t> . CONSISTENT . TRANSPARENT</a:t>
            </a:r>
          </a:p>
        </p:txBody>
      </p:sp>
      <p:sp>
        <p:nvSpPr>
          <p:cNvPr id="15" name="Object6">
            <a:extLst>
              <a:ext uri="{FF2B5EF4-FFF2-40B4-BE49-F238E27FC236}">
                <a16:creationId xmlns:a16="http://schemas.microsoft.com/office/drawing/2014/main" id="{34C115D9-0276-7315-379C-D5DE7AA53E94}"/>
              </a:ext>
            </a:extLst>
          </p:cNvPr>
          <p:cNvSpPr/>
          <p:nvPr/>
        </p:nvSpPr>
        <p:spPr>
          <a:xfrm>
            <a:off x="547813" y="484254"/>
            <a:ext cx="5156160" cy="320891"/>
          </a:xfrm>
          <a:prstGeom prst="rect">
            <a:avLst/>
          </a:prstGeom>
          <a:noFill/>
          <a:ln/>
        </p:spPr>
        <p:txBody>
          <a:bodyPr wrap="square" lIns="0" tIns="0" rIns="0" bIns="0" rtlCol="0" anchor="t"/>
          <a:lstStyle/>
          <a:p>
            <a:pPr defTabSz="457200">
              <a:lnSpc>
                <a:spcPts val="2925"/>
              </a:lnSpc>
              <a:defRPr/>
            </a:pPr>
            <a:r>
              <a:rPr lang="en-US" sz="2400" cap="all" dirty="0">
                <a:solidFill>
                  <a:srgbClr val="002060"/>
                </a:solidFill>
                <a:latin typeface="Montserrat ExtraBold" pitchFamily="34" charset="0"/>
              </a:rPr>
              <a:t>HELP ME GROW MY MONEY</a:t>
            </a:r>
          </a:p>
        </p:txBody>
      </p:sp>
      <p:sp>
        <p:nvSpPr>
          <p:cNvPr id="2" name="TextBox 1">
            <a:extLst>
              <a:ext uri="{FF2B5EF4-FFF2-40B4-BE49-F238E27FC236}">
                <a16:creationId xmlns:a16="http://schemas.microsoft.com/office/drawing/2014/main" id="{783AD921-3D41-5187-A74C-D77E349AFFC4}"/>
              </a:ext>
            </a:extLst>
          </p:cNvPr>
          <p:cNvSpPr txBox="1"/>
          <p:nvPr/>
        </p:nvSpPr>
        <p:spPr>
          <a:xfrm>
            <a:off x="6905625" y="310798"/>
            <a:ext cx="4296369"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Contextual alignment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38986008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AC82C25-795D-01CA-AF97-7A474E07722E}"/>
              </a:ext>
            </a:extLst>
          </p:cNvPr>
          <p:cNvGrpSpPr/>
          <p:nvPr/>
        </p:nvGrpSpPr>
        <p:grpSpPr>
          <a:xfrm>
            <a:off x="-61290" y="6053155"/>
            <a:ext cx="12253290" cy="971832"/>
            <a:chOff x="-187799" y="8336784"/>
            <a:chExt cx="18379935" cy="1457748"/>
          </a:xfrm>
        </p:grpSpPr>
        <p:pic>
          <p:nvPicPr>
            <p:cNvPr id="13" name="Picture 12">
              <a:extLst>
                <a:ext uri="{FF2B5EF4-FFF2-40B4-BE49-F238E27FC236}">
                  <a16:creationId xmlns:a16="http://schemas.microsoft.com/office/drawing/2014/main" id="{0941B32E-B3A4-63B8-441C-BB00D07703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5" name="Title 1">
              <a:extLst>
                <a:ext uri="{FF2B5EF4-FFF2-40B4-BE49-F238E27FC236}">
                  <a16:creationId xmlns:a16="http://schemas.microsoft.com/office/drawing/2014/main" id="{CC7987E3-3853-920F-39D0-568DED3A7FD1}"/>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21" name="Picture 20">
              <a:extLst>
                <a:ext uri="{FF2B5EF4-FFF2-40B4-BE49-F238E27FC236}">
                  <a16:creationId xmlns:a16="http://schemas.microsoft.com/office/drawing/2014/main" id="{FB586FFB-9279-AB43-5DE4-E31CA0983D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7" name="TextBox 16">
            <a:extLst>
              <a:ext uri="{FF2B5EF4-FFF2-40B4-BE49-F238E27FC236}">
                <a16:creationId xmlns:a16="http://schemas.microsoft.com/office/drawing/2014/main" id="{5CC115C0-2BF0-C9D7-C664-DBB07D7E241F}"/>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45</a:t>
            </a:fld>
            <a:endParaRPr lang="en-US" sz="1333" dirty="0">
              <a:solidFill>
                <a:srgbClr val="0D0D0D"/>
              </a:solidFill>
              <a:latin typeface="Hepta Slab Medium" pitchFamily="2" charset="0"/>
              <a:cs typeface="Hepta Slab Medium" pitchFamily="2" charset="0"/>
            </a:endParaRPr>
          </a:p>
        </p:txBody>
      </p:sp>
      <p:sp>
        <p:nvSpPr>
          <p:cNvPr id="4" name="TextBox 3">
            <a:extLst>
              <a:ext uri="{FF2B5EF4-FFF2-40B4-BE49-F238E27FC236}">
                <a16:creationId xmlns:a16="http://schemas.microsoft.com/office/drawing/2014/main" id="{05E110DC-08EA-9AFF-624D-062D2F0BB2BF}"/>
              </a:ext>
            </a:extLst>
          </p:cNvPr>
          <p:cNvSpPr txBox="1"/>
          <p:nvPr/>
        </p:nvSpPr>
        <p:spPr>
          <a:xfrm>
            <a:off x="8112003" y="6442339"/>
            <a:ext cx="1611787"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 42</a:t>
            </a:r>
            <a:endParaRPr lang="en-IN" sz="900" dirty="0">
              <a:solidFill>
                <a:schemeClr val="bg2">
                  <a:lumMod val="75000"/>
                </a:schemeClr>
              </a:solidFill>
              <a:latin typeface="Montserrat SemiBold" panose="00000700000000000000" pitchFamily="2" charset="0"/>
            </a:endParaRPr>
          </a:p>
        </p:txBody>
      </p:sp>
      <p:sp>
        <p:nvSpPr>
          <p:cNvPr id="7" name="Object5">
            <a:extLst>
              <a:ext uri="{FF2B5EF4-FFF2-40B4-BE49-F238E27FC236}">
                <a16:creationId xmlns:a16="http://schemas.microsoft.com/office/drawing/2014/main" id="{9C5B7F67-3932-0C66-8FE6-90BA560DBBCC}"/>
              </a:ext>
            </a:extLst>
          </p:cNvPr>
          <p:cNvSpPr/>
          <p:nvPr/>
        </p:nvSpPr>
        <p:spPr>
          <a:xfrm>
            <a:off x="631578" y="2075556"/>
            <a:ext cx="4091840" cy="3649871"/>
          </a:xfrm>
          <a:prstGeom prst="rect">
            <a:avLst/>
          </a:prstGeom>
          <a:noFill/>
          <a:ln/>
        </p:spPr>
        <p:txBody>
          <a:bodyPr wrap="square" lIns="0" tIns="0" rIns="0" bIns="0" rtlCol="0" anchor="t"/>
          <a:lstStyle/>
          <a:p>
            <a:pPr algn="l">
              <a:spcAft>
                <a:spcPts val="600"/>
              </a:spcAft>
            </a:pPr>
            <a:r>
              <a:rPr lang="en-US" sz="2000" dirty="0">
                <a:solidFill>
                  <a:srgbClr val="7030A0"/>
                </a:solidFill>
                <a:latin typeface="Hepta Slab Medium" pitchFamily="2" charset="0"/>
                <a:ea typeface="Hepta Slab Regular" pitchFamily="34" charset="-122"/>
                <a:cs typeface="Hepta Slab Medium" pitchFamily="2" charset="0"/>
              </a:rPr>
              <a:t>Financial products, options &amp; advisory are the main areas of disengagement</a:t>
            </a:r>
          </a:p>
          <a:p>
            <a:pPr algn="l">
              <a:spcAft>
                <a:spcPts val="600"/>
              </a:spcAft>
            </a:pPr>
            <a:endParaRPr lang="en-US" sz="2000" dirty="0">
              <a:solidFill>
                <a:srgbClr val="7030A0"/>
              </a:solidFill>
              <a:latin typeface="Hepta Slab Medium" pitchFamily="2" charset="0"/>
              <a:ea typeface="Hepta Slab Regular" pitchFamily="34" charset="-122"/>
              <a:cs typeface="Hepta Slab Medium" pitchFamily="2" charset="0"/>
            </a:endParaRPr>
          </a:p>
          <a:p>
            <a:pPr algn="l"/>
            <a:r>
              <a:rPr lang="en-US" sz="2000" dirty="0">
                <a:solidFill>
                  <a:srgbClr val="7030A0"/>
                </a:solidFill>
                <a:latin typeface="Hepta Slab Medium" pitchFamily="2" charset="0"/>
                <a:ea typeface="Hepta Slab Regular" pitchFamily="34" charset="-122"/>
                <a:cs typeface="Hepta Slab Medium" pitchFamily="2" charset="0"/>
              </a:rPr>
              <a:t>Relevance, transparency and effort are the primary barriers</a:t>
            </a:r>
          </a:p>
          <a:p>
            <a:pPr algn="l"/>
            <a:endParaRPr lang="en-US" sz="2000" dirty="0">
              <a:solidFill>
                <a:srgbClr val="7030A0"/>
              </a:solidFill>
              <a:latin typeface="Hepta Slab Medium" pitchFamily="2" charset="0"/>
              <a:ea typeface="Hepta Slab Regular" pitchFamily="34" charset="-122"/>
              <a:cs typeface="Hepta Slab Medium" pitchFamily="2" charset="0"/>
            </a:endParaRPr>
          </a:p>
          <a:p>
            <a:pPr algn="l"/>
            <a:r>
              <a:rPr lang="en-US" sz="2000" i="0" dirty="0">
                <a:solidFill>
                  <a:srgbClr val="7030A0"/>
                </a:solidFill>
                <a:latin typeface="Hepta Slab Medium" pitchFamily="2" charset="0"/>
                <a:ea typeface="Hepta Slab Regular" pitchFamily="34" charset="-122"/>
                <a:cs typeface="Hepta Slab Medium" pitchFamily="2" charset="0"/>
              </a:rPr>
              <a:t>Women customers</a:t>
            </a:r>
            <a:r>
              <a:rPr lang="en-US" sz="2000" dirty="0">
                <a:solidFill>
                  <a:srgbClr val="7030A0"/>
                </a:solidFill>
                <a:latin typeface="Hepta Slab Medium" pitchFamily="2" charset="0"/>
                <a:ea typeface="Hepta Slab Regular" pitchFamily="34" charset="-122"/>
                <a:cs typeface="Hepta Slab Medium" pitchFamily="2" charset="0"/>
              </a:rPr>
              <a:t> exhibit higher dissatisfaction levels with the RM</a:t>
            </a:r>
            <a:endParaRPr lang="en-US" sz="2000" i="0" dirty="0">
              <a:solidFill>
                <a:srgbClr val="7030A0"/>
              </a:solidFill>
              <a:latin typeface="Hepta Slab Medium" pitchFamily="2" charset="0"/>
              <a:ea typeface="Hepta Slab Regular" pitchFamily="34" charset="-122"/>
              <a:cs typeface="Hepta Slab Medium" pitchFamily="2" charset="0"/>
            </a:endParaRPr>
          </a:p>
        </p:txBody>
      </p:sp>
      <p:graphicFrame>
        <p:nvGraphicFramePr>
          <p:cNvPr id="9" name="Chart 8">
            <a:extLst>
              <a:ext uri="{FF2B5EF4-FFF2-40B4-BE49-F238E27FC236}">
                <a16:creationId xmlns:a16="http://schemas.microsoft.com/office/drawing/2014/main" id="{56D622B7-20C1-4864-9431-DBE303A6584E}"/>
              </a:ext>
            </a:extLst>
          </p:cNvPr>
          <p:cNvGraphicFramePr>
            <a:graphicFrameLocks/>
          </p:cNvGraphicFramePr>
          <p:nvPr>
            <p:extLst>
              <p:ext uri="{D42A27DB-BD31-4B8C-83A1-F6EECF244321}">
                <p14:modId xmlns:p14="http://schemas.microsoft.com/office/powerpoint/2010/main" val="1555507750"/>
              </p:ext>
            </p:extLst>
          </p:nvPr>
        </p:nvGraphicFramePr>
        <p:xfrm>
          <a:off x="5340475" y="2854167"/>
          <a:ext cx="5838947" cy="3490242"/>
        </p:xfrm>
        <a:graphic>
          <a:graphicData uri="http://schemas.openxmlformats.org/drawingml/2006/chart">
            <c:chart xmlns:c="http://schemas.openxmlformats.org/drawingml/2006/chart" xmlns:r="http://schemas.openxmlformats.org/officeDocument/2006/relationships" r:id="rId5"/>
          </a:graphicData>
        </a:graphic>
      </p:graphicFrame>
      <p:grpSp>
        <p:nvGrpSpPr>
          <p:cNvPr id="20" name="Group 19">
            <a:extLst>
              <a:ext uri="{FF2B5EF4-FFF2-40B4-BE49-F238E27FC236}">
                <a16:creationId xmlns:a16="http://schemas.microsoft.com/office/drawing/2014/main" id="{A727FC49-50C9-50E2-AA28-CF6037DB491B}"/>
              </a:ext>
            </a:extLst>
          </p:cNvPr>
          <p:cNvGrpSpPr/>
          <p:nvPr/>
        </p:nvGrpSpPr>
        <p:grpSpPr>
          <a:xfrm>
            <a:off x="7040204" y="2082462"/>
            <a:ext cx="4520218" cy="1446550"/>
            <a:chOff x="7249485" y="2075556"/>
            <a:chExt cx="4520218" cy="1446550"/>
          </a:xfrm>
        </p:grpSpPr>
        <p:sp>
          <p:nvSpPr>
            <p:cNvPr id="3" name="TextBox 2">
              <a:extLst>
                <a:ext uri="{FF2B5EF4-FFF2-40B4-BE49-F238E27FC236}">
                  <a16:creationId xmlns:a16="http://schemas.microsoft.com/office/drawing/2014/main" id="{F5EB6888-4CAD-DADB-0A00-A9D204D7E2BE}"/>
                </a:ext>
              </a:extLst>
            </p:cNvPr>
            <p:cNvSpPr txBox="1"/>
            <p:nvPr/>
          </p:nvSpPr>
          <p:spPr>
            <a:xfrm>
              <a:off x="7318231" y="2075556"/>
              <a:ext cx="4451472" cy="1446550"/>
            </a:xfrm>
            <a:prstGeom prst="rect">
              <a:avLst/>
            </a:prstGeom>
            <a:noFill/>
          </p:spPr>
          <p:txBody>
            <a:bodyPr wrap="square">
              <a:spAutoFit/>
            </a:bodyPr>
            <a:lstStyle/>
            <a:p>
              <a:r>
                <a:rPr lang="en-GB" sz="1100" dirty="0">
                  <a:latin typeface="Montserrat SemiBold" panose="00000700000000000000" pitchFamily="2" charset="0"/>
                </a:rPr>
                <a:t>The financial advice isn't detailed enough</a:t>
              </a:r>
            </a:p>
            <a:p>
              <a:r>
                <a:rPr lang="en-GB" sz="1100" dirty="0">
                  <a:latin typeface="Montserrat SemiBold" panose="00000700000000000000" pitchFamily="2" charset="0"/>
                </a:rPr>
                <a:t>	</a:t>
              </a:r>
            </a:p>
            <a:p>
              <a:r>
                <a:rPr lang="en-GB" sz="1100" dirty="0">
                  <a:latin typeface="Montserrat SemiBold" panose="00000700000000000000" pitchFamily="2" charset="0"/>
                </a:rPr>
                <a:t>The financial products don't fit my needs</a:t>
              </a:r>
            </a:p>
            <a:p>
              <a:endParaRPr lang="en-GB" sz="1100" dirty="0">
                <a:latin typeface="Montserrat SemiBold" panose="00000700000000000000" pitchFamily="2" charset="0"/>
              </a:endParaRPr>
            </a:p>
            <a:p>
              <a:r>
                <a:rPr lang="en-GB" sz="1100" dirty="0">
                  <a:latin typeface="Montserrat SemiBold" panose="00000700000000000000" pitchFamily="2" charset="0"/>
                </a:rPr>
                <a:t>My Relationship Manager (RM) doesn't understand my challenges</a:t>
              </a:r>
            </a:p>
            <a:p>
              <a:endParaRPr lang="en-GB" sz="1100" dirty="0">
                <a:latin typeface="Montserrat SemiBold" panose="00000700000000000000" pitchFamily="2" charset="0"/>
              </a:endParaRPr>
            </a:p>
            <a:p>
              <a:r>
                <a:rPr lang="en-GB" sz="1100" dirty="0">
                  <a:latin typeface="Montserrat SemiBold" panose="00000700000000000000" pitchFamily="2" charset="0"/>
                </a:rPr>
                <a:t>Lifestyle benefits are not tailored to my needs as a woman</a:t>
              </a:r>
            </a:p>
          </p:txBody>
        </p:sp>
        <p:sp>
          <p:nvSpPr>
            <p:cNvPr id="8" name="Rectangle 7">
              <a:extLst>
                <a:ext uri="{FF2B5EF4-FFF2-40B4-BE49-F238E27FC236}">
                  <a16:creationId xmlns:a16="http://schemas.microsoft.com/office/drawing/2014/main" id="{9DFDE2E4-597D-A2D6-B14D-93AD0A066796}"/>
                </a:ext>
              </a:extLst>
            </p:cNvPr>
            <p:cNvSpPr/>
            <p:nvPr/>
          </p:nvSpPr>
          <p:spPr>
            <a:xfrm>
              <a:off x="7257308" y="2170261"/>
              <a:ext cx="77182" cy="81546"/>
            </a:xfrm>
            <a:prstGeom prst="rect">
              <a:avLst/>
            </a:prstGeom>
            <a:solidFill>
              <a:srgbClr val="843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950B024-5F7D-6ECF-7E23-29C9CB69FF41}"/>
                </a:ext>
              </a:extLst>
            </p:cNvPr>
            <p:cNvSpPr/>
            <p:nvPr/>
          </p:nvSpPr>
          <p:spPr>
            <a:xfrm>
              <a:off x="7249485" y="2507305"/>
              <a:ext cx="77182" cy="81546"/>
            </a:xfrm>
            <a:prstGeom prst="rect">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8A1888C9-CE47-33CA-0408-D0DC6BA1F2C6}"/>
                </a:ext>
              </a:extLst>
            </p:cNvPr>
            <p:cNvSpPr/>
            <p:nvPr/>
          </p:nvSpPr>
          <p:spPr>
            <a:xfrm>
              <a:off x="7249485" y="2840519"/>
              <a:ext cx="77182" cy="81546"/>
            </a:xfrm>
            <a:prstGeom prst="rect">
              <a:avLst/>
            </a:prstGeom>
            <a:solidFill>
              <a:srgbClr val="385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3726E305-2A59-FACA-4A93-CE027C89399E}"/>
                </a:ext>
              </a:extLst>
            </p:cNvPr>
            <p:cNvSpPr/>
            <p:nvPr/>
          </p:nvSpPr>
          <p:spPr>
            <a:xfrm>
              <a:off x="7257308" y="3350063"/>
              <a:ext cx="77182" cy="81546"/>
            </a:xfrm>
            <a:prstGeom prst="rect">
              <a:avLst/>
            </a:prstGeom>
            <a:solidFill>
              <a:srgbClr val="F4B1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Object6">
            <a:extLst>
              <a:ext uri="{FF2B5EF4-FFF2-40B4-BE49-F238E27FC236}">
                <a16:creationId xmlns:a16="http://schemas.microsoft.com/office/drawing/2014/main" id="{82E22905-7279-FF61-97A4-DC0AB7524176}"/>
              </a:ext>
            </a:extLst>
          </p:cNvPr>
          <p:cNvSpPr/>
          <p:nvPr/>
        </p:nvSpPr>
        <p:spPr>
          <a:xfrm>
            <a:off x="547813" y="1108485"/>
            <a:ext cx="5156160" cy="371475"/>
          </a:xfrm>
          <a:prstGeom prst="rect">
            <a:avLst/>
          </a:prstGeom>
          <a:noFill/>
          <a:ln/>
        </p:spPr>
        <p:txBody>
          <a:bodyPr wrap="square" lIns="0" tIns="0" rIns="0" bIns="0" rtlCol="0" anchor="t"/>
          <a:lstStyle/>
          <a:p>
            <a:pPr defTabSz="304815">
              <a:lnSpc>
                <a:spcPts val="2925"/>
              </a:lnSpc>
            </a:pPr>
            <a:r>
              <a:rPr lang="en-US" sz="1600" cap="all" dirty="0">
                <a:solidFill>
                  <a:srgbClr val="A9734C"/>
                </a:solidFill>
                <a:latin typeface="Montserrat ExtraBold" pitchFamily="34" charset="0"/>
              </a:rPr>
              <a:t>premium banking services – experience </a:t>
            </a:r>
            <a:r>
              <a:rPr lang="en-US" sz="1600" cap="all" dirty="0">
                <a:solidFill>
                  <a:srgbClr val="FF0000"/>
                </a:solidFill>
                <a:latin typeface="Montserrat ExtraBold" pitchFamily="34" charset="0"/>
              </a:rPr>
              <a:t>WOMEN RESPONDENTS</a:t>
            </a:r>
          </a:p>
        </p:txBody>
      </p:sp>
      <p:sp>
        <p:nvSpPr>
          <p:cNvPr id="18" name="Object5">
            <a:extLst>
              <a:ext uri="{FF2B5EF4-FFF2-40B4-BE49-F238E27FC236}">
                <a16:creationId xmlns:a16="http://schemas.microsoft.com/office/drawing/2014/main" id="{3D42AB22-2D00-F6AB-13DF-E13F23FDBA6C}"/>
              </a:ext>
            </a:extLst>
          </p:cNvPr>
          <p:cNvSpPr/>
          <p:nvPr/>
        </p:nvSpPr>
        <p:spPr>
          <a:xfrm>
            <a:off x="547814" y="805145"/>
            <a:ext cx="7408536" cy="371475"/>
          </a:xfrm>
          <a:prstGeom prst="rect">
            <a:avLst/>
          </a:prstGeom>
          <a:noFill/>
          <a:ln/>
        </p:spPr>
        <p:txBody>
          <a:bodyPr wrap="square" lIns="0" tIns="0" rIns="0" bIns="0" rtlCol="0" anchor="t"/>
          <a:lstStyle/>
          <a:p>
            <a:pPr>
              <a:lnSpc>
                <a:spcPts val="2925"/>
              </a:lnSpc>
              <a:defRPr/>
            </a:pPr>
            <a:r>
              <a:rPr lang="en-US" sz="2400" cap="all" dirty="0">
                <a:solidFill>
                  <a:srgbClr val="A9734C"/>
                </a:solidFill>
                <a:latin typeface="Montserrat ExtraBold" pitchFamily="34" charset="0"/>
              </a:rPr>
              <a:t>CONTEXTUAL</a:t>
            </a:r>
            <a:r>
              <a:rPr lang="en-US" sz="2400" cap="all" dirty="0">
                <a:solidFill>
                  <a:srgbClr val="002060"/>
                </a:solidFill>
                <a:latin typeface="Montserrat ExtraBold" pitchFamily="34" charset="0"/>
              </a:rPr>
              <a:t> . CONSISTENT . TRANSPARENT</a:t>
            </a:r>
          </a:p>
        </p:txBody>
      </p:sp>
      <p:sp>
        <p:nvSpPr>
          <p:cNvPr id="22" name="Object6">
            <a:extLst>
              <a:ext uri="{FF2B5EF4-FFF2-40B4-BE49-F238E27FC236}">
                <a16:creationId xmlns:a16="http://schemas.microsoft.com/office/drawing/2014/main" id="{4B54A58F-2866-7332-F62F-C9B126B6D598}"/>
              </a:ext>
            </a:extLst>
          </p:cNvPr>
          <p:cNvSpPr/>
          <p:nvPr/>
        </p:nvSpPr>
        <p:spPr>
          <a:xfrm>
            <a:off x="547813" y="484254"/>
            <a:ext cx="5156160" cy="320891"/>
          </a:xfrm>
          <a:prstGeom prst="rect">
            <a:avLst/>
          </a:prstGeom>
          <a:noFill/>
          <a:ln/>
        </p:spPr>
        <p:txBody>
          <a:bodyPr wrap="square" lIns="0" tIns="0" rIns="0" bIns="0" rtlCol="0" anchor="t"/>
          <a:lstStyle/>
          <a:p>
            <a:pPr defTabSz="457200">
              <a:lnSpc>
                <a:spcPts val="2925"/>
              </a:lnSpc>
              <a:defRPr/>
            </a:pPr>
            <a:r>
              <a:rPr lang="en-US" sz="2400" cap="all" dirty="0">
                <a:solidFill>
                  <a:srgbClr val="002060"/>
                </a:solidFill>
                <a:latin typeface="Montserrat ExtraBold" pitchFamily="34" charset="0"/>
              </a:rPr>
              <a:t>HELP ME GROW MY MONEY</a:t>
            </a:r>
          </a:p>
        </p:txBody>
      </p:sp>
      <p:sp>
        <p:nvSpPr>
          <p:cNvPr id="5" name="TextBox 4">
            <a:extLst>
              <a:ext uri="{FF2B5EF4-FFF2-40B4-BE49-F238E27FC236}">
                <a16:creationId xmlns:a16="http://schemas.microsoft.com/office/drawing/2014/main" id="{E88F9FE8-EFEE-D9B7-B943-82A59039169D}"/>
              </a:ext>
            </a:extLst>
          </p:cNvPr>
          <p:cNvSpPr txBox="1"/>
          <p:nvPr/>
        </p:nvSpPr>
        <p:spPr>
          <a:xfrm>
            <a:off x="6905625" y="310798"/>
            <a:ext cx="4296369"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Contextual alignment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35523173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DB6BDE-C688-910E-AFAF-B307669AFE8B}"/>
              </a:ext>
            </a:extLst>
          </p:cNvPr>
          <p:cNvSpPr/>
          <p:nvPr/>
        </p:nvSpPr>
        <p:spPr>
          <a:xfrm>
            <a:off x="0" y="5459086"/>
            <a:ext cx="12192000" cy="447677"/>
          </a:xfrm>
          <a:prstGeom prst="rect">
            <a:avLst/>
          </a:prstGeom>
          <a:solidFill>
            <a:srgbClr val="811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811717"/>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920ABB9D-889A-5DAA-9592-C1A24729EA72}"/>
              </a:ext>
            </a:extLst>
          </p:cNvPr>
          <p:cNvSpPr/>
          <p:nvPr/>
        </p:nvSpPr>
        <p:spPr>
          <a:xfrm>
            <a:off x="7963823" y="1623949"/>
            <a:ext cx="3831936" cy="313239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anose="00000600000000000000" pitchFamily="2" charset="0"/>
                <a:ea typeface="+mn-ea"/>
                <a:cs typeface="+mn-cs"/>
              </a:rPr>
              <a:t>“Budget announced, they changed the taxing scheme. early this 10% it has become 12.5-13%, including all other things. Even after that actually there were detecting LTCG and all with the old. I've been asking the bank why this is happening. Almost 3-4 months they've been doing”</a:t>
            </a:r>
            <a:endParaRPr kumimoji="0" lang="en-IN" sz="1600" b="0" i="0" u="none" strike="noStrike" kern="1200" cap="none" spc="0" normalizeH="0" baseline="0" noProof="0" dirty="0">
              <a:ln>
                <a:noFill/>
              </a:ln>
              <a:solidFill>
                <a:srgbClr val="002060"/>
              </a:solidFill>
              <a:effectLst/>
              <a:uLnTx/>
              <a:uFillTx/>
              <a:latin typeface="Montserrat Medium" panose="00000600000000000000" pitchFamily="2" charset="0"/>
              <a:ea typeface="+mn-ea"/>
              <a:cs typeface="+mn-cs"/>
            </a:endParaRPr>
          </a:p>
        </p:txBody>
      </p:sp>
      <p:sp>
        <p:nvSpPr>
          <p:cNvPr id="11" name="Rectangle: Rounded Corners 10">
            <a:extLst>
              <a:ext uri="{FF2B5EF4-FFF2-40B4-BE49-F238E27FC236}">
                <a16:creationId xmlns:a16="http://schemas.microsoft.com/office/drawing/2014/main" id="{92EC0FA4-382D-79D5-44CA-2BF9209CA08D}"/>
              </a:ext>
            </a:extLst>
          </p:cNvPr>
          <p:cNvSpPr/>
          <p:nvPr/>
        </p:nvSpPr>
        <p:spPr>
          <a:xfrm>
            <a:off x="4040815" y="1612357"/>
            <a:ext cx="3692926" cy="313239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anose="00000600000000000000" pitchFamily="2" charset="0"/>
                <a:ea typeface="+mn-ea"/>
                <a:cs typeface="+mn-cs"/>
              </a:rPr>
              <a:t>"FD is also there, a little bit of concern. I think it has started changing now. When you make an FD, there should be an option to auto close it. That option was not coming. I have been telling Neha this for last 2 years, I said, See I have to write to you every time when my FD is maturing."</a:t>
            </a:r>
            <a:endParaRPr kumimoji="0" lang="en-IN" sz="1600" b="0" i="0" u="none" strike="noStrike" kern="1200" cap="none" spc="0" normalizeH="0" baseline="0" noProof="0" dirty="0">
              <a:ln>
                <a:noFill/>
              </a:ln>
              <a:solidFill>
                <a:srgbClr val="002060"/>
              </a:solidFill>
              <a:effectLst/>
              <a:uLnTx/>
              <a:uFillTx/>
              <a:latin typeface="Montserrat Medium" panose="00000600000000000000" pitchFamily="2" charset="0"/>
              <a:ea typeface="+mn-ea"/>
              <a:cs typeface="+mn-cs"/>
            </a:endParaRPr>
          </a:p>
        </p:txBody>
      </p:sp>
      <p:sp>
        <p:nvSpPr>
          <p:cNvPr id="12" name="Object5">
            <a:extLst>
              <a:ext uri="{FF2B5EF4-FFF2-40B4-BE49-F238E27FC236}">
                <a16:creationId xmlns:a16="http://schemas.microsoft.com/office/drawing/2014/main" id="{B8A38A25-1AC9-52FF-B849-94A719071BA6}"/>
              </a:ext>
            </a:extLst>
          </p:cNvPr>
          <p:cNvSpPr/>
          <p:nvPr/>
        </p:nvSpPr>
        <p:spPr>
          <a:xfrm>
            <a:off x="4656000" y="1817151"/>
            <a:ext cx="2880000" cy="1023832"/>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SemiBold" pitchFamily="2" charset="0"/>
            </a:endParaRPr>
          </a:p>
        </p:txBody>
      </p:sp>
      <p:sp>
        <p:nvSpPr>
          <p:cNvPr id="16" name="Object5">
            <a:extLst>
              <a:ext uri="{FF2B5EF4-FFF2-40B4-BE49-F238E27FC236}">
                <a16:creationId xmlns:a16="http://schemas.microsoft.com/office/drawing/2014/main" id="{87A261E6-505A-B682-73B9-BF87C12ECF6E}"/>
              </a:ext>
            </a:extLst>
          </p:cNvPr>
          <p:cNvSpPr/>
          <p:nvPr/>
        </p:nvSpPr>
        <p:spPr>
          <a:xfrm>
            <a:off x="8496928" y="1819692"/>
            <a:ext cx="2160000" cy="755214"/>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SemiBold" pitchFamily="2" charset="0"/>
            </a:endParaRPr>
          </a:p>
        </p:txBody>
      </p:sp>
      <p:sp>
        <p:nvSpPr>
          <p:cNvPr id="17" name="Object5">
            <a:extLst>
              <a:ext uri="{FF2B5EF4-FFF2-40B4-BE49-F238E27FC236}">
                <a16:creationId xmlns:a16="http://schemas.microsoft.com/office/drawing/2014/main" id="{F1C268C5-8AAB-4F42-695F-E79BC3125B37}"/>
              </a:ext>
            </a:extLst>
          </p:cNvPr>
          <p:cNvSpPr/>
          <p:nvPr/>
        </p:nvSpPr>
        <p:spPr>
          <a:xfrm>
            <a:off x="891855" y="3701856"/>
            <a:ext cx="2804145" cy="1311713"/>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SemiBold" pitchFamily="2" charset="0"/>
            </a:endParaRPr>
          </a:p>
        </p:txBody>
      </p:sp>
      <p:sp>
        <p:nvSpPr>
          <p:cNvPr id="9" name="Object5">
            <a:extLst>
              <a:ext uri="{FF2B5EF4-FFF2-40B4-BE49-F238E27FC236}">
                <a16:creationId xmlns:a16="http://schemas.microsoft.com/office/drawing/2014/main" id="{49C3075C-81EA-E03F-D2C9-4CF9D672E540}"/>
              </a:ext>
            </a:extLst>
          </p:cNvPr>
          <p:cNvSpPr/>
          <p:nvPr/>
        </p:nvSpPr>
        <p:spPr>
          <a:xfrm>
            <a:off x="611082" y="1623949"/>
            <a:ext cx="2880000" cy="130484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SemiBold" pitchFamily="2" charset="0"/>
            </a:endParaRPr>
          </a:p>
        </p:txBody>
      </p:sp>
      <p:sp>
        <p:nvSpPr>
          <p:cNvPr id="8" name="Object5">
            <a:extLst>
              <a:ext uri="{FF2B5EF4-FFF2-40B4-BE49-F238E27FC236}">
                <a16:creationId xmlns:a16="http://schemas.microsoft.com/office/drawing/2014/main" id="{76773960-BD84-726D-92EC-04BF9ACB6920}"/>
              </a:ext>
            </a:extLst>
          </p:cNvPr>
          <p:cNvSpPr/>
          <p:nvPr/>
        </p:nvSpPr>
        <p:spPr>
          <a:xfrm>
            <a:off x="891855" y="5558941"/>
            <a:ext cx="9960000" cy="2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SemiBold" pitchFamily="2" charset="0"/>
                <a:ea typeface="Hepta Slab Regular" pitchFamily="34" charset="-122"/>
                <a:cs typeface="Hepta Slab SemiBold" pitchFamily="2" charset="0"/>
              </a:rPr>
              <a:t>Biases at Play: Ego Depletion, Empathy Gap</a:t>
            </a:r>
            <a:endParaRPr kumimoji="0" lang="en-US" sz="1600" b="0" i="0" u="none" strike="noStrike" kern="1200" cap="none" spc="0" normalizeH="0" baseline="0" noProof="0" dirty="0">
              <a:ln>
                <a:noFill/>
              </a:ln>
              <a:solidFill>
                <a:prstClr val="white"/>
              </a:solidFill>
              <a:effectLst/>
              <a:uLnTx/>
              <a:uFillTx/>
              <a:latin typeface="Hepta Slab SemiBold" pitchFamily="2" charset="0"/>
              <a:ea typeface="+mn-ea"/>
              <a:cs typeface="Hepta Slab SemiBold" pitchFamily="2" charset="0"/>
            </a:endParaRPr>
          </a:p>
        </p:txBody>
      </p:sp>
      <p:grpSp>
        <p:nvGrpSpPr>
          <p:cNvPr id="19" name="Group 18">
            <a:extLst>
              <a:ext uri="{FF2B5EF4-FFF2-40B4-BE49-F238E27FC236}">
                <a16:creationId xmlns:a16="http://schemas.microsoft.com/office/drawing/2014/main" id="{ED042828-36D8-8F3C-757A-ACC106233ADC}"/>
              </a:ext>
            </a:extLst>
          </p:cNvPr>
          <p:cNvGrpSpPr/>
          <p:nvPr/>
        </p:nvGrpSpPr>
        <p:grpSpPr>
          <a:xfrm>
            <a:off x="-61290" y="6053155"/>
            <a:ext cx="12253290" cy="971832"/>
            <a:chOff x="-187799" y="8336784"/>
            <a:chExt cx="18379935" cy="1457748"/>
          </a:xfrm>
        </p:grpSpPr>
        <p:pic>
          <p:nvPicPr>
            <p:cNvPr id="21" name="Picture 20">
              <a:extLst>
                <a:ext uri="{FF2B5EF4-FFF2-40B4-BE49-F238E27FC236}">
                  <a16:creationId xmlns:a16="http://schemas.microsoft.com/office/drawing/2014/main" id="{AA9FEED2-87BF-3287-A7D1-D918A65689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2" name="Title 1">
              <a:extLst>
                <a:ext uri="{FF2B5EF4-FFF2-40B4-BE49-F238E27FC236}">
                  <a16:creationId xmlns:a16="http://schemas.microsoft.com/office/drawing/2014/main" id="{FCF5423B-7427-CB82-061A-0EA1F001210C}"/>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3" name="Picture 22">
              <a:extLst>
                <a:ext uri="{FF2B5EF4-FFF2-40B4-BE49-F238E27FC236}">
                  <a16:creationId xmlns:a16="http://schemas.microsoft.com/office/drawing/2014/main" id="{64911A19-4D0C-5626-97EA-29F8B8E7B1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2" name="Picture 1">
            <a:extLst>
              <a:ext uri="{FF2B5EF4-FFF2-40B4-BE49-F238E27FC236}">
                <a16:creationId xmlns:a16="http://schemas.microsoft.com/office/drawing/2014/main" id="{FE1A064E-17D0-CE8C-A90D-FB3D0EC76595}"/>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7" name="TextBox 6">
            <a:extLst>
              <a:ext uri="{FF2B5EF4-FFF2-40B4-BE49-F238E27FC236}">
                <a16:creationId xmlns:a16="http://schemas.microsoft.com/office/drawing/2014/main" id="{944C499E-C436-3710-CBFA-470308E411DD}"/>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46</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4" name="Rectangle: Rounded Corners 3">
            <a:extLst>
              <a:ext uri="{FF2B5EF4-FFF2-40B4-BE49-F238E27FC236}">
                <a16:creationId xmlns:a16="http://schemas.microsoft.com/office/drawing/2014/main" id="{9DBD1A5D-E271-1EC5-1A55-24D5C09D9D7A}"/>
              </a:ext>
            </a:extLst>
          </p:cNvPr>
          <p:cNvSpPr/>
          <p:nvPr/>
        </p:nvSpPr>
        <p:spPr>
          <a:xfrm>
            <a:off x="381000" y="1613458"/>
            <a:ext cx="3429733" cy="313634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“The moment I remit funds to my account basis that money I'm remitting there would be automatic suggestion coming in to tell me, I mean you know, this could work for you. Something like that. Or they call it contextual banking”</a:t>
            </a:r>
            <a:endPar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3" name="TextBox 2">
            <a:extLst>
              <a:ext uri="{FF2B5EF4-FFF2-40B4-BE49-F238E27FC236}">
                <a16:creationId xmlns:a16="http://schemas.microsoft.com/office/drawing/2014/main" id="{6D38F9F5-4458-E9D0-8C6E-05C18B984146}"/>
              </a:ext>
            </a:extLst>
          </p:cNvPr>
          <p:cNvSpPr txBox="1"/>
          <p:nvPr/>
        </p:nvSpPr>
        <p:spPr>
          <a:xfrm>
            <a:off x="2248002" y="4499635"/>
            <a:ext cx="1422400"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Female</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6" name="TextBox 5">
            <a:extLst>
              <a:ext uri="{FF2B5EF4-FFF2-40B4-BE49-F238E27FC236}">
                <a16:creationId xmlns:a16="http://schemas.microsoft.com/office/drawing/2014/main" id="{E095A81D-E1B2-6FCD-2B79-D15125499812}"/>
              </a:ext>
            </a:extLst>
          </p:cNvPr>
          <p:cNvSpPr txBox="1"/>
          <p:nvPr/>
        </p:nvSpPr>
        <p:spPr>
          <a:xfrm>
            <a:off x="6054879" y="4498534"/>
            <a:ext cx="1422400"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14" name="TextBox 13">
            <a:extLst>
              <a:ext uri="{FF2B5EF4-FFF2-40B4-BE49-F238E27FC236}">
                <a16:creationId xmlns:a16="http://schemas.microsoft.com/office/drawing/2014/main" id="{F255A225-1E0C-E8BA-CF5A-AB88086673D5}"/>
              </a:ext>
            </a:extLst>
          </p:cNvPr>
          <p:cNvSpPr txBox="1"/>
          <p:nvPr/>
        </p:nvSpPr>
        <p:spPr>
          <a:xfrm>
            <a:off x="10310872" y="4510126"/>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40-50</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Tree>
    <p:extLst>
      <p:ext uri="{BB962C8B-B14F-4D97-AF65-F5344CB8AC3E}">
        <p14:creationId xmlns:p14="http://schemas.microsoft.com/office/powerpoint/2010/main" val="16284003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3E4"/>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1394DAB-2590-D014-A1C6-B50C788FC03B}"/>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3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Object6">
            <a:extLst>
              <a:ext uri="{FF2B5EF4-FFF2-40B4-BE49-F238E27FC236}">
                <a16:creationId xmlns:a16="http://schemas.microsoft.com/office/drawing/2014/main" id="{7FF1EF97-377A-4E2F-B4BC-0ECF24D2D3D4}"/>
              </a:ext>
            </a:extLst>
          </p:cNvPr>
          <p:cNvSpPr/>
          <p:nvPr/>
        </p:nvSpPr>
        <p:spPr>
          <a:xfrm>
            <a:off x="816000" y="2897911"/>
            <a:ext cx="11040000" cy="863302"/>
          </a:xfrm>
          <a:prstGeom prst="rect">
            <a:avLst/>
          </a:prstGeom>
          <a:noFill/>
          <a:ln/>
        </p:spPr>
        <p:txBody>
          <a:bodyPr wrap="square" lIns="0" tIns="0" rIns="0" bIns="0" rtlCol="0" anchor="b">
            <a:noAutofit/>
          </a:bodyPr>
          <a:lstStyle/>
          <a:p>
            <a:pPr defTabSz="304815">
              <a:lnSpc>
                <a:spcPts val="2925"/>
              </a:lnSpc>
              <a:defRPr/>
            </a:pPr>
            <a:r>
              <a:rPr lang="en-US" sz="6400" dirty="0">
                <a:solidFill>
                  <a:prstClr val="white"/>
                </a:solidFill>
                <a:latin typeface="Hepta Slab ExtraLight" pitchFamily="2" charset="0"/>
                <a:cs typeface="Hepta Slab ExtraLight" pitchFamily="2" charset="0"/>
              </a:rPr>
              <a:t>Enhance my </a:t>
            </a:r>
          </a:p>
          <a:p>
            <a:pPr defTabSz="304815">
              <a:lnSpc>
                <a:spcPts val="2925"/>
              </a:lnSpc>
              <a:defRPr/>
            </a:pPr>
            <a:endParaRPr lang="en-US" sz="6400" dirty="0">
              <a:solidFill>
                <a:prstClr val="white"/>
              </a:solidFill>
              <a:latin typeface="Hepta Slab ExtraLight" pitchFamily="2" charset="0"/>
              <a:cs typeface="Hepta Slab ExtraLight" pitchFamily="2" charset="0"/>
            </a:endParaRPr>
          </a:p>
          <a:p>
            <a:pPr defTabSz="304815">
              <a:lnSpc>
                <a:spcPts val="2925"/>
              </a:lnSpc>
              <a:defRPr/>
            </a:pPr>
            <a:endParaRPr lang="en-US" sz="6400" dirty="0">
              <a:solidFill>
                <a:prstClr val="white"/>
              </a:solidFill>
              <a:latin typeface="Hepta Slab ExtraLight" pitchFamily="2" charset="0"/>
              <a:cs typeface="Hepta Slab ExtraLight" pitchFamily="2" charset="0"/>
            </a:endParaRPr>
          </a:p>
          <a:p>
            <a:pPr defTabSz="304815">
              <a:lnSpc>
                <a:spcPts val="2925"/>
              </a:lnSpc>
              <a:defRPr/>
            </a:pPr>
            <a:r>
              <a:rPr lang="en-US" sz="6400" dirty="0">
                <a:solidFill>
                  <a:prstClr val="white"/>
                </a:solidFill>
                <a:latin typeface="Hepta Slab ExtraLight" pitchFamily="2" charset="0"/>
                <a:cs typeface="Hepta Slab ExtraLight" pitchFamily="2" charset="0"/>
              </a:rPr>
              <a:t>lifestyle</a:t>
            </a:r>
          </a:p>
        </p:txBody>
      </p:sp>
      <p:sp>
        <p:nvSpPr>
          <p:cNvPr id="5" name="Object5">
            <a:extLst>
              <a:ext uri="{FF2B5EF4-FFF2-40B4-BE49-F238E27FC236}">
                <a16:creationId xmlns:a16="http://schemas.microsoft.com/office/drawing/2014/main" id="{67073DFC-4E94-92C1-62BA-D80F1E108E9E}"/>
              </a:ext>
            </a:extLst>
          </p:cNvPr>
          <p:cNvSpPr/>
          <p:nvPr/>
        </p:nvSpPr>
        <p:spPr>
          <a:xfrm>
            <a:off x="936000" y="5349000"/>
            <a:ext cx="9590621" cy="480000"/>
          </a:xfrm>
          <a:prstGeom prst="rect">
            <a:avLst/>
          </a:prstGeom>
          <a:noFill/>
          <a:ln/>
        </p:spPr>
        <p:txBody>
          <a:bodyPr wrap="square" lIns="0" tIns="0" rIns="0" bIns="0" rtlCol="0" anchor="t"/>
          <a:lstStyle/>
          <a:p>
            <a:pPr defTabSz="304815">
              <a:lnSpc>
                <a:spcPts val="4000"/>
              </a:lnSpc>
              <a:defRPr/>
            </a:pPr>
            <a:endParaRPr lang="en-US" sz="1600" b="1" dirty="0">
              <a:solidFill>
                <a:srgbClr val="7030A0"/>
              </a:solidFill>
              <a:latin typeface="Hepta Slab SemiBold" pitchFamily="2" charset="0"/>
              <a:cs typeface="Hepta Slab SemiBold" pitchFamily="2" charset="0"/>
            </a:endParaRPr>
          </a:p>
        </p:txBody>
      </p:sp>
      <p:sp>
        <p:nvSpPr>
          <p:cNvPr id="7" name="Object5">
            <a:extLst>
              <a:ext uri="{FF2B5EF4-FFF2-40B4-BE49-F238E27FC236}">
                <a16:creationId xmlns:a16="http://schemas.microsoft.com/office/drawing/2014/main" id="{778B1278-323C-A18C-C048-021C5B08E025}"/>
              </a:ext>
            </a:extLst>
          </p:cNvPr>
          <p:cNvSpPr/>
          <p:nvPr/>
        </p:nvSpPr>
        <p:spPr>
          <a:xfrm>
            <a:off x="816000" y="4661660"/>
            <a:ext cx="10320000" cy="480000"/>
          </a:xfrm>
          <a:prstGeom prst="rect">
            <a:avLst/>
          </a:prstGeom>
          <a:noFill/>
          <a:ln/>
        </p:spPr>
        <p:txBody>
          <a:bodyPr wrap="square" lIns="0" tIns="0" rIns="0" bIns="0" rtlCol="0" anchor="t"/>
          <a:lstStyle/>
          <a:p>
            <a:pPr defTabSz="304815">
              <a:lnSpc>
                <a:spcPts val="4000"/>
              </a:lnSpc>
              <a:defRPr/>
            </a:pPr>
            <a:r>
              <a:rPr lang="en-US" sz="2133" b="1" cap="small" dirty="0">
                <a:solidFill>
                  <a:prstClr val="white"/>
                </a:solidFill>
                <a:latin typeface="Hepta Slab SemiBold" pitchFamily="2" charset="0"/>
                <a:cs typeface="Hepta Slab SemiBold" pitchFamily="2" charset="0"/>
              </a:rPr>
              <a:t>personalized prestige</a:t>
            </a:r>
            <a:r>
              <a:rPr lang="en-US" sz="4000" cap="small" dirty="0">
                <a:solidFill>
                  <a:prstClr val="white"/>
                </a:solidFill>
                <a:latin typeface="Hepta Slab SemiBold" pitchFamily="2" charset="0"/>
                <a:ea typeface="Hepta Slab Regular" pitchFamily="34" charset="-122"/>
                <a:cs typeface="Hepta Slab SemiBold" pitchFamily="2" charset="0"/>
              </a:rPr>
              <a:t> .</a:t>
            </a:r>
            <a:r>
              <a:rPr lang="en-US" sz="2133" b="1" cap="small" dirty="0">
                <a:solidFill>
                  <a:prstClr val="white"/>
                </a:solidFill>
                <a:latin typeface="Hepta Slab SemiBold" pitchFamily="2" charset="0"/>
                <a:cs typeface="Hepta Slab SemiBold" pitchFamily="2" charset="0"/>
              </a:rPr>
              <a:t> personalized convenience</a:t>
            </a:r>
            <a:endParaRPr lang="en-US" sz="2133" cap="small" dirty="0">
              <a:solidFill>
                <a:prstClr val="white"/>
              </a:solidFill>
              <a:latin typeface="Hepta Slab SemiBold" pitchFamily="2" charset="0"/>
              <a:cs typeface="Hepta Slab SemiBold" pitchFamily="2" charset="0"/>
            </a:endParaRPr>
          </a:p>
        </p:txBody>
      </p:sp>
      <p:grpSp>
        <p:nvGrpSpPr>
          <p:cNvPr id="10" name="Group 9">
            <a:extLst>
              <a:ext uri="{FF2B5EF4-FFF2-40B4-BE49-F238E27FC236}">
                <a16:creationId xmlns:a16="http://schemas.microsoft.com/office/drawing/2014/main" id="{CAFD952A-1681-5666-F17F-796024D0833B}"/>
              </a:ext>
            </a:extLst>
          </p:cNvPr>
          <p:cNvGrpSpPr/>
          <p:nvPr/>
        </p:nvGrpSpPr>
        <p:grpSpPr>
          <a:xfrm>
            <a:off x="1" y="6042107"/>
            <a:ext cx="11864037" cy="911852"/>
            <a:chOff x="579560" y="9184073"/>
            <a:chExt cx="18133625" cy="1393723"/>
          </a:xfrm>
        </p:grpSpPr>
        <p:sp>
          <p:nvSpPr>
            <p:cNvPr id="11" name="Title 1">
              <a:extLst>
                <a:ext uri="{FF2B5EF4-FFF2-40B4-BE49-F238E27FC236}">
                  <a16:creationId xmlns:a16="http://schemas.microsoft.com/office/drawing/2014/main" id="{4B1DE5FE-2A08-40B0-AA06-5FA748447ACD}"/>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2" name="Picture 11">
              <a:extLst>
                <a:ext uri="{FF2B5EF4-FFF2-40B4-BE49-F238E27FC236}">
                  <a16:creationId xmlns:a16="http://schemas.microsoft.com/office/drawing/2014/main" id="{4EE6E754-F60D-D35F-A07F-0BA483A015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3" name="Picture 12">
              <a:extLst>
                <a:ext uri="{FF2B5EF4-FFF2-40B4-BE49-F238E27FC236}">
                  <a16:creationId xmlns:a16="http://schemas.microsoft.com/office/drawing/2014/main" id="{AE838A19-D314-8BAD-901B-A3D5CC0B63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7" name="TextBox 16">
            <a:extLst>
              <a:ext uri="{FF2B5EF4-FFF2-40B4-BE49-F238E27FC236}">
                <a16:creationId xmlns:a16="http://schemas.microsoft.com/office/drawing/2014/main" id="{9456D554-957C-D793-8647-A8A7B8B69E8B}"/>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47</a:t>
            </a:fld>
            <a:endParaRPr lang="en-US" sz="1333" dirty="0">
              <a:solidFill>
                <a:srgbClr val="0D0D0D"/>
              </a:solidFill>
              <a:latin typeface="Hepta Slab Medium" pitchFamily="2" charset="0"/>
              <a:cs typeface="Hepta Slab Medium" pitchFamily="2" charset="0"/>
            </a:endParaRPr>
          </a:p>
        </p:txBody>
      </p:sp>
      <p:sp>
        <p:nvSpPr>
          <p:cNvPr id="3" name="Object5">
            <a:extLst>
              <a:ext uri="{FF2B5EF4-FFF2-40B4-BE49-F238E27FC236}">
                <a16:creationId xmlns:a16="http://schemas.microsoft.com/office/drawing/2014/main" id="{1A44F299-F59E-87A1-C204-78200DBE027B}"/>
              </a:ext>
            </a:extLst>
          </p:cNvPr>
          <p:cNvSpPr/>
          <p:nvPr/>
        </p:nvSpPr>
        <p:spPr>
          <a:xfrm>
            <a:off x="816000" y="624899"/>
            <a:ext cx="7441880" cy="1124101"/>
          </a:xfrm>
          <a:prstGeom prst="rect">
            <a:avLst/>
          </a:prstGeom>
          <a:noFill/>
          <a:ln/>
          <a:effectLst>
            <a:softEdge rad="63500"/>
          </a:effectLst>
        </p:spPr>
        <p:txBody>
          <a:bodyPr wrap="square" lIns="0" tIns="0" rIns="0" bIns="0" rtlCol="0" anchor="t"/>
          <a:lstStyle/>
          <a:p>
            <a:pPr defTabSz="304815">
              <a:lnSpc>
                <a:spcPts val="4000"/>
              </a:lnSpc>
              <a:defRPr/>
            </a:pPr>
            <a:r>
              <a:rPr lang="en-US" sz="2500" cap="small" dirty="0">
                <a:solidFill>
                  <a:srgbClr val="E8A30B"/>
                </a:solidFill>
                <a:latin typeface="Montserrat ExtraBold" panose="00000900000000000000" pitchFamily="2" charset="0"/>
                <a:ea typeface="Hepta Slab Regular" pitchFamily="34" charset="-122"/>
                <a:cs typeface="Hepta Slab SemiBold" pitchFamily="2" charset="0"/>
              </a:rPr>
              <a:t>CELESTA </a:t>
            </a:r>
          </a:p>
          <a:p>
            <a:pPr defTabSz="304815">
              <a:lnSpc>
                <a:spcPts val="4000"/>
              </a:lnSpc>
              <a:defRPr/>
            </a:pPr>
            <a:r>
              <a:rPr lang="en-US" sz="2500" cap="small" dirty="0">
                <a:solidFill>
                  <a:srgbClr val="E8A30B"/>
                </a:solidFill>
                <a:latin typeface="Montserrat ExtraBold" panose="00000900000000000000" pitchFamily="2" charset="0"/>
                <a:ea typeface="Hepta Slab Regular" pitchFamily="34" charset="-122"/>
                <a:cs typeface="Hepta Slab SemiBold" pitchFamily="2" charset="0"/>
              </a:rPr>
              <a:t>CURRENT CUSTOMER : GROWING NEEDS</a:t>
            </a:r>
            <a:endParaRPr lang="en-US" sz="2500" cap="small" dirty="0">
              <a:solidFill>
                <a:srgbClr val="E8A30B"/>
              </a:solidFill>
              <a:latin typeface="Montserrat ExtraBold" panose="00000900000000000000" pitchFamily="2" charset="0"/>
              <a:cs typeface="Hepta Slab SemiBold" pitchFamily="2" charset="0"/>
            </a:endParaRPr>
          </a:p>
        </p:txBody>
      </p:sp>
      <p:pic>
        <p:nvPicPr>
          <p:cNvPr id="4" name="Picture 3">
            <a:extLst>
              <a:ext uri="{FF2B5EF4-FFF2-40B4-BE49-F238E27FC236}">
                <a16:creationId xmlns:a16="http://schemas.microsoft.com/office/drawing/2014/main" id="{25F877F1-D663-6604-300A-642E77C54457}"/>
              </a:ext>
            </a:extLst>
          </p:cNvPr>
          <p:cNvPicPr>
            <a:picLocks noChangeAspect="1"/>
          </p:cNvPicPr>
          <p:nvPr/>
        </p:nvPicPr>
        <p:blipFill>
          <a:blip r:embed="rId7">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Tree>
    <p:extLst>
      <p:ext uri="{BB962C8B-B14F-4D97-AF65-F5344CB8AC3E}">
        <p14:creationId xmlns:p14="http://schemas.microsoft.com/office/powerpoint/2010/main" val="554758523"/>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32ED070D-2152-E439-7677-EDB9A03D028B}"/>
              </a:ext>
            </a:extLst>
          </p:cNvPr>
          <p:cNvGrpSpPr/>
          <p:nvPr/>
        </p:nvGrpSpPr>
        <p:grpSpPr>
          <a:xfrm>
            <a:off x="-61290" y="6053155"/>
            <a:ext cx="12253290" cy="971832"/>
            <a:chOff x="-187799" y="8336784"/>
            <a:chExt cx="18379935" cy="1457748"/>
          </a:xfrm>
        </p:grpSpPr>
        <p:pic>
          <p:nvPicPr>
            <p:cNvPr id="17" name="Picture 16">
              <a:extLst>
                <a:ext uri="{FF2B5EF4-FFF2-40B4-BE49-F238E27FC236}">
                  <a16:creationId xmlns:a16="http://schemas.microsoft.com/office/drawing/2014/main" id="{58F35F20-CAAE-DF00-5AEE-186F673BCE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8" name="Title 1">
              <a:extLst>
                <a:ext uri="{FF2B5EF4-FFF2-40B4-BE49-F238E27FC236}">
                  <a16:creationId xmlns:a16="http://schemas.microsoft.com/office/drawing/2014/main" id="{2FD62BC9-A75A-3200-3B29-B63C9F0C796D}"/>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9" name="Picture 18">
              <a:extLst>
                <a:ext uri="{FF2B5EF4-FFF2-40B4-BE49-F238E27FC236}">
                  <a16:creationId xmlns:a16="http://schemas.microsoft.com/office/drawing/2014/main" id="{9B87B4D3-DBB4-1329-2F51-2014CDA4FD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 name="Object6">
            <a:extLst>
              <a:ext uri="{FF2B5EF4-FFF2-40B4-BE49-F238E27FC236}">
                <a16:creationId xmlns:a16="http://schemas.microsoft.com/office/drawing/2014/main" id="{D50ECCA3-915F-3428-7891-A1CE3ECBA686}"/>
              </a:ext>
            </a:extLst>
          </p:cNvPr>
          <p:cNvSpPr/>
          <p:nvPr/>
        </p:nvSpPr>
        <p:spPr>
          <a:xfrm>
            <a:off x="516000" y="1280477"/>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2060"/>
                </a:solidFill>
                <a:effectLst/>
                <a:uLnTx/>
                <a:uFillTx/>
                <a:latin typeface="Montserrat ExtraBold" pitchFamily="34" charset="0"/>
                <a:ea typeface="+mn-ea"/>
                <a:cs typeface="+mn-cs"/>
              </a:rPr>
              <a:t>IN A NUTSHELL</a:t>
            </a:r>
            <a:endParaRPr kumimoji="0" lang="en-US" sz="16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3" name="Object5">
            <a:extLst>
              <a:ext uri="{FF2B5EF4-FFF2-40B4-BE49-F238E27FC236}">
                <a16:creationId xmlns:a16="http://schemas.microsoft.com/office/drawing/2014/main" id="{2D9CFB6E-04DB-F8B9-3DA4-9F80043E6FB4}"/>
              </a:ext>
            </a:extLst>
          </p:cNvPr>
          <p:cNvSpPr/>
          <p:nvPr/>
        </p:nvSpPr>
        <p:spPr>
          <a:xfrm>
            <a:off x="528307" y="752501"/>
            <a:ext cx="9728666" cy="370658"/>
          </a:xfrm>
          <a:prstGeom prst="rect">
            <a:avLst/>
          </a:prstGeom>
          <a:noFill/>
          <a:ln/>
        </p:spPr>
        <p:txBody>
          <a:bodyPr wrap="square" lIns="0" tIns="0" rIns="0" bIns="0" rtlCol="0" anchor="t"/>
          <a:lstStyle/>
          <a:p>
            <a:pPr>
              <a:lnSpc>
                <a:spcPts val="2400"/>
              </a:lnSpc>
              <a:defRPr/>
            </a:pPr>
            <a:r>
              <a:rPr lang="en-US" sz="2400" cap="all" dirty="0">
                <a:solidFill>
                  <a:srgbClr val="A9734C"/>
                </a:solidFill>
                <a:latin typeface="Montserrat ExtraBold" pitchFamily="34" charset="0"/>
              </a:rPr>
              <a:t>PERSONALIZED CONVENIENCE. PERSONALIZED PRESTIGE</a:t>
            </a:r>
          </a:p>
        </p:txBody>
      </p:sp>
      <p:sp>
        <p:nvSpPr>
          <p:cNvPr id="4" name="Object6">
            <a:extLst>
              <a:ext uri="{FF2B5EF4-FFF2-40B4-BE49-F238E27FC236}">
                <a16:creationId xmlns:a16="http://schemas.microsoft.com/office/drawing/2014/main" id="{C391AFDC-37EC-9D39-A98C-94624DA95DC2}"/>
              </a:ext>
            </a:extLst>
          </p:cNvPr>
          <p:cNvSpPr/>
          <p:nvPr/>
        </p:nvSpPr>
        <p:spPr>
          <a:xfrm>
            <a:off x="528307" y="447156"/>
            <a:ext cx="5156160" cy="370658"/>
          </a:xfrm>
          <a:prstGeom prst="rect">
            <a:avLst/>
          </a:prstGeom>
          <a:noFill/>
          <a:ln/>
        </p:spPr>
        <p:txBody>
          <a:bodyPr wrap="square" lIns="0" tIns="0" rIns="0" bIns="0" rtlCol="0" anchor="t"/>
          <a:lstStyle/>
          <a:p>
            <a:pPr defTabSz="304815">
              <a:lnSpc>
                <a:spcPts val="2400"/>
              </a:lnSpc>
              <a:defRPr/>
            </a:pPr>
            <a:r>
              <a:rPr lang="en-US" sz="2400" cap="all" dirty="0">
                <a:solidFill>
                  <a:srgbClr val="002060"/>
                </a:solidFill>
                <a:latin typeface="Montserrat ExtraBold" pitchFamily="34" charset="0"/>
              </a:rPr>
              <a:t>ENHANCE MY LIFESTYLE</a:t>
            </a:r>
          </a:p>
        </p:txBody>
      </p:sp>
      <p:sp>
        <p:nvSpPr>
          <p:cNvPr id="5" name="TextBox 4">
            <a:extLst>
              <a:ext uri="{FF2B5EF4-FFF2-40B4-BE49-F238E27FC236}">
                <a16:creationId xmlns:a16="http://schemas.microsoft.com/office/drawing/2014/main" id="{8A3C0B23-9BB1-C683-ACB7-229E86950CC5}"/>
              </a:ext>
            </a:extLst>
          </p:cNvPr>
          <p:cNvSpPr txBox="1"/>
          <p:nvPr/>
        </p:nvSpPr>
        <p:spPr>
          <a:xfrm>
            <a:off x="363597" y="1989313"/>
            <a:ext cx="10641739" cy="3314241"/>
          </a:xfrm>
          <a:prstGeom prst="rect">
            <a:avLst/>
          </a:prstGeom>
          <a:noFill/>
        </p:spPr>
        <p:txBody>
          <a:bodyPr wrap="square">
            <a:spAutoFit/>
          </a:bodyPr>
          <a:lstStyle/>
          <a:p>
            <a:pPr defTabSz="304815">
              <a:lnSpc>
                <a:spcPct val="150000"/>
              </a:lnSpc>
              <a:spcAft>
                <a:spcPts val="800"/>
              </a:spcAft>
            </a:pPr>
            <a:r>
              <a:rPr lang="en-US" sz="1600" dirty="0">
                <a:solidFill>
                  <a:srgbClr val="002060"/>
                </a:solidFill>
                <a:latin typeface="Hepta Slab Medium" pitchFamily="2" charset="0"/>
                <a:cs typeface="Hepta Slab Medium" pitchFamily="2" charset="0"/>
              </a:rPr>
              <a:t>Concierge services are mainly understood as the “pick-up &amp; drop” facilities.</a:t>
            </a:r>
          </a:p>
          <a:p>
            <a:pPr defTabSz="304815">
              <a:lnSpc>
                <a:spcPct val="150000"/>
              </a:lnSpc>
              <a:spcAft>
                <a:spcPts val="800"/>
              </a:spcAft>
            </a:pPr>
            <a:r>
              <a:rPr lang="en-US" sz="1600" dirty="0">
                <a:solidFill>
                  <a:srgbClr val="002060"/>
                </a:solidFill>
                <a:latin typeface="Hepta Slab Medium" pitchFamily="2" charset="0"/>
                <a:cs typeface="Hepta Slab Medium" pitchFamily="2" charset="0"/>
              </a:rPr>
              <a:t>Exposure to Lifestyle Benefits is limited to “Lounge” &amp; “Pick-up drop” facilities . The lounge access facility is perceived to be high on friction especially when the “family” is travelling . The “Pick-up drop” facility is seen as a gesture from the RM  &amp; not a structured benefit</a:t>
            </a:r>
          </a:p>
          <a:p>
            <a:pPr defTabSz="304815">
              <a:lnSpc>
                <a:spcPct val="150000"/>
              </a:lnSpc>
              <a:spcAft>
                <a:spcPts val="800"/>
              </a:spcAft>
            </a:pPr>
            <a:r>
              <a:rPr lang="en-US" sz="1600" dirty="0">
                <a:solidFill>
                  <a:srgbClr val="002060"/>
                </a:solidFill>
                <a:latin typeface="Hepta Slab Medium" pitchFamily="2" charset="0"/>
                <a:cs typeface="Hepta Slab Medium" pitchFamily="2" charset="0"/>
              </a:rPr>
              <a:t>Significant percentage of respondents find the card benefits &amp; offers irrelevant or difficult to utilize</a:t>
            </a:r>
          </a:p>
          <a:p>
            <a:pPr defTabSz="304815">
              <a:lnSpc>
                <a:spcPct val="150000"/>
              </a:lnSpc>
              <a:spcAft>
                <a:spcPts val="800"/>
              </a:spcAft>
            </a:pPr>
            <a:r>
              <a:rPr lang="en-US" sz="1600" dirty="0">
                <a:solidFill>
                  <a:srgbClr val="002060"/>
                </a:solidFill>
                <a:latin typeface="Hepta Slab Medium" pitchFamily="2" charset="0"/>
                <a:cs typeface="Hepta Slab Medium" pitchFamily="2" charset="0"/>
              </a:rPr>
              <a:t>Overall, nearly 50% of the respondents who have experienced Celesta lifestyle benefits, rate competition brands to be better</a:t>
            </a:r>
          </a:p>
        </p:txBody>
      </p:sp>
      <p:sp>
        <p:nvSpPr>
          <p:cNvPr id="6" name="TextBox 5">
            <a:extLst>
              <a:ext uri="{FF2B5EF4-FFF2-40B4-BE49-F238E27FC236}">
                <a16:creationId xmlns:a16="http://schemas.microsoft.com/office/drawing/2014/main" id="{51F2289F-A68E-0954-B53A-A348C40C7A64}"/>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48</a:t>
            </a:fld>
            <a:endParaRPr lang="en-US" sz="1333" dirty="0">
              <a:solidFill>
                <a:srgbClr val="0D0D0D"/>
              </a:solidFill>
              <a:latin typeface="Hepta Slab Medium" pitchFamily="2" charset="0"/>
              <a:cs typeface="Hepta Slab Medium" pitchFamily="2" charset="0"/>
            </a:endParaRPr>
          </a:p>
        </p:txBody>
      </p:sp>
      <p:sp>
        <p:nvSpPr>
          <p:cNvPr id="7" name="TextBox 6">
            <a:extLst>
              <a:ext uri="{FF2B5EF4-FFF2-40B4-BE49-F238E27FC236}">
                <a16:creationId xmlns:a16="http://schemas.microsoft.com/office/drawing/2014/main" id="{92B7920B-61A3-85F0-12DD-B8455534FEEB}"/>
              </a:ext>
            </a:extLst>
          </p:cNvPr>
          <p:cNvSpPr txBox="1"/>
          <p:nvPr/>
        </p:nvSpPr>
        <p:spPr>
          <a:xfrm>
            <a:off x="6905625" y="310798"/>
            <a:ext cx="3701654"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Personalization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24913126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5C040EC4-82FC-8317-DB95-26AFE373A4BF}"/>
            </a:ext>
          </a:extLst>
        </p:cNvPr>
        <p:cNvGrpSpPr/>
        <p:nvPr/>
      </p:nvGrpSpPr>
      <p:grpSpPr>
        <a:xfrm>
          <a:off x="0" y="0"/>
          <a:ext cx="0" cy="0"/>
          <a:chOff x="0" y="0"/>
          <a:chExt cx="0" cy="0"/>
        </a:xfrm>
      </p:grpSpPr>
      <p:sp>
        <p:nvSpPr>
          <p:cNvPr id="14" name="Object6">
            <a:extLst>
              <a:ext uri="{FF2B5EF4-FFF2-40B4-BE49-F238E27FC236}">
                <a16:creationId xmlns:a16="http://schemas.microsoft.com/office/drawing/2014/main" id="{B61C728F-35B5-69D5-0C6F-BBFC3A0ECF86}"/>
              </a:ext>
            </a:extLst>
          </p:cNvPr>
          <p:cNvSpPr/>
          <p:nvPr/>
        </p:nvSpPr>
        <p:spPr>
          <a:xfrm>
            <a:off x="725050" y="1784771"/>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D0D0D"/>
                </a:solidFill>
                <a:effectLst/>
                <a:uLnTx/>
                <a:uFillTx/>
                <a:latin typeface="Montserrat ExtraBold" pitchFamily="34" charset="0"/>
                <a:ea typeface="+mn-ea"/>
                <a:cs typeface="+mn-cs"/>
              </a:rPr>
              <a:t>Emotional affinity to Lifestyle benefits</a:t>
            </a:r>
          </a:p>
        </p:txBody>
      </p:sp>
      <p:grpSp>
        <p:nvGrpSpPr>
          <p:cNvPr id="18" name="Group 17">
            <a:extLst>
              <a:ext uri="{FF2B5EF4-FFF2-40B4-BE49-F238E27FC236}">
                <a16:creationId xmlns:a16="http://schemas.microsoft.com/office/drawing/2014/main" id="{B9EC0F8E-0665-B37F-2F38-8CE6F953837B}"/>
              </a:ext>
            </a:extLst>
          </p:cNvPr>
          <p:cNvGrpSpPr/>
          <p:nvPr/>
        </p:nvGrpSpPr>
        <p:grpSpPr>
          <a:xfrm>
            <a:off x="-61290" y="6053155"/>
            <a:ext cx="12253290" cy="971832"/>
            <a:chOff x="-187799" y="8336784"/>
            <a:chExt cx="18379935" cy="1457748"/>
          </a:xfrm>
        </p:grpSpPr>
        <p:pic>
          <p:nvPicPr>
            <p:cNvPr id="19" name="Picture 18">
              <a:extLst>
                <a:ext uri="{FF2B5EF4-FFF2-40B4-BE49-F238E27FC236}">
                  <a16:creationId xmlns:a16="http://schemas.microsoft.com/office/drawing/2014/main" id="{37863C47-2D6B-1F79-3551-16C618579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0" name="Title 1">
              <a:extLst>
                <a:ext uri="{FF2B5EF4-FFF2-40B4-BE49-F238E27FC236}">
                  <a16:creationId xmlns:a16="http://schemas.microsoft.com/office/drawing/2014/main" id="{EC032A83-2848-F3A8-2B31-53521CE69B48}"/>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1" name="Picture 20">
              <a:extLst>
                <a:ext uri="{FF2B5EF4-FFF2-40B4-BE49-F238E27FC236}">
                  <a16:creationId xmlns:a16="http://schemas.microsoft.com/office/drawing/2014/main" id="{4B4DA2FE-E0A6-581A-DDBA-A31AE9D7DA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9" name="TextBox 28">
            <a:extLst>
              <a:ext uri="{FF2B5EF4-FFF2-40B4-BE49-F238E27FC236}">
                <a16:creationId xmlns:a16="http://schemas.microsoft.com/office/drawing/2014/main" id="{B57A1EDA-A9C8-D00A-8AB0-2B0F199B3737}"/>
              </a:ext>
            </a:extLst>
          </p:cNvPr>
          <p:cNvSpPr txBox="1"/>
          <p:nvPr/>
        </p:nvSpPr>
        <p:spPr>
          <a:xfrm>
            <a:off x="7845799" y="6448382"/>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2" name="Picture 1" descr="A blue brain with a blue background&#10;&#10;Description automatically generated">
            <a:extLst>
              <a:ext uri="{FF2B5EF4-FFF2-40B4-BE49-F238E27FC236}">
                <a16:creationId xmlns:a16="http://schemas.microsoft.com/office/drawing/2014/main" id="{96A58D3F-2BA7-4736-8CCB-B81CA5C0DC56}"/>
              </a:ext>
            </a:extLst>
          </p:cNvPr>
          <p:cNvPicPr>
            <a:picLocks noChangeAspect="1"/>
          </p:cNvPicPr>
          <p:nvPr/>
        </p:nvPicPr>
        <p:blipFill>
          <a:blip r:embed="rId5" cstate="print">
            <a:extLst>
              <a:ext uri="{28A0092B-C50C-407E-A947-70E740481C1C}">
                <a14:useLocalDpi xmlns:a14="http://schemas.microsoft.com/office/drawing/2010/main" val="0"/>
              </a:ext>
            </a:extLst>
          </a:blip>
          <a:srcRect l="24683" r="24684"/>
          <a:stretch/>
        </p:blipFill>
        <p:spPr>
          <a:xfrm>
            <a:off x="457200" y="365124"/>
            <a:ext cx="914402" cy="8458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Object5">
            <a:extLst>
              <a:ext uri="{FF2B5EF4-FFF2-40B4-BE49-F238E27FC236}">
                <a16:creationId xmlns:a16="http://schemas.microsoft.com/office/drawing/2014/main" id="{19086E65-7C2E-3EAC-4604-DDCF31B2569E}"/>
              </a:ext>
            </a:extLst>
          </p:cNvPr>
          <p:cNvSpPr/>
          <p:nvPr/>
        </p:nvSpPr>
        <p:spPr>
          <a:xfrm>
            <a:off x="1645733" y="712646"/>
            <a:ext cx="7080000" cy="370658"/>
          </a:xfrm>
          <a:prstGeom prst="rect">
            <a:avLst/>
          </a:prstGeom>
          <a:noFill/>
          <a:ln/>
        </p:spPr>
        <p:txBody>
          <a:bodyPr wrap="square" lIns="0" tIns="0" rIns="0" bIns="0" rtlCol="0" anchor="t"/>
          <a:lstStyle/>
          <a:p>
            <a:pPr>
              <a:lnSpc>
                <a:spcPts val="2400"/>
              </a:lnSpc>
              <a:defRPr/>
            </a:pPr>
            <a:r>
              <a:rPr lang="en-US" sz="1600" cap="all" dirty="0">
                <a:solidFill>
                  <a:srgbClr val="A9734C"/>
                </a:solidFill>
                <a:latin typeface="Montserrat ExtraBold" pitchFamily="34" charset="0"/>
              </a:rPr>
              <a:t>PERSONALIZED CONVENIENCE. PERSONALIZED PRESTIGE</a:t>
            </a:r>
          </a:p>
        </p:txBody>
      </p:sp>
      <p:sp>
        <p:nvSpPr>
          <p:cNvPr id="4" name="Object6">
            <a:extLst>
              <a:ext uri="{FF2B5EF4-FFF2-40B4-BE49-F238E27FC236}">
                <a16:creationId xmlns:a16="http://schemas.microsoft.com/office/drawing/2014/main" id="{CADF47EC-20BE-46D7-F066-CDC7FB4B7EF8}"/>
              </a:ext>
            </a:extLst>
          </p:cNvPr>
          <p:cNvSpPr/>
          <p:nvPr/>
        </p:nvSpPr>
        <p:spPr>
          <a:xfrm>
            <a:off x="1649573" y="472648"/>
            <a:ext cx="5156160" cy="370658"/>
          </a:xfrm>
          <a:prstGeom prst="rect">
            <a:avLst/>
          </a:prstGeom>
          <a:noFill/>
          <a:ln/>
        </p:spPr>
        <p:txBody>
          <a:bodyPr wrap="square" lIns="0" tIns="0" rIns="0" bIns="0" rtlCol="0" anchor="t"/>
          <a:lstStyle/>
          <a:p>
            <a:pPr defTabSz="304815">
              <a:lnSpc>
                <a:spcPts val="2400"/>
              </a:lnSpc>
              <a:defRPr/>
            </a:pPr>
            <a:r>
              <a:rPr lang="en-US" sz="1600" cap="all" dirty="0">
                <a:solidFill>
                  <a:srgbClr val="0D0D0D"/>
                </a:solidFill>
                <a:latin typeface="Montserrat ExtraBold" pitchFamily="34" charset="0"/>
                <a:ea typeface="Montserrat ExtraBold" pitchFamily="34" charset="-122"/>
                <a:cs typeface="Montserrat ExtraBold" pitchFamily="34" charset="-120"/>
              </a:rPr>
              <a:t>ENHANCE MY LIFESTYLE</a:t>
            </a:r>
            <a:endParaRPr lang="en-US" sz="1600" cap="all" dirty="0">
              <a:solidFill>
                <a:srgbClr val="0D0D0D"/>
              </a:solidFill>
              <a:latin typeface="Calibri" panose="020F0502020204030204"/>
            </a:endParaRPr>
          </a:p>
        </p:txBody>
      </p:sp>
      <p:sp>
        <p:nvSpPr>
          <p:cNvPr id="5" name="TextBox 4">
            <a:extLst>
              <a:ext uri="{FF2B5EF4-FFF2-40B4-BE49-F238E27FC236}">
                <a16:creationId xmlns:a16="http://schemas.microsoft.com/office/drawing/2014/main" id="{09BDB327-8896-A445-4C36-1B7CF86B537D}"/>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49</a:t>
            </a:fld>
            <a:endParaRPr lang="en-US" sz="1333" dirty="0">
              <a:solidFill>
                <a:srgbClr val="0D0D0D"/>
              </a:solidFill>
              <a:latin typeface="Hepta Slab Medium" pitchFamily="2" charset="0"/>
              <a:cs typeface="Hepta Slab Medium" pitchFamily="2" charset="0"/>
            </a:endParaRPr>
          </a:p>
        </p:txBody>
      </p:sp>
      <p:sp>
        <p:nvSpPr>
          <p:cNvPr id="6" name="TextBox 5">
            <a:extLst>
              <a:ext uri="{FF2B5EF4-FFF2-40B4-BE49-F238E27FC236}">
                <a16:creationId xmlns:a16="http://schemas.microsoft.com/office/drawing/2014/main" id="{984AEEC7-2DFB-6999-B1A0-9F5522885AEC}"/>
              </a:ext>
            </a:extLst>
          </p:cNvPr>
          <p:cNvSpPr txBox="1"/>
          <p:nvPr/>
        </p:nvSpPr>
        <p:spPr>
          <a:xfrm>
            <a:off x="6905625" y="310798"/>
            <a:ext cx="3701654"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Personalization is an opportunity area</a:t>
            </a:r>
            <a:endParaRPr lang="en-IN" sz="1400" dirty="0">
              <a:solidFill>
                <a:srgbClr val="A9734C"/>
              </a:solidFill>
              <a:latin typeface="Montserrat SemiBold" panose="00000700000000000000" pitchFamily="2" charset="0"/>
            </a:endParaRPr>
          </a:p>
        </p:txBody>
      </p:sp>
      <p:sp>
        <p:nvSpPr>
          <p:cNvPr id="10" name="TextBox 9">
            <a:extLst>
              <a:ext uri="{FF2B5EF4-FFF2-40B4-BE49-F238E27FC236}">
                <a16:creationId xmlns:a16="http://schemas.microsoft.com/office/drawing/2014/main" id="{4CFFC189-F525-5718-D394-858929EE49E3}"/>
              </a:ext>
            </a:extLst>
          </p:cNvPr>
          <p:cNvSpPr txBox="1"/>
          <p:nvPr/>
        </p:nvSpPr>
        <p:spPr>
          <a:xfrm>
            <a:off x="725050" y="2602433"/>
            <a:ext cx="9623401" cy="2421689"/>
          </a:xfrm>
          <a:prstGeom prst="rect">
            <a:avLst/>
          </a:prstGeom>
          <a:noFill/>
        </p:spPr>
        <p:txBody>
          <a:bodyPr wrap="square" rtlCol="0">
            <a:spAutoFit/>
          </a:bodyPr>
          <a:lstStyle/>
          <a:p>
            <a:pPr>
              <a:lnSpc>
                <a:spcPct val="150000"/>
              </a:lnSpc>
            </a:pPr>
            <a:r>
              <a:rPr lang="en-US" sz="1600" dirty="0">
                <a:solidFill>
                  <a:srgbClr val="264161"/>
                </a:solidFill>
                <a:latin typeface="Hepta Slab Medium" pitchFamily="2" charset="0"/>
                <a:cs typeface="Hepta Slab Medium" pitchFamily="2" charset="0"/>
              </a:rPr>
              <a:t>For the current Celesta customer base </a:t>
            </a:r>
            <a:r>
              <a:rPr lang="en-US" sz="1600" dirty="0">
                <a:solidFill>
                  <a:srgbClr val="264161"/>
                </a:solidFill>
                <a:latin typeface="Hepta Slab SemiBold" pitchFamily="2" charset="0"/>
                <a:cs typeface="Hepta Slab SemiBold" pitchFamily="2" charset="0"/>
              </a:rPr>
              <a:t>most salient Lifestyle Benefits features</a:t>
            </a:r>
            <a:r>
              <a:rPr lang="en-US" sz="1600" dirty="0">
                <a:solidFill>
                  <a:srgbClr val="264161"/>
                </a:solidFill>
                <a:latin typeface="Hepta Slab Medium" pitchFamily="2" charset="0"/>
                <a:cs typeface="Hepta Slab Medium" pitchFamily="2" charset="0"/>
              </a:rPr>
              <a:t> are those that provide  : Personalized luxury &amp; , Exclusive events</a:t>
            </a:r>
          </a:p>
          <a:p>
            <a:pPr>
              <a:lnSpc>
                <a:spcPct val="150000"/>
              </a:lnSpc>
            </a:pPr>
            <a:endParaRPr lang="en-US" sz="1600" dirty="0">
              <a:solidFill>
                <a:srgbClr val="264161"/>
              </a:solidFill>
              <a:latin typeface="Hepta Slab Medium" pitchFamily="2" charset="0"/>
              <a:cs typeface="Hepta Slab Medium" pitchFamily="2" charset="0"/>
            </a:endParaRPr>
          </a:p>
          <a:p>
            <a:pPr marL="0" marR="0" lvl="0" indent="0" algn="l" defTabSz="914400" rtl="0" eaLnBrk="1" fontAlgn="auto" latinLnBrk="0" hangingPunct="1">
              <a:lnSpc>
                <a:spcPct val="150000"/>
              </a:lnSpc>
              <a:spcBef>
                <a:spcPts val="0"/>
              </a:spcBef>
              <a:spcAft>
                <a:spcPts val="1200"/>
              </a:spcAft>
              <a:buClrTx/>
              <a:buSzTx/>
              <a:buFontTx/>
              <a:buNone/>
              <a:tabLst/>
              <a:defRPr/>
            </a:pPr>
            <a:r>
              <a:rPr lang="en-IN" sz="1600" dirty="0">
                <a:solidFill>
                  <a:srgbClr val="A9734C"/>
                </a:solidFill>
                <a:latin typeface="Hepta Slab Medium" pitchFamily="2" charset="0"/>
                <a:cs typeface="Hepta Slab Medium" pitchFamily="2" charset="0"/>
              </a:rPr>
              <a:t>On the other hand, Concierge, Philanthropy , Exclusive digital content have the </a:t>
            </a:r>
            <a:r>
              <a:rPr lang="en-IN" sz="1600" dirty="0">
                <a:solidFill>
                  <a:srgbClr val="A9734C"/>
                </a:solidFill>
                <a:latin typeface="Hepta Slab SemiBold" pitchFamily="2" charset="0"/>
                <a:cs typeface="Hepta Slab SemiBold" pitchFamily="2" charset="0"/>
              </a:rPr>
              <a:t>weakest salience</a:t>
            </a:r>
          </a:p>
          <a:p>
            <a:pPr>
              <a:lnSpc>
                <a:spcPct val="150000"/>
              </a:lnSpc>
            </a:pPr>
            <a:r>
              <a:rPr lang="en-IN" sz="1600" dirty="0">
                <a:solidFill>
                  <a:srgbClr val="264161"/>
                </a:solidFill>
                <a:latin typeface="Hepta Slab Medium" pitchFamily="2" charset="0"/>
                <a:cs typeface="Hepta Slab Medium" pitchFamily="2" charset="0"/>
              </a:rPr>
              <a:t>For salience strength tables please see slide &lt;&lt;&gt;&gt; in annexures</a:t>
            </a:r>
          </a:p>
        </p:txBody>
      </p:sp>
    </p:spTree>
    <p:extLst>
      <p:ext uri="{BB962C8B-B14F-4D97-AF65-F5344CB8AC3E}">
        <p14:creationId xmlns:p14="http://schemas.microsoft.com/office/powerpoint/2010/main" val="640234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3" name="Object5">
            <a:extLst>
              <a:ext uri="{FF2B5EF4-FFF2-40B4-BE49-F238E27FC236}">
                <a16:creationId xmlns:a16="http://schemas.microsoft.com/office/drawing/2014/main" id="{3D6A9A5C-ACF7-3337-E039-E7337BF379F0}"/>
              </a:ext>
            </a:extLst>
          </p:cNvPr>
          <p:cNvSpPr/>
          <p:nvPr/>
        </p:nvSpPr>
        <p:spPr>
          <a:xfrm>
            <a:off x="865428" y="3245284"/>
            <a:ext cx="2400000" cy="240000"/>
          </a:xfrm>
          <a:prstGeom prst="rect">
            <a:avLst/>
          </a:prstGeom>
          <a:noFill/>
          <a:ln/>
        </p:spPr>
        <p:txBody>
          <a:bodyPr wrap="square" lIns="0" tIns="0" rIns="0" bIns="0" rtlCol="0" anchor="t"/>
          <a:lstStyle/>
          <a:p>
            <a:pPr defTabSz="304815"/>
            <a:r>
              <a:rPr lang="en-US" dirty="0">
                <a:solidFill>
                  <a:srgbClr val="002060"/>
                </a:solidFill>
                <a:latin typeface="Montserrat Medium" pitchFamily="2" charset="0"/>
                <a:ea typeface="Hepta Slab Regular" pitchFamily="34" charset="-122"/>
                <a:cs typeface="Hepta Slab Regular" pitchFamily="2" charset="0"/>
              </a:rPr>
              <a:t>Luxury Experiences</a:t>
            </a:r>
            <a:endParaRPr lang="en-US" dirty="0">
              <a:solidFill>
                <a:srgbClr val="002060"/>
              </a:solidFill>
              <a:latin typeface="Montserrat Medium" pitchFamily="2" charset="0"/>
              <a:cs typeface="Hepta Slab Regular" pitchFamily="2" charset="0"/>
            </a:endParaRPr>
          </a:p>
        </p:txBody>
      </p:sp>
      <p:sp>
        <p:nvSpPr>
          <p:cNvPr id="14" name="Object6">
            <a:extLst>
              <a:ext uri="{FF2B5EF4-FFF2-40B4-BE49-F238E27FC236}">
                <a16:creationId xmlns:a16="http://schemas.microsoft.com/office/drawing/2014/main" id="{A3A51650-C661-6A1B-565C-CDD16E4827D8}"/>
              </a:ext>
            </a:extLst>
          </p:cNvPr>
          <p:cNvSpPr/>
          <p:nvPr/>
        </p:nvSpPr>
        <p:spPr>
          <a:xfrm>
            <a:off x="865428" y="2405284"/>
            <a:ext cx="2520000" cy="840000"/>
          </a:xfrm>
          <a:prstGeom prst="rect">
            <a:avLst/>
          </a:prstGeom>
          <a:noFill/>
          <a:ln/>
        </p:spPr>
        <p:txBody>
          <a:bodyPr wrap="square" lIns="0" tIns="0" rIns="0" bIns="0" rtlCol="0" anchor="b">
            <a:noAutofit/>
          </a:bodyPr>
          <a:lstStyle/>
          <a:p>
            <a:pPr defTabSz="304815">
              <a:lnSpc>
                <a:spcPts val="2925"/>
              </a:lnSpc>
            </a:pPr>
            <a:r>
              <a:rPr lang="en-US" sz="6400" dirty="0">
                <a:solidFill>
                  <a:srgbClr val="002060"/>
                </a:solidFill>
                <a:latin typeface="Hepta Slab ExtraLight" pitchFamily="2" charset="0"/>
                <a:cs typeface="Hepta Slab ExtraLight" pitchFamily="2" charset="0"/>
              </a:rPr>
              <a:t>1</a:t>
            </a:r>
          </a:p>
        </p:txBody>
      </p:sp>
      <p:sp>
        <p:nvSpPr>
          <p:cNvPr id="15" name="Object5">
            <a:extLst>
              <a:ext uri="{FF2B5EF4-FFF2-40B4-BE49-F238E27FC236}">
                <a16:creationId xmlns:a16="http://schemas.microsoft.com/office/drawing/2014/main" id="{8F988A60-C417-2D47-869F-5C51A7361145}"/>
              </a:ext>
            </a:extLst>
          </p:cNvPr>
          <p:cNvSpPr/>
          <p:nvPr/>
        </p:nvSpPr>
        <p:spPr>
          <a:xfrm>
            <a:off x="865428" y="5165284"/>
            <a:ext cx="2922449" cy="196805"/>
          </a:xfrm>
          <a:prstGeom prst="rect">
            <a:avLst/>
          </a:prstGeom>
          <a:noFill/>
          <a:ln/>
        </p:spPr>
        <p:txBody>
          <a:bodyPr wrap="square" lIns="0" tIns="0" rIns="0" bIns="0" rtlCol="0" anchor="t"/>
          <a:lstStyle/>
          <a:p>
            <a:pPr defTabSz="304815"/>
            <a:r>
              <a:rPr lang="en-US" dirty="0">
                <a:solidFill>
                  <a:srgbClr val="002060"/>
                </a:solidFill>
                <a:latin typeface="Montserrat Medium" pitchFamily="2" charset="0"/>
                <a:ea typeface="Hepta Slab Regular" pitchFamily="34" charset="-122"/>
                <a:cs typeface="Hepta Slab Regular" pitchFamily="2" charset="0"/>
              </a:rPr>
              <a:t>Community &amp; social engagement</a:t>
            </a:r>
            <a:endParaRPr lang="en-US" dirty="0">
              <a:solidFill>
                <a:srgbClr val="002060"/>
              </a:solidFill>
              <a:latin typeface="Montserrat Medium" pitchFamily="2" charset="0"/>
              <a:cs typeface="Hepta Slab Regular" pitchFamily="2" charset="0"/>
            </a:endParaRPr>
          </a:p>
        </p:txBody>
      </p:sp>
      <p:sp>
        <p:nvSpPr>
          <p:cNvPr id="16" name="Object6">
            <a:extLst>
              <a:ext uri="{FF2B5EF4-FFF2-40B4-BE49-F238E27FC236}">
                <a16:creationId xmlns:a16="http://schemas.microsoft.com/office/drawing/2014/main" id="{E48877F0-7FCA-80E1-FA63-87BDE8D17655}"/>
              </a:ext>
            </a:extLst>
          </p:cNvPr>
          <p:cNvSpPr/>
          <p:nvPr/>
        </p:nvSpPr>
        <p:spPr>
          <a:xfrm>
            <a:off x="865428" y="4325284"/>
            <a:ext cx="2520000" cy="840000"/>
          </a:xfrm>
          <a:prstGeom prst="rect">
            <a:avLst/>
          </a:prstGeom>
          <a:noFill/>
          <a:ln/>
        </p:spPr>
        <p:txBody>
          <a:bodyPr wrap="square" lIns="0" tIns="0" rIns="0" bIns="0" rtlCol="0" anchor="b">
            <a:noAutofit/>
          </a:bodyPr>
          <a:lstStyle/>
          <a:p>
            <a:pPr defTabSz="304815">
              <a:lnSpc>
                <a:spcPts val="2925"/>
              </a:lnSpc>
            </a:pPr>
            <a:r>
              <a:rPr lang="en-US" sz="6400" dirty="0">
                <a:solidFill>
                  <a:srgbClr val="002060"/>
                </a:solidFill>
                <a:latin typeface="Hepta Slab ExtraLight" pitchFamily="2" charset="0"/>
                <a:cs typeface="Hepta Slab ExtraLight" pitchFamily="2" charset="0"/>
              </a:rPr>
              <a:t>2</a:t>
            </a:r>
          </a:p>
        </p:txBody>
      </p:sp>
      <p:sp>
        <p:nvSpPr>
          <p:cNvPr id="22" name="Object6">
            <a:extLst>
              <a:ext uri="{FF2B5EF4-FFF2-40B4-BE49-F238E27FC236}">
                <a16:creationId xmlns:a16="http://schemas.microsoft.com/office/drawing/2014/main" id="{0795931D-16FA-8787-D6FF-7BDB0EF72DF5}"/>
              </a:ext>
            </a:extLst>
          </p:cNvPr>
          <p:cNvSpPr/>
          <p:nvPr/>
        </p:nvSpPr>
        <p:spPr>
          <a:xfrm>
            <a:off x="7834151" y="1988999"/>
            <a:ext cx="2378994" cy="480000"/>
          </a:xfrm>
          <a:prstGeom prst="rect">
            <a:avLst/>
          </a:prstGeom>
          <a:noFill/>
          <a:ln/>
        </p:spPr>
        <p:txBody>
          <a:bodyPr wrap="square" lIns="0" tIns="0" rIns="0" bIns="0" rtlCol="0" anchor="t"/>
          <a:lstStyle/>
          <a:p>
            <a:pPr defTabSz="304815">
              <a:lnSpc>
                <a:spcPts val="2925"/>
              </a:lnSpc>
            </a:pPr>
            <a:r>
              <a:rPr lang="en-US" sz="1600" cap="all" dirty="0">
                <a:solidFill>
                  <a:prstClr val="black">
                    <a:lumMod val="65000"/>
                    <a:lumOff val="35000"/>
                  </a:prstClr>
                </a:solidFill>
                <a:latin typeface="Montserrat ExtraBold" pitchFamily="34" charset="0"/>
              </a:rPr>
              <a:t>Beyond status</a:t>
            </a:r>
          </a:p>
        </p:txBody>
      </p:sp>
      <p:grpSp>
        <p:nvGrpSpPr>
          <p:cNvPr id="19" name="Group 18">
            <a:extLst>
              <a:ext uri="{FF2B5EF4-FFF2-40B4-BE49-F238E27FC236}">
                <a16:creationId xmlns:a16="http://schemas.microsoft.com/office/drawing/2014/main" id="{FEA39B28-1213-0009-7ABB-2C531FC87BCD}"/>
              </a:ext>
            </a:extLst>
          </p:cNvPr>
          <p:cNvGrpSpPr/>
          <p:nvPr/>
        </p:nvGrpSpPr>
        <p:grpSpPr>
          <a:xfrm>
            <a:off x="-61290" y="6053155"/>
            <a:ext cx="12253290" cy="971832"/>
            <a:chOff x="-187799" y="8336784"/>
            <a:chExt cx="18379935" cy="1457748"/>
          </a:xfrm>
        </p:grpSpPr>
        <p:pic>
          <p:nvPicPr>
            <p:cNvPr id="20" name="Picture 19">
              <a:extLst>
                <a:ext uri="{FF2B5EF4-FFF2-40B4-BE49-F238E27FC236}">
                  <a16:creationId xmlns:a16="http://schemas.microsoft.com/office/drawing/2014/main" id="{3802E3B1-A5DF-CFF9-4A8A-C2B5AC69F3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3" name="Title 1">
              <a:extLst>
                <a:ext uri="{FF2B5EF4-FFF2-40B4-BE49-F238E27FC236}">
                  <a16:creationId xmlns:a16="http://schemas.microsoft.com/office/drawing/2014/main" id="{48B3CC43-9C02-9FEF-83A5-A8F06EED6D43}"/>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24" name="Picture 23">
              <a:extLst>
                <a:ext uri="{FF2B5EF4-FFF2-40B4-BE49-F238E27FC236}">
                  <a16:creationId xmlns:a16="http://schemas.microsoft.com/office/drawing/2014/main" id="{21CCE921-888D-160A-1318-483C96105C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graphicFrame>
        <p:nvGraphicFramePr>
          <p:cNvPr id="2" name="Chart 1">
            <a:extLst>
              <a:ext uri="{FF2B5EF4-FFF2-40B4-BE49-F238E27FC236}">
                <a16:creationId xmlns:a16="http://schemas.microsoft.com/office/drawing/2014/main" id="{612A576F-08EC-DEF6-9CFE-990E0AA97AC6}"/>
              </a:ext>
            </a:extLst>
          </p:cNvPr>
          <p:cNvGraphicFramePr>
            <a:graphicFrameLocks/>
          </p:cNvGraphicFramePr>
          <p:nvPr>
            <p:extLst>
              <p:ext uri="{D42A27DB-BD31-4B8C-83A1-F6EECF244321}">
                <p14:modId xmlns:p14="http://schemas.microsoft.com/office/powerpoint/2010/main" val="2250205457"/>
              </p:ext>
            </p:extLst>
          </p:nvPr>
        </p:nvGraphicFramePr>
        <p:xfrm>
          <a:off x="6196297" y="2604163"/>
          <a:ext cx="5220554" cy="3009757"/>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AC1535BE-AD77-6C5A-CDCD-246614E635CA}"/>
              </a:ext>
            </a:extLst>
          </p:cNvPr>
          <p:cNvSpPr txBox="1"/>
          <p:nvPr/>
        </p:nvSpPr>
        <p:spPr>
          <a:xfrm>
            <a:off x="8217754" y="6407957"/>
            <a:ext cx="1611787"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sp>
        <p:nvSpPr>
          <p:cNvPr id="8" name="Object5">
            <a:extLst>
              <a:ext uri="{FF2B5EF4-FFF2-40B4-BE49-F238E27FC236}">
                <a16:creationId xmlns:a16="http://schemas.microsoft.com/office/drawing/2014/main" id="{D51CFE4B-CD1E-9AE5-34C4-228D6265EA91}"/>
              </a:ext>
            </a:extLst>
          </p:cNvPr>
          <p:cNvSpPr/>
          <p:nvPr/>
        </p:nvSpPr>
        <p:spPr>
          <a:xfrm>
            <a:off x="524467" y="1336956"/>
            <a:ext cx="7080000" cy="370658"/>
          </a:xfrm>
          <a:prstGeom prst="rect">
            <a:avLst/>
          </a:prstGeom>
          <a:noFill/>
          <a:ln/>
        </p:spPr>
        <p:txBody>
          <a:bodyPr wrap="square" lIns="0" tIns="0" rIns="0" bIns="0" rtlCol="0" anchor="t"/>
          <a:lstStyle/>
          <a:p>
            <a:pPr>
              <a:lnSpc>
                <a:spcPts val="2400"/>
              </a:lnSpc>
              <a:defRPr/>
            </a:pPr>
            <a:r>
              <a:rPr lang="en-US" sz="1600" cap="all" dirty="0">
                <a:solidFill>
                  <a:srgbClr val="A9734C"/>
                </a:solidFill>
                <a:latin typeface="Montserrat ExtraBold" pitchFamily="34" charset="0"/>
              </a:rPr>
              <a:t>WHAT CUSTOMERS SEEK</a:t>
            </a:r>
          </a:p>
        </p:txBody>
      </p:sp>
      <p:sp>
        <p:nvSpPr>
          <p:cNvPr id="9" name="Object5">
            <a:extLst>
              <a:ext uri="{FF2B5EF4-FFF2-40B4-BE49-F238E27FC236}">
                <a16:creationId xmlns:a16="http://schemas.microsoft.com/office/drawing/2014/main" id="{B228DAF7-F83A-BC66-E615-9A091296D5F8}"/>
              </a:ext>
            </a:extLst>
          </p:cNvPr>
          <p:cNvSpPr/>
          <p:nvPr/>
        </p:nvSpPr>
        <p:spPr>
          <a:xfrm>
            <a:off x="528307" y="752501"/>
            <a:ext cx="9728666" cy="370658"/>
          </a:xfrm>
          <a:prstGeom prst="rect">
            <a:avLst/>
          </a:prstGeom>
          <a:noFill/>
          <a:ln/>
        </p:spPr>
        <p:txBody>
          <a:bodyPr wrap="square" lIns="0" tIns="0" rIns="0" bIns="0" rtlCol="0" anchor="t"/>
          <a:lstStyle/>
          <a:p>
            <a:pPr>
              <a:lnSpc>
                <a:spcPts val="2400"/>
              </a:lnSpc>
              <a:defRPr/>
            </a:pPr>
            <a:r>
              <a:rPr lang="en-US" sz="2400" cap="all" dirty="0">
                <a:solidFill>
                  <a:srgbClr val="A9734C"/>
                </a:solidFill>
                <a:latin typeface="Montserrat ExtraBold" pitchFamily="34" charset="0"/>
              </a:rPr>
              <a:t>PERSONALIZED CONVENIENCE. PERSONALIZED PRESTIGE</a:t>
            </a:r>
          </a:p>
        </p:txBody>
      </p:sp>
      <p:sp>
        <p:nvSpPr>
          <p:cNvPr id="10" name="Object6">
            <a:extLst>
              <a:ext uri="{FF2B5EF4-FFF2-40B4-BE49-F238E27FC236}">
                <a16:creationId xmlns:a16="http://schemas.microsoft.com/office/drawing/2014/main" id="{98B649F3-3A99-F202-CCBB-5E5112AF5067}"/>
              </a:ext>
            </a:extLst>
          </p:cNvPr>
          <p:cNvSpPr/>
          <p:nvPr/>
        </p:nvSpPr>
        <p:spPr>
          <a:xfrm>
            <a:off x="528307" y="447156"/>
            <a:ext cx="5156160" cy="370658"/>
          </a:xfrm>
          <a:prstGeom prst="rect">
            <a:avLst/>
          </a:prstGeom>
          <a:noFill/>
          <a:ln/>
        </p:spPr>
        <p:txBody>
          <a:bodyPr wrap="square" lIns="0" tIns="0" rIns="0" bIns="0" rtlCol="0" anchor="t"/>
          <a:lstStyle/>
          <a:p>
            <a:pPr defTabSz="304815">
              <a:lnSpc>
                <a:spcPts val="2400"/>
              </a:lnSpc>
              <a:defRPr/>
            </a:pPr>
            <a:r>
              <a:rPr lang="en-US" sz="2400" cap="all" dirty="0">
                <a:solidFill>
                  <a:srgbClr val="002060"/>
                </a:solidFill>
                <a:latin typeface="Montserrat ExtraBold" pitchFamily="34" charset="0"/>
              </a:rPr>
              <a:t>ENHANCE MY LIFESTYLE</a:t>
            </a:r>
          </a:p>
        </p:txBody>
      </p:sp>
      <p:sp>
        <p:nvSpPr>
          <p:cNvPr id="4" name="TextBox 3">
            <a:extLst>
              <a:ext uri="{FF2B5EF4-FFF2-40B4-BE49-F238E27FC236}">
                <a16:creationId xmlns:a16="http://schemas.microsoft.com/office/drawing/2014/main" id="{AAF84049-24F3-21EA-1F63-5E505EAFCAE7}"/>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50</a:t>
            </a:fld>
            <a:endParaRPr lang="en-US" sz="1333" dirty="0">
              <a:solidFill>
                <a:srgbClr val="0D0D0D"/>
              </a:solidFill>
              <a:latin typeface="Hepta Slab Medium" pitchFamily="2" charset="0"/>
              <a:cs typeface="Hepta Slab Medium" pitchFamily="2" charset="0"/>
            </a:endParaRPr>
          </a:p>
        </p:txBody>
      </p:sp>
      <p:sp>
        <p:nvSpPr>
          <p:cNvPr id="5" name="TextBox 4">
            <a:extLst>
              <a:ext uri="{FF2B5EF4-FFF2-40B4-BE49-F238E27FC236}">
                <a16:creationId xmlns:a16="http://schemas.microsoft.com/office/drawing/2014/main" id="{1E0DD4A8-3B2C-D520-550A-08321602FF5B}"/>
              </a:ext>
            </a:extLst>
          </p:cNvPr>
          <p:cNvSpPr txBox="1"/>
          <p:nvPr/>
        </p:nvSpPr>
        <p:spPr>
          <a:xfrm>
            <a:off x="6905625" y="310798"/>
            <a:ext cx="3701654"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Personalization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1126941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4" name="Object6">
            <a:extLst>
              <a:ext uri="{FF2B5EF4-FFF2-40B4-BE49-F238E27FC236}">
                <a16:creationId xmlns:a16="http://schemas.microsoft.com/office/drawing/2014/main" id="{A3A51650-C661-6A1B-565C-CDD16E4827D8}"/>
              </a:ext>
            </a:extLst>
          </p:cNvPr>
          <p:cNvSpPr/>
          <p:nvPr/>
        </p:nvSpPr>
        <p:spPr>
          <a:xfrm>
            <a:off x="816000" y="330900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002060"/>
                </a:solidFill>
                <a:latin typeface="Hepta Slab Light" pitchFamily="2" charset="0"/>
                <a:cs typeface="Hepta Slab Light" pitchFamily="2" charset="0"/>
              </a:rPr>
              <a:t>1</a:t>
            </a:r>
          </a:p>
        </p:txBody>
      </p:sp>
      <p:sp>
        <p:nvSpPr>
          <p:cNvPr id="16" name="Object6">
            <a:extLst>
              <a:ext uri="{FF2B5EF4-FFF2-40B4-BE49-F238E27FC236}">
                <a16:creationId xmlns:a16="http://schemas.microsoft.com/office/drawing/2014/main" id="{E48877F0-7FCA-80E1-FA63-87BDE8D17655}"/>
              </a:ext>
            </a:extLst>
          </p:cNvPr>
          <p:cNvSpPr/>
          <p:nvPr/>
        </p:nvSpPr>
        <p:spPr>
          <a:xfrm>
            <a:off x="4656000" y="330900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002060"/>
                </a:solidFill>
                <a:latin typeface="Hepta Slab Light" pitchFamily="2" charset="0"/>
                <a:cs typeface="Hepta Slab Light" pitchFamily="2" charset="0"/>
              </a:rPr>
              <a:t>2</a:t>
            </a:r>
          </a:p>
        </p:txBody>
      </p:sp>
      <p:sp>
        <p:nvSpPr>
          <p:cNvPr id="26" name="Object5">
            <a:extLst>
              <a:ext uri="{FF2B5EF4-FFF2-40B4-BE49-F238E27FC236}">
                <a16:creationId xmlns:a16="http://schemas.microsoft.com/office/drawing/2014/main" id="{EC6B380E-B8E5-8EA9-BC78-ADCACEDF2199}"/>
              </a:ext>
            </a:extLst>
          </p:cNvPr>
          <p:cNvSpPr/>
          <p:nvPr/>
        </p:nvSpPr>
        <p:spPr>
          <a:xfrm>
            <a:off x="4356000" y="4125711"/>
            <a:ext cx="3120000" cy="240000"/>
          </a:xfrm>
          <a:prstGeom prst="rect">
            <a:avLst/>
          </a:prstGeom>
          <a:noFill/>
          <a:ln/>
        </p:spPr>
        <p:txBody>
          <a:bodyPr wrap="square" lIns="0" tIns="0" rIns="0" bIns="0" rtlCol="0" anchor="t"/>
          <a:lstStyle/>
          <a:p>
            <a:pPr defTabSz="304815"/>
            <a:r>
              <a:rPr lang="en-US" dirty="0">
                <a:solidFill>
                  <a:srgbClr val="002060"/>
                </a:solidFill>
                <a:latin typeface="Montserrat Medium" pitchFamily="2" charset="0"/>
                <a:ea typeface="Hepta Slab Regular" pitchFamily="34" charset="-122"/>
                <a:cs typeface="Hepta Slab Regular" pitchFamily="2" charset="0"/>
              </a:rPr>
              <a:t>Fine Dining</a:t>
            </a:r>
            <a:endParaRPr lang="en-US" dirty="0">
              <a:solidFill>
                <a:srgbClr val="002060"/>
              </a:solidFill>
              <a:latin typeface="Montserrat Medium" pitchFamily="2" charset="0"/>
              <a:cs typeface="Hepta Slab Regular" pitchFamily="2" charset="0"/>
            </a:endParaRPr>
          </a:p>
        </p:txBody>
      </p:sp>
      <p:sp>
        <p:nvSpPr>
          <p:cNvPr id="27" name="Object6">
            <a:extLst>
              <a:ext uri="{FF2B5EF4-FFF2-40B4-BE49-F238E27FC236}">
                <a16:creationId xmlns:a16="http://schemas.microsoft.com/office/drawing/2014/main" id="{EF2DBDFB-FF7F-82A6-F518-39498C254D32}"/>
              </a:ext>
            </a:extLst>
          </p:cNvPr>
          <p:cNvSpPr/>
          <p:nvPr/>
        </p:nvSpPr>
        <p:spPr>
          <a:xfrm>
            <a:off x="8736000" y="330900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002060"/>
                </a:solidFill>
                <a:latin typeface="Hepta Slab Light" pitchFamily="2" charset="0"/>
                <a:cs typeface="Hepta Slab Light" pitchFamily="2" charset="0"/>
              </a:rPr>
              <a:t>3</a:t>
            </a:r>
          </a:p>
        </p:txBody>
      </p:sp>
      <p:sp>
        <p:nvSpPr>
          <p:cNvPr id="19" name="Object5">
            <a:extLst>
              <a:ext uri="{FF2B5EF4-FFF2-40B4-BE49-F238E27FC236}">
                <a16:creationId xmlns:a16="http://schemas.microsoft.com/office/drawing/2014/main" id="{C050C140-03D1-7463-FF8E-FA7325287D9C}"/>
              </a:ext>
            </a:extLst>
          </p:cNvPr>
          <p:cNvSpPr/>
          <p:nvPr/>
        </p:nvSpPr>
        <p:spPr>
          <a:xfrm>
            <a:off x="816000" y="2109000"/>
            <a:ext cx="4800000" cy="480000"/>
          </a:xfrm>
          <a:prstGeom prst="rect">
            <a:avLst/>
          </a:prstGeom>
          <a:noFill/>
          <a:ln/>
        </p:spPr>
        <p:txBody>
          <a:bodyPr wrap="square" lIns="0" tIns="0" rIns="0" bIns="0" rtlCol="0" anchor="t"/>
          <a:lstStyle/>
          <a:p>
            <a:pPr defTabSz="304815">
              <a:lnSpc>
                <a:spcPts val="4000"/>
              </a:lnSpc>
            </a:pPr>
            <a:r>
              <a:rPr lang="en-US" sz="3200" dirty="0">
                <a:solidFill>
                  <a:srgbClr val="002060"/>
                </a:solidFill>
                <a:latin typeface="Hepta Slab Regular" pitchFamily="34" charset="0"/>
                <a:ea typeface="Hepta Slab Regular" pitchFamily="34" charset="-122"/>
                <a:cs typeface="Hepta Slab Regular" pitchFamily="34" charset="-120"/>
              </a:rPr>
              <a:t>Luxury Experiences</a:t>
            </a:r>
            <a:endParaRPr lang="en-US" sz="3200" dirty="0">
              <a:solidFill>
                <a:srgbClr val="002060"/>
              </a:solidFill>
              <a:latin typeface="Calibri" panose="020F0502020204030204"/>
            </a:endParaRPr>
          </a:p>
        </p:txBody>
      </p:sp>
      <p:sp>
        <p:nvSpPr>
          <p:cNvPr id="20" name="Object6">
            <a:extLst>
              <a:ext uri="{FF2B5EF4-FFF2-40B4-BE49-F238E27FC236}">
                <a16:creationId xmlns:a16="http://schemas.microsoft.com/office/drawing/2014/main" id="{51DE576F-E5E7-EC06-4262-2B2C42ECB183}"/>
              </a:ext>
            </a:extLst>
          </p:cNvPr>
          <p:cNvSpPr/>
          <p:nvPr/>
        </p:nvSpPr>
        <p:spPr>
          <a:xfrm>
            <a:off x="816000" y="462900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5D5D5E"/>
                </a:solidFill>
                <a:latin typeface="Hepta Slab Light" pitchFamily="2" charset="0"/>
                <a:cs typeface="Hepta Slab Light" pitchFamily="2" charset="0"/>
              </a:rPr>
              <a:t>60%</a:t>
            </a:r>
          </a:p>
        </p:txBody>
      </p:sp>
      <p:sp>
        <p:nvSpPr>
          <p:cNvPr id="21" name="Object6">
            <a:extLst>
              <a:ext uri="{FF2B5EF4-FFF2-40B4-BE49-F238E27FC236}">
                <a16:creationId xmlns:a16="http://schemas.microsoft.com/office/drawing/2014/main" id="{224BC5DC-C1BD-02EA-5E8F-682A8DA59A50}"/>
              </a:ext>
            </a:extLst>
          </p:cNvPr>
          <p:cNvSpPr/>
          <p:nvPr/>
        </p:nvSpPr>
        <p:spPr>
          <a:xfrm>
            <a:off x="8436488" y="453757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5D5D5E"/>
                </a:solidFill>
                <a:latin typeface="Hepta Slab Light" pitchFamily="2" charset="0"/>
                <a:cs typeface="Hepta Slab Light" pitchFamily="2" charset="0"/>
              </a:rPr>
              <a:t>36%</a:t>
            </a:r>
          </a:p>
        </p:txBody>
      </p:sp>
      <p:sp>
        <p:nvSpPr>
          <p:cNvPr id="22" name="Object6">
            <a:extLst>
              <a:ext uri="{FF2B5EF4-FFF2-40B4-BE49-F238E27FC236}">
                <a16:creationId xmlns:a16="http://schemas.microsoft.com/office/drawing/2014/main" id="{04B7DD67-0360-E6BE-C954-559FE28CEC72}"/>
              </a:ext>
            </a:extLst>
          </p:cNvPr>
          <p:cNvSpPr/>
          <p:nvPr/>
        </p:nvSpPr>
        <p:spPr>
          <a:xfrm>
            <a:off x="4356000" y="4597473"/>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5D5D5E"/>
                </a:solidFill>
                <a:latin typeface="Hepta Slab Light" pitchFamily="2" charset="0"/>
                <a:cs typeface="Hepta Slab Light" pitchFamily="2" charset="0"/>
              </a:rPr>
              <a:t>43%</a:t>
            </a:r>
          </a:p>
        </p:txBody>
      </p:sp>
      <p:grpSp>
        <p:nvGrpSpPr>
          <p:cNvPr id="23" name="Group 22">
            <a:extLst>
              <a:ext uri="{FF2B5EF4-FFF2-40B4-BE49-F238E27FC236}">
                <a16:creationId xmlns:a16="http://schemas.microsoft.com/office/drawing/2014/main" id="{E6334711-BA37-C319-DF5F-0F207CBC6407}"/>
              </a:ext>
            </a:extLst>
          </p:cNvPr>
          <p:cNvGrpSpPr/>
          <p:nvPr/>
        </p:nvGrpSpPr>
        <p:grpSpPr>
          <a:xfrm>
            <a:off x="-61290" y="6053155"/>
            <a:ext cx="12253290" cy="971832"/>
            <a:chOff x="-187799" y="8336784"/>
            <a:chExt cx="18379935" cy="1457748"/>
          </a:xfrm>
        </p:grpSpPr>
        <p:pic>
          <p:nvPicPr>
            <p:cNvPr id="24" name="Picture 23">
              <a:extLst>
                <a:ext uri="{FF2B5EF4-FFF2-40B4-BE49-F238E27FC236}">
                  <a16:creationId xmlns:a16="http://schemas.microsoft.com/office/drawing/2014/main" id="{FA27BAE5-97BC-8509-5184-B7F495F895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5" name="Title 1">
              <a:extLst>
                <a:ext uri="{FF2B5EF4-FFF2-40B4-BE49-F238E27FC236}">
                  <a16:creationId xmlns:a16="http://schemas.microsoft.com/office/drawing/2014/main" id="{04C04981-ED8D-A1ED-2D73-A2E138DC92B1}"/>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29" name="Picture 28">
              <a:extLst>
                <a:ext uri="{FF2B5EF4-FFF2-40B4-BE49-F238E27FC236}">
                  <a16:creationId xmlns:a16="http://schemas.microsoft.com/office/drawing/2014/main" id="{ADDD81BE-24F6-F4F0-CD3D-3AE6A6ACF7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 name="Object5">
            <a:extLst>
              <a:ext uri="{FF2B5EF4-FFF2-40B4-BE49-F238E27FC236}">
                <a16:creationId xmlns:a16="http://schemas.microsoft.com/office/drawing/2014/main" id="{3B4BF29F-2FF5-A8EF-D243-1F7FC6291DDA}"/>
              </a:ext>
            </a:extLst>
          </p:cNvPr>
          <p:cNvSpPr/>
          <p:nvPr/>
        </p:nvSpPr>
        <p:spPr>
          <a:xfrm>
            <a:off x="788437" y="4216923"/>
            <a:ext cx="3120000" cy="240000"/>
          </a:xfrm>
          <a:prstGeom prst="rect">
            <a:avLst/>
          </a:prstGeom>
          <a:noFill/>
          <a:ln/>
        </p:spPr>
        <p:txBody>
          <a:bodyPr wrap="square" lIns="0" tIns="0" rIns="0" bIns="0" rtlCol="0" anchor="t"/>
          <a:lstStyle/>
          <a:p>
            <a:pPr defTabSz="304815"/>
            <a:r>
              <a:rPr lang="en-US" dirty="0">
                <a:solidFill>
                  <a:srgbClr val="002060"/>
                </a:solidFill>
                <a:latin typeface="Montserrat Medium" pitchFamily="2" charset="0"/>
                <a:ea typeface="Hepta Slab Regular" pitchFamily="34" charset="-122"/>
                <a:cs typeface="Hepta Slab Regular" pitchFamily="2" charset="0"/>
              </a:rPr>
              <a:t>Travel</a:t>
            </a:r>
            <a:endParaRPr lang="en-US" dirty="0">
              <a:solidFill>
                <a:srgbClr val="002060"/>
              </a:solidFill>
              <a:latin typeface="Montserrat Medium" pitchFamily="2" charset="0"/>
              <a:cs typeface="Hepta Slab Regular" pitchFamily="2" charset="0"/>
            </a:endParaRPr>
          </a:p>
        </p:txBody>
      </p:sp>
      <p:sp>
        <p:nvSpPr>
          <p:cNvPr id="3" name="Object5">
            <a:extLst>
              <a:ext uri="{FF2B5EF4-FFF2-40B4-BE49-F238E27FC236}">
                <a16:creationId xmlns:a16="http://schemas.microsoft.com/office/drawing/2014/main" id="{66F37C9C-23C0-EE8C-E28C-04BBA5D0D423}"/>
              </a:ext>
            </a:extLst>
          </p:cNvPr>
          <p:cNvSpPr/>
          <p:nvPr/>
        </p:nvSpPr>
        <p:spPr>
          <a:xfrm>
            <a:off x="8434265" y="4151898"/>
            <a:ext cx="3120000" cy="240000"/>
          </a:xfrm>
          <a:prstGeom prst="rect">
            <a:avLst/>
          </a:prstGeom>
          <a:noFill/>
          <a:ln/>
        </p:spPr>
        <p:txBody>
          <a:bodyPr wrap="square" lIns="0" tIns="0" rIns="0" bIns="0" rtlCol="0" anchor="t"/>
          <a:lstStyle/>
          <a:p>
            <a:pPr defTabSz="304815"/>
            <a:r>
              <a:rPr lang="en-US" dirty="0">
                <a:solidFill>
                  <a:srgbClr val="002060"/>
                </a:solidFill>
                <a:latin typeface="Montserrat Medium" pitchFamily="2" charset="0"/>
                <a:ea typeface="Hepta Slab Regular" pitchFamily="34" charset="-122"/>
                <a:cs typeface="Hepta Slab Regular" pitchFamily="2" charset="0"/>
              </a:rPr>
              <a:t>Wellness</a:t>
            </a:r>
            <a:endParaRPr lang="en-US" dirty="0">
              <a:solidFill>
                <a:srgbClr val="002060"/>
              </a:solidFill>
              <a:latin typeface="Montserrat Medium" pitchFamily="2" charset="0"/>
              <a:cs typeface="Hepta Slab Regular" pitchFamily="2" charset="0"/>
            </a:endParaRPr>
          </a:p>
        </p:txBody>
      </p:sp>
      <p:sp>
        <p:nvSpPr>
          <p:cNvPr id="4" name="TextBox 3">
            <a:extLst>
              <a:ext uri="{FF2B5EF4-FFF2-40B4-BE49-F238E27FC236}">
                <a16:creationId xmlns:a16="http://schemas.microsoft.com/office/drawing/2014/main" id="{A1B61D47-5FC0-6AC8-834C-0B1894A7C196}"/>
              </a:ext>
            </a:extLst>
          </p:cNvPr>
          <p:cNvSpPr txBox="1"/>
          <p:nvPr/>
        </p:nvSpPr>
        <p:spPr>
          <a:xfrm>
            <a:off x="1838912" y="6447771"/>
            <a:ext cx="1611787"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N=165</a:t>
            </a:r>
            <a:endParaRPr lang="en-IN" sz="900" dirty="0">
              <a:solidFill>
                <a:schemeClr val="bg2">
                  <a:lumMod val="75000"/>
                </a:schemeClr>
              </a:solidFill>
              <a:latin typeface="Montserrat SemiBold" panose="00000700000000000000" pitchFamily="2" charset="0"/>
            </a:endParaRPr>
          </a:p>
        </p:txBody>
      </p:sp>
      <p:sp>
        <p:nvSpPr>
          <p:cNvPr id="7" name="Object5">
            <a:extLst>
              <a:ext uri="{FF2B5EF4-FFF2-40B4-BE49-F238E27FC236}">
                <a16:creationId xmlns:a16="http://schemas.microsoft.com/office/drawing/2014/main" id="{E8E62690-46C5-517B-FC26-958626998EA4}"/>
              </a:ext>
            </a:extLst>
          </p:cNvPr>
          <p:cNvSpPr/>
          <p:nvPr/>
        </p:nvSpPr>
        <p:spPr>
          <a:xfrm>
            <a:off x="524467" y="1336956"/>
            <a:ext cx="7080000" cy="370658"/>
          </a:xfrm>
          <a:prstGeom prst="rect">
            <a:avLst/>
          </a:prstGeom>
          <a:noFill/>
          <a:ln/>
        </p:spPr>
        <p:txBody>
          <a:bodyPr wrap="square" lIns="0" tIns="0" rIns="0" bIns="0" rtlCol="0" anchor="t"/>
          <a:lstStyle/>
          <a:p>
            <a:pPr>
              <a:lnSpc>
                <a:spcPts val="2400"/>
              </a:lnSpc>
              <a:defRPr/>
            </a:pPr>
            <a:r>
              <a:rPr lang="en-US" sz="1600" cap="all" dirty="0">
                <a:solidFill>
                  <a:srgbClr val="A9734C"/>
                </a:solidFill>
                <a:latin typeface="Montserrat ExtraBold" pitchFamily="34" charset="0"/>
              </a:rPr>
              <a:t>WHAT CUSTOMERS SEEK</a:t>
            </a:r>
          </a:p>
        </p:txBody>
      </p:sp>
      <p:sp>
        <p:nvSpPr>
          <p:cNvPr id="8" name="Object5">
            <a:extLst>
              <a:ext uri="{FF2B5EF4-FFF2-40B4-BE49-F238E27FC236}">
                <a16:creationId xmlns:a16="http://schemas.microsoft.com/office/drawing/2014/main" id="{B4414EF4-59AE-FE73-0CEE-48F7DEE88044}"/>
              </a:ext>
            </a:extLst>
          </p:cNvPr>
          <p:cNvSpPr/>
          <p:nvPr/>
        </p:nvSpPr>
        <p:spPr>
          <a:xfrm>
            <a:off x="528307" y="752501"/>
            <a:ext cx="9728666" cy="370658"/>
          </a:xfrm>
          <a:prstGeom prst="rect">
            <a:avLst/>
          </a:prstGeom>
          <a:noFill/>
          <a:ln/>
        </p:spPr>
        <p:txBody>
          <a:bodyPr wrap="square" lIns="0" tIns="0" rIns="0" bIns="0" rtlCol="0" anchor="t"/>
          <a:lstStyle/>
          <a:p>
            <a:pPr>
              <a:lnSpc>
                <a:spcPts val="2400"/>
              </a:lnSpc>
              <a:defRPr/>
            </a:pPr>
            <a:r>
              <a:rPr lang="en-US" sz="2400" cap="all" dirty="0">
                <a:solidFill>
                  <a:srgbClr val="A9734C"/>
                </a:solidFill>
                <a:latin typeface="Montserrat ExtraBold" pitchFamily="34" charset="0"/>
              </a:rPr>
              <a:t>PERSONALIZED CONVENIENCE. PERSONALIZED PRESTIGE</a:t>
            </a:r>
          </a:p>
        </p:txBody>
      </p:sp>
      <p:sp>
        <p:nvSpPr>
          <p:cNvPr id="9" name="Object6">
            <a:extLst>
              <a:ext uri="{FF2B5EF4-FFF2-40B4-BE49-F238E27FC236}">
                <a16:creationId xmlns:a16="http://schemas.microsoft.com/office/drawing/2014/main" id="{2AE2AEB4-A923-502B-4B7B-4636BA10B2B3}"/>
              </a:ext>
            </a:extLst>
          </p:cNvPr>
          <p:cNvSpPr/>
          <p:nvPr/>
        </p:nvSpPr>
        <p:spPr>
          <a:xfrm>
            <a:off x="528307" y="447156"/>
            <a:ext cx="5156160" cy="370658"/>
          </a:xfrm>
          <a:prstGeom prst="rect">
            <a:avLst/>
          </a:prstGeom>
          <a:noFill/>
          <a:ln/>
        </p:spPr>
        <p:txBody>
          <a:bodyPr wrap="square" lIns="0" tIns="0" rIns="0" bIns="0" rtlCol="0" anchor="t"/>
          <a:lstStyle/>
          <a:p>
            <a:pPr defTabSz="304815">
              <a:lnSpc>
                <a:spcPts val="2400"/>
              </a:lnSpc>
              <a:defRPr/>
            </a:pPr>
            <a:r>
              <a:rPr lang="en-US" sz="2400" cap="all" dirty="0">
                <a:solidFill>
                  <a:srgbClr val="002060"/>
                </a:solidFill>
                <a:latin typeface="Montserrat ExtraBold" pitchFamily="34" charset="0"/>
              </a:rPr>
              <a:t>ENHANCE MY LIFESTYLE</a:t>
            </a:r>
          </a:p>
        </p:txBody>
      </p:sp>
      <p:sp>
        <p:nvSpPr>
          <p:cNvPr id="5" name="TextBox 4">
            <a:extLst>
              <a:ext uri="{FF2B5EF4-FFF2-40B4-BE49-F238E27FC236}">
                <a16:creationId xmlns:a16="http://schemas.microsoft.com/office/drawing/2014/main" id="{10B8F89F-6E88-5645-A90B-2073D10403BD}"/>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51</a:t>
            </a:fld>
            <a:endParaRPr lang="en-US" sz="1333" dirty="0">
              <a:solidFill>
                <a:srgbClr val="0D0D0D"/>
              </a:solidFill>
              <a:latin typeface="Hepta Slab Medium" pitchFamily="2" charset="0"/>
              <a:cs typeface="Hepta Slab Medium" pitchFamily="2" charset="0"/>
            </a:endParaRPr>
          </a:p>
        </p:txBody>
      </p:sp>
      <p:sp>
        <p:nvSpPr>
          <p:cNvPr id="6" name="TextBox 5">
            <a:extLst>
              <a:ext uri="{FF2B5EF4-FFF2-40B4-BE49-F238E27FC236}">
                <a16:creationId xmlns:a16="http://schemas.microsoft.com/office/drawing/2014/main" id="{0FA1D452-038B-790A-66F5-875B442BC0A0}"/>
              </a:ext>
            </a:extLst>
          </p:cNvPr>
          <p:cNvSpPr txBox="1"/>
          <p:nvPr/>
        </p:nvSpPr>
        <p:spPr>
          <a:xfrm>
            <a:off x="6905625" y="310798"/>
            <a:ext cx="3701654"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Personalization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29276970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3" name="Object5">
            <a:extLst>
              <a:ext uri="{FF2B5EF4-FFF2-40B4-BE49-F238E27FC236}">
                <a16:creationId xmlns:a16="http://schemas.microsoft.com/office/drawing/2014/main" id="{3D6A9A5C-ACF7-3337-E039-E7337BF379F0}"/>
              </a:ext>
            </a:extLst>
          </p:cNvPr>
          <p:cNvSpPr/>
          <p:nvPr/>
        </p:nvSpPr>
        <p:spPr>
          <a:xfrm>
            <a:off x="816000" y="4149000"/>
            <a:ext cx="2400000" cy="240000"/>
          </a:xfrm>
          <a:prstGeom prst="rect">
            <a:avLst/>
          </a:prstGeom>
          <a:noFill/>
          <a:ln/>
        </p:spPr>
        <p:txBody>
          <a:bodyPr wrap="square" lIns="0" tIns="0" rIns="0" bIns="0" rtlCol="0" anchor="t"/>
          <a:lstStyle/>
          <a:p>
            <a:pPr defTabSz="304815"/>
            <a:r>
              <a:rPr lang="en-US" dirty="0">
                <a:solidFill>
                  <a:srgbClr val="002060"/>
                </a:solidFill>
                <a:latin typeface="Montserrat Medium" pitchFamily="2" charset="0"/>
                <a:ea typeface="Hepta Slab Regular" pitchFamily="34" charset="-122"/>
                <a:cs typeface="Hepta Slab Regular" pitchFamily="2" charset="0"/>
              </a:rPr>
              <a:t>Philanthropy</a:t>
            </a:r>
            <a:endParaRPr lang="en-US" dirty="0">
              <a:solidFill>
                <a:srgbClr val="002060"/>
              </a:solidFill>
              <a:latin typeface="Montserrat Medium" pitchFamily="2" charset="0"/>
              <a:cs typeface="Hepta Slab Regular" pitchFamily="2" charset="0"/>
            </a:endParaRPr>
          </a:p>
        </p:txBody>
      </p:sp>
      <p:sp>
        <p:nvSpPr>
          <p:cNvPr id="14" name="Object6">
            <a:extLst>
              <a:ext uri="{FF2B5EF4-FFF2-40B4-BE49-F238E27FC236}">
                <a16:creationId xmlns:a16="http://schemas.microsoft.com/office/drawing/2014/main" id="{A3A51650-C661-6A1B-565C-CDD16E4827D8}"/>
              </a:ext>
            </a:extLst>
          </p:cNvPr>
          <p:cNvSpPr/>
          <p:nvPr/>
        </p:nvSpPr>
        <p:spPr>
          <a:xfrm>
            <a:off x="816000" y="330900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002060"/>
                </a:solidFill>
                <a:latin typeface="Hepta Slab Light" pitchFamily="2" charset="0"/>
                <a:cs typeface="Hepta Slab Light" pitchFamily="2" charset="0"/>
              </a:rPr>
              <a:t>1</a:t>
            </a:r>
          </a:p>
        </p:txBody>
      </p:sp>
      <p:sp>
        <p:nvSpPr>
          <p:cNvPr id="15" name="Object5">
            <a:extLst>
              <a:ext uri="{FF2B5EF4-FFF2-40B4-BE49-F238E27FC236}">
                <a16:creationId xmlns:a16="http://schemas.microsoft.com/office/drawing/2014/main" id="{8F988A60-C417-2D47-869F-5C51A7361145}"/>
              </a:ext>
            </a:extLst>
          </p:cNvPr>
          <p:cNvSpPr/>
          <p:nvPr/>
        </p:nvSpPr>
        <p:spPr>
          <a:xfrm>
            <a:off x="4656000" y="4149000"/>
            <a:ext cx="3120000" cy="240000"/>
          </a:xfrm>
          <a:prstGeom prst="rect">
            <a:avLst/>
          </a:prstGeom>
          <a:noFill/>
          <a:ln/>
        </p:spPr>
        <p:txBody>
          <a:bodyPr wrap="square" lIns="0" tIns="0" rIns="0" bIns="0" rtlCol="0" anchor="t"/>
          <a:lstStyle/>
          <a:p>
            <a:pPr defTabSz="304815"/>
            <a:r>
              <a:rPr lang="en-US" dirty="0">
                <a:solidFill>
                  <a:srgbClr val="002060"/>
                </a:solidFill>
                <a:latin typeface="Montserrat Medium" pitchFamily="2" charset="0"/>
                <a:ea typeface="Hepta Slab Regular" pitchFamily="34" charset="-122"/>
                <a:cs typeface="Hepta Slab Regular" pitchFamily="2" charset="0"/>
              </a:rPr>
              <a:t>Culinary Experiences</a:t>
            </a:r>
            <a:endParaRPr lang="en-US" dirty="0">
              <a:solidFill>
                <a:srgbClr val="002060"/>
              </a:solidFill>
              <a:latin typeface="Montserrat Medium" pitchFamily="2" charset="0"/>
              <a:cs typeface="Hepta Slab Regular" pitchFamily="2" charset="0"/>
            </a:endParaRPr>
          </a:p>
        </p:txBody>
      </p:sp>
      <p:sp>
        <p:nvSpPr>
          <p:cNvPr id="16" name="Object6">
            <a:extLst>
              <a:ext uri="{FF2B5EF4-FFF2-40B4-BE49-F238E27FC236}">
                <a16:creationId xmlns:a16="http://schemas.microsoft.com/office/drawing/2014/main" id="{E48877F0-7FCA-80E1-FA63-87BDE8D17655}"/>
              </a:ext>
            </a:extLst>
          </p:cNvPr>
          <p:cNvSpPr/>
          <p:nvPr/>
        </p:nvSpPr>
        <p:spPr>
          <a:xfrm>
            <a:off x="4656000" y="330900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002060"/>
                </a:solidFill>
                <a:latin typeface="Hepta Slab Light" pitchFamily="2" charset="0"/>
                <a:cs typeface="Hepta Slab Light" pitchFamily="2" charset="0"/>
              </a:rPr>
              <a:t>2</a:t>
            </a:r>
          </a:p>
        </p:txBody>
      </p:sp>
      <p:sp>
        <p:nvSpPr>
          <p:cNvPr id="25" name="Object5">
            <a:extLst>
              <a:ext uri="{FF2B5EF4-FFF2-40B4-BE49-F238E27FC236}">
                <a16:creationId xmlns:a16="http://schemas.microsoft.com/office/drawing/2014/main" id="{A7A36D82-DEAF-C0EF-09DC-F1297A61DBB4}"/>
              </a:ext>
            </a:extLst>
          </p:cNvPr>
          <p:cNvSpPr/>
          <p:nvPr/>
        </p:nvSpPr>
        <p:spPr>
          <a:xfrm>
            <a:off x="816000" y="2109000"/>
            <a:ext cx="7807738" cy="600000"/>
          </a:xfrm>
          <a:prstGeom prst="rect">
            <a:avLst/>
          </a:prstGeom>
          <a:noFill/>
          <a:ln/>
        </p:spPr>
        <p:txBody>
          <a:bodyPr wrap="square" lIns="0" tIns="0" rIns="0" bIns="0" rtlCol="0" anchor="t"/>
          <a:lstStyle/>
          <a:p>
            <a:pPr defTabSz="304815">
              <a:lnSpc>
                <a:spcPts val="4000"/>
              </a:lnSpc>
            </a:pPr>
            <a:r>
              <a:rPr lang="en-US" sz="3200" dirty="0">
                <a:solidFill>
                  <a:srgbClr val="002060"/>
                </a:solidFill>
                <a:latin typeface="Hepta Slab Regular" pitchFamily="34" charset="0"/>
                <a:ea typeface="Hepta Slab Regular" pitchFamily="34" charset="-122"/>
                <a:cs typeface="Hepta Slab Regular" pitchFamily="34" charset="-120"/>
              </a:rPr>
              <a:t>Community &amp; social engagement</a:t>
            </a:r>
          </a:p>
        </p:txBody>
      </p:sp>
      <p:sp>
        <p:nvSpPr>
          <p:cNvPr id="20" name="Object6">
            <a:extLst>
              <a:ext uri="{FF2B5EF4-FFF2-40B4-BE49-F238E27FC236}">
                <a16:creationId xmlns:a16="http://schemas.microsoft.com/office/drawing/2014/main" id="{C6D48E57-71E0-DF41-259A-777C3D075F99}"/>
              </a:ext>
            </a:extLst>
          </p:cNvPr>
          <p:cNvSpPr/>
          <p:nvPr/>
        </p:nvSpPr>
        <p:spPr>
          <a:xfrm>
            <a:off x="816000" y="462900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5D5D5E"/>
                </a:solidFill>
                <a:latin typeface="Hepta Slab Light" pitchFamily="2" charset="0"/>
                <a:cs typeface="Hepta Slab Light" pitchFamily="2" charset="0"/>
              </a:rPr>
              <a:t>42%</a:t>
            </a:r>
          </a:p>
        </p:txBody>
      </p:sp>
      <p:sp>
        <p:nvSpPr>
          <p:cNvPr id="21" name="Object6">
            <a:extLst>
              <a:ext uri="{FF2B5EF4-FFF2-40B4-BE49-F238E27FC236}">
                <a16:creationId xmlns:a16="http://schemas.microsoft.com/office/drawing/2014/main" id="{318AB0B9-88C8-6E59-DCDF-E0F40A6F1FB7}"/>
              </a:ext>
            </a:extLst>
          </p:cNvPr>
          <p:cNvSpPr/>
          <p:nvPr/>
        </p:nvSpPr>
        <p:spPr>
          <a:xfrm>
            <a:off x="4656000" y="4629000"/>
            <a:ext cx="2520000" cy="840000"/>
          </a:xfrm>
          <a:prstGeom prst="rect">
            <a:avLst/>
          </a:prstGeom>
          <a:noFill/>
          <a:ln/>
        </p:spPr>
        <p:txBody>
          <a:bodyPr wrap="square" lIns="0" tIns="0" rIns="0" bIns="0" rtlCol="0" anchor="b">
            <a:noAutofit/>
          </a:bodyPr>
          <a:lstStyle/>
          <a:p>
            <a:pPr defTabSz="304815">
              <a:lnSpc>
                <a:spcPts val="2925"/>
              </a:lnSpc>
            </a:pPr>
            <a:r>
              <a:rPr lang="en-US" sz="5867" dirty="0">
                <a:solidFill>
                  <a:srgbClr val="5D5D5E"/>
                </a:solidFill>
                <a:latin typeface="Hepta Slab Light" pitchFamily="2" charset="0"/>
                <a:cs typeface="Hepta Slab Light" pitchFamily="2" charset="0"/>
              </a:rPr>
              <a:t>27%</a:t>
            </a:r>
          </a:p>
        </p:txBody>
      </p:sp>
      <p:grpSp>
        <p:nvGrpSpPr>
          <p:cNvPr id="22" name="Group 21">
            <a:extLst>
              <a:ext uri="{FF2B5EF4-FFF2-40B4-BE49-F238E27FC236}">
                <a16:creationId xmlns:a16="http://schemas.microsoft.com/office/drawing/2014/main" id="{8AB30DE2-22DB-C64D-C319-AA15A8B376DA}"/>
              </a:ext>
            </a:extLst>
          </p:cNvPr>
          <p:cNvGrpSpPr/>
          <p:nvPr/>
        </p:nvGrpSpPr>
        <p:grpSpPr>
          <a:xfrm>
            <a:off x="-61290" y="6053155"/>
            <a:ext cx="12253290" cy="971832"/>
            <a:chOff x="-187799" y="8336784"/>
            <a:chExt cx="18379935" cy="1457748"/>
          </a:xfrm>
        </p:grpSpPr>
        <p:pic>
          <p:nvPicPr>
            <p:cNvPr id="23" name="Picture 22">
              <a:extLst>
                <a:ext uri="{FF2B5EF4-FFF2-40B4-BE49-F238E27FC236}">
                  <a16:creationId xmlns:a16="http://schemas.microsoft.com/office/drawing/2014/main" id="{DA504F12-4A00-6E28-EABE-AFDAEA6984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4" name="Title 1">
              <a:extLst>
                <a:ext uri="{FF2B5EF4-FFF2-40B4-BE49-F238E27FC236}">
                  <a16:creationId xmlns:a16="http://schemas.microsoft.com/office/drawing/2014/main" id="{F99C501D-CBAF-6430-C506-B0AD8F531FEB}"/>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26" name="Picture 25">
              <a:extLst>
                <a:ext uri="{FF2B5EF4-FFF2-40B4-BE49-F238E27FC236}">
                  <a16:creationId xmlns:a16="http://schemas.microsoft.com/office/drawing/2014/main" id="{47FAE4EA-C98C-80C3-5ACD-4CF2A45219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 name="TextBox 1">
            <a:extLst>
              <a:ext uri="{FF2B5EF4-FFF2-40B4-BE49-F238E27FC236}">
                <a16:creationId xmlns:a16="http://schemas.microsoft.com/office/drawing/2014/main" id="{5E776D47-63B7-C706-61BE-40715F42E4D7}"/>
              </a:ext>
            </a:extLst>
          </p:cNvPr>
          <p:cNvSpPr txBox="1"/>
          <p:nvPr/>
        </p:nvSpPr>
        <p:spPr>
          <a:xfrm>
            <a:off x="1838912" y="6447771"/>
            <a:ext cx="1611787" cy="230832"/>
          </a:xfrm>
          <a:prstGeom prst="rect">
            <a:avLst/>
          </a:prstGeom>
          <a:noFill/>
        </p:spPr>
        <p:txBody>
          <a:bodyPr wrap="square">
            <a:spAutoFit/>
          </a:bodyPr>
          <a:lstStyle/>
          <a:p>
            <a:r>
              <a:rPr lang="en-GB" sz="900" dirty="0">
                <a:solidFill>
                  <a:schemeClr val="bg2">
                    <a:lumMod val="75000"/>
                  </a:schemeClr>
                </a:solidFill>
                <a:latin typeface="Montserrat SemiBold" panose="00000700000000000000" pitchFamily="2" charset="0"/>
              </a:rPr>
              <a:t>n= 165</a:t>
            </a:r>
            <a:endParaRPr lang="en-IN" sz="900" dirty="0">
              <a:solidFill>
                <a:schemeClr val="bg2">
                  <a:lumMod val="75000"/>
                </a:schemeClr>
              </a:solidFill>
              <a:latin typeface="Montserrat SemiBold" panose="00000700000000000000" pitchFamily="2" charset="0"/>
            </a:endParaRPr>
          </a:p>
        </p:txBody>
      </p:sp>
      <p:sp>
        <p:nvSpPr>
          <p:cNvPr id="5" name="Object5">
            <a:extLst>
              <a:ext uri="{FF2B5EF4-FFF2-40B4-BE49-F238E27FC236}">
                <a16:creationId xmlns:a16="http://schemas.microsoft.com/office/drawing/2014/main" id="{2B697F68-8782-D7AA-20FF-3BCA8E613A5D}"/>
              </a:ext>
            </a:extLst>
          </p:cNvPr>
          <p:cNvSpPr/>
          <p:nvPr/>
        </p:nvSpPr>
        <p:spPr>
          <a:xfrm>
            <a:off x="524467" y="1336956"/>
            <a:ext cx="7080000" cy="370658"/>
          </a:xfrm>
          <a:prstGeom prst="rect">
            <a:avLst/>
          </a:prstGeom>
          <a:noFill/>
          <a:ln/>
        </p:spPr>
        <p:txBody>
          <a:bodyPr wrap="square" lIns="0" tIns="0" rIns="0" bIns="0" rtlCol="0" anchor="t"/>
          <a:lstStyle/>
          <a:p>
            <a:pPr>
              <a:lnSpc>
                <a:spcPts val="2400"/>
              </a:lnSpc>
              <a:defRPr/>
            </a:pPr>
            <a:r>
              <a:rPr lang="en-US" sz="1600" cap="all" dirty="0">
                <a:solidFill>
                  <a:srgbClr val="A9734C"/>
                </a:solidFill>
                <a:latin typeface="Montserrat ExtraBold" pitchFamily="34" charset="0"/>
              </a:rPr>
              <a:t>WHAT CUSTOMERS SEEK</a:t>
            </a:r>
          </a:p>
        </p:txBody>
      </p:sp>
      <p:sp>
        <p:nvSpPr>
          <p:cNvPr id="6" name="Object5">
            <a:extLst>
              <a:ext uri="{FF2B5EF4-FFF2-40B4-BE49-F238E27FC236}">
                <a16:creationId xmlns:a16="http://schemas.microsoft.com/office/drawing/2014/main" id="{76C1B3CE-77F4-3094-A24F-8D44DC77B97B}"/>
              </a:ext>
            </a:extLst>
          </p:cNvPr>
          <p:cNvSpPr/>
          <p:nvPr/>
        </p:nvSpPr>
        <p:spPr>
          <a:xfrm>
            <a:off x="528307" y="752501"/>
            <a:ext cx="9728666" cy="370658"/>
          </a:xfrm>
          <a:prstGeom prst="rect">
            <a:avLst/>
          </a:prstGeom>
          <a:noFill/>
          <a:ln/>
        </p:spPr>
        <p:txBody>
          <a:bodyPr wrap="square" lIns="0" tIns="0" rIns="0" bIns="0" rtlCol="0" anchor="t"/>
          <a:lstStyle/>
          <a:p>
            <a:pPr>
              <a:lnSpc>
                <a:spcPts val="2400"/>
              </a:lnSpc>
              <a:defRPr/>
            </a:pPr>
            <a:r>
              <a:rPr lang="en-US" sz="2400" cap="all" dirty="0">
                <a:solidFill>
                  <a:srgbClr val="A9734C"/>
                </a:solidFill>
                <a:latin typeface="Montserrat ExtraBold" pitchFamily="34" charset="0"/>
              </a:rPr>
              <a:t>PERSONALIZED CONVENIENCE. PERSONALIZED PRESTIGE</a:t>
            </a:r>
          </a:p>
        </p:txBody>
      </p:sp>
      <p:sp>
        <p:nvSpPr>
          <p:cNvPr id="7" name="Object6">
            <a:extLst>
              <a:ext uri="{FF2B5EF4-FFF2-40B4-BE49-F238E27FC236}">
                <a16:creationId xmlns:a16="http://schemas.microsoft.com/office/drawing/2014/main" id="{56582A36-E787-9DF1-824B-32DE299C4DF6}"/>
              </a:ext>
            </a:extLst>
          </p:cNvPr>
          <p:cNvSpPr/>
          <p:nvPr/>
        </p:nvSpPr>
        <p:spPr>
          <a:xfrm>
            <a:off x="528307" y="447156"/>
            <a:ext cx="5156160" cy="370658"/>
          </a:xfrm>
          <a:prstGeom prst="rect">
            <a:avLst/>
          </a:prstGeom>
          <a:noFill/>
          <a:ln/>
        </p:spPr>
        <p:txBody>
          <a:bodyPr wrap="square" lIns="0" tIns="0" rIns="0" bIns="0" rtlCol="0" anchor="t"/>
          <a:lstStyle/>
          <a:p>
            <a:pPr defTabSz="304815">
              <a:lnSpc>
                <a:spcPts val="2400"/>
              </a:lnSpc>
              <a:defRPr/>
            </a:pPr>
            <a:r>
              <a:rPr lang="en-US" sz="2400" cap="all" dirty="0">
                <a:solidFill>
                  <a:srgbClr val="002060"/>
                </a:solidFill>
                <a:latin typeface="Montserrat ExtraBold" pitchFamily="34" charset="0"/>
              </a:rPr>
              <a:t>ENHANCE MY LIFESTYLE</a:t>
            </a:r>
          </a:p>
        </p:txBody>
      </p:sp>
      <p:sp>
        <p:nvSpPr>
          <p:cNvPr id="3" name="TextBox 2">
            <a:extLst>
              <a:ext uri="{FF2B5EF4-FFF2-40B4-BE49-F238E27FC236}">
                <a16:creationId xmlns:a16="http://schemas.microsoft.com/office/drawing/2014/main" id="{CB01C008-4F1A-545A-5904-B8D107CB1E92}"/>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52</a:t>
            </a:fld>
            <a:endParaRPr lang="en-US" sz="1333" dirty="0">
              <a:solidFill>
                <a:srgbClr val="0D0D0D"/>
              </a:solidFill>
              <a:latin typeface="Hepta Slab Medium" pitchFamily="2" charset="0"/>
              <a:cs typeface="Hepta Slab Medium" pitchFamily="2" charset="0"/>
            </a:endParaRPr>
          </a:p>
        </p:txBody>
      </p:sp>
      <p:sp>
        <p:nvSpPr>
          <p:cNvPr id="4" name="TextBox 3">
            <a:extLst>
              <a:ext uri="{FF2B5EF4-FFF2-40B4-BE49-F238E27FC236}">
                <a16:creationId xmlns:a16="http://schemas.microsoft.com/office/drawing/2014/main" id="{19B5CD2F-A758-B2E6-CCCE-DAE6BA1B32DC}"/>
              </a:ext>
            </a:extLst>
          </p:cNvPr>
          <p:cNvSpPr txBox="1"/>
          <p:nvPr/>
        </p:nvSpPr>
        <p:spPr>
          <a:xfrm>
            <a:off x="6905625" y="310798"/>
            <a:ext cx="3701654"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Personalization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22654920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63789E0B-1309-2211-1EBB-967B01E27896}"/>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336AC2D1-8D66-2631-D90E-56A948053F88}"/>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D3617AED-56F9-6DB0-D3E2-237EBFDFBB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BA2FE400-F41B-B8D6-2EF1-BC9D79509AC7}"/>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77E26422-9656-1254-B5B0-6BB327372E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2" name="Object6">
            <a:extLst>
              <a:ext uri="{FF2B5EF4-FFF2-40B4-BE49-F238E27FC236}">
                <a16:creationId xmlns:a16="http://schemas.microsoft.com/office/drawing/2014/main" id="{97E4EBC7-E726-264C-2575-DE584AC2C2C1}"/>
              </a:ext>
            </a:extLst>
          </p:cNvPr>
          <p:cNvSpPr/>
          <p:nvPr/>
        </p:nvSpPr>
        <p:spPr>
          <a:xfrm>
            <a:off x="6075791" y="1781046"/>
            <a:ext cx="2711802"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333" b="0" i="0" u="none" strike="noStrike" kern="1200" cap="all" spc="0" normalizeH="0" baseline="0" noProof="0" dirty="0">
                <a:ln>
                  <a:noFill/>
                </a:ln>
                <a:solidFill>
                  <a:prstClr val="black">
                    <a:lumMod val="65000"/>
                    <a:lumOff val="35000"/>
                  </a:prstClr>
                </a:solidFill>
                <a:effectLst/>
                <a:uLnTx/>
                <a:uFillTx/>
                <a:latin typeface="Montserrat ExtraBold" pitchFamily="34" charset="0"/>
                <a:ea typeface="+mn-ea"/>
                <a:cs typeface="+mn-cs"/>
              </a:rPr>
              <a:t>EXPERIENCE PERCEPTION</a:t>
            </a:r>
          </a:p>
        </p:txBody>
      </p:sp>
      <p:pic>
        <p:nvPicPr>
          <p:cNvPr id="21" name="Graphic 20" descr="Diamond with solid fill">
            <a:extLst>
              <a:ext uri="{FF2B5EF4-FFF2-40B4-BE49-F238E27FC236}">
                <a16:creationId xmlns:a16="http://schemas.microsoft.com/office/drawing/2014/main" id="{B0D377A0-32E3-604D-9887-ED68E7EEB3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9153" y="33141"/>
            <a:ext cx="609600" cy="609600"/>
          </a:xfrm>
          <a:prstGeom prst="rect">
            <a:avLst/>
          </a:prstGeom>
        </p:spPr>
      </p:pic>
      <p:sp>
        <p:nvSpPr>
          <p:cNvPr id="15" name="TextBox 14">
            <a:extLst>
              <a:ext uri="{FF2B5EF4-FFF2-40B4-BE49-F238E27FC236}">
                <a16:creationId xmlns:a16="http://schemas.microsoft.com/office/drawing/2014/main" id="{8BA8AD92-3CC7-B03C-D361-9F19C69B621E}"/>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53</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3" name="TextBox 2">
            <a:extLst>
              <a:ext uri="{FF2B5EF4-FFF2-40B4-BE49-F238E27FC236}">
                <a16:creationId xmlns:a16="http://schemas.microsoft.com/office/drawing/2014/main" id="{D4C7FF4F-1934-B98E-F443-AFBFBB607D23}"/>
              </a:ext>
            </a:extLst>
          </p:cNvPr>
          <p:cNvSpPr txBox="1"/>
          <p:nvPr/>
        </p:nvSpPr>
        <p:spPr>
          <a:xfrm>
            <a:off x="1790700" y="6431369"/>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6" name="Picture 5">
            <a:extLst>
              <a:ext uri="{FF2B5EF4-FFF2-40B4-BE49-F238E27FC236}">
                <a16:creationId xmlns:a16="http://schemas.microsoft.com/office/drawing/2014/main" id="{A5051BD3-D3F0-ED60-8575-2D72D29A5DAB}"/>
              </a:ext>
            </a:extLst>
          </p:cNvPr>
          <p:cNvPicPr>
            <a:picLocks noChangeAspect="1"/>
          </p:cNvPicPr>
          <p:nvPr/>
        </p:nvPicPr>
        <p:blipFill>
          <a:blip r:embed="rId7">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graphicFrame>
        <p:nvGraphicFramePr>
          <p:cNvPr id="11" name="Chart 10">
            <a:extLst>
              <a:ext uri="{FF2B5EF4-FFF2-40B4-BE49-F238E27FC236}">
                <a16:creationId xmlns:a16="http://schemas.microsoft.com/office/drawing/2014/main" id="{E318DB7C-DBC4-F219-804B-9573394A6B5E}"/>
              </a:ext>
            </a:extLst>
          </p:cNvPr>
          <p:cNvGraphicFramePr>
            <a:graphicFrameLocks/>
          </p:cNvGraphicFramePr>
          <p:nvPr/>
        </p:nvGraphicFramePr>
        <p:xfrm>
          <a:off x="6075791" y="2100782"/>
          <a:ext cx="5473362" cy="395237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 name="Chart 1">
            <a:extLst>
              <a:ext uri="{FF2B5EF4-FFF2-40B4-BE49-F238E27FC236}">
                <a16:creationId xmlns:a16="http://schemas.microsoft.com/office/drawing/2014/main" id="{937315BB-5A5B-77C5-69AC-32817319C686}"/>
              </a:ext>
            </a:extLst>
          </p:cNvPr>
          <p:cNvGraphicFramePr>
            <a:graphicFrameLocks/>
          </p:cNvGraphicFramePr>
          <p:nvPr/>
        </p:nvGraphicFramePr>
        <p:xfrm>
          <a:off x="463846" y="2268493"/>
          <a:ext cx="5506169" cy="3952373"/>
        </p:xfrm>
        <a:graphic>
          <a:graphicData uri="http://schemas.openxmlformats.org/drawingml/2006/chart">
            <c:chart xmlns:c="http://schemas.openxmlformats.org/drawingml/2006/chart" xmlns:r="http://schemas.openxmlformats.org/officeDocument/2006/relationships" r:id="rId9"/>
          </a:graphicData>
        </a:graphic>
      </p:graphicFrame>
      <p:sp>
        <p:nvSpPr>
          <p:cNvPr id="9" name="Object6">
            <a:extLst>
              <a:ext uri="{FF2B5EF4-FFF2-40B4-BE49-F238E27FC236}">
                <a16:creationId xmlns:a16="http://schemas.microsoft.com/office/drawing/2014/main" id="{A654B1EE-5DAE-E6CC-6888-B45E0383A15B}"/>
              </a:ext>
            </a:extLst>
          </p:cNvPr>
          <p:cNvSpPr/>
          <p:nvPr/>
        </p:nvSpPr>
        <p:spPr>
          <a:xfrm>
            <a:off x="524467" y="1781046"/>
            <a:ext cx="2711802"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333" b="0" i="0" u="none" strike="noStrike" kern="1200" cap="all" spc="0" normalizeH="0" baseline="0" noProof="0" dirty="0">
                <a:ln>
                  <a:noFill/>
                </a:ln>
                <a:solidFill>
                  <a:prstClr val="black">
                    <a:lumMod val="65000"/>
                    <a:lumOff val="35000"/>
                  </a:prstClr>
                </a:solidFill>
                <a:effectLst/>
                <a:uLnTx/>
                <a:uFillTx/>
                <a:latin typeface="Montserrat ExtraBold" pitchFamily="34" charset="0"/>
                <a:ea typeface="+mn-ea"/>
                <a:cs typeface="+mn-cs"/>
              </a:rPr>
              <a:t>CELESTA CARD</a:t>
            </a:r>
          </a:p>
        </p:txBody>
      </p:sp>
      <p:sp>
        <p:nvSpPr>
          <p:cNvPr id="19" name="Object5">
            <a:extLst>
              <a:ext uri="{FF2B5EF4-FFF2-40B4-BE49-F238E27FC236}">
                <a16:creationId xmlns:a16="http://schemas.microsoft.com/office/drawing/2014/main" id="{A48B867D-5D72-66C9-DC9E-8AF204FF341A}"/>
              </a:ext>
            </a:extLst>
          </p:cNvPr>
          <p:cNvSpPr/>
          <p:nvPr/>
        </p:nvSpPr>
        <p:spPr>
          <a:xfrm>
            <a:off x="524467" y="1336956"/>
            <a:ext cx="3886666" cy="370658"/>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A9734C"/>
                </a:solidFill>
                <a:effectLst/>
                <a:uLnTx/>
                <a:uFillTx/>
                <a:latin typeface="Montserrat ExtraBold" pitchFamily="34" charset="0"/>
                <a:ea typeface="+mn-ea"/>
                <a:cs typeface="+mn-cs"/>
              </a:rPr>
              <a:t>WHAT CUSTOMERS EXPERIENCE</a:t>
            </a:r>
          </a:p>
        </p:txBody>
      </p:sp>
      <p:sp>
        <p:nvSpPr>
          <p:cNvPr id="20" name="Object5">
            <a:extLst>
              <a:ext uri="{FF2B5EF4-FFF2-40B4-BE49-F238E27FC236}">
                <a16:creationId xmlns:a16="http://schemas.microsoft.com/office/drawing/2014/main" id="{03FDC3A6-E09A-F0F4-00B3-C2E59B874636}"/>
              </a:ext>
            </a:extLst>
          </p:cNvPr>
          <p:cNvSpPr/>
          <p:nvPr/>
        </p:nvSpPr>
        <p:spPr>
          <a:xfrm>
            <a:off x="528307" y="752501"/>
            <a:ext cx="9728666" cy="370658"/>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A9734C"/>
                </a:solidFill>
                <a:effectLst/>
                <a:uLnTx/>
                <a:uFillTx/>
                <a:latin typeface="Montserrat ExtraBold" pitchFamily="34" charset="0"/>
                <a:ea typeface="+mn-ea"/>
                <a:cs typeface="+mn-cs"/>
              </a:rPr>
              <a:t>PERSONALIZED CONVENIENCE. PERSONALIZED PRESTIGE</a:t>
            </a:r>
          </a:p>
        </p:txBody>
      </p:sp>
      <p:sp>
        <p:nvSpPr>
          <p:cNvPr id="23" name="Object6">
            <a:extLst>
              <a:ext uri="{FF2B5EF4-FFF2-40B4-BE49-F238E27FC236}">
                <a16:creationId xmlns:a16="http://schemas.microsoft.com/office/drawing/2014/main" id="{CC1262BF-4FDC-A5A1-2C27-E7E4C1214830}"/>
              </a:ext>
            </a:extLst>
          </p:cNvPr>
          <p:cNvSpPr/>
          <p:nvPr/>
        </p:nvSpPr>
        <p:spPr>
          <a:xfrm>
            <a:off x="528307" y="447156"/>
            <a:ext cx="5156160" cy="370658"/>
          </a:xfrm>
          <a:prstGeom prst="rect">
            <a:avLst/>
          </a:prstGeom>
          <a:noFill/>
          <a:ln/>
        </p:spPr>
        <p:txBody>
          <a:bodyPr wrap="square" lIns="0" tIns="0" rIns="0" bIns="0" rtlCol="0" anchor="t"/>
          <a:lstStyle/>
          <a:p>
            <a:pPr marL="0" marR="0" lvl="0" indent="0" algn="l" defTabSz="304815" rtl="0" eaLnBrk="1" fontAlgn="auto" latinLnBrk="0" hangingPunct="1">
              <a:lnSpc>
                <a:spcPts val="24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ENHANCE MY LIFESTYLE</a:t>
            </a:r>
          </a:p>
        </p:txBody>
      </p:sp>
      <p:sp>
        <p:nvSpPr>
          <p:cNvPr id="4" name="Object5">
            <a:extLst>
              <a:ext uri="{FF2B5EF4-FFF2-40B4-BE49-F238E27FC236}">
                <a16:creationId xmlns:a16="http://schemas.microsoft.com/office/drawing/2014/main" id="{EEDFB995-2B59-4867-AE78-0CCB6F8FEB3E}"/>
              </a:ext>
            </a:extLst>
          </p:cNvPr>
          <p:cNvSpPr/>
          <p:nvPr/>
        </p:nvSpPr>
        <p:spPr>
          <a:xfrm>
            <a:off x="1076595" y="2472294"/>
            <a:ext cx="4721759" cy="1475018"/>
          </a:xfrm>
          <a:prstGeom prst="rect">
            <a:avLst/>
          </a:prstGeom>
          <a:noFill/>
          <a:ln/>
        </p:spPr>
        <p:txBody>
          <a:bodyPr wrap="square" lIns="0" tIns="0" rIns="0" bIns="0" rtlCol="0" anchor="t"/>
          <a:lstStyle/>
          <a:p>
            <a:pPr marL="0" marR="0" lvl="0" indent="0" algn="l" defTabSz="914400" rtl="0" eaLnBrk="1" fontAlgn="auto" latinLnBrk="0" hangingPunct="1">
              <a:lnSpc>
                <a:spcPct val="150000"/>
              </a:lnSpc>
              <a:spcBef>
                <a:spcPts val="0"/>
              </a:spcBef>
              <a:spcAft>
                <a:spcPts val="1200"/>
              </a:spcAft>
              <a:buClrTx/>
              <a:buSzTx/>
              <a:buFontTx/>
              <a:buNone/>
              <a:tabLst/>
              <a:defRPr/>
            </a:pPr>
            <a:r>
              <a:rPr kumimoji="0" lang="en-US" sz="1300" b="0" i="1"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Customers do not differentiate between credit/debit card from a “benefits” perspective. For other brands, a brand credit card is provided as a standard</a:t>
            </a:r>
          </a:p>
        </p:txBody>
      </p:sp>
      <p:sp>
        <p:nvSpPr>
          <p:cNvPr id="5" name="TextBox 4">
            <a:extLst>
              <a:ext uri="{FF2B5EF4-FFF2-40B4-BE49-F238E27FC236}">
                <a16:creationId xmlns:a16="http://schemas.microsoft.com/office/drawing/2014/main" id="{7F7F7259-F4D3-9697-38DC-BB32E3F596B8}"/>
              </a:ext>
            </a:extLst>
          </p:cNvPr>
          <p:cNvSpPr txBox="1"/>
          <p:nvPr/>
        </p:nvSpPr>
        <p:spPr>
          <a:xfrm>
            <a:off x="6905625" y="310798"/>
            <a:ext cx="3701654"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Personalization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10077212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0" name="Object5">
            <a:extLst>
              <a:ext uri="{FF2B5EF4-FFF2-40B4-BE49-F238E27FC236}">
                <a16:creationId xmlns:a16="http://schemas.microsoft.com/office/drawing/2014/main" id="{391B8E02-3DCF-D5D1-E825-B6185334DA83}"/>
              </a:ext>
            </a:extLst>
          </p:cNvPr>
          <p:cNvSpPr/>
          <p:nvPr/>
        </p:nvSpPr>
        <p:spPr>
          <a:xfrm>
            <a:off x="7896000" y="2709000"/>
            <a:ext cx="3480000" cy="1200000"/>
          </a:xfrm>
          <a:prstGeom prst="rect">
            <a:avLst/>
          </a:prstGeom>
          <a:noFill/>
          <a:ln/>
        </p:spPr>
        <p:txBody>
          <a:bodyPr wrap="square" lIns="0" tIns="0" rIns="0" bIns="0" rtlCol="0" anchor="t"/>
          <a:lstStyle/>
          <a:p>
            <a:pPr marL="0" marR="0" lvl="0" indent="0" algn="l" defTabSz="304815" rtl="0" eaLnBrk="1" fontAlgn="auto" latinLnBrk="0" hangingPunct="1">
              <a:lnSpc>
                <a:spcPct val="15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7030A0"/>
              </a:solidFill>
              <a:effectLst/>
              <a:uLnTx/>
              <a:uFillTx/>
              <a:latin typeface="Hepta Slab SemiBold" pitchFamily="2" charset="0"/>
              <a:ea typeface="Hepta Slab Regular" pitchFamily="34" charset="-122"/>
              <a:cs typeface="Hepta Slab SemiBold" pitchFamily="2" charset="0"/>
            </a:endParaRPr>
          </a:p>
        </p:txBody>
      </p:sp>
      <p:grpSp>
        <p:nvGrpSpPr>
          <p:cNvPr id="11" name="Group 10">
            <a:extLst>
              <a:ext uri="{FF2B5EF4-FFF2-40B4-BE49-F238E27FC236}">
                <a16:creationId xmlns:a16="http://schemas.microsoft.com/office/drawing/2014/main" id="{FF2E491A-DFE8-7CC8-A371-D8F1CBD2B69A}"/>
              </a:ext>
            </a:extLst>
          </p:cNvPr>
          <p:cNvGrpSpPr/>
          <p:nvPr/>
        </p:nvGrpSpPr>
        <p:grpSpPr>
          <a:xfrm>
            <a:off x="-61290" y="6053155"/>
            <a:ext cx="12253290" cy="971832"/>
            <a:chOff x="-187799" y="8336784"/>
            <a:chExt cx="18379935" cy="1457748"/>
          </a:xfrm>
        </p:grpSpPr>
        <p:pic>
          <p:nvPicPr>
            <p:cNvPr id="16" name="Picture 15">
              <a:extLst>
                <a:ext uri="{FF2B5EF4-FFF2-40B4-BE49-F238E27FC236}">
                  <a16:creationId xmlns:a16="http://schemas.microsoft.com/office/drawing/2014/main" id="{F5346236-D78A-9E55-7DD4-800368C48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7" name="Title 1">
              <a:extLst>
                <a:ext uri="{FF2B5EF4-FFF2-40B4-BE49-F238E27FC236}">
                  <a16:creationId xmlns:a16="http://schemas.microsoft.com/office/drawing/2014/main" id="{A563E219-6F03-93DE-80FF-8776362D797A}"/>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8" name="Picture 17">
              <a:extLst>
                <a:ext uri="{FF2B5EF4-FFF2-40B4-BE49-F238E27FC236}">
                  <a16:creationId xmlns:a16="http://schemas.microsoft.com/office/drawing/2014/main" id="{5D10B964-A162-E0C9-AC87-88417E88CC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4" name="TextBox 13">
            <a:extLst>
              <a:ext uri="{FF2B5EF4-FFF2-40B4-BE49-F238E27FC236}">
                <a16:creationId xmlns:a16="http://schemas.microsoft.com/office/drawing/2014/main" id="{974AA8AC-FAAF-DD81-04FB-1C15A1E2B502}"/>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54</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3" name="TextBox 2">
            <a:extLst>
              <a:ext uri="{FF2B5EF4-FFF2-40B4-BE49-F238E27FC236}">
                <a16:creationId xmlns:a16="http://schemas.microsoft.com/office/drawing/2014/main" id="{E142E4B2-8B10-B870-2E3B-0005DBC9FCF0}"/>
              </a:ext>
            </a:extLst>
          </p:cNvPr>
          <p:cNvSpPr txBox="1"/>
          <p:nvPr/>
        </p:nvSpPr>
        <p:spPr>
          <a:xfrm>
            <a:off x="8966212" y="6349727"/>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sp>
        <p:nvSpPr>
          <p:cNvPr id="7" name="Object5">
            <a:extLst>
              <a:ext uri="{FF2B5EF4-FFF2-40B4-BE49-F238E27FC236}">
                <a16:creationId xmlns:a16="http://schemas.microsoft.com/office/drawing/2014/main" id="{A3943F6B-139D-EB19-DAEE-86D219424A25}"/>
              </a:ext>
            </a:extLst>
          </p:cNvPr>
          <p:cNvSpPr/>
          <p:nvPr/>
        </p:nvSpPr>
        <p:spPr>
          <a:xfrm>
            <a:off x="7103533" y="2861400"/>
            <a:ext cx="4424867" cy="1200000"/>
          </a:xfrm>
          <a:prstGeom prst="rect">
            <a:avLst/>
          </a:prstGeom>
          <a:noFill/>
          <a:ln/>
        </p:spPr>
        <p:txBody>
          <a:bodyPr wrap="square" lIns="0" tIns="0" rIns="0" bIns="0" rtlCol="0" anchor="t"/>
          <a:lstStyle/>
          <a:p>
            <a:pPr marL="0" marR="0" lvl="0" indent="0" algn="l" defTabSz="304815" rtl="0" eaLnBrk="1" fontAlgn="auto" latinLnBrk="0" hangingPunct="1">
              <a:lnSpc>
                <a:spcPct val="150000"/>
              </a:lnSpc>
              <a:spcBef>
                <a:spcPts val="0"/>
              </a:spcBef>
              <a:spcAft>
                <a:spcPts val="0"/>
              </a:spcAft>
              <a:buClrTx/>
              <a:buSzTx/>
              <a:buFontTx/>
              <a:buNone/>
              <a:tabLst/>
              <a:defRPr/>
            </a:pPr>
            <a:endParaRPr kumimoji="0" lang="en-US" sz="1867" b="1" i="0" u="none" strike="noStrike" kern="1200" cap="none" spc="0" normalizeH="0" baseline="0" noProof="0" dirty="0">
              <a:ln>
                <a:noFill/>
              </a:ln>
              <a:solidFill>
                <a:srgbClr val="A9734C"/>
              </a:solidFill>
              <a:effectLst/>
              <a:uLnTx/>
              <a:uFillTx/>
              <a:latin typeface="Hepta Slab SemiBold" pitchFamily="2" charset="0"/>
              <a:ea typeface="Hepta Slab Regular" pitchFamily="34" charset="-122"/>
              <a:cs typeface="Hepta Slab SemiBold" pitchFamily="2" charset="0"/>
            </a:endParaRPr>
          </a:p>
        </p:txBody>
      </p:sp>
      <p:graphicFrame>
        <p:nvGraphicFramePr>
          <p:cNvPr id="12" name="Chart 11">
            <a:extLst>
              <a:ext uri="{FF2B5EF4-FFF2-40B4-BE49-F238E27FC236}">
                <a16:creationId xmlns:a16="http://schemas.microsoft.com/office/drawing/2014/main" id="{372840C9-CC9B-479B-8C93-FEA06939C65A}"/>
              </a:ext>
            </a:extLst>
          </p:cNvPr>
          <p:cNvGraphicFramePr>
            <a:graphicFrameLocks/>
          </p:cNvGraphicFramePr>
          <p:nvPr/>
        </p:nvGraphicFramePr>
        <p:xfrm>
          <a:off x="581397" y="2446867"/>
          <a:ext cx="6307264" cy="3756527"/>
        </p:xfrm>
        <a:graphic>
          <a:graphicData uri="http://schemas.openxmlformats.org/drawingml/2006/chart">
            <c:chart xmlns:c="http://schemas.openxmlformats.org/drawingml/2006/chart" xmlns:r="http://schemas.openxmlformats.org/officeDocument/2006/relationships" r:id="rId5"/>
          </a:graphicData>
        </a:graphic>
      </p:graphicFrame>
      <p:sp>
        <p:nvSpPr>
          <p:cNvPr id="8" name="Object5">
            <a:extLst>
              <a:ext uri="{FF2B5EF4-FFF2-40B4-BE49-F238E27FC236}">
                <a16:creationId xmlns:a16="http://schemas.microsoft.com/office/drawing/2014/main" id="{601D9B10-5F7E-8F2C-9294-B480F3D2D8CD}"/>
              </a:ext>
            </a:extLst>
          </p:cNvPr>
          <p:cNvSpPr/>
          <p:nvPr/>
        </p:nvSpPr>
        <p:spPr>
          <a:xfrm>
            <a:off x="524467" y="1336956"/>
            <a:ext cx="3886666" cy="370658"/>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A9734C"/>
                </a:solidFill>
                <a:effectLst/>
                <a:uLnTx/>
                <a:uFillTx/>
                <a:latin typeface="Montserrat ExtraBold" pitchFamily="34" charset="0"/>
                <a:ea typeface="+mn-ea"/>
                <a:cs typeface="+mn-cs"/>
              </a:rPr>
              <a:t>WHAT CUSTOMERS EXPERIENCE</a:t>
            </a:r>
          </a:p>
        </p:txBody>
      </p:sp>
      <p:sp>
        <p:nvSpPr>
          <p:cNvPr id="9" name="Object5">
            <a:extLst>
              <a:ext uri="{FF2B5EF4-FFF2-40B4-BE49-F238E27FC236}">
                <a16:creationId xmlns:a16="http://schemas.microsoft.com/office/drawing/2014/main" id="{2F55EE61-5335-8FC0-578A-05C6D3B8A4A7}"/>
              </a:ext>
            </a:extLst>
          </p:cNvPr>
          <p:cNvSpPr/>
          <p:nvPr/>
        </p:nvSpPr>
        <p:spPr>
          <a:xfrm>
            <a:off x="528307" y="752501"/>
            <a:ext cx="9728666" cy="370658"/>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A9734C"/>
                </a:solidFill>
                <a:effectLst/>
                <a:uLnTx/>
                <a:uFillTx/>
                <a:latin typeface="Montserrat ExtraBold" pitchFamily="34" charset="0"/>
                <a:ea typeface="+mn-ea"/>
                <a:cs typeface="+mn-cs"/>
              </a:rPr>
              <a:t>PERSONALIZED CONVENIENCE. PERSONALIZED PRESTIGE</a:t>
            </a:r>
          </a:p>
        </p:txBody>
      </p:sp>
      <p:sp>
        <p:nvSpPr>
          <p:cNvPr id="13" name="Object6">
            <a:extLst>
              <a:ext uri="{FF2B5EF4-FFF2-40B4-BE49-F238E27FC236}">
                <a16:creationId xmlns:a16="http://schemas.microsoft.com/office/drawing/2014/main" id="{C6B6789D-5489-5E8F-30D4-A4F4C42F1BA3}"/>
              </a:ext>
            </a:extLst>
          </p:cNvPr>
          <p:cNvSpPr/>
          <p:nvPr/>
        </p:nvSpPr>
        <p:spPr>
          <a:xfrm>
            <a:off x="528307" y="447156"/>
            <a:ext cx="5156160" cy="370658"/>
          </a:xfrm>
          <a:prstGeom prst="rect">
            <a:avLst/>
          </a:prstGeom>
          <a:noFill/>
          <a:ln/>
        </p:spPr>
        <p:txBody>
          <a:bodyPr wrap="square" lIns="0" tIns="0" rIns="0" bIns="0" rtlCol="0" anchor="t"/>
          <a:lstStyle/>
          <a:p>
            <a:pPr marL="0" marR="0" lvl="0" indent="0" algn="l" defTabSz="304815" rtl="0" eaLnBrk="1" fontAlgn="auto" latinLnBrk="0" hangingPunct="1">
              <a:lnSpc>
                <a:spcPts val="2400"/>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ENHANCE MY LIFESTYLE</a:t>
            </a:r>
          </a:p>
        </p:txBody>
      </p:sp>
      <p:sp>
        <p:nvSpPr>
          <p:cNvPr id="15" name="Object6">
            <a:extLst>
              <a:ext uri="{FF2B5EF4-FFF2-40B4-BE49-F238E27FC236}">
                <a16:creationId xmlns:a16="http://schemas.microsoft.com/office/drawing/2014/main" id="{78D18EA3-C238-7466-F281-6908259F6BB3}"/>
              </a:ext>
            </a:extLst>
          </p:cNvPr>
          <p:cNvSpPr/>
          <p:nvPr/>
        </p:nvSpPr>
        <p:spPr>
          <a:xfrm>
            <a:off x="581397" y="2041018"/>
            <a:ext cx="2711802" cy="371475"/>
          </a:xfrm>
          <a:prstGeom prst="rect">
            <a:avLst/>
          </a:prstGeom>
          <a:noFill/>
          <a:ln/>
        </p:spPr>
        <p:txBody>
          <a:bodyPr wrap="square" lIns="0" tIns="0" rIns="0" bIns="0" rtlCol="0" anchor="t"/>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333" b="0" i="0" u="none" strike="noStrike" kern="1200" cap="all" spc="0" normalizeH="0" baseline="0" noProof="0" dirty="0">
                <a:ln>
                  <a:noFill/>
                </a:ln>
                <a:solidFill>
                  <a:prstClr val="black">
                    <a:lumMod val="65000"/>
                    <a:lumOff val="35000"/>
                  </a:prstClr>
                </a:solidFill>
                <a:effectLst/>
                <a:uLnTx/>
                <a:uFillTx/>
                <a:latin typeface="Montserrat ExtraBold" pitchFamily="34" charset="0"/>
                <a:ea typeface="+mn-ea"/>
                <a:cs typeface="+mn-cs"/>
              </a:rPr>
              <a:t>LIFESTYLE BENEFITS</a:t>
            </a:r>
          </a:p>
        </p:txBody>
      </p:sp>
      <p:sp>
        <p:nvSpPr>
          <p:cNvPr id="19" name="Object5">
            <a:extLst>
              <a:ext uri="{FF2B5EF4-FFF2-40B4-BE49-F238E27FC236}">
                <a16:creationId xmlns:a16="http://schemas.microsoft.com/office/drawing/2014/main" id="{41BC67BF-9284-9BFD-233E-9C23CFAD4535}"/>
              </a:ext>
            </a:extLst>
          </p:cNvPr>
          <p:cNvSpPr/>
          <p:nvPr/>
        </p:nvSpPr>
        <p:spPr>
          <a:xfrm>
            <a:off x="7010400" y="1987831"/>
            <a:ext cx="4721759" cy="2482569"/>
          </a:xfrm>
          <a:prstGeom prst="rect">
            <a:avLst/>
          </a:prstGeom>
          <a:noFill/>
          <a:ln/>
        </p:spPr>
        <p:txBody>
          <a:bodyPr wrap="square" lIns="0" tIns="0" rIns="0" bIns="0" rtlCol="0" anchor="t"/>
          <a:lstStyle/>
          <a:p>
            <a:pPr marL="0" marR="0" lvl="0" indent="0" algn="l" defTabSz="914400" rtl="0" eaLnBrk="1" fontAlgn="auto" latinLnBrk="0" hangingPunct="1">
              <a:lnSpc>
                <a:spcPct val="15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 70% of Celesta respondents have experienced the travel &amp; lifestyle benefits.</a:t>
            </a:r>
          </a:p>
          <a:p>
            <a:pPr marL="0" marR="0" lvl="0" indent="0" algn="l" defTabSz="914400" rtl="0" eaLnBrk="1" fontAlgn="auto" latinLnBrk="0" hangingPunct="1">
              <a:lnSpc>
                <a:spcPct val="15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More than 35% of those who have experienced Celesta lifestyle benefits consider competition experience better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endParaRPr>
          </a:p>
        </p:txBody>
      </p:sp>
      <p:sp>
        <p:nvSpPr>
          <p:cNvPr id="2" name="TextBox 1">
            <a:extLst>
              <a:ext uri="{FF2B5EF4-FFF2-40B4-BE49-F238E27FC236}">
                <a16:creationId xmlns:a16="http://schemas.microsoft.com/office/drawing/2014/main" id="{854480AA-5821-01E0-3EE4-926A5F90EDCC}"/>
              </a:ext>
            </a:extLst>
          </p:cNvPr>
          <p:cNvSpPr txBox="1"/>
          <p:nvPr/>
        </p:nvSpPr>
        <p:spPr>
          <a:xfrm>
            <a:off x="6905625" y="310798"/>
            <a:ext cx="3701654"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Personalization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21334579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D5E90E-61BA-B8F7-39B0-0A10957AEF8A}"/>
              </a:ext>
            </a:extLst>
          </p:cNvPr>
          <p:cNvSpPr/>
          <p:nvPr/>
        </p:nvSpPr>
        <p:spPr>
          <a:xfrm>
            <a:off x="0" y="5459086"/>
            <a:ext cx="12192000" cy="447677"/>
          </a:xfrm>
          <a:prstGeom prst="rect">
            <a:avLst/>
          </a:prstGeom>
          <a:solidFill>
            <a:srgbClr val="811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815"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811717"/>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B4641FC1-4C00-3B52-DD74-175A2F4994D1}"/>
              </a:ext>
            </a:extLst>
          </p:cNvPr>
          <p:cNvSpPr/>
          <p:nvPr/>
        </p:nvSpPr>
        <p:spPr>
          <a:xfrm>
            <a:off x="4155560" y="1940121"/>
            <a:ext cx="3359999" cy="292888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"I mean that is one of the best facility being provided by the Federal Bank, Concierge Service. Actually, it's Really good. </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Only thing they are keeping it only once in an year is why I had requested for at least twice."</a:t>
            </a:r>
            <a:endPar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7" name="Rectangle: Rounded Corners 16">
            <a:extLst>
              <a:ext uri="{FF2B5EF4-FFF2-40B4-BE49-F238E27FC236}">
                <a16:creationId xmlns:a16="http://schemas.microsoft.com/office/drawing/2014/main" id="{EB907028-A3CA-ED0B-936B-0CF7DE87E743}"/>
              </a:ext>
            </a:extLst>
          </p:cNvPr>
          <p:cNvSpPr/>
          <p:nvPr/>
        </p:nvSpPr>
        <p:spPr>
          <a:xfrm>
            <a:off x="7774685" y="1940120"/>
            <a:ext cx="3718815" cy="316528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“They issued another </a:t>
            </a:r>
            <a:r>
              <a:rPr kumimoji="0" lang="en-US" sz="14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FASTag</a:t>
            </a:r>
            <a:r>
              <a:rPr kumimoji="0" lang="en-US" sz="14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 and the second </a:t>
            </a:r>
            <a:r>
              <a:rPr kumimoji="0" lang="en-US" sz="14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FASTag</a:t>
            </a:r>
            <a:r>
              <a:rPr kumimoji="0" lang="en-US" sz="14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 was only actually was in my car from the beginning. But unfortunately the first </a:t>
            </a:r>
            <a:r>
              <a:rPr kumimoji="0" lang="en-US" sz="14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FASTag</a:t>
            </a:r>
            <a:r>
              <a:rPr kumimoji="0" lang="en-US" sz="14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 they never cancelled. Complaint (was made about) this one to NHAI but they told that it is not our mistake, it is Federal Bank who supposed to cancel. That case actually had taken around the 3-4 months”</a:t>
            </a:r>
            <a:endParaRPr kumimoji="0" lang="en-US" sz="14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6" name="Rectangle: Rounded Corners 15">
            <a:extLst>
              <a:ext uri="{FF2B5EF4-FFF2-40B4-BE49-F238E27FC236}">
                <a16:creationId xmlns:a16="http://schemas.microsoft.com/office/drawing/2014/main" id="{D50CDD84-8F5E-4DCB-7DB8-C1AA6DC8F837}"/>
              </a:ext>
            </a:extLst>
          </p:cNvPr>
          <p:cNvSpPr/>
          <p:nvPr/>
        </p:nvSpPr>
        <p:spPr>
          <a:xfrm>
            <a:off x="456001" y="1940120"/>
            <a:ext cx="3359999" cy="331524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“Actually last time when I'm coming to </a:t>
            </a:r>
            <a:r>
              <a:rPr lang="en-US" sz="1600" dirty="0">
                <a:solidFill>
                  <a:srgbClr val="002060"/>
                </a:solidFill>
                <a:latin typeface="Montserrat Medium" pitchFamily="2" charset="0"/>
                <a:ea typeface="Hepta Slab Regular" pitchFamily="34" charset="-122"/>
                <a:cs typeface="Hepta Slab Medium" pitchFamily="2" charset="0"/>
              </a:rPr>
              <a:t>K</a:t>
            </a:r>
            <a:r>
              <a:rPr kumimoji="0" lang="en-US" sz="1600" b="0" i="0" u="none" strike="noStrike" kern="1200" cap="none" spc="0" normalizeH="0" baseline="0" noProof="0" dirty="0" err="1">
                <a:ln>
                  <a:noFill/>
                </a:ln>
                <a:solidFill>
                  <a:srgbClr val="002060"/>
                </a:solidFill>
                <a:effectLst/>
                <a:uLnTx/>
                <a:uFillTx/>
                <a:latin typeface="Montserrat Medium" pitchFamily="2" charset="0"/>
                <a:ea typeface="Hepta Slab Regular" pitchFamily="34" charset="-122"/>
                <a:cs typeface="Hepta Slab Medium" pitchFamily="2" charset="0"/>
              </a:rPr>
              <a:t>ochi</a:t>
            </a: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 I requested for Concierge service, but they told me actually it was just a day or 2 before my departure. So, they told me that it has to be done almost a week earlier, so that is a little bit cumbersome.”</a:t>
            </a:r>
            <a:endPar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9" name="Object6">
            <a:extLst>
              <a:ext uri="{FF2B5EF4-FFF2-40B4-BE49-F238E27FC236}">
                <a16:creationId xmlns:a16="http://schemas.microsoft.com/office/drawing/2014/main" id="{1A4646B0-BE48-30FC-CF6C-175819318A2E}"/>
              </a:ext>
            </a:extLst>
          </p:cNvPr>
          <p:cNvSpPr/>
          <p:nvPr/>
        </p:nvSpPr>
        <p:spPr>
          <a:xfrm>
            <a:off x="456000" y="1195751"/>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2060"/>
                </a:solidFill>
                <a:effectLst/>
                <a:uLnTx/>
                <a:uFillTx/>
                <a:latin typeface="Montserrat ExtraBold" pitchFamily="34" charset="0"/>
                <a:ea typeface="+mn-ea"/>
                <a:cs typeface="+mn-cs"/>
              </a:rPr>
              <a:t>Expectation experience gap</a:t>
            </a:r>
            <a:endParaRPr kumimoji="0" lang="en-US" sz="16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15" name="Object5">
            <a:extLst>
              <a:ext uri="{FF2B5EF4-FFF2-40B4-BE49-F238E27FC236}">
                <a16:creationId xmlns:a16="http://schemas.microsoft.com/office/drawing/2014/main" id="{C3919E1A-240E-7984-7C40-C4AC48AD3FCD}"/>
              </a:ext>
            </a:extLst>
          </p:cNvPr>
          <p:cNvSpPr/>
          <p:nvPr/>
        </p:nvSpPr>
        <p:spPr>
          <a:xfrm>
            <a:off x="816000" y="5569880"/>
            <a:ext cx="5880000" cy="259121"/>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Hepta Slab Regular" pitchFamily="34" charset="-122"/>
                <a:cs typeface="Hepta Slab Medium" pitchFamily="2" charset="0"/>
              </a:rPr>
              <a:t>Biases at </a:t>
            </a:r>
            <a:r>
              <a:rPr lang="en-US" sz="1600" dirty="0">
                <a:solidFill>
                  <a:prstClr val="white"/>
                </a:solidFill>
                <a:latin typeface="Hepta Slab Medium" pitchFamily="2" charset="0"/>
                <a:ea typeface="Hepta Slab Regular" pitchFamily="34" charset="-122"/>
                <a:cs typeface="Hepta Slab Medium" pitchFamily="2" charset="0"/>
              </a:rPr>
              <a:t>play : </a:t>
            </a:r>
            <a:r>
              <a:rPr kumimoji="0" lang="en-US" sz="1600" b="0" i="0" u="none" strike="noStrike" kern="1200" cap="none" spc="0" normalizeH="0" baseline="0" noProof="0" dirty="0">
                <a:ln>
                  <a:noFill/>
                </a:ln>
                <a:solidFill>
                  <a:prstClr val="white"/>
                </a:solidFill>
                <a:effectLst/>
                <a:uLnTx/>
                <a:uFillTx/>
                <a:latin typeface="Hepta Slab Medium" pitchFamily="2" charset="0"/>
                <a:ea typeface="Hepta Slab Regular" pitchFamily="34" charset="-122"/>
                <a:cs typeface="Hepta Slab Medium" pitchFamily="2" charset="0"/>
              </a:rPr>
              <a:t>Relative depravation theory </a:t>
            </a:r>
            <a:endPar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endParaRPr>
          </a:p>
        </p:txBody>
      </p:sp>
      <p:grpSp>
        <p:nvGrpSpPr>
          <p:cNvPr id="23" name="Group 22">
            <a:extLst>
              <a:ext uri="{FF2B5EF4-FFF2-40B4-BE49-F238E27FC236}">
                <a16:creationId xmlns:a16="http://schemas.microsoft.com/office/drawing/2014/main" id="{3614F9BA-7A08-847E-F8B5-AFB1ECC5BC46}"/>
              </a:ext>
            </a:extLst>
          </p:cNvPr>
          <p:cNvGrpSpPr/>
          <p:nvPr/>
        </p:nvGrpSpPr>
        <p:grpSpPr>
          <a:xfrm>
            <a:off x="-61290" y="6053155"/>
            <a:ext cx="12253290" cy="971832"/>
            <a:chOff x="-187799" y="8336784"/>
            <a:chExt cx="18379935" cy="1457748"/>
          </a:xfrm>
        </p:grpSpPr>
        <p:pic>
          <p:nvPicPr>
            <p:cNvPr id="24" name="Picture 23">
              <a:extLst>
                <a:ext uri="{FF2B5EF4-FFF2-40B4-BE49-F238E27FC236}">
                  <a16:creationId xmlns:a16="http://schemas.microsoft.com/office/drawing/2014/main" id="{EB4E2A86-521D-899E-21A7-B2BBC3B010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5" name="Title 1">
              <a:extLst>
                <a:ext uri="{FF2B5EF4-FFF2-40B4-BE49-F238E27FC236}">
                  <a16:creationId xmlns:a16="http://schemas.microsoft.com/office/drawing/2014/main" id="{A87054F5-BF3E-D9A7-548A-DF3F841AF01B}"/>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6" name="Picture 25">
              <a:extLst>
                <a:ext uri="{FF2B5EF4-FFF2-40B4-BE49-F238E27FC236}">
                  <a16:creationId xmlns:a16="http://schemas.microsoft.com/office/drawing/2014/main" id="{D1EB733F-CA2F-BCBC-EC1D-1A8BAE7A92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8" name="TextBox 17">
            <a:extLst>
              <a:ext uri="{FF2B5EF4-FFF2-40B4-BE49-F238E27FC236}">
                <a16:creationId xmlns:a16="http://schemas.microsoft.com/office/drawing/2014/main" id="{0C891105-11B7-132B-372B-52B7E4B15020}"/>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55</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3" name="Object5">
            <a:extLst>
              <a:ext uri="{FF2B5EF4-FFF2-40B4-BE49-F238E27FC236}">
                <a16:creationId xmlns:a16="http://schemas.microsoft.com/office/drawing/2014/main" id="{07D0DE49-1D94-BACA-B236-17C575E6D8BC}"/>
              </a:ext>
            </a:extLst>
          </p:cNvPr>
          <p:cNvSpPr/>
          <p:nvPr/>
        </p:nvSpPr>
        <p:spPr>
          <a:xfrm>
            <a:off x="456000" y="510154"/>
            <a:ext cx="10320000" cy="480000"/>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2060"/>
                </a:solidFill>
                <a:effectLst/>
                <a:uLnTx/>
                <a:uFillTx/>
                <a:latin typeface="Montserrat ExtraBold" pitchFamily="34" charset="0"/>
                <a:ea typeface="+mn-ea"/>
                <a:cs typeface="+mn-cs"/>
              </a:rPr>
              <a:t>CONTEXTUAL . CONSISTENT . TRANSPARENT</a:t>
            </a:r>
          </a:p>
        </p:txBody>
      </p:sp>
      <p:sp>
        <p:nvSpPr>
          <p:cNvPr id="4" name="Object6">
            <a:extLst>
              <a:ext uri="{FF2B5EF4-FFF2-40B4-BE49-F238E27FC236}">
                <a16:creationId xmlns:a16="http://schemas.microsoft.com/office/drawing/2014/main" id="{1E9BCA2D-F6FB-DA3C-9C97-EEB1E58FDD9C}"/>
              </a:ext>
            </a:extLst>
          </p:cNvPr>
          <p:cNvSpPr/>
          <p:nvPr/>
        </p:nvSpPr>
        <p:spPr>
          <a:xfrm>
            <a:off x="459840" y="245352"/>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D0D0D"/>
                </a:solidFill>
                <a:effectLst/>
                <a:uLnTx/>
                <a:uFillTx/>
                <a:latin typeface="Montserrat ExtraBold" pitchFamily="34" charset="0"/>
                <a:ea typeface="Montserrat ExtraBold" pitchFamily="34" charset="-122"/>
                <a:cs typeface="Montserrat ExtraBold" pitchFamily="34" charset="-120"/>
              </a:rPr>
              <a:t>HELP ME GROW MY MONEY</a:t>
            </a:r>
            <a:endParaRPr kumimoji="0" lang="en-US" sz="1600" b="0" i="0" u="none" strike="noStrike" kern="1200" cap="all" spc="0" normalizeH="0" baseline="0" noProof="0" dirty="0">
              <a:ln>
                <a:noFill/>
              </a:ln>
              <a:solidFill>
                <a:srgbClr val="0D0D0D"/>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809CA535-3426-F888-BE70-EACA0377CFBB}"/>
              </a:ext>
            </a:extLst>
          </p:cNvPr>
          <p:cNvSpPr txBox="1"/>
          <p:nvPr/>
        </p:nvSpPr>
        <p:spPr>
          <a:xfrm>
            <a:off x="2400104" y="4988322"/>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50-65</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6" name="TextBox 5">
            <a:extLst>
              <a:ext uri="{FF2B5EF4-FFF2-40B4-BE49-F238E27FC236}">
                <a16:creationId xmlns:a16="http://schemas.microsoft.com/office/drawing/2014/main" id="{2C9854F1-0FEB-9137-9427-7804A3502070}"/>
              </a:ext>
            </a:extLst>
          </p:cNvPr>
          <p:cNvSpPr txBox="1"/>
          <p:nvPr/>
        </p:nvSpPr>
        <p:spPr>
          <a:xfrm>
            <a:off x="6095999" y="4622780"/>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40-50</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7" name="TextBox 6">
            <a:extLst>
              <a:ext uri="{FF2B5EF4-FFF2-40B4-BE49-F238E27FC236}">
                <a16:creationId xmlns:a16="http://schemas.microsoft.com/office/drawing/2014/main" id="{1653D87C-5036-DFD4-84EE-0FE4A0F206B8}"/>
              </a:ext>
            </a:extLst>
          </p:cNvPr>
          <p:cNvSpPr txBox="1"/>
          <p:nvPr/>
        </p:nvSpPr>
        <p:spPr>
          <a:xfrm>
            <a:off x="10054684" y="4853523"/>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40-50</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8" name="TextBox 7">
            <a:extLst>
              <a:ext uri="{FF2B5EF4-FFF2-40B4-BE49-F238E27FC236}">
                <a16:creationId xmlns:a16="http://schemas.microsoft.com/office/drawing/2014/main" id="{697E72C5-C390-25C8-F9AC-93123BC2C92B}"/>
              </a:ext>
            </a:extLst>
          </p:cNvPr>
          <p:cNvSpPr txBox="1"/>
          <p:nvPr/>
        </p:nvSpPr>
        <p:spPr>
          <a:xfrm>
            <a:off x="6905625" y="310798"/>
            <a:ext cx="3701654" cy="307777"/>
          </a:xfrm>
          <a:prstGeom prst="rect">
            <a:avLst/>
          </a:prstGeom>
          <a:noFill/>
        </p:spPr>
        <p:txBody>
          <a:bodyPr wrap="none" rtlCol="0">
            <a:spAutoFit/>
          </a:bodyPr>
          <a:lstStyle/>
          <a:p>
            <a:r>
              <a:rPr lang="en-US" sz="1400" dirty="0">
                <a:solidFill>
                  <a:srgbClr val="A9734C"/>
                </a:solidFill>
                <a:latin typeface="Montserrat SemiBold" panose="00000700000000000000" pitchFamily="2" charset="0"/>
              </a:rPr>
              <a:t>Personalization is an opportunity area</a:t>
            </a:r>
            <a:endParaRPr lang="en-IN" sz="1400" dirty="0">
              <a:solidFill>
                <a:srgbClr val="A9734C"/>
              </a:solidFill>
              <a:latin typeface="Montserrat SemiBold" panose="00000700000000000000" pitchFamily="2" charset="0"/>
            </a:endParaRPr>
          </a:p>
        </p:txBody>
      </p:sp>
    </p:spTree>
    <p:extLst>
      <p:ext uri="{BB962C8B-B14F-4D97-AF65-F5344CB8AC3E}">
        <p14:creationId xmlns:p14="http://schemas.microsoft.com/office/powerpoint/2010/main" val="17665214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AC6325B-EEE7-4B35-4B2E-D0A969B56F7E}"/>
              </a:ext>
            </a:extLst>
          </p:cNvPr>
          <p:cNvSpPr/>
          <p:nvPr/>
        </p:nvSpPr>
        <p:spPr>
          <a:xfrm>
            <a:off x="0" y="5459086"/>
            <a:ext cx="12192000" cy="447677"/>
          </a:xfrm>
          <a:prstGeom prst="rect">
            <a:avLst/>
          </a:prstGeom>
          <a:solidFill>
            <a:srgbClr val="811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815"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811717"/>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E399A865-07CF-81D6-2D48-D5926D69C4CC}"/>
              </a:ext>
            </a:extLst>
          </p:cNvPr>
          <p:cNvSpPr/>
          <p:nvPr/>
        </p:nvSpPr>
        <p:spPr>
          <a:xfrm>
            <a:off x="5357814" y="1878301"/>
            <a:ext cx="4940904" cy="163109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“Not interested and not explained to us. We are interested in the basic banking services. Normal day-to-day banking services. I know that there are nowadays advantages to priority account, but actually we do not require.”</a:t>
            </a:r>
            <a:endParaRPr kumimoji="0" lang="en-US" sz="14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20" name="Rectangle: Rounded Corners 19">
            <a:extLst>
              <a:ext uri="{FF2B5EF4-FFF2-40B4-BE49-F238E27FC236}">
                <a16:creationId xmlns:a16="http://schemas.microsoft.com/office/drawing/2014/main" id="{7451500C-D8B5-C427-EB9A-E98E639CA8F0}"/>
              </a:ext>
            </a:extLst>
          </p:cNvPr>
          <p:cNvSpPr/>
          <p:nvPr/>
        </p:nvSpPr>
        <p:spPr>
          <a:xfrm>
            <a:off x="696000" y="3267233"/>
            <a:ext cx="4342621" cy="19158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“In UK, in London lounge, I tried to use the card, it was not acceptable. I don't know for what reason, but when I came back to the branch, he said, ‘No, Sir, it is. It is acceptable there also’. And then they gave me a list.”</a:t>
            </a:r>
            <a:endParaRPr kumimoji="0" lang="en-US" sz="14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5" name="Rectangle: Rounded Corners 14">
            <a:extLst>
              <a:ext uri="{FF2B5EF4-FFF2-40B4-BE49-F238E27FC236}">
                <a16:creationId xmlns:a16="http://schemas.microsoft.com/office/drawing/2014/main" id="{20586E92-20E7-A1A0-7F8D-516D61F3FE7E}"/>
              </a:ext>
            </a:extLst>
          </p:cNvPr>
          <p:cNvSpPr/>
          <p:nvPr/>
        </p:nvSpPr>
        <p:spPr>
          <a:xfrm>
            <a:off x="696000" y="1878301"/>
            <a:ext cx="4342621" cy="118706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“These days there are a lot of banks offering innumerable sort of services in terms of whether it's discounts or cashbacks”</a:t>
            </a:r>
            <a:r>
              <a:rPr kumimoji="0" lang="en-IN" sz="1400" b="0" i="0" u="none" strike="noStrike" kern="1200" cap="none" spc="0" normalizeH="0" baseline="0" noProof="0" dirty="0">
                <a:ln>
                  <a:noFill/>
                </a:ln>
                <a:solidFill>
                  <a:prstClr val="white"/>
                </a:solidFill>
                <a:effectLst/>
                <a:uLnTx/>
                <a:uFillTx/>
                <a:latin typeface="Calibri" panose="020F0502020204030204"/>
                <a:ea typeface="Hepta Slab Regular" pitchFamily="34" charset="-122"/>
                <a:cs typeface="Hepta Slab Medium" pitchFamily="2" charset="0"/>
              </a:rPr>
              <a:t>”</a:t>
            </a:r>
            <a:endParaRPr kumimoji="0" lang="en-US" sz="14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8" name="Object5">
            <a:extLst>
              <a:ext uri="{FF2B5EF4-FFF2-40B4-BE49-F238E27FC236}">
                <a16:creationId xmlns:a16="http://schemas.microsoft.com/office/drawing/2014/main" id="{6D291815-2D0C-A7F4-AB00-B236C2FCD134}"/>
              </a:ext>
            </a:extLst>
          </p:cNvPr>
          <p:cNvSpPr/>
          <p:nvPr/>
        </p:nvSpPr>
        <p:spPr>
          <a:xfrm>
            <a:off x="816000" y="1269000"/>
            <a:ext cx="7080000" cy="480000"/>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2060"/>
                </a:solidFill>
                <a:effectLst/>
                <a:uLnTx/>
                <a:uFillTx/>
                <a:latin typeface="Montserrat ExtraBold" pitchFamily="34" charset="0"/>
                <a:ea typeface="+mn-ea"/>
                <a:cs typeface="+mn-cs"/>
              </a:rPr>
              <a:t>PERSONALIZED CONVENIENCE. PERSONALIZED PRESTIGE</a:t>
            </a:r>
          </a:p>
        </p:txBody>
      </p:sp>
      <p:sp>
        <p:nvSpPr>
          <p:cNvPr id="19" name="Object6">
            <a:extLst>
              <a:ext uri="{FF2B5EF4-FFF2-40B4-BE49-F238E27FC236}">
                <a16:creationId xmlns:a16="http://schemas.microsoft.com/office/drawing/2014/main" id="{69DC6AFD-4BE0-61B8-3846-C7912B50ABCA}"/>
              </a:ext>
            </a:extLst>
          </p:cNvPr>
          <p:cNvSpPr/>
          <p:nvPr/>
        </p:nvSpPr>
        <p:spPr>
          <a:xfrm>
            <a:off x="819840" y="1029001"/>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D0D0D"/>
                </a:solidFill>
                <a:effectLst/>
                <a:uLnTx/>
                <a:uFillTx/>
                <a:latin typeface="Montserrat ExtraBold" pitchFamily="34" charset="0"/>
                <a:ea typeface="Montserrat ExtraBold" pitchFamily="34" charset="-122"/>
                <a:cs typeface="Montserrat ExtraBold" pitchFamily="34" charset="-120"/>
              </a:rPr>
              <a:t>ENHANCE MY LIFESTYLE</a:t>
            </a:r>
            <a:endParaRPr kumimoji="0" lang="en-US" sz="1600" b="0" i="0" u="none" strike="noStrike" kern="1200" cap="all" spc="0" normalizeH="0" baseline="0" noProof="0" dirty="0">
              <a:ln>
                <a:noFill/>
              </a:ln>
              <a:solidFill>
                <a:srgbClr val="0D0D0D"/>
              </a:solidFill>
              <a:effectLst/>
              <a:uLnTx/>
              <a:uFillTx/>
              <a:latin typeface="Calibri" panose="020F0502020204030204"/>
              <a:ea typeface="+mn-ea"/>
              <a:cs typeface="+mn-cs"/>
            </a:endParaRPr>
          </a:p>
        </p:txBody>
      </p:sp>
      <p:sp>
        <p:nvSpPr>
          <p:cNvPr id="10" name="Object5">
            <a:extLst>
              <a:ext uri="{FF2B5EF4-FFF2-40B4-BE49-F238E27FC236}">
                <a16:creationId xmlns:a16="http://schemas.microsoft.com/office/drawing/2014/main" id="{4C1ED217-86FB-4E02-E792-3C6E71DAB90F}"/>
              </a:ext>
            </a:extLst>
          </p:cNvPr>
          <p:cNvSpPr/>
          <p:nvPr/>
        </p:nvSpPr>
        <p:spPr>
          <a:xfrm>
            <a:off x="816000" y="2010165"/>
            <a:ext cx="1939215" cy="1055197"/>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2" name="Object5">
            <a:extLst>
              <a:ext uri="{FF2B5EF4-FFF2-40B4-BE49-F238E27FC236}">
                <a16:creationId xmlns:a16="http://schemas.microsoft.com/office/drawing/2014/main" id="{CB42A73A-8060-923A-1242-BF19DDCB125B}"/>
              </a:ext>
            </a:extLst>
          </p:cNvPr>
          <p:cNvSpPr/>
          <p:nvPr/>
        </p:nvSpPr>
        <p:spPr>
          <a:xfrm>
            <a:off x="6611740" y="2114472"/>
            <a:ext cx="2113858" cy="228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4" name="Object5">
            <a:extLst>
              <a:ext uri="{FF2B5EF4-FFF2-40B4-BE49-F238E27FC236}">
                <a16:creationId xmlns:a16="http://schemas.microsoft.com/office/drawing/2014/main" id="{9C5297BB-3BA0-B00A-3032-96BCD0D039F8}"/>
              </a:ext>
            </a:extLst>
          </p:cNvPr>
          <p:cNvSpPr/>
          <p:nvPr/>
        </p:nvSpPr>
        <p:spPr>
          <a:xfrm>
            <a:off x="816000" y="5589000"/>
            <a:ext cx="7917614" cy="304845"/>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Hepta Slab Regular" pitchFamily="34" charset="-122"/>
                <a:cs typeface="Hepta Slab Medium" pitchFamily="2" charset="0"/>
              </a:rPr>
              <a:t>Biases at </a:t>
            </a:r>
            <a:r>
              <a:rPr lang="en-US" sz="1600" dirty="0">
                <a:solidFill>
                  <a:prstClr val="white"/>
                </a:solidFill>
                <a:latin typeface="Hepta Slab Medium" pitchFamily="2" charset="0"/>
                <a:ea typeface="Hepta Slab Regular" pitchFamily="34" charset="-122"/>
                <a:cs typeface="Hepta Slab Medium" pitchFamily="2" charset="0"/>
              </a:rPr>
              <a:t>play : </a:t>
            </a:r>
            <a:r>
              <a:rPr kumimoji="0" lang="en-US" sz="1600" b="0" i="0" u="none" strike="noStrike" kern="1200" cap="none" spc="0" normalizeH="0" baseline="0" noProof="0" dirty="0">
                <a:ln>
                  <a:noFill/>
                </a:ln>
                <a:solidFill>
                  <a:prstClr val="white"/>
                </a:solidFill>
                <a:effectLst/>
                <a:uLnTx/>
                <a:uFillTx/>
                <a:latin typeface="Hepta Slab Medium" pitchFamily="2" charset="0"/>
                <a:ea typeface="Hepta Slab Regular" pitchFamily="34" charset="-122"/>
                <a:cs typeface="Hepta Slab Medium" pitchFamily="2" charset="0"/>
              </a:rPr>
              <a:t>Identity Signaling </a:t>
            </a:r>
            <a:endPar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endParaRPr>
          </a:p>
        </p:txBody>
      </p:sp>
      <p:grpSp>
        <p:nvGrpSpPr>
          <p:cNvPr id="23" name="Group 22">
            <a:extLst>
              <a:ext uri="{FF2B5EF4-FFF2-40B4-BE49-F238E27FC236}">
                <a16:creationId xmlns:a16="http://schemas.microsoft.com/office/drawing/2014/main" id="{9F772577-D547-D6A1-93DC-FED966AA1D61}"/>
              </a:ext>
            </a:extLst>
          </p:cNvPr>
          <p:cNvGrpSpPr/>
          <p:nvPr/>
        </p:nvGrpSpPr>
        <p:grpSpPr>
          <a:xfrm>
            <a:off x="-61290" y="6053155"/>
            <a:ext cx="12253290" cy="971832"/>
            <a:chOff x="-187799" y="8336784"/>
            <a:chExt cx="18379935" cy="1457748"/>
          </a:xfrm>
        </p:grpSpPr>
        <p:pic>
          <p:nvPicPr>
            <p:cNvPr id="24" name="Picture 23">
              <a:extLst>
                <a:ext uri="{FF2B5EF4-FFF2-40B4-BE49-F238E27FC236}">
                  <a16:creationId xmlns:a16="http://schemas.microsoft.com/office/drawing/2014/main" id="{59FC700D-29F4-60EC-998F-CEC94A3E4F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5" name="Title 1">
              <a:extLst>
                <a:ext uri="{FF2B5EF4-FFF2-40B4-BE49-F238E27FC236}">
                  <a16:creationId xmlns:a16="http://schemas.microsoft.com/office/drawing/2014/main" id="{1E790296-1DD7-C50C-692C-D8D62E25BF8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6" name="Picture 25">
              <a:extLst>
                <a:ext uri="{FF2B5EF4-FFF2-40B4-BE49-F238E27FC236}">
                  <a16:creationId xmlns:a16="http://schemas.microsoft.com/office/drawing/2014/main" id="{FCE91FF1-8572-B9E6-B559-03A8F3713E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8" name="TextBox 27">
            <a:extLst>
              <a:ext uri="{FF2B5EF4-FFF2-40B4-BE49-F238E27FC236}">
                <a16:creationId xmlns:a16="http://schemas.microsoft.com/office/drawing/2014/main" id="{AA67C0D8-D1E6-6523-7C8B-8C67E5D5A3A7}"/>
              </a:ext>
            </a:extLst>
          </p:cNvPr>
          <p:cNvSpPr txBox="1"/>
          <p:nvPr/>
        </p:nvSpPr>
        <p:spPr>
          <a:xfrm>
            <a:off x="11384038" y="60627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r>
              <a:rPr kumimoji="0" lang="en-US" sz="1200"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rPr>
              <a:t>53</a:t>
            </a:r>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2" name="Rectangle: Rounded Corners 1">
            <a:extLst>
              <a:ext uri="{FF2B5EF4-FFF2-40B4-BE49-F238E27FC236}">
                <a16:creationId xmlns:a16="http://schemas.microsoft.com/office/drawing/2014/main" id="{AB6749BD-7D2E-621C-6EBB-E82D6CFCD2CD}"/>
              </a:ext>
            </a:extLst>
          </p:cNvPr>
          <p:cNvSpPr/>
          <p:nvPr/>
        </p:nvSpPr>
        <p:spPr>
          <a:xfrm>
            <a:off x="5357814" y="3712774"/>
            <a:ext cx="4824789" cy="144515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“I found this concierge service. I thought of providing gift to my wife as a surprise. I contacted through mail and net. So many things up and down, some issues within. It was not done well”</a:t>
            </a:r>
            <a:endParaRPr kumimoji="0" lang="en-US" sz="14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3" name="TextBox 2">
            <a:extLst>
              <a:ext uri="{FF2B5EF4-FFF2-40B4-BE49-F238E27FC236}">
                <a16:creationId xmlns:a16="http://schemas.microsoft.com/office/drawing/2014/main" id="{F6B0C9BB-1DAB-C811-27FC-0A91C3873B7A}"/>
              </a:ext>
            </a:extLst>
          </p:cNvPr>
          <p:cNvSpPr txBox="1"/>
          <p:nvPr/>
        </p:nvSpPr>
        <p:spPr>
          <a:xfrm>
            <a:off x="3770669" y="2817296"/>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Female</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4" name="TextBox 3">
            <a:extLst>
              <a:ext uri="{FF2B5EF4-FFF2-40B4-BE49-F238E27FC236}">
                <a16:creationId xmlns:a16="http://schemas.microsoft.com/office/drawing/2014/main" id="{C848BE1F-1F73-7CFD-AA6F-77455FD8C635}"/>
              </a:ext>
            </a:extLst>
          </p:cNvPr>
          <p:cNvSpPr txBox="1"/>
          <p:nvPr/>
        </p:nvSpPr>
        <p:spPr>
          <a:xfrm>
            <a:off x="8914652" y="4911708"/>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5" name="TextBox 4">
            <a:extLst>
              <a:ext uri="{FF2B5EF4-FFF2-40B4-BE49-F238E27FC236}">
                <a16:creationId xmlns:a16="http://schemas.microsoft.com/office/drawing/2014/main" id="{9EFF344C-127E-EBF7-8793-29A6257775E8}"/>
              </a:ext>
            </a:extLst>
          </p:cNvPr>
          <p:cNvSpPr txBox="1"/>
          <p:nvPr/>
        </p:nvSpPr>
        <p:spPr>
          <a:xfrm>
            <a:off x="8926306" y="3262837"/>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6" name="TextBox 5">
            <a:extLst>
              <a:ext uri="{FF2B5EF4-FFF2-40B4-BE49-F238E27FC236}">
                <a16:creationId xmlns:a16="http://schemas.microsoft.com/office/drawing/2014/main" id="{C8C46773-666A-A66D-EF58-B7DB84C8AACC}"/>
              </a:ext>
            </a:extLst>
          </p:cNvPr>
          <p:cNvSpPr txBox="1"/>
          <p:nvPr/>
        </p:nvSpPr>
        <p:spPr>
          <a:xfrm>
            <a:off x="3722024" y="4911708"/>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Tree>
    <p:extLst>
      <p:ext uri="{BB962C8B-B14F-4D97-AF65-F5344CB8AC3E}">
        <p14:creationId xmlns:p14="http://schemas.microsoft.com/office/powerpoint/2010/main" val="7739916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B9E8EB1-43F8-E6DC-C746-14B219706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Object6">
            <a:extLst>
              <a:ext uri="{FF2B5EF4-FFF2-40B4-BE49-F238E27FC236}">
                <a16:creationId xmlns:a16="http://schemas.microsoft.com/office/drawing/2014/main" id="{7FF1EF97-377A-4E2F-B4BC-0ECF24D2D3D4}"/>
              </a:ext>
            </a:extLst>
          </p:cNvPr>
          <p:cNvSpPr/>
          <p:nvPr/>
        </p:nvSpPr>
        <p:spPr>
          <a:xfrm>
            <a:off x="816000" y="1864500"/>
            <a:ext cx="11040000" cy="840000"/>
          </a:xfrm>
          <a:prstGeom prst="rect">
            <a:avLst/>
          </a:prstGeom>
          <a:noFill/>
          <a:ln/>
        </p:spPr>
        <p:txBody>
          <a:bodyPr wrap="square" lIns="0" tIns="0" rIns="0" bIns="0" rtlCol="0" anchor="b">
            <a:noAutofit/>
          </a:bodyPr>
          <a:lstStyle/>
          <a:p>
            <a:pPr defTabSz="304815">
              <a:defRPr/>
            </a:pPr>
            <a:r>
              <a:rPr lang="en-US" sz="6400" dirty="0">
                <a:solidFill>
                  <a:prstClr val="white"/>
                </a:solidFill>
                <a:latin typeface="Hepta Slab ExtraLight" pitchFamily="2" charset="0"/>
                <a:cs typeface="Hepta Slab ExtraLight" pitchFamily="2" charset="0"/>
              </a:rPr>
              <a:t>The Relationship Manager</a:t>
            </a:r>
          </a:p>
        </p:txBody>
      </p:sp>
      <p:sp>
        <p:nvSpPr>
          <p:cNvPr id="7" name="Object5">
            <a:extLst>
              <a:ext uri="{FF2B5EF4-FFF2-40B4-BE49-F238E27FC236}">
                <a16:creationId xmlns:a16="http://schemas.microsoft.com/office/drawing/2014/main" id="{778B1278-323C-A18C-C048-021C5B08E025}"/>
              </a:ext>
            </a:extLst>
          </p:cNvPr>
          <p:cNvSpPr/>
          <p:nvPr/>
        </p:nvSpPr>
        <p:spPr>
          <a:xfrm>
            <a:off x="816000" y="4993500"/>
            <a:ext cx="10320000" cy="480000"/>
          </a:xfrm>
          <a:prstGeom prst="rect">
            <a:avLst/>
          </a:prstGeom>
          <a:noFill/>
          <a:ln/>
        </p:spPr>
        <p:txBody>
          <a:bodyPr wrap="square" lIns="0" tIns="0" rIns="0" bIns="0" rtlCol="0" anchor="t"/>
          <a:lstStyle/>
          <a:p>
            <a:pPr defTabSz="304815">
              <a:lnSpc>
                <a:spcPts val="4000"/>
              </a:lnSpc>
              <a:defRPr/>
            </a:pPr>
            <a:r>
              <a:rPr lang="en-US" sz="2133" b="1" cap="small" dirty="0">
                <a:solidFill>
                  <a:prstClr val="white"/>
                </a:solidFill>
                <a:latin typeface="Hepta Slab SemiBold" pitchFamily="2" charset="0"/>
                <a:cs typeface="Hepta Slab SemiBold" pitchFamily="2" charset="0"/>
              </a:rPr>
              <a:t>custodian or facilitator </a:t>
            </a:r>
            <a:endParaRPr lang="en-US" sz="2133" cap="small" dirty="0">
              <a:solidFill>
                <a:prstClr val="white"/>
              </a:solidFill>
              <a:latin typeface="Hepta Slab SemiBold" pitchFamily="2" charset="0"/>
              <a:cs typeface="Hepta Slab SemiBold" pitchFamily="2" charset="0"/>
            </a:endParaRPr>
          </a:p>
        </p:txBody>
      </p:sp>
      <p:grpSp>
        <p:nvGrpSpPr>
          <p:cNvPr id="8" name="Group 7">
            <a:extLst>
              <a:ext uri="{FF2B5EF4-FFF2-40B4-BE49-F238E27FC236}">
                <a16:creationId xmlns:a16="http://schemas.microsoft.com/office/drawing/2014/main" id="{D29747B5-133E-F6F0-E42D-28AC1914960F}"/>
              </a:ext>
            </a:extLst>
          </p:cNvPr>
          <p:cNvGrpSpPr/>
          <p:nvPr/>
        </p:nvGrpSpPr>
        <p:grpSpPr>
          <a:xfrm>
            <a:off x="1" y="6042107"/>
            <a:ext cx="11864037" cy="911852"/>
            <a:chOff x="579560" y="9184073"/>
            <a:chExt cx="18133625" cy="1393723"/>
          </a:xfrm>
        </p:grpSpPr>
        <p:sp>
          <p:nvSpPr>
            <p:cNvPr id="9" name="Title 1">
              <a:extLst>
                <a:ext uri="{FF2B5EF4-FFF2-40B4-BE49-F238E27FC236}">
                  <a16:creationId xmlns:a16="http://schemas.microsoft.com/office/drawing/2014/main" id="{F98B9E55-44C1-DDED-9FC7-0BE22397E465}"/>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0" name="Picture 9">
              <a:extLst>
                <a:ext uri="{FF2B5EF4-FFF2-40B4-BE49-F238E27FC236}">
                  <a16:creationId xmlns:a16="http://schemas.microsoft.com/office/drawing/2014/main" id="{DFE1DE6C-EAD8-2488-FB5F-DDDCE97105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1" name="Picture 10">
              <a:extLst>
                <a:ext uri="{FF2B5EF4-FFF2-40B4-BE49-F238E27FC236}">
                  <a16:creationId xmlns:a16="http://schemas.microsoft.com/office/drawing/2014/main" id="{8A285AE9-CF9A-891C-BD5C-8C8635504B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pic>
        <p:nvPicPr>
          <p:cNvPr id="4" name="Picture 3">
            <a:extLst>
              <a:ext uri="{FF2B5EF4-FFF2-40B4-BE49-F238E27FC236}">
                <a16:creationId xmlns:a16="http://schemas.microsoft.com/office/drawing/2014/main" id="{BB1BD96D-CB34-F78A-6626-79D87A9B74E2}"/>
              </a:ext>
            </a:extLst>
          </p:cNvPr>
          <p:cNvPicPr>
            <a:picLocks noChangeAspect="1"/>
          </p:cNvPicPr>
          <p:nvPr/>
        </p:nvPicPr>
        <p:blipFill>
          <a:blip r:embed="rId6">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Tree>
    <p:extLst>
      <p:ext uri="{BB962C8B-B14F-4D97-AF65-F5344CB8AC3E}">
        <p14:creationId xmlns:p14="http://schemas.microsoft.com/office/powerpoint/2010/main" val="22607964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4986A144-5119-C384-B416-D40FD5FACD76}"/>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8E22DDDB-2C6F-CAC7-C619-28AD5A37E1C8}"/>
              </a:ext>
            </a:extLst>
          </p:cNvPr>
          <p:cNvGrpSpPr/>
          <p:nvPr/>
        </p:nvGrpSpPr>
        <p:grpSpPr>
          <a:xfrm>
            <a:off x="-61290" y="6053155"/>
            <a:ext cx="12253290" cy="971832"/>
            <a:chOff x="-187799" y="8336784"/>
            <a:chExt cx="18379935" cy="1457748"/>
          </a:xfrm>
        </p:grpSpPr>
        <p:pic>
          <p:nvPicPr>
            <p:cNvPr id="6" name="Picture 5">
              <a:extLst>
                <a:ext uri="{FF2B5EF4-FFF2-40B4-BE49-F238E27FC236}">
                  <a16:creationId xmlns:a16="http://schemas.microsoft.com/office/drawing/2014/main" id="{13A300B4-026C-3496-D19B-CC931D3A95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7" name="Title 1">
              <a:extLst>
                <a:ext uri="{FF2B5EF4-FFF2-40B4-BE49-F238E27FC236}">
                  <a16:creationId xmlns:a16="http://schemas.microsoft.com/office/drawing/2014/main" id="{EBD0F732-0FCC-629E-7FF6-ECB5CD9855F3}"/>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8" name="Picture 7">
              <a:extLst>
                <a:ext uri="{FF2B5EF4-FFF2-40B4-BE49-F238E27FC236}">
                  <a16:creationId xmlns:a16="http://schemas.microsoft.com/office/drawing/2014/main" id="{8BC1A2ED-6C08-D5DC-4B07-1AE2C77B77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2" name="Picture 1">
            <a:extLst>
              <a:ext uri="{FF2B5EF4-FFF2-40B4-BE49-F238E27FC236}">
                <a16:creationId xmlns:a16="http://schemas.microsoft.com/office/drawing/2014/main" id="{16A0B83A-681C-6B67-4AC1-9402737A77E4}"/>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3" name="Object5">
            <a:extLst>
              <a:ext uri="{FF2B5EF4-FFF2-40B4-BE49-F238E27FC236}">
                <a16:creationId xmlns:a16="http://schemas.microsoft.com/office/drawing/2014/main" id="{93EA424A-735F-B371-8831-721A658CC855}"/>
              </a:ext>
            </a:extLst>
          </p:cNvPr>
          <p:cNvSpPr/>
          <p:nvPr/>
        </p:nvSpPr>
        <p:spPr>
          <a:xfrm>
            <a:off x="1000097" y="1348553"/>
            <a:ext cx="10219284" cy="4220040"/>
          </a:xfrm>
          <a:prstGeom prst="rect">
            <a:avLst/>
          </a:prstGeom>
          <a:noFill/>
          <a:ln/>
        </p:spPr>
        <p:txBody>
          <a:bodyPr wrap="square" lIns="0" tIns="0" rIns="0" bIns="0" rtlCol="0" anchor="t"/>
          <a:lstStyle/>
          <a:p>
            <a:pPr marL="0" marR="0" lvl="0" indent="0" algn="l" defTabSz="304815" rtl="0" eaLnBrk="1" fontAlgn="auto" latinLnBrk="0" hangingPunct="1">
              <a:lnSpc>
                <a:spcPct val="150000"/>
              </a:lnSpc>
              <a:spcBef>
                <a:spcPts val="0"/>
              </a:spcBef>
              <a:spcAft>
                <a:spcPts val="1200"/>
              </a:spcAft>
              <a:buClrTx/>
              <a:buSzTx/>
              <a:buFontTx/>
              <a:buNone/>
              <a:tabLst/>
              <a:defRPr/>
            </a:pPr>
            <a:r>
              <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The RM has immense under-utilized potential as an “</a:t>
            </a:r>
            <a:r>
              <a:rPr kumimoji="0" lang="en-US" b="0" i="0" u="none" strike="noStrike" kern="1200" cap="none" spc="0" normalizeH="0" baseline="0" noProof="0" dirty="0">
                <a:ln>
                  <a:noFill/>
                </a:ln>
                <a:solidFill>
                  <a:srgbClr val="002060"/>
                </a:solidFill>
                <a:effectLst/>
                <a:uLnTx/>
                <a:uFillTx/>
                <a:latin typeface="Hepta Slab SemiBold" pitchFamily="2" charset="0"/>
                <a:cs typeface="Hepta Slab SemiBold" pitchFamily="2" charset="0"/>
              </a:rPr>
              <a:t>Engagement Custodian</a:t>
            </a:r>
            <a:r>
              <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 for Celesta to drive program utilization and “Word-of-mouth”. Their 24X7 availability and readiness to “respond” builds a strong connect.</a:t>
            </a:r>
            <a:endParaRPr lang="en-US" dirty="0">
              <a:solidFill>
                <a:srgbClr val="002060"/>
              </a:solidFill>
              <a:latin typeface="Hepta Slab Medium" pitchFamily="2" charset="0"/>
              <a:cs typeface="Hepta Slab Medium" pitchFamily="2" charset="0"/>
            </a:endParaRPr>
          </a:p>
          <a:p>
            <a:pPr marL="0" marR="0" lvl="0" indent="0" algn="l" defTabSz="304815" rtl="0" eaLnBrk="1" fontAlgn="auto" latinLnBrk="0" hangingPunct="1">
              <a:lnSpc>
                <a:spcPct val="150000"/>
              </a:lnSpc>
              <a:spcBef>
                <a:spcPts val="0"/>
              </a:spcBef>
              <a:spcAft>
                <a:spcPts val="1200"/>
              </a:spcAft>
              <a:buClrTx/>
              <a:buSzTx/>
              <a:buFontTx/>
              <a:buNone/>
              <a:tabLst/>
              <a:defRPr/>
            </a:pPr>
            <a:r>
              <a:rPr lang="en-US" dirty="0">
                <a:solidFill>
                  <a:srgbClr val="002060"/>
                </a:solidFill>
                <a:latin typeface="Hepta Slab Medium" pitchFamily="2" charset="0"/>
                <a:cs typeface="Hepta Slab Medium" pitchFamily="2" charset="0"/>
              </a:rPr>
              <a:t>However, their involvement in the investment/wealth management aspects is perceived as “hands-off”.</a:t>
            </a:r>
          </a:p>
          <a:p>
            <a:pPr marL="0" marR="0" lvl="0" indent="0" algn="l" defTabSz="304815" rtl="0" eaLnBrk="1" fontAlgn="auto" latinLnBrk="0" hangingPunct="1">
              <a:lnSpc>
                <a:spcPct val="150000"/>
              </a:lnSpc>
              <a:spcBef>
                <a:spcPts val="0"/>
              </a:spcBef>
              <a:spcAft>
                <a:spcPts val="1200"/>
              </a:spcAft>
              <a:buClrTx/>
              <a:buSzTx/>
              <a:buFontTx/>
              <a:buNone/>
              <a:tabLst/>
              <a:defRPr/>
            </a:pPr>
            <a:r>
              <a:rPr lang="en-US" dirty="0">
                <a:solidFill>
                  <a:srgbClr val="002060"/>
                </a:solidFill>
                <a:latin typeface="Hepta Slab Medium" pitchFamily="2" charset="0"/>
                <a:cs typeface="Hepta Slab Medium" pitchFamily="2" charset="0"/>
              </a:rPr>
              <a:t>Their limited ability to give credible support &amp; solutions to “chronic” issues on non-banking benefits (lounge/process issues related support) is seen as a mix of “product shortcoming” and “empowerment”.</a:t>
            </a:r>
          </a:p>
          <a:p>
            <a:pPr defTabSz="304815">
              <a:lnSpc>
                <a:spcPct val="150000"/>
              </a:lnSpc>
              <a:defRPr/>
            </a:pPr>
            <a:r>
              <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t>Their utilization therefore is restricted to facilitating “regular banking”</a:t>
            </a:r>
          </a:p>
          <a:p>
            <a:pPr marL="0" marR="0" lvl="0" indent="0" algn="l" defTabSz="304815" rtl="0" eaLnBrk="1" fontAlgn="auto" latinLnBrk="0" hangingPunct="1">
              <a:lnSpc>
                <a:spcPct val="15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a:p>
            <a:pPr marL="0" marR="0" lvl="0" indent="0" algn="l" defTabSz="304815" rtl="0" eaLnBrk="1" fontAlgn="auto" latinLnBrk="0" hangingPunct="1">
              <a:lnSpc>
                <a:spcPct val="15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a:p>
            <a:pPr marL="0" marR="0" lvl="0" indent="0" algn="l" defTabSz="304815" rtl="0" eaLnBrk="1" fontAlgn="auto" latinLnBrk="0" hangingPunct="1">
              <a:lnSpc>
                <a:spcPct val="150000"/>
              </a:lnSpc>
              <a:spcBef>
                <a:spcPts val="0"/>
              </a:spcBef>
              <a:spcAft>
                <a:spcPts val="0"/>
              </a:spcAft>
              <a:buClrTx/>
              <a:buSzTx/>
              <a:buFontTx/>
              <a:buNone/>
              <a:tabLst/>
              <a:defRPr/>
            </a:pPr>
            <a:br>
              <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rPr>
            </a:br>
            <a:endPar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a:p>
            <a:pPr marL="0" marR="0" lvl="0" indent="0" algn="l" defTabSz="304815" rtl="0" eaLnBrk="1" fontAlgn="auto" latinLnBrk="0" hangingPunct="1">
              <a:lnSpc>
                <a:spcPct val="15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a:p>
            <a:pPr marL="0" marR="0" lvl="0" indent="0" algn="l" defTabSz="304815" rtl="0" eaLnBrk="1" fontAlgn="auto" latinLnBrk="0" hangingPunct="1">
              <a:lnSpc>
                <a:spcPct val="15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a:p>
            <a:pPr marL="0" marR="0" lvl="0" indent="0" algn="l" defTabSz="304815" rtl="0" eaLnBrk="1" fontAlgn="auto" latinLnBrk="0" hangingPunct="1">
              <a:lnSpc>
                <a:spcPct val="15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a:p>
            <a:pPr marL="0" marR="0" lvl="0" indent="0" algn="l" defTabSz="304815" rtl="0" eaLnBrk="1" fontAlgn="auto" latinLnBrk="0" hangingPunct="1">
              <a:lnSpc>
                <a:spcPct val="15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2060"/>
              </a:solidFill>
              <a:effectLst/>
              <a:uLnTx/>
              <a:uFillTx/>
              <a:latin typeface="Hepta Slab Medium" pitchFamily="2" charset="0"/>
              <a:ea typeface="+mn-ea"/>
              <a:cs typeface="Hepta Slab Medium" pitchFamily="2" charset="0"/>
            </a:endParaRPr>
          </a:p>
        </p:txBody>
      </p:sp>
      <p:sp>
        <p:nvSpPr>
          <p:cNvPr id="4" name="TextBox 3">
            <a:extLst>
              <a:ext uri="{FF2B5EF4-FFF2-40B4-BE49-F238E27FC236}">
                <a16:creationId xmlns:a16="http://schemas.microsoft.com/office/drawing/2014/main" id="{C664DB76-3F00-40BC-C24B-858F8191E123}"/>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58</a:t>
            </a:fld>
            <a:endParaRPr lang="en-US" sz="1333" dirty="0">
              <a:solidFill>
                <a:srgbClr val="0D0D0D"/>
              </a:solidFill>
              <a:latin typeface="Hepta Slab Medium" pitchFamily="2" charset="0"/>
              <a:cs typeface="Hepta Slab Medium" pitchFamily="2" charset="0"/>
            </a:endParaRPr>
          </a:p>
        </p:txBody>
      </p:sp>
      <p:sp>
        <p:nvSpPr>
          <p:cNvPr id="9" name="Object5">
            <a:extLst>
              <a:ext uri="{FF2B5EF4-FFF2-40B4-BE49-F238E27FC236}">
                <a16:creationId xmlns:a16="http://schemas.microsoft.com/office/drawing/2014/main" id="{DE661732-94D8-D51F-F316-32B48615A2F9}"/>
              </a:ext>
            </a:extLst>
          </p:cNvPr>
          <p:cNvSpPr/>
          <p:nvPr/>
        </p:nvSpPr>
        <p:spPr>
          <a:xfrm>
            <a:off x="1000097" y="599365"/>
            <a:ext cx="5040000" cy="547886"/>
          </a:xfrm>
          <a:prstGeom prst="rect">
            <a:avLst/>
          </a:prstGeom>
          <a:noFill/>
          <a:ln/>
        </p:spPr>
        <p:txBody>
          <a:bodyPr wrap="square" lIns="0" tIns="0" rIns="0" bIns="0" rtlCol="0" anchor="t"/>
          <a:lstStyle/>
          <a:p>
            <a:pPr marL="0" marR="0" lvl="0" indent="0" algn="l" defTabSz="914400" rtl="0" eaLnBrk="1" fontAlgn="auto" latinLnBrk="0" hangingPunct="1">
              <a:lnSpc>
                <a:spcPts val="4388"/>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CUSTODIAN OR </a:t>
            </a:r>
            <a:r>
              <a:rPr lang="en-US" sz="2400" cap="all" dirty="0">
                <a:solidFill>
                  <a:srgbClr val="002060"/>
                </a:solidFill>
                <a:latin typeface="Montserrat ExtraBold" pitchFamily="34" charset="0"/>
              </a:rPr>
              <a:t>facilitator</a:t>
            </a: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a:t>
            </a:r>
          </a:p>
        </p:txBody>
      </p:sp>
      <p:sp>
        <p:nvSpPr>
          <p:cNvPr id="10" name="Object6">
            <a:extLst>
              <a:ext uri="{FF2B5EF4-FFF2-40B4-BE49-F238E27FC236}">
                <a16:creationId xmlns:a16="http://schemas.microsoft.com/office/drawing/2014/main" id="{970400B4-EB75-A325-35A0-676CFA9A3C72}"/>
              </a:ext>
            </a:extLst>
          </p:cNvPr>
          <p:cNvSpPr/>
          <p:nvPr/>
        </p:nvSpPr>
        <p:spPr>
          <a:xfrm>
            <a:off x="1005857" y="202161"/>
            <a:ext cx="5040000" cy="557213"/>
          </a:xfrm>
          <a:prstGeom prst="rect">
            <a:avLst/>
          </a:prstGeom>
          <a:noFill/>
          <a:ln/>
        </p:spPr>
        <p:txBody>
          <a:bodyPr wrap="square" lIns="0" tIns="0" rIns="0" bIns="0" rtlCol="0" anchor="t"/>
          <a:lstStyle/>
          <a:p>
            <a:pPr marL="0" marR="0" lvl="0" indent="0" algn="l" defTabSz="457200" rtl="0" eaLnBrk="1" fontAlgn="auto" latinLnBrk="0" hangingPunct="1">
              <a:lnSpc>
                <a:spcPts val="4388"/>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D0D0D"/>
                </a:solidFill>
                <a:effectLst/>
                <a:uLnTx/>
                <a:uFillTx/>
                <a:latin typeface="Montserrat ExtraBold" pitchFamily="34" charset="0"/>
                <a:ea typeface="Montserrat ExtraBold" pitchFamily="34" charset="-122"/>
                <a:cs typeface="Montserrat ExtraBold" pitchFamily="34" charset="-120"/>
              </a:rPr>
              <a:t>THE RELATIONSHIP MANAGER</a:t>
            </a:r>
            <a:endParaRPr kumimoji="0" lang="en-US" sz="2400" b="0" i="0" u="none" strike="noStrike" kern="1200" cap="all" spc="0" normalizeH="0" baseline="0" noProof="0" dirty="0">
              <a:ln>
                <a:noFill/>
              </a:ln>
              <a:solidFill>
                <a:srgbClr val="0D0D0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5679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8" name="Object6">
            <a:extLst>
              <a:ext uri="{FF2B5EF4-FFF2-40B4-BE49-F238E27FC236}">
                <a16:creationId xmlns:a16="http://schemas.microsoft.com/office/drawing/2014/main" id="{E55A9497-8D29-9633-A023-374184CD7C17}"/>
              </a:ext>
            </a:extLst>
          </p:cNvPr>
          <p:cNvSpPr/>
          <p:nvPr/>
        </p:nvSpPr>
        <p:spPr>
          <a:xfrm>
            <a:off x="1714447" y="1900954"/>
            <a:ext cx="3720000" cy="371475"/>
          </a:xfrm>
          <a:prstGeom prst="rect">
            <a:avLst/>
          </a:prstGeom>
          <a:noFill/>
          <a:ln>
            <a:noFill/>
            <a:prstDash val="lgDash"/>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prstClr val="black">
                    <a:lumMod val="65000"/>
                    <a:lumOff val="35000"/>
                  </a:prstClr>
                </a:solidFill>
                <a:effectLst/>
                <a:uLnTx/>
                <a:uFillTx/>
                <a:latin typeface="Montserrat ExtraBold" pitchFamily="34" charset="0"/>
                <a:ea typeface="+mn-ea"/>
                <a:cs typeface="+mn-cs"/>
              </a:rPr>
              <a:t>THE RM’S ROLE</a:t>
            </a:r>
          </a:p>
        </p:txBody>
      </p:sp>
      <p:grpSp>
        <p:nvGrpSpPr>
          <p:cNvPr id="9" name="Group 8">
            <a:extLst>
              <a:ext uri="{FF2B5EF4-FFF2-40B4-BE49-F238E27FC236}">
                <a16:creationId xmlns:a16="http://schemas.microsoft.com/office/drawing/2014/main" id="{E1AC1783-9FF0-4196-795D-6B0CB8A563C2}"/>
              </a:ext>
            </a:extLst>
          </p:cNvPr>
          <p:cNvGrpSpPr/>
          <p:nvPr/>
        </p:nvGrpSpPr>
        <p:grpSpPr>
          <a:xfrm>
            <a:off x="-61290" y="6053155"/>
            <a:ext cx="12253290" cy="971832"/>
            <a:chOff x="-187799" y="8336784"/>
            <a:chExt cx="18379935" cy="1457748"/>
          </a:xfrm>
        </p:grpSpPr>
        <p:pic>
          <p:nvPicPr>
            <p:cNvPr id="10" name="Picture 9">
              <a:extLst>
                <a:ext uri="{FF2B5EF4-FFF2-40B4-BE49-F238E27FC236}">
                  <a16:creationId xmlns:a16="http://schemas.microsoft.com/office/drawing/2014/main" id="{47A0B456-E4C6-F053-F10C-9CC9152D12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1" name="Title 1">
              <a:extLst>
                <a:ext uri="{FF2B5EF4-FFF2-40B4-BE49-F238E27FC236}">
                  <a16:creationId xmlns:a16="http://schemas.microsoft.com/office/drawing/2014/main" id="{A1A08E05-AB80-C777-4457-2A50AE5483AF}"/>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2" name="Picture 11">
              <a:extLst>
                <a:ext uri="{FF2B5EF4-FFF2-40B4-BE49-F238E27FC236}">
                  <a16:creationId xmlns:a16="http://schemas.microsoft.com/office/drawing/2014/main" id="{A9EAB52F-2D60-1414-EB54-14C39E4C96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6" name="TextBox 15">
            <a:extLst>
              <a:ext uri="{FF2B5EF4-FFF2-40B4-BE49-F238E27FC236}">
                <a16:creationId xmlns:a16="http://schemas.microsoft.com/office/drawing/2014/main" id="{641B4178-20CB-1959-AF33-F6FB7A3CD400}"/>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59</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3" name="Object5">
            <a:extLst>
              <a:ext uri="{FF2B5EF4-FFF2-40B4-BE49-F238E27FC236}">
                <a16:creationId xmlns:a16="http://schemas.microsoft.com/office/drawing/2014/main" id="{7F9E800A-7F74-AC32-7419-E798DB4FE2ED}"/>
              </a:ext>
            </a:extLst>
          </p:cNvPr>
          <p:cNvSpPr/>
          <p:nvPr/>
        </p:nvSpPr>
        <p:spPr>
          <a:xfrm>
            <a:off x="1064398" y="1300246"/>
            <a:ext cx="10311602" cy="481779"/>
          </a:xfrm>
          <a:prstGeom prst="rect">
            <a:avLst/>
          </a:prstGeom>
          <a:noFill/>
          <a:ln/>
        </p:spPr>
        <p:txBody>
          <a:bodyPr wrap="square" lIns="0" tIns="0" rIns="0" bIns="0"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58% </a:t>
            </a:r>
            <a:r>
              <a:rPr kumimoji="0" lang="en-US"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respondents see RM as someone who primarily assists with “regular” banking </a:t>
            </a:r>
          </a:p>
        </p:txBody>
      </p:sp>
      <p:sp>
        <p:nvSpPr>
          <p:cNvPr id="4" name="TextBox 3">
            <a:extLst>
              <a:ext uri="{FF2B5EF4-FFF2-40B4-BE49-F238E27FC236}">
                <a16:creationId xmlns:a16="http://schemas.microsoft.com/office/drawing/2014/main" id="{37078AC2-82E1-7F79-90E6-E03C50C1B884}"/>
              </a:ext>
            </a:extLst>
          </p:cNvPr>
          <p:cNvSpPr txBox="1"/>
          <p:nvPr/>
        </p:nvSpPr>
        <p:spPr>
          <a:xfrm>
            <a:off x="8404122" y="6465396"/>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sp>
        <p:nvSpPr>
          <p:cNvPr id="5" name="Object5">
            <a:extLst>
              <a:ext uri="{FF2B5EF4-FFF2-40B4-BE49-F238E27FC236}">
                <a16:creationId xmlns:a16="http://schemas.microsoft.com/office/drawing/2014/main" id="{A7DBC409-4E91-94DE-76DB-CDA9F7F09275}"/>
              </a:ext>
            </a:extLst>
          </p:cNvPr>
          <p:cNvSpPr/>
          <p:nvPr/>
        </p:nvSpPr>
        <p:spPr>
          <a:xfrm>
            <a:off x="1000097" y="599365"/>
            <a:ext cx="5040000" cy="547886"/>
          </a:xfrm>
          <a:prstGeom prst="rect">
            <a:avLst/>
          </a:prstGeom>
          <a:noFill/>
          <a:ln/>
        </p:spPr>
        <p:txBody>
          <a:bodyPr wrap="square" lIns="0" tIns="0" rIns="0" bIns="0" rtlCol="0" anchor="t"/>
          <a:lstStyle/>
          <a:p>
            <a:pPr marL="0" marR="0" lvl="0" indent="0" algn="l" defTabSz="914400" rtl="0" eaLnBrk="1" fontAlgn="auto" latinLnBrk="0" hangingPunct="1">
              <a:lnSpc>
                <a:spcPts val="4388"/>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CUSTODIAN OR </a:t>
            </a:r>
            <a:r>
              <a:rPr lang="en-US" sz="2400" cap="all" dirty="0">
                <a:solidFill>
                  <a:srgbClr val="002060"/>
                </a:solidFill>
                <a:latin typeface="Montserrat ExtraBold" pitchFamily="34" charset="0"/>
              </a:rPr>
              <a:t>facilitator</a:t>
            </a: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a:t>
            </a:r>
          </a:p>
        </p:txBody>
      </p:sp>
      <p:sp>
        <p:nvSpPr>
          <p:cNvPr id="6" name="Object6">
            <a:extLst>
              <a:ext uri="{FF2B5EF4-FFF2-40B4-BE49-F238E27FC236}">
                <a16:creationId xmlns:a16="http://schemas.microsoft.com/office/drawing/2014/main" id="{758EF901-6FB1-9612-1C80-5D9D130E0152}"/>
              </a:ext>
            </a:extLst>
          </p:cNvPr>
          <p:cNvSpPr/>
          <p:nvPr/>
        </p:nvSpPr>
        <p:spPr>
          <a:xfrm>
            <a:off x="1005857" y="202161"/>
            <a:ext cx="5040000" cy="557213"/>
          </a:xfrm>
          <a:prstGeom prst="rect">
            <a:avLst/>
          </a:prstGeom>
          <a:noFill/>
          <a:ln/>
        </p:spPr>
        <p:txBody>
          <a:bodyPr wrap="square" lIns="0" tIns="0" rIns="0" bIns="0" rtlCol="0" anchor="t"/>
          <a:lstStyle/>
          <a:p>
            <a:pPr marL="0" marR="0" lvl="0" indent="0" algn="l" defTabSz="457200" rtl="0" eaLnBrk="1" fontAlgn="auto" latinLnBrk="0" hangingPunct="1">
              <a:lnSpc>
                <a:spcPts val="4388"/>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D0D0D"/>
                </a:solidFill>
                <a:effectLst/>
                <a:uLnTx/>
                <a:uFillTx/>
                <a:latin typeface="Montserrat ExtraBold" pitchFamily="34" charset="0"/>
                <a:ea typeface="Montserrat ExtraBold" pitchFamily="34" charset="-122"/>
                <a:cs typeface="Montserrat ExtraBold" pitchFamily="34" charset="-120"/>
              </a:rPr>
              <a:t>THE RELATIONSHIP MANAGER</a:t>
            </a:r>
            <a:endParaRPr kumimoji="0" lang="en-US" sz="2400" b="0" i="0" u="none" strike="noStrike" kern="1200" cap="all" spc="0" normalizeH="0" baseline="0" noProof="0" dirty="0">
              <a:ln>
                <a:noFill/>
              </a:ln>
              <a:solidFill>
                <a:srgbClr val="0D0D0D"/>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7D58053E-3577-019F-6BD9-29149A22216C}"/>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pic>
        <p:nvPicPr>
          <p:cNvPr id="2" name="Picture 1">
            <a:extLst>
              <a:ext uri="{FF2B5EF4-FFF2-40B4-BE49-F238E27FC236}">
                <a16:creationId xmlns:a16="http://schemas.microsoft.com/office/drawing/2014/main" id="{E725241B-DBF8-DD4A-69A2-3FFCB7DF4DA9}"/>
              </a:ext>
            </a:extLst>
          </p:cNvPr>
          <p:cNvPicPr>
            <a:picLocks noChangeAspect="1"/>
          </p:cNvPicPr>
          <p:nvPr/>
        </p:nvPicPr>
        <p:blipFill>
          <a:blip r:embed="rId6"/>
          <a:stretch>
            <a:fillRect/>
          </a:stretch>
        </p:blipFill>
        <p:spPr>
          <a:xfrm>
            <a:off x="6623654" y="3364818"/>
            <a:ext cx="2885243" cy="2172623"/>
          </a:xfrm>
          <a:prstGeom prst="rect">
            <a:avLst/>
          </a:prstGeom>
        </p:spPr>
      </p:pic>
      <p:graphicFrame>
        <p:nvGraphicFramePr>
          <p:cNvPr id="13" name="Chart 12">
            <a:extLst>
              <a:ext uri="{FF2B5EF4-FFF2-40B4-BE49-F238E27FC236}">
                <a16:creationId xmlns:a16="http://schemas.microsoft.com/office/drawing/2014/main" id="{59E3B000-8961-C279-8912-83E60536D1BA}"/>
              </a:ext>
            </a:extLst>
          </p:cNvPr>
          <p:cNvGraphicFramePr>
            <a:graphicFrameLocks/>
          </p:cNvGraphicFramePr>
          <p:nvPr>
            <p:extLst>
              <p:ext uri="{D42A27DB-BD31-4B8C-83A1-F6EECF244321}">
                <p14:modId xmlns:p14="http://schemas.microsoft.com/office/powerpoint/2010/main" val="646368565"/>
              </p:ext>
            </p:extLst>
          </p:nvPr>
        </p:nvGraphicFramePr>
        <p:xfrm>
          <a:off x="1016411" y="1902449"/>
          <a:ext cx="5394941" cy="4357663"/>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9454641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8" name="Object6">
            <a:extLst>
              <a:ext uri="{FF2B5EF4-FFF2-40B4-BE49-F238E27FC236}">
                <a16:creationId xmlns:a16="http://schemas.microsoft.com/office/drawing/2014/main" id="{E55A9497-8D29-9633-A023-374184CD7C17}"/>
              </a:ext>
            </a:extLst>
          </p:cNvPr>
          <p:cNvSpPr/>
          <p:nvPr/>
        </p:nvSpPr>
        <p:spPr>
          <a:xfrm>
            <a:off x="1000097" y="1489547"/>
            <a:ext cx="4562955" cy="371475"/>
          </a:xfrm>
          <a:prstGeom prst="rect">
            <a:avLst/>
          </a:prstGeom>
          <a:noFill/>
          <a:ln>
            <a:noFill/>
            <a:prstDash val="lgDash"/>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prstClr val="black">
                    <a:lumMod val="65000"/>
                    <a:lumOff val="35000"/>
                  </a:prstClr>
                </a:solidFill>
                <a:effectLst/>
                <a:uLnTx/>
                <a:uFillTx/>
                <a:latin typeface="Montserrat ExtraBold" pitchFamily="34" charset="0"/>
                <a:ea typeface="+mn-ea"/>
                <a:cs typeface="+mn-cs"/>
              </a:rPr>
              <a:t>THE RM’S ROLE – ACROSS BRANDS</a:t>
            </a:r>
          </a:p>
        </p:txBody>
      </p:sp>
      <p:grpSp>
        <p:nvGrpSpPr>
          <p:cNvPr id="9" name="Group 8">
            <a:extLst>
              <a:ext uri="{FF2B5EF4-FFF2-40B4-BE49-F238E27FC236}">
                <a16:creationId xmlns:a16="http://schemas.microsoft.com/office/drawing/2014/main" id="{E1AC1783-9FF0-4196-795D-6B0CB8A563C2}"/>
              </a:ext>
            </a:extLst>
          </p:cNvPr>
          <p:cNvGrpSpPr/>
          <p:nvPr/>
        </p:nvGrpSpPr>
        <p:grpSpPr>
          <a:xfrm>
            <a:off x="-61290" y="6053155"/>
            <a:ext cx="12253290" cy="971832"/>
            <a:chOff x="-187799" y="8336784"/>
            <a:chExt cx="18379935" cy="1457748"/>
          </a:xfrm>
        </p:grpSpPr>
        <p:pic>
          <p:nvPicPr>
            <p:cNvPr id="10" name="Picture 9">
              <a:extLst>
                <a:ext uri="{FF2B5EF4-FFF2-40B4-BE49-F238E27FC236}">
                  <a16:creationId xmlns:a16="http://schemas.microsoft.com/office/drawing/2014/main" id="{47A0B456-E4C6-F053-F10C-9CC9152D12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1" name="Title 1">
              <a:extLst>
                <a:ext uri="{FF2B5EF4-FFF2-40B4-BE49-F238E27FC236}">
                  <a16:creationId xmlns:a16="http://schemas.microsoft.com/office/drawing/2014/main" id="{A1A08E05-AB80-C777-4457-2A50AE5483AF}"/>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2" name="Picture 11">
              <a:extLst>
                <a:ext uri="{FF2B5EF4-FFF2-40B4-BE49-F238E27FC236}">
                  <a16:creationId xmlns:a16="http://schemas.microsoft.com/office/drawing/2014/main" id="{A9EAB52F-2D60-1414-EB54-14C39E4C96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6" name="TextBox 15">
            <a:extLst>
              <a:ext uri="{FF2B5EF4-FFF2-40B4-BE49-F238E27FC236}">
                <a16:creationId xmlns:a16="http://schemas.microsoft.com/office/drawing/2014/main" id="{641B4178-20CB-1959-AF33-F6FB7A3CD400}"/>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60</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3" name="Object5">
            <a:extLst>
              <a:ext uri="{FF2B5EF4-FFF2-40B4-BE49-F238E27FC236}">
                <a16:creationId xmlns:a16="http://schemas.microsoft.com/office/drawing/2014/main" id="{7F9E800A-7F74-AC32-7419-E798DB4FE2ED}"/>
              </a:ext>
            </a:extLst>
          </p:cNvPr>
          <p:cNvSpPr/>
          <p:nvPr/>
        </p:nvSpPr>
        <p:spPr>
          <a:xfrm>
            <a:off x="7663998" y="1106652"/>
            <a:ext cx="4252452" cy="150874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endParaRPr>
          </a:p>
        </p:txBody>
      </p:sp>
      <p:sp>
        <p:nvSpPr>
          <p:cNvPr id="4" name="TextBox 3">
            <a:extLst>
              <a:ext uri="{FF2B5EF4-FFF2-40B4-BE49-F238E27FC236}">
                <a16:creationId xmlns:a16="http://schemas.microsoft.com/office/drawing/2014/main" id="{37078AC2-82E1-7F79-90E6-E03C50C1B884}"/>
              </a:ext>
            </a:extLst>
          </p:cNvPr>
          <p:cNvSpPr txBox="1"/>
          <p:nvPr/>
        </p:nvSpPr>
        <p:spPr>
          <a:xfrm>
            <a:off x="8222889" y="6390814"/>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N=622</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5" name="Picture 4">
            <a:extLst>
              <a:ext uri="{FF2B5EF4-FFF2-40B4-BE49-F238E27FC236}">
                <a16:creationId xmlns:a16="http://schemas.microsoft.com/office/drawing/2014/main" id="{090AED46-2E96-480F-8AFD-EF8AC82BCA59}"/>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602442" y="6371800"/>
            <a:ext cx="373693" cy="383995"/>
          </a:xfrm>
          <a:prstGeom prst="rect">
            <a:avLst/>
          </a:prstGeom>
        </p:spPr>
      </p:pic>
      <p:sp>
        <p:nvSpPr>
          <p:cNvPr id="6" name="Object5">
            <a:extLst>
              <a:ext uri="{FF2B5EF4-FFF2-40B4-BE49-F238E27FC236}">
                <a16:creationId xmlns:a16="http://schemas.microsoft.com/office/drawing/2014/main" id="{864A694D-2967-68F7-EB97-029A8117E4C1}"/>
              </a:ext>
            </a:extLst>
          </p:cNvPr>
          <p:cNvSpPr/>
          <p:nvPr/>
        </p:nvSpPr>
        <p:spPr>
          <a:xfrm>
            <a:off x="1000097" y="599365"/>
            <a:ext cx="5040000" cy="547886"/>
          </a:xfrm>
          <a:prstGeom prst="rect">
            <a:avLst/>
          </a:prstGeom>
          <a:noFill/>
          <a:ln/>
        </p:spPr>
        <p:txBody>
          <a:bodyPr wrap="square" lIns="0" tIns="0" rIns="0" bIns="0" rtlCol="0" anchor="t"/>
          <a:lstStyle/>
          <a:p>
            <a:pPr marL="0" marR="0" lvl="0" indent="0" algn="l" defTabSz="914400" rtl="0" eaLnBrk="1" fontAlgn="auto" latinLnBrk="0" hangingPunct="1">
              <a:lnSpc>
                <a:spcPts val="4388"/>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CUSTODIAN OR </a:t>
            </a:r>
            <a:r>
              <a:rPr lang="en-US" sz="2400" cap="all" dirty="0">
                <a:solidFill>
                  <a:srgbClr val="002060"/>
                </a:solidFill>
                <a:latin typeface="Montserrat ExtraBold" pitchFamily="34" charset="0"/>
              </a:rPr>
              <a:t>facilitator</a:t>
            </a: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a:t>
            </a:r>
          </a:p>
        </p:txBody>
      </p:sp>
      <p:sp>
        <p:nvSpPr>
          <p:cNvPr id="14" name="Object6">
            <a:extLst>
              <a:ext uri="{FF2B5EF4-FFF2-40B4-BE49-F238E27FC236}">
                <a16:creationId xmlns:a16="http://schemas.microsoft.com/office/drawing/2014/main" id="{BD5A5897-7573-4D03-B081-21AA03D3525B}"/>
              </a:ext>
            </a:extLst>
          </p:cNvPr>
          <p:cNvSpPr/>
          <p:nvPr/>
        </p:nvSpPr>
        <p:spPr>
          <a:xfrm>
            <a:off x="1005857" y="202161"/>
            <a:ext cx="5040000" cy="557213"/>
          </a:xfrm>
          <a:prstGeom prst="rect">
            <a:avLst/>
          </a:prstGeom>
          <a:noFill/>
          <a:ln/>
        </p:spPr>
        <p:txBody>
          <a:bodyPr wrap="square" lIns="0" tIns="0" rIns="0" bIns="0" rtlCol="0" anchor="t"/>
          <a:lstStyle/>
          <a:p>
            <a:pPr marL="0" marR="0" lvl="0" indent="0" algn="l" defTabSz="457200" rtl="0" eaLnBrk="1" fontAlgn="auto" latinLnBrk="0" hangingPunct="1">
              <a:lnSpc>
                <a:spcPts val="4388"/>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D0D0D"/>
                </a:solidFill>
                <a:effectLst/>
                <a:uLnTx/>
                <a:uFillTx/>
                <a:latin typeface="Montserrat ExtraBold" pitchFamily="34" charset="0"/>
                <a:ea typeface="Montserrat ExtraBold" pitchFamily="34" charset="-122"/>
                <a:cs typeface="Montserrat ExtraBold" pitchFamily="34" charset="-120"/>
              </a:rPr>
              <a:t>THE RELATIONSHIP MANAGER</a:t>
            </a:r>
            <a:endParaRPr kumimoji="0" lang="en-US" sz="2400" b="0" i="0" u="none" strike="noStrike" kern="1200" cap="all" spc="0" normalizeH="0" baseline="0" noProof="0" dirty="0">
              <a:ln>
                <a:noFill/>
              </a:ln>
              <a:solidFill>
                <a:srgbClr val="0D0D0D"/>
              </a:solidFill>
              <a:effectLst/>
              <a:uLnTx/>
              <a:uFillTx/>
              <a:latin typeface="Calibri" panose="020F0502020204030204"/>
              <a:ea typeface="+mn-ea"/>
              <a:cs typeface="+mn-cs"/>
            </a:endParaRPr>
          </a:p>
        </p:txBody>
      </p:sp>
      <p:graphicFrame>
        <p:nvGraphicFramePr>
          <p:cNvPr id="7" name="Chart 6">
            <a:extLst>
              <a:ext uri="{FF2B5EF4-FFF2-40B4-BE49-F238E27FC236}">
                <a16:creationId xmlns:a16="http://schemas.microsoft.com/office/drawing/2014/main" id="{DE11F483-B88B-EC3F-EEFE-226735C65648}"/>
              </a:ext>
            </a:extLst>
          </p:cNvPr>
          <p:cNvGraphicFramePr>
            <a:graphicFrameLocks/>
          </p:cNvGraphicFramePr>
          <p:nvPr>
            <p:extLst>
              <p:ext uri="{D42A27DB-BD31-4B8C-83A1-F6EECF244321}">
                <p14:modId xmlns:p14="http://schemas.microsoft.com/office/powerpoint/2010/main" val="3787937229"/>
              </p:ext>
            </p:extLst>
          </p:nvPr>
        </p:nvGraphicFramePr>
        <p:xfrm>
          <a:off x="164599" y="1935604"/>
          <a:ext cx="8998417" cy="4323031"/>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754379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9A982E8-D4BF-21A3-BDC7-681B8215DDE0}"/>
              </a:ext>
            </a:extLst>
          </p:cNvPr>
          <p:cNvSpPr/>
          <p:nvPr/>
        </p:nvSpPr>
        <p:spPr>
          <a:xfrm>
            <a:off x="6557627" y="1647365"/>
            <a:ext cx="4571660" cy="142377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“RM doesn't have any role on this one. This is my understanding because the RM was saying that it is already been processed by them”</a:t>
            </a:r>
            <a:endPar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9" name="Rectangle: Rounded Corners 8">
            <a:extLst>
              <a:ext uri="{FF2B5EF4-FFF2-40B4-BE49-F238E27FC236}">
                <a16:creationId xmlns:a16="http://schemas.microsoft.com/office/drawing/2014/main" id="{97A0D05F-3F72-29D3-1F9B-F085097C341A}"/>
              </a:ext>
            </a:extLst>
          </p:cNvPr>
          <p:cNvSpPr/>
          <p:nvPr/>
        </p:nvSpPr>
        <p:spPr>
          <a:xfrm>
            <a:off x="6559498" y="3325091"/>
            <a:ext cx="4616245" cy="139271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Montserrat Medium" pitchFamily="2" charset="0"/>
                <a:ea typeface="Hepta Slab Regular" pitchFamily="34" charset="-122"/>
                <a:cs typeface="Hepta Slab Medium" pitchFamily="2" charset="0"/>
              </a:rPr>
              <a:t>“I checked it with my RM. What is the reason behind it? He said it has to be accepted by all international airports, but I said no, they didn't accept this.”</a:t>
            </a:r>
            <a:endParaRPr kumimoji="0" lang="en-US" sz="1600"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sp>
        <p:nvSpPr>
          <p:cNvPr id="12" name="Object5">
            <a:extLst>
              <a:ext uri="{FF2B5EF4-FFF2-40B4-BE49-F238E27FC236}">
                <a16:creationId xmlns:a16="http://schemas.microsoft.com/office/drawing/2014/main" id="{B8A38A25-1AC9-52FF-B849-94A719071BA6}"/>
              </a:ext>
            </a:extLst>
          </p:cNvPr>
          <p:cNvSpPr/>
          <p:nvPr/>
        </p:nvSpPr>
        <p:spPr>
          <a:xfrm>
            <a:off x="816000" y="1942834"/>
            <a:ext cx="2160000" cy="48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SemiBold" pitchFamily="2" charset="0"/>
            </a:endParaRPr>
          </a:p>
        </p:txBody>
      </p:sp>
      <p:sp>
        <p:nvSpPr>
          <p:cNvPr id="16" name="Object5">
            <a:extLst>
              <a:ext uri="{FF2B5EF4-FFF2-40B4-BE49-F238E27FC236}">
                <a16:creationId xmlns:a16="http://schemas.microsoft.com/office/drawing/2014/main" id="{87A261E6-505A-B682-73B9-BF87C12ECF6E}"/>
              </a:ext>
            </a:extLst>
          </p:cNvPr>
          <p:cNvSpPr/>
          <p:nvPr/>
        </p:nvSpPr>
        <p:spPr>
          <a:xfrm>
            <a:off x="4176000" y="1942834"/>
            <a:ext cx="2520000" cy="48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SemiBold" pitchFamily="2" charset="0"/>
            </a:endParaRPr>
          </a:p>
        </p:txBody>
      </p:sp>
      <p:sp>
        <p:nvSpPr>
          <p:cNvPr id="17" name="Object5">
            <a:extLst>
              <a:ext uri="{FF2B5EF4-FFF2-40B4-BE49-F238E27FC236}">
                <a16:creationId xmlns:a16="http://schemas.microsoft.com/office/drawing/2014/main" id="{F1C268C5-8AAB-4F42-695F-E79BC3125B37}"/>
              </a:ext>
            </a:extLst>
          </p:cNvPr>
          <p:cNvSpPr/>
          <p:nvPr/>
        </p:nvSpPr>
        <p:spPr>
          <a:xfrm>
            <a:off x="7770406" y="2002699"/>
            <a:ext cx="1995855" cy="48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SemiBold" pitchFamily="2" charset="0"/>
            </a:endParaRPr>
          </a:p>
        </p:txBody>
      </p:sp>
      <p:sp>
        <p:nvSpPr>
          <p:cNvPr id="13" name="Object5">
            <a:extLst>
              <a:ext uri="{FF2B5EF4-FFF2-40B4-BE49-F238E27FC236}">
                <a16:creationId xmlns:a16="http://schemas.microsoft.com/office/drawing/2014/main" id="{64BADF97-572A-801B-B183-E462BF99FA68}"/>
              </a:ext>
            </a:extLst>
          </p:cNvPr>
          <p:cNvSpPr/>
          <p:nvPr/>
        </p:nvSpPr>
        <p:spPr>
          <a:xfrm>
            <a:off x="816000" y="4436168"/>
            <a:ext cx="2400000" cy="48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srgbClr val="002060"/>
              </a:solidFill>
              <a:effectLst/>
              <a:uLnTx/>
              <a:uFillTx/>
              <a:latin typeface="Montserrat Medium" pitchFamily="2" charset="0"/>
              <a:ea typeface="+mn-ea"/>
              <a:cs typeface="Hepta Slab Medium" pitchFamily="2" charset="0"/>
            </a:endParaRPr>
          </a:p>
        </p:txBody>
      </p:sp>
      <p:grpSp>
        <p:nvGrpSpPr>
          <p:cNvPr id="19" name="Group 18">
            <a:extLst>
              <a:ext uri="{FF2B5EF4-FFF2-40B4-BE49-F238E27FC236}">
                <a16:creationId xmlns:a16="http://schemas.microsoft.com/office/drawing/2014/main" id="{840F5B6E-218B-6D39-09EF-A94612C3DF5E}"/>
              </a:ext>
            </a:extLst>
          </p:cNvPr>
          <p:cNvGrpSpPr/>
          <p:nvPr/>
        </p:nvGrpSpPr>
        <p:grpSpPr>
          <a:xfrm>
            <a:off x="-61290" y="6053155"/>
            <a:ext cx="12253290" cy="971832"/>
            <a:chOff x="-187799" y="8336784"/>
            <a:chExt cx="18379935" cy="1457748"/>
          </a:xfrm>
        </p:grpSpPr>
        <p:pic>
          <p:nvPicPr>
            <p:cNvPr id="21" name="Picture 20">
              <a:extLst>
                <a:ext uri="{FF2B5EF4-FFF2-40B4-BE49-F238E27FC236}">
                  <a16:creationId xmlns:a16="http://schemas.microsoft.com/office/drawing/2014/main" id="{638060F1-D76D-0C94-C21E-E05E3DFF1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2" name="Title 1">
              <a:extLst>
                <a:ext uri="{FF2B5EF4-FFF2-40B4-BE49-F238E27FC236}">
                  <a16:creationId xmlns:a16="http://schemas.microsoft.com/office/drawing/2014/main" id="{496CFAD4-5698-BFDD-6AD9-673DE5923CE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3" name="Picture 22">
              <a:extLst>
                <a:ext uri="{FF2B5EF4-FFF2-40B4-BE49-F238E27FC236}">
                  <a16:creationId xmlns:a16="http://schemas.microsoft.com/office/drawing/2014/main" id="{38F41120-6CFA-978F-8ED8-8A73B8F6BA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6" name="TextBox 25">
            <a:extLst>
              <a:ext uri="{FF2B5EF4-FFF2-40B4-BE49-F238E27FC236}">
                <a16:creationId xmlns:a16="http://schemas.microsoft.com/office/drawing/2014/main" id="{10A43F44-85CB-AB5B-023B-EFB50A785209}"/>
              </a:ext>
            </a:extLst>
          </p:cNvPr>
          <p:cNvSpPr txBox="1"/>
          <p:nvPr/>
        </p:nvSpPr>
        <p:spPr>
          <a:xfrm>
            <a:off x="11384038" y="6062779"/>
            <a:ext cx="48000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1200"/>
              </a:spcBef>
              <a:spcAft>
                <a:spcPts val="1200"/>
              </a:spcAft>
              <a:buClr>
                <a:srgbClr val="FFC000"/>
              </a:buClr>
              <a:buSzTx/>
              <a:buFontTx/>
              <a:buNone/>
              <a:tabLst/>
              <a:defRPr/>
            </a:pPr>
            <a:r>
              <a:rPr kumimoji="0" lang="en-US" sz="1200"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rPr>
              <a:t>59</a:t>
            </a:r>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pic>
        <p:nvPicPr>
          <p:cNvPr id="2" name="Picture 1">
            <a:extLst>
              <a:ext uri="{FF2B5EF4-FFF2-40B4-BE49-F238E27FC236}">
                <a16:creationId xmlns:a16="http://schemas.microsoft.com/office/drawing/2014/main" id="{7635F467-740D-55E5-4977-7BA9FF382E09}"/>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3" name="Object5">
            <a:extLst>
              <a:ext uri="{FF2B5EF4-FFF2-40B4-BE49-F238E27FC236}">
                <a16:creationId xmlns:a16="http://schemas.microsoft.com/office/drawing/2014/main" id="{7A99925E-AE75-6AAE-EE5C-35329B570AD9}"/>
              </a:ext>
            </a:extLst>
          </p:cNvPr>
          <p:cNvSpPr/>
          <p:nvPr/>
        </p:nvSpPr>
        <p:spPr>
          <a:xfrm>
            <a:off x="1000097" y="599365"/>
            <a:ext cx="5040000" cy="547886"/>
          </a:xfrm>
          <a:prstGeom prst="rect">
            <a:avLst/>
          </a:prstGeom>
          <a:noFill/>
          <a:ln/>
        </p:spPr>
        <p:txBody>
          <a:bodyPr wrap="square" lIns="0" tIns="0" rIns="0" bIns="0" rtlCol="0" anchor="t"/>
          <a:lstStyle/>
          <a:p>
            <a:pPr marL="0" marR="0" lvl="0" indent="0" algn="l" defTabSz="914400" rtl="0" eaLnBrk="1" fontAlgn="auto" latinLnBrk="0" hangingPunct="1">
              <a:lnSpc>
                <a:spcPts val="4388"/>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CUSTODIAN OR </a:t>
            </a:r>
            <a:r>
              <a:rPr lang="en-US" sz="2400" cap="all" dirty="0">
                <a:solidFill>
                  <a:srgbClr val="002060"/>
                </a:solidFill>
                <a:latin typeface="Montserrat ExtraBold" pitchFamily="34" charset="0"/>
              </a:rPr>
              <a:t>facilitator</a:t>
            </a: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a:t>
            </a:r>
          </a:p>
        </p:txBody>
      </p:sp>
      <p:sp>
        <p:nvSpPr>
          <p:cNvPr id="4" name="Object6">
            <a:extLst>
              <a:ext uri="{FF2B5EF4-FFF2-40B4-BE49-F238E27FC236}">
                <a16:creationId xmlns:a16="http://schemas.microsoft.com/office/drawing/2014/main" id="{A9AADE93-F343-6280-2468-B6627BA3B647}"/>
              </a:ext>
            </a:extLst>
          </p:cNvPr>
          <p:cNvSpPr/>
          <p:nvPr/>
        </p:nvSpPr>
        <p:spPr>
          <a:xfrm>
            <a:off x="1005857" y="202161"/>
            <a:ext cx="5040000" cy="557213"/>
          </a:xfrm>
          <a:prstGeom prst="rect">
            <a:avLst/>
          </a:prstGeom>
          <a:noFill/>
          <a:ln/>
        </p:spPr>
        <p:txBody>
          <a:bodyPr wrap="square" lIns="0" tIns="0" rIns="0" bIns="0" rtlCol="0" anchor="t"/>
          <a:lstStyle/>
          <a:p>
            <a:pPr marL="0" marR="0" lvl="0" indent="0" algn="l" defTabSz="457200" rtl="0" eaLnBrk="1" fontAlgn="auto" latinLnBrk="0" hangingPunct="1">
              <a:lnSpc>
                <a:spcPts val="4388"/>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D0D0D"/>
                </a:solidFill>
                <a:effectLst/>
                <a:uLnTx/>
                <a:uFillTx/>
                <a:latin typeface="Montserrat ExtraBold" pitchFamily="34" charset="0"/>
                <a:ea typeface="Montserrat ExtraBold" pitchFamily="34" charset="-122"/>
                <a:cs typeface="Montserrat ExtraBold" pitchFamily="34" charset="-120"/>
              </a:rPr>
              <a:t>THE RELATIONSHIP MANAGER</a:t>
            </a:r>
            <a:endParaRPr kumimoji="0" lang="en-US" sz="2400" b="0" i="0" u="none" strike="noStrike" kern="1200" cap="all" spc="0" normalizeH="0" baseline="0" noProof="0" dirty="0">
              <a:ln>
                <a:noFill/>
              </a:ln>
              <a:solidFill>
                <a:srgbClr val="0D0D0D"/>
              </a:solidFill>
              <a:effectLst/>
              <a:uLnTx/>
              <a:uFillTx/>
              <a:latin typeface="Calibri" panose="020F0502020204030204"/>
              <a:ea typeface="+mn-ea"/>
              <a:cs typeface="+mn-cs"/>
            </a:endParaRPr>
          </a:p>
        </p:txBody>
      </p:sp>
      <p:sp>
        <p:nvSpPr>
          <p:cNvPr id="5" name="Object5">
            <a:extLst>
              <a:ext uri="{FF2B5EF4-FFF2-40B4-BE49-F238E27FC236}">
                <a16:creationId xmlns:a16="http://schemas.microsoft.com/office/drawing/2014/main" id="{A03F40A9-AA74-6D87-C9CE-716E3AF0AFA0}"/>
              </a:ext>
            </a:extLst>
          </p:cNvPr>
          <p:cNvSpPr/>
          <p:nvPr/>
        </p:nvSpPr>
        <p:spPr>
          <a:xfrm>
            <a:off x="1155042" y="2375392"/>
            <a:ext cx="3600000" cy="1440000"/>
          </a:xfrm>
          <a:prstGeom prst="rect">
            <a:avLst/>
          </a:prstGeom>
          <a:noFill/>
          <a:ln/>
        </p:spPr>
        <p:txBody>
          <a:bodyPr wrap="square" lIns="0" tIns="0" rIns="0" bIns="0"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IN" sz="1867" b="0" i="0" u="none" strike="noStrike" kern="1200" cap="none" spc="0" normalizeH="0" baseline="0" noProof="0" dirty="0">
                <a:ln>
                  <a:noFill/>
                </a:ln>
                <a:solidFill>
                  <a:srgbClr val="002060"/>
                </a:solidFill>
                <a:effectLst/>
                <a:uLnTx/>
                <a:uFillTx/>
                <a:latin typeface="Hepta Slab SemiBold" pitchFamily="2" charset="0"/>
                <a:ea typeface="+mn-ea"/>
                <a:cs typeface="Hepta Slab SemiBold" pitchFamily="2" charset="0"/>
              </a:rPr>
              <a:t>Customer alignment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67" b="0" i="0" u="none" strike="noStrike" kern="1200" cap="none" spc="0" normalizeH="0" baseline="0" noProof="0" dirty="0">
                <a:ln>
                  <a:noFill/>
                </a:ln>
                <a:solidFill>
                  <a:srgbClr val="002060"/>
                </a:solidFill>
                <a:effectLst/>
                <a:uLnTx/>
                <a:uFillTx/>
                <a:latin typeface="Hepta Slab SemiBold" pitchFamily="2" charset="0"/>
                <a:ea typeface="+mn-ea"/>
                <a:cs typeface="Hepta Slab SemiBold" pitchFamily="2" charset="0"/>
              </a:rPr>
              <a:t>Process knowledge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IN" sz="1867" b="0" i="0" u="none" strike="noStrike" kern="1200" cap="none" spc="0" normalizeH="0" baseline="0" noProof="0" dirty="0">
                <a:ln>
                  <a:noFill/>
                </a:ln>
                <a:solidFill>
                  <a:srgbClr val="002060"/>
                </a:solidFill>
                <a:effectLst/>
                <a:uLnTx/>
                <a:uFillTx/>
                <a:latin typeface="Hepta Slab SemiBold" pitchFamily="2" charset="0"/>
                <a:ea typeface="+mn-ea"/>
                <a:cs typeface="Hepta Slab SemiBold" pitchFamily="2" charset="0"/>
              </a:rPr>
              <a:t>Product knowledge</a:t>
            </a:r>
          </a:p>
        </p:txBody>
      </p:sp>
      <p:sp>
        <p:nvSpPr>
          <p:cNvPr id="6" name="Object6">
            <a:extLst>
              <a:ext uri="{FF2B5EF4-FFF2-40B4-BE49-F238E27FC236}">
                <a16:creationId xmlns:a16="http://schemas.microsoft.com/office/drawing/2014/main" id="{27212054-0CDB-B06E-F3F2-ACDBAC5F9D65}"/>
              </a:ext>
            </a:extLst>
          </p:cNvPr>
          <p:cNvSpPr/>
          <p:nvPr/>
        </p:nvSpPr>
        <p:spPr>
          <a:xfrm>
            <a:off x="1155042" y="1563263"/>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2060"/>
                </a:solidFill>
                <a:effectLst/>
                <a:uLnTx/>
                <a:uFillTx/>
                <a:latin typeface="Montserrat ExtraBold" pitchFamily="34" charset="0"/>
                <a:ea typeface="+mn-ea"/>
                <a:cs typeface="+mn-cs"/>
              </a:rPr>
              <a:t>Expectation experience gap</a:t>
            </a:r>
            <a:endParaRPr kumimoji="0" lang="en-US" sz="16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
        <p:nvSpPr>
          <p:cNvPr id="7" name="Object6">
            <a:extLst>
              <a:ext uri="{FF2B5EF4-FFF2-40B4-BE49-F238E27FC236}">
                <a16:creationId xmlns:a16="http://schemas.microsoft.com/office/drawing/2014/main" id="{E61BB12C-EE61-C6E0-CE4A-58729FCBCBFB}"/>
              </a:ext>
            </a:extLst>
          </p:cNvPr>
          <p:cNvSpPr/>
          <p:nvPr/>
        </p:nvSpPr>
        <p:spPr>
          <a:xfrm>
            <a:off x="1142069" y="1857525"/>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prstClr val="black"/>
                </a:solidFill>
                <a:effectLst/>
                <a:uLnTx/>
                <a:uFillTx/>
                <a:latin typeface="Montserrat ExtraBold" pitchFamily="34" charset="0"/>
                <a:ea typeface="+mn-ea"/>
                <a:cs typeface="+mn-cs"/>
              </a:rPr>
              <a:t>CONCERNS</a:t>
            </a:r>
            <a:endParaRPr kumimoji="0" lang="en-US" sz="1600" b="0" i="0" u="none" strike="noStrike" kern="1200" cap="all" spc="0" normalizeH="0" baseline="0" noProof="0" dirty="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90BF5607-F468-9799-94B7-0E5EDEC7176E}"/>
              </a:ext>
            </a:extLst>
          </p:cNvPr>
          <p:cNvSpPr/>
          <p:nvPr/>
        </p:nvSpPr>
        <p:spPr>
          <a:xfrm>
            <a:off x="0" y="5459086"/>
            <a:ext cx="12192000" cy="447677"/>
          </a:xfrm>
          <a:prstGeom prst="rect">
            <a:avLst/>
          </a:prstGeom>
          <a:solidFill>
            <a:srgbClr val="811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815"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811717"/>
              </a:solidFill>
              <a:effectLst/>
              <a:uLnTx/>
              <a:uFillTx/>
              <a:latin typeface="Calibri" panose="020F0502020204030204"/>
              <a:ea typeface="+mn-ea"/>
              <a:cs typeface="+mn-cs"/>
            </a:endParaRPr>
          </a:p>
        </p:txBody>
      </p:sp>
      <p:sp>
        <p:nvSpPr>
          <p:cNvPr id="11" name="Object5">
            <a:extLst>
              <a:ext uri="{FF2B5EF4-FFF2-40B4-BE49-F238E27FC236}">
                <a16:creationId xmlns:a16="http://schemas.microsoft.com/office/drawing/2014/main" id="{1114375B-B85D-D524-B17C-C7ADF41B35B0}"/>
              </a:ext>
            </a:extLst>
          </p:cNvPr>
          <p:cNvSpPr/>
          <p:nvPr/>
        </p:nvSpPr>
        <p:spPr>
          <a:xfrm>
            <a:off x="816000" y="5589000"/>
            <a:ext cx="7917614" cy="304845"/>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Hepta Slab Regular" pitchFamily="34" charset="-122"/>
                <a:cs typeface="Hepta Slab Medium" pitchFamily="2" charset="0"/>
              </a:rPr>
              <a:t>Fundamental Attribution Error</a:t>
            </a:r>
            <a:endPar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endParaRPr>
          </a:p>
        </p:txBody>
      </p:sp>
      <p:sp>
        <p:nvSpPr>
          <p:cNvPr id="14" name="TextBox 13">
            <a:extLst>
              <a:ext uri="{FF2B5EF4-FFF2-40B4-BE49-F238E27FC236}">
                <a16:creationId xmlns:a16="http://schemas.microsoft.com/office/drawing/2014/main" id="{3C4271B8-1A31-7003-9391-F07A21BD248E}"/>
              </a:ext>
            </a:extLst>
          </p:cNvPr>
          <p:cNvSpPr txBox="1"/>
          <p:nvPr/>
        </p:nvSpPr>
        <p:spPr>
          <a:xfrm>
            <a:off x="9860638" y="2818002"/>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40-50</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
        <p:nvSpPr>
          <p:cNvPr id="15" name="TextBox 14">
            <a:extLst>
              <a:ext uri="{FF2B5EF4-FFF2-40B4-BE49-F238E27FC236}">
                <a16:creationId xmlns:a16="http://schemas.microsoft.com/office/drawing/2014/main" id="{E3924BB1-EAF3-6E12-38D7-B928E8D78365}"/>
              </a:ext>
            </a:extLst>
          </p:cNvPr>
          <p:cNvSpPr txBox="1"/>
          <p:nvPr/>
        </p:nvSpPr>
        <p:spPr>
          <a:xfrm>
            <a:off x="9860638" y="4471588"/>
            <a:ext cx="1267951"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rPr>
              <a:t>Male, 50-65</a:t>
            </a:r>
            <a:endParaRPr kumimoji="0" lang="en-IN" sz="1000" b="0" i="0" u="none" strike="noStrike" kern="1200" cap="none" spc="0" normalizeH="0" baseline="0" noProof="0" dirty="0">
              <a:ln>
                <a:noFill/>
              </a:ln>
              <a:solidFill>
                <a:srgbClr val="E7E6E6">
                  <a:lumMod val="75000"/>
                </a:srgbClr>
              </a:solidFill>
              <a:effectLst/>
              <a:uLnTx/>
              <a:uFillTx/>
              <a:latin typeface="Montserrat Medium" pitchFamily="2" charset="0"/>
              <a:ea typeface="+mn-ea"/>
              <a:cs typeface="+mn-cs"/>
            </a:endParaRPr>
          </a:p>
        </p:txBody>
      </p:sp>
    </p:spTree>
    <p:extLst>
      <p:ext uri="{BB962C8B-B14F-4D97-AF65-F5344CB8AC3E}">
        <p14:creationId xmlns:p14="http://schemas.microsoft.com/office/powerpoint/2010/main" val="8243161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BEA4A5-120F-BB0D-499D-42D094C6F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Object6">
            <a:extLst>
              <a:ext uri="{FF2B5EF4-FFF2-40B4-BE49-F238E27FC236}">
                <a16:creationId xmlns:a16="http://schemas.microsoft.com/office/drawing/2014/main" id="{09C258A2-2CD2-3FB9-79CB-8B2053758CBF}"/>
              </a:ext>
            </a:extLst>
          </p:cNvPr>
          <p:cNvSpPr/>
          <p:nvPr/>
        </p:nvSpPr>
        <p:spPr>
          <a:xfrm>
            <a:off x="696000" y="3429000"/>
            <a:ext cx="8760000" cy="840000"/>
          </a:xfrm>
          <a:prstGeom prst="rect">
            <a:avLst/>
          </a:prstGeom>
          <a:noFill/>
          <a:ln/>
        </p:spPr>
        <p:txBody>
          <a:bodyPr wrap="square" lIns="0" tIns="0" rIns="0" bIns="0" rtlCol="0" anchor="b">
            <a:noAutofit/>
          </a:bodyPr>
          <a:lstStyle/>
          <a:p>
            <a:pPr defTabSz="304815">
              <a:lnSpc>
                <a:spcPts val="2925"/>
              </a:lnSpc>
              <a:defRPr/>
            </a:pPr>
            <a:r>
              <a:rPr lang="en-US" sz="6400" dirty="0">
                <a:solidFill>
                  <a:srgbClr val="FFC000">
                    <a:lumMod val="20000"/>
                    <a:lumOff val="80000"/>
                  </a:srgbClr>
                </a:solidFill>
                <a:latin typeface="Hepta Slab ExtraLight" pitchFamily="2" charset="0"/>
                <a:ea typeface="Montserrat ExtraBold" pitchFamily="34" charset="-122"/>
                <a:cs typeface="Hepta Slab ExtraLight" pitchFamily="2" charset="0"/>
              </a:rPr>
              <a:t>The Competition</a:t>
            </a:r>
            <a:endParaRPr lang="en-US" sz="6400" dirty="0">
              <a:solidFill>
                <a:srgbClr val="FFC000">
                  <a:lumMod val="20000"/>
                  <a:lumOff val="80000"/>
                </a:srgbClr>
              </a:solidFill>
              <a:latin typeface="Hepta Slab ExtraLight" pitchFamily="2" charset="0"/>
              <a:cs typeface="Hepta Slab ExtraLight" pitchFamily="2" charset="0"/>
            </a:endParaRPr>
          </a:p>
        </p:txBody>
      </p:sp>
      <p:sp>
        <p:nvSpPr>
          <p:cNvPr id="11" name="Object5">
            <a:extLst>
              <a:ext uri="{FF2B5EF4-FFF2-40B4-BE49-F238E27FC236}">
                <a16:creationId xmlns:a16="http://schemas.microsoft.com/office/drawing/2014/main" id="{0C7EFE4F-6D28-EA8C-5F65-5F264A6E46EC}"/>
              </a:ext>
            </a:extLst>
          </p:cNvPr>
          <p:cNvSpPr/>
          <p:nvPr/>
        </p:nvSpPr>
        <p:spPr>
          <a:xfrm>
            <a:off x="851040" y="4944852"/>
            <a:ext cx="11280000" cy="480000"/>
          </a:xfrm>
          <a:prstGeom prst="rect">
            <a:avLst/>
          </a:prstGeom>
          <a:noFill/>
          <a:ln/>
        </p:spPr>
        <p:txBody>
          <a:bodyPr wrap="square" lIns="0" tIns="0" rIns="0" bIns="0" rtlCol="0" anchor="t"/>
          <a:lstStyle/>
          <a:p>
            <a:pPr defTabSz="304815">
              <a:lnSpc>
                <a:spcPts val="4000"/>
              </a:lnSpc>
            </a:pPr>
            <a:r>
              <a:rPr kumimoji="0" lang="en-US" sz="4000" b="1" i="0" u="none" strike="noStrike" kern="1200" cap="none" spc="0" normalizeH="0" baseline="0" noProof="0" dirty="0">
                <a:ln>
                  <a:noFill/>
                </a:ln>
                <a:solidFill>
                  <a:srgbClr val="FFC000"/>
                </a:solidFill>
                <a:effectLst/>
                <a:uLnTx/>
                <a:uFillTx/>
                <a:latin typeface="Hepta Slab SemiBold" pitchFamily="2" charset="0"/>
                <a:ea typeface="+mn-ea"/>
                <a:cs typeface="Hepta Slab SemiBold" pitchFamily="2" charset="0"/>
              </a:rPr>
              <a:t>. </a:t>
            </a:r>
            <a:r>
              <a:rPr lang="en-US" sz="1600" b="1" cap="small" dirty="0">
                <a:solidFill>
                  <a:srgbClr val="FFC000">
                    <a:lumMod val="20000"/>
                    <a:lumOff val="80000"/>
                  </a:srgbClr>
                </a:solidFill>
                <a:latin typeface="Hepta Slab SemiBold" pitchFamily="2" charset="0"/>
                <a:cs typeface="Hepta Slab SemiBold" pitchFamily="2" charset="0"/>
              </a:rPr>
              <a:t>CELESTA</a:t>
            </a:r>
            <a:r>
              <a:rPr kumimoji="0" lang="en-US" sz="4000" b="1" i="0" u="none" strike="noStrike" kern="1200" cap="none" spc="0" normalizeH="0" baseline="0" noProof="0" dirty="0">
                <a:ln>
                  <a:noFill/>
                </a:ln>
                <a:solidFill>
                  <a:srgbClr val="FFC000"/>
                </a:solidFill>
                <a:effectLst/>
                <a:uLnTx/>
                <a:uFillTx/>
                <a:latin typeface="Hepta Slab SemiBold" pitchFamily="2" charset="0"/>
                <a:ea typeface="+mn-ea"/>
                <a:cs typeface="Hepta Slab SemiBold" pitchFamily="2" charset="0"/>
              </a:rPr>
              <a:t> . </a:t>
            </a:r>
            <a:r>
              <a:rPr lang="en-US" sz="1600" b="1" cap="small" dirty="0">
                <a:solidFill>
                  <a:srgbClr val="FFC000">
                    <a:lumMod val="20000"/>
                    <a:lumOff val="80000"/>
                  </a:srgbClr>
                </a:solidFill>
                <a:latin typeface="Hepta Slab SemiBold" pitchFamily="2" charset="0"/>
                <a:cs typeface="Hepta Slab SemiBold" pitchFamily="2" charset="0"/>
              </a:rPr>
              <a:t>PRIVY LEAGUE </a:t>
            </a:r>
            <a:r>
              <a:rPr lang="en-US" sz="4000" b="1" dirty="0">
                <a:solidFill>
                  <a:srgbClr val="FFC000"/>
                </a:solidFill>
                <a:latin typeface="Hepta Slab SemiBold" pitchFamily="2" charset="0"/>
                <a:cs typeface="Hepta Slab SemiBold" pitchFamily="2" charset="0"/>
              </a:rPr>
              <a:t>.</a:t>
            </a:r>
            <a:r>
              <a:rPr lang="en-US" sz="1600" b="1" dirty="0">
                <a:solidFill>
                  <a:srgbClr val="FFC000"/>
                </a:solidFill>
                <a:latin typeface="Hepta Slab SemiBold" pitchFamily="2" charset="0"/>
                <a:cs typeface="Hepta Slab SemiBold" pitchFamily="2" charset="0"/>
              </a:rPr>
              <a:t> </a:t>
            </a:r>
            <a:r>
              <a:rPr lang="en-US" sz="1600" b="1" dirty="0">
                <a:solidFill>
                  <a:srgbClr val="FFC000">
                    <a:lumMod val="20000"/>
                    <a:lumOff val="80000"/>
                  </a:srgbClr>
                </a:solidFill>
                <a:latin typeface="Hepta Slab SemiBold" pitchFamily="2" charset="0"/>
                <a:cs typeface="Hepta Slab SemiBold" pitchFamily="2" charset="0"/>
              </a:rPr>
              <a:t>IMPERIA </a:t>
            </a:r>
            <a:r>
              <a:rPr lang="en-US" sz="4000" b="1" dirty="0">
                <a:solidFill>
                  <a:srgbClr val="FFC000"/>
                </a:solidFill>
                <a:latin typeface="Hepta Slab SemiBold" pitchFamily="2" charset="0"/>
                <a:cs typeface="Hepta Slab SemiBold" pitchFamily="2" charset="0"/>
              </a:rPr>
              <a:t>.</a:t>
            </a:r>
            <a:r>
              <a:rPr lang="en-US" sz="1600" b="1" dirty="0">
                <a:solidFill>
                  <a:srgbClr val="FFC000">
                    <a:lumMod val="20000"/>
                    <a:lumOff val="80000"/>
                  </a:srgbClr>
                </a:solidFill>
                <a:latin typeface="Hepta Slab SemiBold" pitchFamily="2" charset="0"/>
                <a:cs typeface="Hepta Slab SemiBold" pitchFamily="2" charset="0"/>
              </a:rPr>
              <a:t> </a:t>
            </a:r>
            <a:r>
              <a:rPr lang="en-US" sz="1600" b="1" dirty="0">
                <a:solidFill>
                  <a:srgbClr val="FFC000">
                    <a:lumMod val="20000"/>
                    <a:lumOff val="80000"/>
                  </a:srgbClr>
                </a:solidFill>
                <a:latin typeface="Hepta Slab SemiBold" pitchFamily="2" charset="0"/>
                <a:ea typeface="Hepta Slab Regular" pitchFamily="34" charset="-122"/>
                <a:cs typeface="Hepta Slab SemiBold" pitchFamily="2" charset="0"/>
              </a:rPr>
              <a:t>BURGUNDY</a:t>
            </a:r>
            <a:endParaRPr lang="en-US" sz="1600" b="1" dirty="0">
              <a:solidFill>
                <a:srgbClr val="FFC000">
                  <a:lumMod val="20000"/>
                  <a:lumOff val="80000"/>
                </a:srgbClr>
              </a:solidFill>
              <a:latin typeface="Hepta Slab SemiBold" pitchFamily="2" charset="0"/>
              <a:cs typeface="Hepta Slab SemiBold" pitchFamily="2" charset="0"/>
            </a:endParaRPr>
          </a:p>
          <a:p>
            <a:pPr defTabSz="304815">
              <a:lnSpc>
                <a:spcPts val="4000"/>
              </a:lnSpc>
            </a:pPr>
            <a:endParaRPr lang="en-US" sz="1600" b="1" dirty="0">
              <a:solidFill>
                <a:srgbClr val="FFC000">
                  <a:lumMod val="20000"/>
                  <a:lumOff val="80000"/>
                </a:srgbClr>
              </a:solidFill>
              <a:latin typeface="Hepta Slab SemiBold" pitchFamily="2" charset="0"/>
              <a:cs typeface="Hepta Slab SemiBold" pitchFamily="2" charset="0"/>
            </a:endParaRPr>
          </a:p>
        </p:txBody>
      </p:sp>
      <p:grpSp>
        <p:nvGrpSpPr>
          <p:cNvPr id="12" name="Group 11">
            <a:extLst>
              <a:ext uri="{FF2B5EF4-FFF2-40B4-BE49-F238E27FC236}">
                <a16:creationId xmlns:a16="http://schemas.microsoft.com/office/drawing/2014/main" id="{22CDB6C3-6DD9-100D-7F19-500802B4C9A5}"/>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7C95BFCA-07A1-2CE1-94DD-902B3BB2CB1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D3FE01CB-E6AA-D3A3-34AF-BB11B8E152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496CDE05-6842-F510-D74F-ABC27571C5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503F9316-E922-3CE4-C627-0EF761B3BFDA}"/>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62</a:t>
            </a:fld>
            <a:endParaRPr lang="en-US" sz="1333" dirty="0">
              <a:solidFill>
                <a:srgbClr val="0D0D0D"/>
              </a:solidFill>
              <a:latin typeface="Hepta Slab Medium" pitchFamily="2" charset="0"/>
              <a:cs typeface="Hepta Slab Medium" pitchFamily="2" charset="0"/>
            </a:endParaRPr>
          </a:p>
        </p:txBody>
      </p:sp>
      <p:pic>
        <p:nvPicPr>
          <p:cNvPr id="2" name="Picture 1">
            <a:extLst>
              <a:ext uri="{FF2B5EF4-FFF2-40B4-BE49-F238E27FC236}">
                <a16:creationId xmlns:a16="http://schemas.microsoft.com/office/drawing/2014/main" id="{50829EE9-1AE4-249D-A019-BB8B1BD0B689}"/>
              </a:ext>
            </a:extLst>
          </p:cNvPr>
          <p:cNvPicPr>
            <a:picLocks noChangeAspect="1"/>
          </p:cNvPicPr>
          <p:nvPr/>
        </p:nvPicPr>
        <p:blipFill>
          <a:blip r:embed="rId6">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3" name="Object5">
            <a:extLst>
              <a:ext uri="{FF2B5EF4-FFF2-40B4-BE49-F238E27FC236}">
                <a16:creationId xmlns:a16="http://schemas.microsoft.com/office/drawing/2014/main" id="{8EE1385E-9A67-56B1-3B7A-38160E4968EC}"/>
              </a:ext>
            </a:extLst>
          </p:cNvPr>
          <p:cNvSpPr/>
          <p:nvPr/>
        </p:nvSpPr>
        <p:spPr>
          <a:xfrm>
            <a:off x="695999" y="4269000"/>
            <a:ext cx="11280000" cy="480000"/>
          </a:xfrm>
          <a:prstGeom prst="rect">
            <a:avLst/>
          </a:prstGeom>
          <a:noFill/>
          <a:ln/>
        </p:spPr>
        <p:txBody>
          <a:bodyPr wrap="square" lIns="0" tIns="0" rIns="0" bIns="0" rtlCol="0" anchor="t"/>
          <a:lstStyle/>
          <a:p>
            <a:pPr defTabSz="304815">
              <a:lnSpc>
                <a:spcPts val="4000"/>
              </a:lnSpc>
            </a:pPr>
            <a:r>
              <a:rPr kumimoji="0" lang="en-US" sz="2800" i="0" u="none" strike="noStrike" kern="1200" cap="none" spc="0" normalizeH="0" baseline="0" noProof="0" dirty="0">
                <a:ln>
                  <a:noFill/>
                </a:ln>
                <a:solidFill>
                  <a:srgbClr val="FFC000"/>
                </a:solidFill>
                <a:effectLst/>
                <a:uLnTx/>
                <a:uFillTx/>
                <a:latin typeface="Hepta Slab ExtraBold" pitchFamily="2" charset="0"/>
                <a:cs typeface="Hepta Slab ExtraBold" pitchFamily="2" charset="0"/>
              </a:rPr>
              <a:t>AT A GLANCE</a:t>
            </a:r>
            <a:endParaRPr lang="en-US" sz="1100" dirty="0">
              <a:solidFill>
                <a:srgbClr val="FFC000">
                  <a:lumMod val="20000"/>
                  <a:lumOff val="80000"/>
                </a:srgbClr>
              </a:solidFill>
              <a:latin typeface="Hepta Slab ExtraBold" pitchFamily="2" charset="0"/>
              <a:cs typeface="Hepta Slab ExtraBold" pitchFamily="2" charset="0"/>
            </a:endParaRPr>
          </a:p>
        </p:txBody>
      </p:sp>
    </p:spTree>
    <p:extLst>
      <p:ext uri="{BB962C8B-B14F-4D97-AF65-F5344CB8AC3E}">
        <p14:creationId xmlns:p14="http://schemas.microsoft.com/office/powerpoint/2010/main" val="12001640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7A128493-84AA-E83B-DB47-C018C240F4A4}"/>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6EF93A17-8FB0-F161-16A9-B699DC47174C}"/>
              </a:ext>
            </a:extLst>
          </p:cNvPr>
          <p:cNvSpPr txBox="1"/>
          <p:nvPr/>
        </p:nvSpPr>
        <p:spPr>
          <a:xfrm>
            <a:off x="337609" y="1335377"/>
            <a:ext cx="4343400" cy="428322"/>
          </a:xfrm>
          <a:prstGeom prst="rect">
            <a:avLst/>
          </a:prstGeom>
          <a:noFill/>
        </p:spPr>
        <p:txBody>
          <a:bodyPr wrap="square" rtlCol="0">
            <a:spAutoFit/>
          </a:bodyPr>
          <a:lstStyle/>
          <a:p>
            <a:pPr defTabSz="304815">
              <a:lnSpc>
                <a:spcPts val="2925"/>
              </a:lnSpc>
              <a:defRPr/>
            </a:pPr>
            <a:r>
              <a:rPr lang="en-IN" sz="1600" cap="all" dirty="0">
                <a:solidFill>
                  <a:prstClr val="black">
                    <a:lumMod val="65000"/>
                    <a:lumOff val="35000"/>
                  </a:prstClr>
                </a:solidFill>
                <a:latin typeface="Montserrat ExtraBold" pitchFamily="34" charset="0"/>
              </a:rPr>
              <a:t>PRIMARY ROLE OF THE BANK </a:t>
            </a:r>
          </a:p>
        </p:txBody>
      </p:sp>
      <p:sp>
        <p:nvSpPr>
          <p:cNvPr id="11" name="Slide Number Placeholder 4">
            <a:extLst>
              <a:ext uri="{FF2B5EF4-FFF2-40B4-BE49-F238E27FC236}">
                <a16:creationId xmlns:a16="http://schemas.microsoft.com/office/drawing/2014/main" id="{908643CF-0144-670A-2308-378414438287}"/>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
        <p:nvSpPr>
          <p:cNvPr id="17" name="TextBox 16">
            <a:extLst>
              <a:ext uri="{FF2B5EF4-FFF2-40B4-BE49-F238E27FC236}">
                <a16:creationId xmlns:a16="http://schemas.microsoft.com/office/drawing/2014/main" id="{AE0F8D55-69C8-51EB-86DF-E1B045A30511}"/>
              </a:ext>
            </a:extLst>
          </p:cNvPr>
          <p:cNvSpPr txBox="1"/>
          <p:nvPr/>
        </p:nvSpPr>
        <p:spPr>
          <a:xfrm>
            <a:off x="7710377" y="6627168"/>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8E8E8">
                    <a:lumMod val="75000"/>
                  </a:srgbClr>
                </a:solidFill>
                <a:effectLst/>
                <a:uLnTx/>
                <a:uFillTx/>
                <a:latin typeface="Montserrat SemiBold" panose="00000700000000000000" pitchFamily="2" charset="0"/>
                <a:ea typeface="+mn-ea"/>
                <a:cs typeface="+mn-cs"/>
              </a:rPr>
              <a:t>n= 622</a:t>
            </a:r>
            <a:endParaRPr kumimoji="0" lang="en-IN" sz="900" b="0" i="0" u="none" strike="noStrike" kern="1200" cap="none" spc="0" normalizeH="0" baseline="0" noProof="0" dirty="0">
              <a:ln>
                <a:noFill/>
              </a:ln>
              <a:solidFill>
                <a:srgbClr val="E8E8E8">
                  <a:lumMod val="75000"/>
                </a:srgbClr>
              </a:solidFill>
              <a:effectLst/>
              <a:uLnTx/>
              <a:uFillTx/>
              <a:latin typeface="Montserrat SemiBold" panose="00000700000000000000" pitchFamily="2" charset="0"/>
              <a:ea typeface="+mn-ea"/>
              <a:cs typeface="+mn-cs"/>
            </a:endParaRPr>
          </a:p>
        </p:txBody>
      </p:sp>
      <p:graphicFrame>
        <p:nvGraphicFramePr>
          <p:cNvPr id="4" name="Chart 3">
            <a:extLst>
              <a:ext uri="{FF2B5EF4-FFF2-40B4-BE49-F238E27FC236}">
                <a16:creationId xmlns:a16="http://schemas.microsoft.com/office/drawing/2014/main" id="{38FD8BC4-D36F-FB7A-4DEC-4A1B8FAA2030}"/>
              </a:ext>
            </a:extLst>
          </p:cNvPr>
          <p:cNvGraphicFramePr>
            <a:graphicFrameLocks/>
          </p:cNvGraphicFramePr>
          <p:nvPr>
            <p:extLst>
              <p:ext uri="{D42A27DB-BD31-4B8C-83A1-F6EECF244321}">
                <p14:modId xmlns:p14="http://schemas.microsoft.com/office/powerpoint/2010/main" val="4182774612"/>
              </p:ext>
            </p:extLst>
          </p:nvPr>
        </p:nvGraphicFramePr>
        <p:xfrm>
          <a:off x="121089" y="1828800"/>
          <a:ext cx="11949821" cy="4489611"/>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438C0B80-B469-C421-986E-665511EDE076}"/>
              </a:ext>
            </a:extLst>
          </p:cNvPr>
          <p:cNvSpPr txBox="1"/>
          <p:nvPr/>
        </p:nvSpPr>
        <p:spPr>
          <a:xfrm>
            <a:off x="336000" y="546854"/>
            <a:ext cx="567655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rPr>
              <a:t>The Affluent Customer</a:t>
            </a:r>
          </a:p>
        </p:txBody>
      </p:sp>
      <p:grpSp>
        <p:nvGrpSpPr>
          <p:cNvPr id="5" name="Group 4">
            <a:extLst>
              <a:ext uri="{FF2B5EF4-FFF2-40B4-BE49-F238E27FC236}">
                <a16:creationId xmlns:a16="http://schemas.microsoft.com/office/drawing/2014/main" id="{82BA568F-347F-074F-D810-D59082E1D4DB}"/>
              </a:ext>
            </a:extLst>
          </p:cNvPr>
          <p:cNvGrpSpPr/>
          <p:nvPr/>
        </p:nvGrpSpPr>
        <p:grpSpPr>
          <a:xfrm>
            <a:off x="-61290" y="6053155"/>
            <a:ext cx="12253290" cy="971832"/>
            <a:chOff x="-187799" y="8336784"/>
            <a:chExt cx="18379935" cy="1457748"/>
          </a:xfrm>
        </p:grpSpPr>
        <p:pic>
          <p:nvPicPr>
            <p:cNvPr id="6" name="Picture 5">
              <a:extLst>
                <a:ext uri="{FF2B5EF4-FFF2-40B4-BE49-F238E27FC236}">
                  <a16:creationId xmlns:a16="http://schemas.microsoft.com/office/drawing/2014/main" id="{66B66C7B-3778-196D-E162-E26DA5B25E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7" name="Title 1">
              <a:extLst>
                <a:ext uri="{FF2B5EF4-FFF2-40B4-BE49-F238E27FC236}">
                  <a16:creationId xmlns:a16="http://schemas.microsoft.com/office/drawing/2014/main" id="{889694A0-A63F-04CC-CCF6-E24F4056F74B}"/>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8" name="Picture 7">
              <a:extLst>
                <a:ext uri="{FF2B5EF4-FFF2-40B4-BE49-F238E27FC236}">
                  <a16:creationId xmlns:a16="http://schemas.microsoft.com/office/drawing/2014/main" id="{164D63CA-4793-AC69-7A98-8C3AE7FE8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Tree>
    <p:extLst>
      <p:ext uri="{BB962C8B-B14F-4D97-AF65-F5344CB8AC3E}">
        <p14:creationId xmlns:p14="http://schemas.microsoft.com/office/powerpoint/2010/main" val="13345505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265808C6-C61E-0553-4324-7457463818C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8EEE22A-FE66-0CD8-5CCA-9B22105B4152}"/>
              </a:ext>
            </a:extLst>
          </p:cNvPr>
          <p:cNvSpPr txBox="1"/>
          <p:nvPr/>
        </p:nvSpPr>
        <p:spPr>
          <a:xfrm>
            <a:off x="336000" y="546854"/>
            <a:ext cx="567655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rPr>
              <a:t>The Affluent Customer</a:t>
            </a:r>
          </a:p>
        </p:txBody>
      </p:sp>
      <p:sp>
        <p:nvSpPr>
          <p:cNvPr id="9" name="TextBox 8">
            <a:extLst>
              <a:ext uri="{FF2B5EF4-FFF2-40B4-BE49-F238E27FC236}">
                <a16:creationId xmlns:a16="http://schemas.microsoft.com/office/drawing/2014/main" id="{63717E20-1DC0-10FE-A1E9-FB2AC01C6CC9}"/>
              </a:ext>
            </a:extLst>
          </p:cNvPr>
          <p:cNvSpPr txBox="1"/>
          <p:nvPr/>
        </p:nvSpPr>
        <p:spPr>
          <a:xfrm>
            <a:off x="457200" y="1491734"/>
            <a:ext cx="52006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all" dirty="0">
                <a:solidFill>
                  <a:prstClr val="black">
                    <a:lumMod val="65000"/>
                    <a:lumOff val="35000"/>
                  </a:prstClr>
                </a:solidFill>
                <a:latin typeface="Montserrat ExtraBold" pitchFamily="34" charset="0"/>
              </a:rPr>
              <a:t>W</a:t>
            </a:r>
            <a:r>
              <a:rPr lang="en-IN" sz="1600" cap="all" dirty="0">
                <a:solidFill>
                  <a:prstClr val="black">
                    <a:lumMod val="65000"/>
                    <a:lumOff val="35000"/>
                  </a:prstClr>
                </a:solidFill>
                <a:latin typeface="Montserrat ExtraBold" pitchFamily="34" charset="0"/>
              </a:rPr>
              <a:t>EALTH ATTITUDES</a:t>
            </a:r>
          </a:p>
        </p:txBody>
      </p:sp>
      <p:sp>
        <p:nvSpPr>
          <p:cNvPr id="11" name="Slide Number Placeholder 4">
            <a:extLst>
              <a:ext uri="{FF2B5EF4-FFF2-40B4-BE49-F238E27FC236}">
                <a16:creationId xmlns:a16="http://schemas.microsoft.com/office/drawing/2014/main" id="{D4629339-DA19-0D40-16D3-CA500C2D5DCA}"/>
              </a:ext>
            </a:extLst>
          </p:cNvPr>
          <p:cNvSpPr>
            <a:spLocks noGrp="1"/>
          </p:cNvSpPr>
          <p:nvPr>
            <p:ph type="sldNum" sz="quarter" idx="12"/>
          </p:nvPr>
        </p:nvSpPr>
        <p:spPr>
          <a:xfrm>
            <a:off x="11485649" y="182562"/>
            <a:ext cx="4539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graphicFrame>
        <p:nvGraphicFramePr>
          <p:cNvPr id="2" name="Chart 1">
            <a:extLst>
              <a:ext uri="{FF2B5EF4-FFF2-40B4-BE49-F238E27FC236}">
                <a16:creationId xmlns:a16="http://schemas.microsoft.com/office/drawing/2014/main" id="{F863F301-8F93-664B-95A8-5F271E71467A}"/>
              </a:ext>
            </a:extLst>
          </p:cNvPr>
          <p:cNvGraphicFramePr>
            <a:graphicFrameLocks/>
          </p:cNvGraphicFramePr>
          <p:nvPr>
            <p:extLst>
              <p:ext uri="{D42A27DB-BD31-4B8C-83A1-F6EECF244321}">
                <p14:modId xmlns:p14="http://schemas.microsoft.com/office/powerpoint/2010/main" val="2003350452"/>
              </p:ext>
            </p:extLst>
          </p:nvPr>
        </p:nvGraphicFramePr>
        <p:xfrm>
          <a:off x="336000" y="2145581"/>
          <a:ext cx="6321654" cy="3609975"/>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AA4073A4-07B8-222A-5A1C-D4ACC1E95673}"/>
              </a:ext>
            </a:extLst>
          </p:cNvPr>
          <p:cNvSpPr/>
          <p:nvPr/>
        </p:nvSpPr>
        <p:spPr>
          <a:xfrm>
            <a:off x="1073639" y="2204386"/>
            <a:ext cx="144000" cy="144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B46F2EE9-1893-6A5E-3565-FEEA4A7F1D3D}"/>
              </a:ext>
            </a:extLst>
          </p:cNvPr>
          <p:cNvSpPr/>
          <p:nvPr/>
        </p:nvSpPr>
        <p:spPr>
          <a:xfrm>
            <a:off x="2548448" y="2204386"/>
            <a:ext cx="144000" cy="144000"/>
          </a:xfrm>
          <a:prstGeom prst="rect">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24BC9508-258F-EB7A-5A79-96A5CB6D66D5}"/>
              </a:ext>
            </a:extLst>
          </p:cNvPr>
          <p:cNvSpPr/>
          <p:nvPr/>
        </p:nvSpPr>
        <p:spPr>
          <a:xfrm>
            <a:off x="3581400" y="2204386"/>
            <a:ext cx="144000" cy="144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C16BFF92-6C3C-0C98-2C5A-83A74C0EF3CA}"/>
              </a:ext>
            </a:extLst>
          </p:cNvPr>
          <p:cNvSpPr txBox="1"/>
          <p:nvPr/>
        </p:nvSpPr>
        <p:spPr>
          <a:xfrm>
            <a:off x="1143000" y="2145581"/>
            <a:ext cx="1202573"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Montserrat SemiBold" panose="00000700000000000000" pitchFamily="2" charset="0"/>
                <a:ea typeface="+mn-ea"/>
                <a:cs typeface="+mn-cs"/>
              </a:rPr>
              <a:t>Conservatives</a:t>
            </a:r>
          </a:p>
        </p:txBody>
      </p:sp>
      <p:sp>
        <p:nvSpPr>
          <p:cNvPr id="14" name="TextBox 13">
            <a:extLst>
              <a:ext uri="{FF2B5EF4-FFF2-40B4-BE49-F238E27FC236}">
                <a16:creationId xmlns:a16="http://schemas.microsoft.com/office/drawing/2014/main" id="{E03AB9E2-AD33-8BBE-B243-D0BF7D5DB663}"/>
              </a:ext>
            </a:extLst>
          </p:cNvPr>
          <p:cNvSpPr txBox="1"/>
          <p:nvPr/>
        </p:nvSpPr>
        <p:spPr>
          <a:xfrm>
            <a:off x="2638425" y="2145581"/>
            <a:ext cx="86433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Montserrat SemiBold" panose="00000700000000000000" pitchFamily="2" charset="0"/>
                <a:ea typeface="+mn-ea"/>
                <a:cs typeface="+mn-cs"/>
              </a:rPr>
              <a:t>Balanced</a:t>
            </a:r>
          </a:p>
        </p:txBody>
      </p:sp>
      <p:sp>
        <p:nvSpPr>
          <p:cNvPr id="15" name="TextBox 14">
            <a:extLst>
              <a:ext uri="{FF2B5EF4-FFF2-40B4-BE49-F238E27FC236}">
                <a16:creationId xmlns:a16="http://schemas.microsoft.com/office/drawing/2014/main" id="{4023236F-3924-006E-4B10-3069C34594EE}"/>
              </a:ext>
            </a:extLst>
          </p:cNvPr>
          <p:cNvSpPr txBox="1"/>
          <p:nvPr/>
        </p:nvSpPr>
        <p:spPr>
          <a:xfrm>
            <a:off x="3657600" y="2145581"/>
            <a:ext cx="96372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Montserrat SemiBold" panose="00000700000000000000" pitchFamily="2" charset="0"/>
                <a:ea typeface="+mn-ea"/>
                <a:cs typeface="+mn-cs"/>
              </a:rPr>
              <a:t>Go-getters</a:t>
            </a:r>
          </a:p>
        </p:txBody>
      </p:sp>
      <p:sp>
        <p:nvSpPr>
          <p:cNvPr id="5" name="TextBox 4">
            <a:extLst>
              <a:ext uri="{FF2B5EF4-FFF2-40B4-BE49-F238E27FC236}">
                <a16:creationId xmlns:a16="http://schemas.microsoft.com/office/drawing/2014/main" id="{BB2E264A-6E7B-04EE-FE2E-F8CE914F9D53}"/>
              </a:ext>
            </a:extLst>
          </p:cNvPr>
          <p:cNvSpPr txBox="1"/>
          <p:nvPr/>
        </p:nvSpPr>
        <p:spPr>
          <a:xfrm>
            <a:off x="7099442" y="1597153"/>
            <a:ext cx="4184443" cy="2161032"/>
          </a:xfrm>
          <a:prstGeom prst="rect">
            <a:avLst/>
          </a:prstGeom>
          <a:noFill/>
          <a:ln/>
        </p:spPr>
        <p:txBody>
          <a:bodyPr wrap="square" lIns="0" tIns="0" rIns="0" bIns="0" rtlCol="0" anchor="t"/>
          <a:lstStyle>
            <a:defPPr>
              <a:defRPr lang="en-US"/>
            </a:defPPr>
            <a:lvl1pPr>
              <a:defRPr sz="1600" i="0">
                <a:solidFill>
                  <a:srgbClr val="7030A0"/>
                </a:solidFill>
                <a:latin typeface="Hepta Slab Medium" pitchFamily="2" charset="0"/>
                <a:ea typeface="Hepta Slab Regular" pitchFamily="34" charset="-122"/>
                <a:cs typeface="Hepta Slab Medium" pitchFamily="2" charset="0"/>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dirty="0">
                <a:solidFill>
                  <a:srgbClr val="002060"/>
                </a:solidFill>
              </a:rPr>
              <a:t>Current Celesta customer base is conservative.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2060"/>
                </a:solidFill>
                <a:effectLst/>
                <a:uLnTx/>
                <a:uFillTx/>
                <a:latin typeface="Hepta Slab Medium" pitchFamily="2" charset="0"/>
                <a:cs typeface="Hepta Slab Medium" pitchFamily="2" charset="0"/>
              </a:rPr>
              <a:t>Unlike HDFC, AXIS</a:t>
            </a:r>
            <a:r>
              <a:rPr lang="en-US" dirty="0">
                <a:solidFill>
                  <a:srgbClr val="002060"/>
                </a:solidFill>
              </a:rPr>
              <a:t>, KOTAK the Celesta Customer is Affluent by “Purchasing Power Parity” </a:t>
            </a:r>
          </a:p>
        </p:txBody>
      </p:sp>
      <p:grpSp>
        <p:nvGrpSpPr>
          <p:cNvPr id="7" name="Group 6">
            <a:extLst>
              <a:ext uri="{FF2B5EF4-FFF2-40B4-BE49-F238E27FC236}">
                <a16:creationId xmlns:a16="http://schemas.microsoft.com/office/drawing/2014/main" id="{8CCA0EC2-20C1-5BA4-C93C-E8A6F5F3404F}"/>
              </a:ext>
            </a:extLst>
          </p:cNvPr>
          <p:cNvGrpSpPr/>
          <p:nvPr/>
        </p:nvGrpSpPr>
        <p:grpSpPr>
          <a:xfrm>
            <a:off x="-61290" y="6053155"/>
            <a:ext cx="12253290" cy="971832"/>
            <a:chOff x="-187799" y="8336784"/>
            <a:chExt cx="18379935" cy="1457748"/>
          </a:xfrm>
        </p:grpSpPr>
        <p:pic>
          <p:nvPicPr>
            <p:cNvPr id="10" name="Picture 9">
              <a:extLst>
                <a:ext uri="{FF2B5EF4-FFF2-40B4-BE49-F238E27FC236}">
                  <a16:creationId xmlns:a16="http://schemas.microsoft.com/office/drawing/2014/main" id="{AD8E0EC5-FC71-5592-F46B-B9D8DD087E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C19943E1-E24E-65C0-EBC4-C2C8C3E8DFD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AB756BD7-73A5-E7E3-D98B-8BBEA883DA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Tree>
    <p:extLst>
      <p:ext uri="{BB962C8B-B14F-4D97-AF65-F5344CB8AC3E}">
        <p14:creationId xmlns:p14="http://schemas.microsoft.com/office/powerpoint/2010/main" val="5784772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F2AA56B6-72AD-B928-8D0D-BBD9A7290B77}"/>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870895F2-88C9-4D91-91BF-192B26B4AB6A}"/>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65</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1" name="TextBox 10">
            <a:extLst>
              <a:ext uri="{FF2B5EF4-FFF2-40B4-BE49-F238E27FC236}">
                <a16:creationId xmlns:a16="http://schemas.microsoft.com/office/drawing/2014/main" id="{9E24F06E-B9D3-E4DC-246F-322D241D830A}"/>
              </a:ext>
            </a:extLst>
          </p:cNvPr>
          <p:cNvSpPr txBox="1"/>
          <p:nvPr/>
        </p:nvSpPr>
        <p:spPr>
          <a:xfrm>
            <a:off x="573150" y="1519791"/>
            <a:ext cx="11142600" cy="4533364"/>
          </a:xfrm>
          <a:prstGeom prst="rect">
            <a:avLst/>
          </a:prstGeom>
          <a:noFill/>
          <a:ln/>
        </p:spPr>
        <p:txBody>
          <a:bodyPr wrap="square" lIns="0" tIns="0" rIns="0" bIns="0" rtlCol="0" anchor="t"/>
          <a:lstStyle>
            <a:defPPr>
              <a:defRPr lang="en-US"/>
            </a:defPPr>
            <a:lvl1pPr>
              <a:defRPr sz="1600" i="0">
                <a:solidFill>
                  <a:srgbClr val="7030A0"/>
                </a:solidFill>
                <a:latin typeface="Hepta Slab Medium" pitchFamily="2" charset="0"/>
                <a:ea typeface="Hepta Slab Regular" pitchFamily="34" charset="-122"/>
                <a:cs typeface="Hepta Slab Medium" pitchFamily="2" charset="0"/>
              </a:defRPr>
            </a:lvl1pPr>
          </a:lstStyle>
          <a:p>
            <a:pPr marL="0" marR="0" lvl="0" indent="0" algn="l" defTabSz="914400" rtl="0" eaLnBrk="1" fontAlgn="auto" latinLnBrk="0" hangingPunct="1">
              <a:lnSpc>
                <a:spcPct val="150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Hepta Slab Medium" pitchFamily="2" charset="0"/>
                <a:cs typeface="Hepta Slab Medium" pitchFamily="2" charset="0"/>
              </a:rPr>
              <a:t>The user-friendliness of the mobile app and the in-person interactions make transacting with Federal Celesta easier.</a:t>
            </a:r>
          </a:p>
          <a:p>
            <a:pPr marL="0" marR="0" lvl="0" indent="0" algn="l" defTabSz="914400" rtl="0" eaLnBrk="1" fontAlgn="auto" latinLnBrk="0" hangingPunct="1">
              <a:lnSpc>
                <a:spcPct val="150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Hepta Slab Medium" pitchFamily="2" charset="0"/>
                <a:cs typeface="Hepta Slab Medium" pitchFamily="2" charset="0"/>
              </a:rPr>
              <a:t>HDFC is by far perceived as the best performer in providing premium banking &amp; lifestyle benefits.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Hepta Slab Medium" pitchFamily="2" charset="0"/>
                <a:cs typeface="Hepta Slab Medium" pitchFamily="2" charset="0"/>
              </a:rPr>
              <a:t>Nearly 100% of customers of the competitor brands have experienced Lifestyle Benefits.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Hepta Slab Medium" pitchFamily="2" charset="0"/>
                <a:cs typeface="Hepta Slab Medium" pitchFamily="2" charset="0"/>
              </a:rPr>
              <a:t>ICICI is perceived to be trailing stated competition brands (HDFC, KOTAK, AXIS) in terms of providing Lifestyle Benefits Experience</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1800" dirty="0">
                <a:solidFill>
                  <a:srgbClr val="A9734C"/>
                </a:solidFill>
              </a:rPr>
              <a:t>Given the customer mindset similarity between ICICI Wealth and Federal Celesta, Federal is likely to succeed better with ICICI customer</a:t>
            </a:r>
            <a:r>
              <a:rPr kumimoji="0" lang="en-US" sz="1800" b="0" i="0" u="none" strike="noStrike" kern="1200" cap="none" spc="0" normalizeH="0" baseline="0" noProof="0" dirty="0">
                <a:ln>
                  <a:noFill/>
                </a:ln>
                <a:solidFill>
                  <a:srgbClr val="A9734C"/>
                </a:solidFill>
                <a:effectLst/>
                <a:uLnTx/>
                <a:uFillTx/>
                <a:latin typeface="Hepta Slab Medium" pitchFamily="2" charset="0"/>
                <a:cs typeface="Hepta Slab Medium" pitchFamily="2" charset="0"/>
              </a:rPr>
              <a:t>.</a:t>
            </a:r>
            <a:endParaRPr kumimoji="0" lang="en-US" sz="1800" b="0" i="0" u="none" strike="noStrike" kern="1200" cap="none" spc="0" normalizeH="0" baseline="0" noProof="0" dirty="0">
              <a:ln>
                <a:noFill/>
              </a:ln>
              <a:solidFill>
                <a:srgbClr val="002060"/>
              </a:solidFill>
              <a:effectLst/>
              <a:uLnTx/>
              <a:uFillTx/>
              <a:latin typeface="Hepta Slab Medium" pitchFamily="2" charset="0"/>
              <a:cs typeface="Hepta Slab Medium" pitchFamily="2"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Hepta Slab Medium" pitchFamily="2" charset="0"/>
              <a:cs typeface="Hepta Slab Medium" pitchFamily="2" charset="0"/>
            </a:endParaRPr>
          </a:p>
        </p:txBody>
      </p:sp>
      <p:grpSp>
        <p:nvGrpSpPr>
          <p:cNvPr id="3" name="Group 2">
            <a:extLst>
              <a:ext uri="{FF2B5EF4-FFF2-40B4-BE49-F238E27FC236}">
                <a16:creationId xmlns:a16="http://schemas.microsoft.com/office/drawing/2014/main" id="{2D762FC8-94B8-B2F4-DFCD-F99D8CD43245}"/>
              </a:ext>
            </a:extLst>
          </p:cNvPr>
          <p:cNvGrpSpPr/>
          <p:nvPr/>
        </p:nvGrpSpPr>
        <p:grpSpPr>
          <a:xfrm>
            <a:off x="-61290" y="6053155"/>
            <a:ext cx="12253290" cy="971832"/>
            <a:chOff x="-187799" y="8336784"/>
            <a:chExt cx="18379935" cy="1457748"/>
          </a:xfrm>
        </p:grpSpPr>
        <p:pic>
          <p:nvPicPr>
            <p:cNvPr id="4" name="Picture 3">
              <a:extLst>
                <a:ext uri="{FF2B5EF4-FFF2-40B4-BE49-F238E27FC236}">
                  <a16:creationId xmlns:a16="http://schemas.microsoft.com/office/drawing/2014/main" id="{1F839D83-D92D-0FBB-412D-9209F8D040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5" name="Title 1">
              <a:extLst>
                <a:ext uri="{FF2B5EF4-FFF2-40B4-BE49-F238E27FC236}">
                  <a16:creationId xmlns:a16="http://schemas.microsoft.com/office/drawing/2014/main" id="{6D229824-29BF-8680-93DA-EDDBF6422F0E}"/>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6" name="Picture 5">
              <a:extLst>
                <a:ext uri="{FF2B5EF4-FFF2-40B4-BE49-F238E27FC236}">
                  <a16:creationId xmlns:a16="http://schemas.microsoft.com/office/drawing/2014/main" id="{0D8C841A-1D52-658A-A309-61B2CB6D95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7" name="Object6">
            <a:extLst>
              <a:ext uri="{FF2B5EF4-FFF2-40B4-BE49-F238E27FC236}">
                <a16:creationId xmlns:a16="http://schemas.microsoft.com/office/drawing/2014/main" id="{AD88A4A3-03E6-9400-5CE7-E769F99F97F1}"/>
              </a:ext>
            </a:extLst>
          </p:cNvPr>
          <p:cNvSpPr/>
          <p:nvPr/>
        </p:nvSpPr>
        <p:spPr>
          <a:xfrm>
            <a:off x="573150" y="942195"/>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2060"/>
                </a:solidFill>
                <a:effectLst/>
                <a:uLnTx/>
                <a:uFillTx/>
                <a:latin typeface="Montserrat ExtraBold" pitchFamily="34" charset="0"/>
                <a:ea typeface="+mn-ea"/>
                <a:cs typeface="+mn-cs"/>
              </a:rPr>
              <a:t>IN A NUTSHELL</a:t>
            </a:r>
            <a:endParaRPr kumimoji="0" lang="en-US" sz="1600" b="0" i="0" u="none" strike="noStrike" kern="1200" cap="all"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72218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EDA22776-001D-2A8E-30E7-E4B28A9F224E}"/>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1DBD9A9F-9D9F-2A33-73F4-0F27D9EAF678}"/>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2F7B787F-8EAD-9D3F-B3AF-D1B24880FA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BF184FAD-8829-3886-3CD6-6384EE65723E}"/>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EBFE7F5C-62C1-EF5F-8318-15DA3CE2E7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15" name="TextBox 14">
            <a:extLst>
              <a:ext uri="{FF2B5EF4-FFF2-40B4-BE49-F238E27FC236}">
                <a16:creationId xmlns:a16="http://schemas.microsoft.com/office/drawing/2014/main" id="{7ADC18D2-0E8F-2B07-548B-996910E313FF}"/>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66</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21" name="Object6">
            <a:extLst>
              <a:ext uri="{FF2B5EF4-FFF2-40B4-BE49-F238E27FC236}">
                <a16:creationId xmlns:a16="http://schemas.microsoft.com/office/drawing/2014/main" id="{25E63A46-C21D-454F-82FD-A35C5DE57543}"/>
              </a:ext>
            </a:extLst>
          </p:cNvPr>
          <p:cNvSpPr/>
          <p:nvPr/>
        </p:nvSpPr>
        <p:spPr>
          <a:xfrm>
            <a:off x="668242" y="400417"/>
            <a:ext cx="2711802"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prstClr val="black">
                    <a:lumMod val="65000"/>
                    <a:lumOff val="35000"/>
                  </a:prstClr>
                </a:solidFill>
                <a:effectLst/>
                <a:uLnTx/>
                <a:uFillTx/>
                <a:latin typeface="Montserrat ExtraBold" pitchFamily="34" charset="0"/>
                <a:ea typeface="+mn-ea"/>
                <a:cs typeface="+mn-cs"/>
              </a:rPr>
              <a:t>AT A GLANCE</a:t>
            </a:r>
          </a:p>
        </p:txBody>
      </p:sp>
      <p:graphicFrame>
        <p:nvGraphicFramePr>
          <p:cNvPr id="2" name="Table 2">
            <a:extLst>
              <a:ext uri="{FF2B5EF4-FFF2-40B4-BE49-F238E27FC236}">
                <a16:creationId xmlns:a16="http://schemas.microsoft.com/office/drawing/2014/main" id="{2CDBA648-47C0-AE75-9E4B-9FF799B4C3DF}"/>
              </a:ext>
            </a:extLst>
          </p:cNvPr>
          <p:cNvGraphicFramePr>
            <a:graphicFrameLocks noGrp="1"/>
          </p:cNvGraphicFramePr>
          <p:nvPr>
            <p:extLst>
              <p:ext uri="{D42A27DB-BD31-4B8C-83A1-F6EECF244321}">
                <p14:modId xmlns:p14="http://schemas.microsoft.com/office/powerpoint/2010/main" val="3147070940"/>
              </p:ext>
            </p:extLst>
          </p:nvPr>
        </p:nvGraphicFramePr>
        <p:xfrm>
          <a:off x="668242" y="952788"/>
          <a:ext cx="8891770" cy="3291353"/>
        </p:xfrm>
        <a:graphic>
          <a:graphicData uri="http://schemas.openxmlformats.org/drawingml/2006/table">
            <a:tbl>
              <a:tblPr firstRow="1" bandRow="1">
                <a:tableStyleId>{E8034E78-7F5D-4C2E-B375-FC64B27BC917}</a:tableStyleId>
              </a:tblPr>
              <a:tblGrid>
                <a:gridCol w="3757790">
                  <a:extLst>
                    <a:ext uri="{9D8B030D-6E8A-4147-A177-3AD203B41FA5}">
                      <a16:colId xmlns:a16="http://schemas.microsoft.com/office/drawing/2014/main" val="3333839395"/>
                    </a:ext>
                  </a:extLst>
                </a:gridCol>
                <a:gridCol w="1283495">
                  <a:extLst>
                    <a:ext uri="{9D8B030D-6E8A-4147-A177-3AD203B41FA5}">
                      <a16:colId xmlns:a16="http://schemas.microsoft.com/office/drawing/2014/main" val="17572309"/>
                    </a:ext>
                  </a:extLst>
                </a:gridCol>
                <a:gridCol w="1283495">
                  <a:extLst>
                    <a:ext uri="{9D8B030D-6E8A-4147-A177-3AD203B41FA5}">
                      <a16:colId xmlns:a16="http://schemas.microsoft.com/office/drawing/2014/main" val="3563332663"/>
                    </a:ext>
                  </a:extLst>
                </a:gridCol>
                <a:gridCol w="1283495">
                  <a:extLst>
                    <a:ext uri="{9D8B030D-6E8A-4147-A177-3AD203B41FA5}">
                      <a16:colId xmlns:a16="http://schemas.microsoft.com/office/drawing/2014/main" val="2997170346"/>
                    </a:ext>
                  </a:extLst>
                </a:gridCol>
                <a:gridCol w="1283495">
                  <a:extLst>
                    <a:ext uri="{9D8B030D-6E8A-4147-A177-3AD203B41FA5}">
                      <a16:colId xmlns:a16="http://schemas.microsoft.com/office/drawing/2014/main" val="1408154836"/>
                    </a:ext>
                  </a:extLst>
                </a:gridCol>
              </a:tblGrid>
              <a:tr h="447061">
                <a:tc>
                  <a:txBody>
                    <a:bodyPr/>
                    <a:lstStyle/>
                    <a:p>
                      <a:endParaRPr lang="en-IN" sz="1300">
                        <a:latin typeface="Hepta Slab Medium" pitchFamily="2" charset="0"/>
                        <a:cs typeface="Hepta Slab Medium" pitchFamily="2" charset="0"/>
                      </a:endParaRPr>
                    </a:p>
                  </a:txBody>
                  <a:tcPr marL="60960" marR="60960" marT="30480" marB="30480">
                    <a:lnR w="3175" cap="flat" cmpd="sng" algn="ctr">
                      <a:solidFill>
                        <a:schemeClr val="bg2">
                          <a:lumMod val="75000"/>
                        </a:schemeClr>
                      </a:solidFill>
                      <a:prstDash val="lgDash"/>
                      <a:round/>
                      <a:headEnd type="none" w="med" len="med"/>
                      <a:tailEnd type="none" w="med" len="med"/>
                    </a:lnR>
                  </a:tcPr>
                </a:tc>
                <a:tc>
                  <a:txBody>
                    <a:bodyPr/>
                    <a:lstStyle/>
                    <a:p>
                      <a:pPr algn="ctr"/>
                      <a:r>
                        <a:rPr lang="en-GB" sz="1300" dirty="0">
                          <a:latin typeface="Hepta Slab Medium" pitchFamily="2" charset="0"/>
                          <a:cs typeface="Hepta Slab Medium" pitchFamily="2" charset="0"/>
                        </a:rPr>
                        <a:t>CELESTA</a:t>
                      </a:r>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pPr algn="ctr"/>
                      <a:r>
                        <a:rPr lang="en-IN" sz="1300" dirty="0">
                          <a:latin typeface="Hepta Slab Medium" pitchFamily="2" charset="0"/>
                          <a:cs typeface="Hepta Slab Medium" pitchFamily="2" charset="0"/>
                        </a:rPr>
                        <a:t>PRIVY</a:t>
                      </a: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pPr algn="ctr"/>
                      <a:r>
                        <a:rPr lang="en-IN" sz="1300" dirty="0">
                          <a:latin typeface="Hepta Slab Medium" pitchFamily="2" charset="0"/>
                          <a:cs typeface="Hepta Slab Medium" pitchFamily="2" charset="0"/>
                        </a:rPr>
                        <a:t>IMPERIA</a:t>
                      </a: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pPr algn="ctr"/>
                      <a:r>
                        <a:rPr lang="en-IN" sz="1300" dirty="0">
                          <a:latin typeface="Hepta Slab Medium" pitchFamily="2" charset="0"/>
                          <a:cs typeface="Hepta Slab Medium" pitchFamily="2" charset="0"/>
                        </a:rPr>
                        <a:t>BURGUNDY</a:t>
                      </a: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extLst>
                  <a:ext uri="{0D108BD9-81ED-4DB2-BD59-A6C34878D82A}">
                    <a16:rowId xmlns:a16="http://schemas.microsoft.com/office/drawing/2014/main" val="1055467446"/>
                  </a:ext>
                </a:extLst>
              </a:tr>
              <a:tr h="352016">
                <a:tc>
                  <a:txBody>
                    <a:bodyPr/>
                    <a:lstStyle/>
                    <a:p>
                      <a:r>
                        <a:rPr lang="en-IN" sz="1300" dirty="0">
                          <a:solidFill>
                            <a:schemeClr val="tx1"/>
                          </a:solidFill>
                          <a:latin typeface="Hepta Slab Medium" pitchFamily="2" charset="0"/>
                          <a:cs typeface="Hepta Slab Medium" pitchFamily="2" charset="0"/>
                        </a:rPr>
                        <a:t>TRANSACTION EASE</a:t>
                      </a:r>
                    </a:p>
                  </a:txBody>
                  <a:tcPr marL="60960" marR="60960" marT="30480" marB="30480" anchor="ctr">
                    <a:lnR w="3175" cap="flat" cmpd="sng" algn="ctr">
                      <a:solidFill>
                        <a:schemeClr val="bg2">
                          <a:lumMod val="75000"/>
                        </a:schemeClr>
                      </a:solidFill>
                      <a:prstDash val="lgDash"/>
                      <a:round/>
                      <a:headEnd type="none" w="med" len="med"/>
                      <a:tailEnd type="none" w="med" len="med"/>
                    </a:lnR>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extLst>
                  <a:ext uri="{0D108BD9-81ED-4DB2-BD59-A6C34878D82A}">
                    <a16:rowId xmlns:a16="http://schemas.microsoft.com/office/drawing/2014/main" val="1763562885"/>
                  </a:ext>
                </a:extLst>
              </a:tr>
              <a:tr h="447061">
                <a:tc>
                  <a:txBody>
                    <a:bodyPr/>
                    <a:lstStyle/>
                    <a:p>
                      <a:r>
                        <a:rPr lang="en-IN" sz="1300" dirty="0">
                          <a:solidFill>
                            <a:schemeClr val="tx1"/>
                          </a:solidFill>
                          <a:latin typeface="Hepta Slab Medium" pitchFamily="2" charset="0"/>
                          <a:cs typeface="Hepta Slab Medium" pitchFamily="2" charset="0"/>
                        </a:rPr>
                        <a:t>PREMIUM BANKING - AWARENESS</a:t>
                      </a:r>
                    </a:p>
                  </a:txBody>
                  <a:tcPr marL="60960" marR="60960" marT="30480" marB="30480" anchor="ctr">
                    <a:lnR w="3175" cap="flat" cmpd="sng" algn="ctr">
                      <a:solidFill>
                        <a:schemeClr val="bg2">
                          <a:lumMod val="75000"/>
                        </a:schemeClr>
                      </a:solidFill>
                      <a:prstDash val="lgDash"/>
                      <a:round/>
                      <a:headEnd type="none" w="med" len="med"/>
                      <a:tailEnd type="none" w="med" len="med"/>
                    </a:lnR>
                  </a:tcPr>
                </a:tc>
                <a:tc>
                  <a:txBody>
                    <a:bodyPr/>
                    <a:lstStyle/>
                    <a:p>
                      <a:endParaRPr lang="en-IN" sz="130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extLst>
                  <a:ext uri="{0D108BD9-81ED-4DB2-BD59-A6C34878D82A}">
                    <a16:rowId xmlns:a16="http://schemas.microsoft.com/office/drawing/2014/main" val="3259424632"/>
                  </a:ext>
                </a:extLst>
              </a:tr>
              <a:tr h="447061">
                <a:tc>
                  <a:txBody>
                    <a:bodyPr/>
                    <a:lstStyle/>
                    <a:p>
                      <a:r>
                        <a:rPr lang="en-IN" sz="1300" dirty="0">
                          <a:solidFill>
                            <a:schemeClr val="tx1"/>
                          </a:solidFill>
                          <a:latin typeface="Hepta Slab Medium" pitchFamily="2" charset="0"/>
                          <a:cs typeface="Hepta Slab Medium" pitchFamily="2" charset="0"/>
                        </a:rPr>
                        <a:t>PREMIUM BANKING - EXPERIENCE</a:t>
                      </a:r>
                    </a:p>
                  </a:txBody>
                  <a:tcPr marL="60960" marR="60960" marT="30480" marB="30480" anchor="ctr">
                    <a:lnR w="3175" cap="flat" cmpd="sng" algn="ctr">
                      <a:solidFill>
                        <a:schemeClr val="bg2">
                          <a:lumMod val="75000"/>
                        </a:schemeClr>
                      </a:solidFill>
                      <a:prstDash val="lgDash"/>
                      <a:round/>
                      <a:headEnd type="none" w="med" len="med"/>
                      <a:tailEnd type="none" w="med" len="med"/>
                    </a:lnR>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extLst>
                  <a:ext uri="{0D108BD9-81ED-4DB2-BD59-A6C34878D82A}">
                    <a16:rowId xmlns:a16="http://schemas.microsoft.com/office/drawing/2014/main" val="84250567"/>
                  </a:ext>
                </a:extLst>
              </a:tr>
              <a:tr h="447061">
                <a:tc>
                  <a:txBody>
                    <a:bodyPr/>
                    <a:lstStyle/>
                    <a:p>
                      <a:r>
                        <a:rPr lang="en-IN" sz="1300" dirty="0">
                          <a:solidFill>
                            <a:schemeClr val="tx1"/>
                          </a:solidFill>
                          <a:latin typeface="Hepta Slab Medium" pitchFamily="2" charset="0"/>
                          <a:cs typeface="Hepta Slab Medium" pitchFamily="2" charset="0"/>
                        </a:rPr>
                        <a:t>LIFESTYLE BENEFITS  - AWARENESS</a:t>
                      </a:r>
                    </a:p>
                  </a:txBody>
                  <a:tcPr marL="60960" marR="60960" marT="30480" marB="30480" anchor="ctr">
                    <a:lnR w="3175" cap="flat" cmpd="sng" algn="ctr">
                      <a:solidFill>
                        <a:schemeClr val="bg2">
                          <a:lumMod val="75000"/>
                        </a:schemeClr>
                      </a:solidFill>
                      <a:prstDash val="lgDash"/>
                      <a:round/>
                      <a:headEnd type="none" w="med" len="med"/>
                      <a:tailEnd type="none" w="med" len="med"/>
                    </a:lnR>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extLst>
                  <a:ext uri="{0D108BD9-81ED-4DB2-BD59-A6C34878D82A}">
                    <a16:rowId xmlns:a16="http://schemas.microsoft.com/office/drawing/2014/main" val="1109023475"/>
                  </a:ext>
                </a:extLst>
              </a:tr>
              <a:tr h="447061">
                <a:tc>
                  <a:txBody>
                    <a:bodyPr/>
                    <a:lstStyle/>
                    <a:p>
                      <a:r>
                        <a:rPr lang="en-IN" sz="1300" dirty="0">
                          <a:solidFill>
                            <a:schemeClr val="tx1"/>
                          </a:solidFill>
                          <a:latin typeface="Hepta Slab Medium" pitchFamily="2" charset="0"/>
                          <a:cs typeface="Hepta Slab Medium" pitchFamily="2" charset="0"/>
                        </a:rPr>
                        <a:t>LIFESTYLE BENEFITS - EXPERIENCE</a:t>
                      </a:r>
                    </a:p>
                  </a:txBody>
                  <a:tcPr marL="60960" marR="60960" marT="30480" marB="30480" anchor="ctr">
                    <a:lnR w="3175" cap="flat" cmpd="sng" algn="ctr">
                      <a:solidFill>
                        <a:schemeClr val="bg2">
                          <a:lumMod val="75000"/>
                        </a:schemeClr>
                      </a:solidFill>
                      <a:prstDash val="lgDash"/>
                      <a:round/>
                      <a:headEnd type="none" w="med" len="med"/>
                      <a:tailEnd type="none" w="med" len="med"/>
                    </a:lnR>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extLst>
                  <a:ext uri="{0D108BD9-81ED-4DB2-BD59-A6C34878D82A}">
                    <a16:rowId xmlns:a16="http://schemas.microsoft.com/office/drawing/2014/main" val="3046579335"/>
                  </a:ext>
                </a:extLst>
              </a:tr>
              <a:tr h="352016">
                <a:tc>
                  <a:txBody>
                    <a:bodyPr/>
                    <a:lstStyle/>
                    <a:p>
                      <a:r>
                        <a:rPr lang="en-IN" sz="1300" dirty="0">
                          <a:solidFill>
                            <a:schemeClr val="tx1"/>
                          </a:solidFill>
                          <a:latin typeface="Hepta Slab Medium" pitchFamily="2" charset="0"/>
                          <a:cs typeface="Hepta Slab Medium" pitchFamily="2" charset="0"/>
                        </a:rPr>
                        <a:t>RELATIONSHIP MANAGER</a:t>
                      </a:r>
                    </a:p>
                  </a:txBody>
                  <a:tcPr marL="60960" marR="60960" marT="30480" marB="30480" anchor="ctr">
                    <a:lnR w="3175" cap="flat" cmpd="sng" algn="ctr">
                      <a:solidFill>
                        <a:schemeClr val="bg2">
                          <a:lumMod val="75000"/>
                        </a:schemeClr>
                      </a:solidFill>
                      <a:prstDash val="lgDash"/>
                      <a:round/>
                      <a:headEnd type="none" w="med" len="med"/>
                      <a:tailEnd type="none" w="med" len="med"/>
                    </a:lnR>
                  </a:tcPr>
                </a:tc>
                <a:tc>
                  <a:txBody>
                    <a:bodyPr/>
                    <a:lstStyle/>
                    <a:p>
                      <a:endParaRPr lang="en-IN" sz="130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extLst>
                  <a:ext uri="{0D108BD9-81ED-4DB2-BD59-A6C34878D82A}">
                    <a16:rowId xmlns:a16="http://schemas.microsoft.com/office/drawing/2014/main" val="3630403378"/>
                  </a:ext>
                </a:extLst>
              </a:tr>
              <a:tr h="352016">
                <a:tc>
                  <a:txBody>
                    <a:bodyPr/>
                    <a:lstStyle/>
                    <a:p>
                      <a:r>
                        <a:rPr lang="en-IN" sz="1300" dirty="0">
                          <a:solidFill>
                            <a:schemeClr val="tx1"/>
                          </a:solidFill>
                          <a:latin typeface="Hepta Slab Medium" pitchFamily="2" charset="0"/>
                          <a:cs typeface="Hepta Slab Medium" pitchFamily="2" charset="0"/>
                        </a:rPr>
                        <a:t>SERVICE &amp; SUPPORT</a:t>
                      </a:r>
                    </a:p>
                  </a:txBody>
                  <a:tcPr marL="60960" marR="60960" marT="30480" marB="30480" anchor="ctr">
                    <a:lnR w="3175" cap="flat" cmpd="sng" algn="ctr">
                      <a:solidFill>
                        <a:schemeClr val="bg2">
                          <a:lumMod val="75000"/>
                        </a:schemeClr>
                      </a:solidFill>
                      <a:prstDash val="lgDash"/>
                      <a:round/>
                      <a:headEnd type="none" w="med" len="med"/>
                      <a:tailEnd type="none" w="med" len="med"/>
                    </a:lnR>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tc>
                  <a:txBody>
                    <a:bodyPr/>
                    <a:lstStyle/>
                    <a:p>
                      <a:endParaRPr lang="en-IN" sz="1300" dirty="0">
                        <a:latin typeface="Hepta Slab Medium" pitchFamily="2" charset="0"/>
                        <a:cs typeface="Hepta Slab Medium" pitchFamily="2" charset="0"/>
                      </a:endParaRPr>
                    </a:p>
                  </a:txBody>
                  <a:tcPr marL="60960" marR="60960" marT="30480" marB="30480" anchor="ctr">
                    <a:lnL w="3175" cap="flat" cmpd="sng" algn="ctr">
                      <a:solidFill>
                        <a:schemeClr val="bg2">
                          <a:lumMod val="75000"/>
                        </a:schemeClr>
                      </a:solidFill>
                      <a:prstDash val="lgDash"/>
                      <a:round/>
                      <a:headEnd type="none" w="med" len="med"/>
                      <a:tailEnd type="none" w="med" len="med"/>
                    </a:lnL>
                    <a:lnR w="3175" cap="flat" cmpd="sng" algn="ctr">
                      <a:solidFill>
                        <a:schemeClr val="bg2">
                          <a:lumMod val="75000"/>
                        </a:schemeClr>
                      </a:solidFill>
                      <a:prstDash val="lgDash"/>
                      <a:round/>
                      <a:headEnd type="none" w="med" len="med"/>
                      <a:tailEnd type="none" w="med" len="med"/>
                    </a:lnR>
                    <a:lnT w="3175" cap="flat" cmpd="sng" algn="ctr">
                      <a:solidFill>
                        <a:schemeClr val="bg2">
                          <a:lumMod val="75000"/>
                        </a:schemeClr>
                      </a:solidFill>
                      <a:prstDash val="lgDash"/>
                      <a:round/>
                      <a:headEnd type="none" w="med" len="med"/>
                      <a:tailEnd type="none" w="med" len="med"/>
                    </a:lnT>
                    <a:lnB w="3175" cap="flat" cmpd="sng" algn="ctr">
                      <a:solidFill>
                        <a:schemeClr val="bg2">
                          <a:lumMod val="75000"/>
                        </a:schemeClr>
                      </a:solidFill>
                      <a:prstDash val="lgDash"/>
                      <a:round/>
                      <a:headEnd type="none" w="med" len="med"/>
                      <a:tailEnd type="none" w="med" len="med"/>
                    </a:lnB>
                  </a:tcPr>
                </a:tc>
                <a:extLst>
                  <a:ext uri="{0D108BD9-81ED-4DB2-BD59-A6C34878D82A}">
                    <a16:rowId xmlns:a16="http://schemas.microsoft.com/office/drawing/2014/main" val="2520400611"/>
                  </a:ext>
                </a:extLst>
              </a:tr>
            </a:tbl>
          </a:graphicData>
        </a:graphic>
      </p:graphicFrame>
      <p:pic>
        <p:nvPicPr>
          <p:cNvPr id="4" name="Graphic 3" descr="Thumbs up sign with solid fill">
            <a:extLst>
              <a:ext uri="{FF2B5EF4-FFF2-40B4-BE49-F238E27FC236}">
                <a16:creationId xmlns:a16="http://schemas.microsoft.com/office/drawing/2014/main" id="{133D56DE-3660-2CF0-04E4-D2A0996789F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06886" y="1367228"/>
            <a:ext cx="360000" cy="360000"/>
          </a:xfrm>
          <a:prstGeom prst="rect">
            <a:avLst/>
          </a:prstGeom>
        </p:spPr>
      </p:pic>
      <p:pic>
        <p:nvPicPr>
          <p:cNvPr id="27" name="Graphic 26" descr="Thumbs up sign with solid fill">
            <a:extLst>
              <a:ext uri="{FF2B5EF4-FFF2-40B4-BE49-F238E27FC236}">
                <a16:creationId xmlns:a16="http://schemas.microsoft.com/office/drawing/2014/main" id="{75C01FFD-8185-9DBA-AB37-0A5339D105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51869" y="1777074"/>
            <a:ext cx="360000" cy="360000"/>
          </a:xfrm>
          <a:prstGeom prst="rect">
            <a:avLst/>
          </a:prstGeom>
        </p:spPr>
      </p:pic>
      <p:pic>
        <p:nvPicPr>
          <p:cNvPr id="28" name="Graphic 27" descr="Thumbs up sign with solid fill">
            <a:extLst>
              <a:ext uri="{FF2B5EF4-FFF2-40B4-BE49-F238E27FC236}">
                <a16:creationId xmlns:a16="http://schemas.microsoft.com/office/drawing/2014/main" id="{24DDC728-104F-26FE-E0D2-032C4472684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51869" y="2251034"/>
            <a:ext cx="360000" cy="360000"/>
          </a:xfrm>
          <a:prstGeom prst="rect">
            <a:avLst/>
          </a:prstGeom>
        </p:spPr>
      </p:pic>
      <p:pic>
        <p:nvPicPr>
          <p:cNvPr id="30" name="Graphic 29" descr="Thumbs up sign with solid fill">
            <a:extLst>
              <a:ext uri="{FF2B5EF4-FFF2-40B4-BE49-F238E27FC236}">
                <a16:creationId xmlns:a16="http://schemas.microsoft.com/office/drawing/2014/main" id="{0399C8FD-A0B6-ACA9-DEF6-B7F15704B8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9863" y="1803793"/>
            <a:ext cx="360000" cy="360000"/>
          </a:xfrm>
          <a:prstGeom prst="rect">
            <a:avLst/>
          </a:prstGeom>
        </p:spPr>
      </p:pic>
      <p:pic>
        <p:nvPicPr>
          <p:cNvPr id="31" name="Graphic 30" descr="Thumbs up sign with solid fill">
            <a:extLst>
              <a:ext uri="{FF2B5EF4-FFF2-40B4-BE49-F238E27FC236}">
                <a16:creationId xmlns:a16="http://schemas.microsoft.com/office/drawing/2014/main" id="{FCFB588C-155C-A29B-583A-E73CCEC29D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9863" y="2152907"/>
            <a:ext cx="360000" cy="360000"/>
          </a:xfrm>
          <a:prstGeom prst="rect">
            <a:avLst/>
          </a:prstGeom>
        </p:spPr>
      </p:pic>
      <p:pic>
        <p:nvPicPr>
          <p:cNvPr id="34" name="Graphic 33" descr="Thumbs up sign with solid fill">
            <a:extLst>
              <a:ext uri="{FF2B5EF4-FFF2-40B4-BE49-F238E27FC236}">
                <a16:creationId xmlns:a16="http://schemas.microsoft.com/office/drawing/2014/main" id="{526D1961-4231-0C00-3FBE-4C255C37EF9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747607" y="3130819"/>
            <a:ext cx="360000" cy="360000"/>
          </a:xfrm>
          <a:prstGeom prst="rect">
            <a:avLst/>
          </a:prstGeom>
        </p:spPr>
      </p:pic>
      <p:pic>
        <p:nvPicPr>
          <p:cNvPr id="35" name="Graphic 34" descr="Thumbs up sign with solid fill">
            <a:extLst>
              <a:ext uri="{FF2B5EF4-FFF2-40B4-BE49-F238E27FC236}">
                <a16:creationId xmlns:a16="http://schemas.microsoft.com/office/drawing/2014/main" id="{C10F7F76-5FA9-499F-53FC-A184F2B9BDA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79863" y="3551139"/>
            <a:ext cx="360000" cy="360000"/>
          </a:xfrm>
          <a:prstGeom prst="rect">
            <a:avLst/>
          </a:prstGeom>
        </p:spPr>
      </p:pic>
      <p:pic>
        <p:nvPicPr>
          <p:cNvPr id="36" name="Graphic 35" descr="Thumbs up sign with solid fill">
            <a:extLst>
              <a:ext uri="{FF2B5EF4-FFF2-40B4-BE49-F238E27FC236}">
                <a16:creationId xmlns:a16="http://schemas.microsoft.com/office/drawing/2014/main" id="{6E27FA46-263F-411F-4A36-CCBFCC5F05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52994" y="3499627"/>
            <a:ext cx="360000" cy="360000"/>
          </a:xfrm>
          <a:prstGeom prst="rect">
            <a:avLst/>
          </a:prstGeom>
        </p:spPr>
      </p:pic>
      <p:sp>
        <p:nvSpPr>
          <p:cNvPr id="22" name="TextBox 21">
            <a:extLst>
              <a:ext uri="{FF2B5EF4-FFF2-40B4-BE49-F238E27FC236}">
                <a16:creationId xmlns:a16="http://schemas.microsoft.com/office/drawing/2014/main" id="{E1E5A240-0BFD-4356-802C-0B1E0BC58533}"/>
              </a:ext>
            </a:extLst>
          </p:cNvPr>
          <p:cNvSpPr txBox="1"/>
          <p:nvPr/>
        </p:nvSpPr>
        <p:spPr>
          <a:xfrm>
            <a:off x="668241" y="4389000"/>
            <a:ext cx="8891769" cy="1515415"/>
          </a:xfrm>
          <a:prstGeom prst="rect">
            <a:avLst/>
          </a:prstGeom>
          <a:noFill/>
        </p:spPr>
        <p:txBody>
          <a:bodyPr wrap="square">
            <a:spAutoFit/>
          </a:bodyPr>
          <a:lstStyle/>
          <a:p>
            <a:pPr marL="0" marR="0" lvl="0" indent="0" algn="l" defTabSz="304815" rtl="0" eaLnBrk="1" fontAlgn="auto" latinLnBrk="0" hangingPunct="1">
              <a:lnSpc>
                <a:spcPct val="150000"/>
              </a:lnSpc>
              <a:spcBef>
                <a:spcPts val="0"/>
              </a:spcBef>
              <a:spcAft>
                <a:spcPts val="0"/>
              </a:spcAft>
              <a:buClrTx/>
              <a:buSzTx/>
              <a:buFontTx/>
              <a:buNone/>
              <a:tabLst/>
              <a:defRPr/>
            </a:pPr>
            <a:r>
              <a:rPr kumimoji="0" lang="en-IN" sz="2133" b="0" i="0" u="none" strike="noStrike" kern="1200" cap="none" spc="0" normalizeH="0" baseline="0" noProof="0" dirty="0">
                <a:ln>
                  <a:noFill/>
                </a:ln>
                <a:solidFill>
                  <a:prstClr val="black">
                    <a:lumMod val="50000"/>
                    <a:lumOff val="50000"/>
                  </a:prstClr>
                </a:solidFill>
                <a:effectLst/>
                <a:uLnTx/>
                <a:uFillTx/>
                <a:latin typeface="Hepta Slab Medium" pitchFamily="2" charset="0"/>
                <a:ea typeface="+mn-ea"/>
                <a:cs typeface="Hepta Slab Medium" pitchFamily="2" charset="0"/>
              </a:rPr>
              <a:t>Customers who bank only with Celesta and have no other banking relationship are happier with Celesta. However, this could be a function of expectation rationalisation</a:t>
            </a:r>
          </a:p>
        </p:txBody>
      </p:sp>
      <p:pic>
        <p:nvPicPr>
          <p:cNvPr id="24" name="Graphic 23" descr="Lock with solid fill">
            <a:extLst>
              <a:ext uri="{FF2B5EF4-FFF2-40B4-BE49-F238E27FC236}">
                <a16:creationId xmlns:a16="http://schemas.microsoft.com/office/drawing/2014/main" id="{A2532B48-E2B5-44CA-6E6A-E9F6470493B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496000" y="771892"/>
            <a:ext cx="600000" cy="600000"/>
          </a:xfrm>
          <a:prstGeom prst="rect">
            <a:avLst/>
          </a:prstGeom>
        </p:spPr>
      </p:pic>
      <p:pic>
        <p:nvPicPr>
          <p:cNvPr id="25" name="Graphic 24" descr="Money with solid fill">
            <a:extLst>
              <a:ext uri="{FF2B5EF4-FFF2-40B4-BE49-F238E27FC236}">
                <a16:creationId xmlns:a16="http://schemas.microsoft.com/office/drawing/2014/main" id="{81B23DCE-1725-314B-7573-8B8E5B3F0CB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496000" y="1605174"/>
            <a:ext cx="600000" cy="600000"/>
          </a:xfrm>
          <a:prstGeom prst="rect">
            <a:avLst/>
          </a:prstGeom>
        </p:spPr>
      </p:pic>
      <p:pic>
        <p:nvPicPr>
          <p:cNvPr id="26" name="Graphic 25" descr="Diamond with solid fill">
            <a:extLst>
              <a:ext uri="{FF2B5EF4-FFF2-40B4-BE49-F238E27FC236}">
                <a16:creationId xmlns:a16="http://schemas.microsoft.com/office/drawing/2014/main" id="{5AD8DE66-375B-67FC-3038-A1B9A61859E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496000" y="2691892"/>
            <a:ext cx="600000" cy="600000"/>
          </a:xfrm>
          <a:prstGeom prst="rect">
            <a:avLst/>
          </a:prstGeom>
        </p:spPr>
      </p:pic>
      <p:pic>
        <p:nvPicPr>
          <p:cNvPr id="29" name="Graphic 28" descr="Fairy male with solid fill">
            <a:extLst>
              <a:ext uri="{FF2B5EF4-FFF2-40B4-BE49-F238E27FC236}">
                <a16:creationId xmlns:a16="http://schemas.microsoft.com/office/drawing/2014/main" id="{608D7A28-02D9-F5A7-AE7A-D3CA1554873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496000" y="3691759"/>
            <a:ext cx="600000" cy="600000"/>
          </a:xfrm>
          <a:prstGeom prst="rect">
            <a:avLst/>
          </a:prstGeom>
        </p:spPr>
      </p:pic>
      <p:pic>
        <p:nvPicPr>
          <p:cNvPr id="37" name="Graphic 36" descr="Care with solid fill">
            <a:extLst>
              <a:ext uri="{FF2B5EF4-FFF2-40B4-BE49-F238E27FC236}">
                <a16:creationId xmlns:a16="http://schemas.microsoft.com/office/drawing/2014/main" id="{B06B8E21-198E-1235-ADBB-4D5E096AA88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496000" y="4629000"/>
            <a:ext cx="600000" cy="600000"/>
          </a:xfrm>
          <a:prstGeom prst="rect">
            <a:avLst/>
          </a:prstGeom>
        </p:spPr>
      </p:pic>
      <p:pic>
        <p:nvPicPr>
          <p:cNvPr id="3" name="Picture 2">
            <a:extLst>
              <a:ext uri="{FF2B5EF4-FFF2-40B4-BE49-F238E27FC236}">
                <a16:creationId xmlns:a16="http://schemas.microsoft.com/office/drawing/2014/main" id="{DFDDC500-9273-2FF9-43B9-CEB29D67BC40}"/>
              </a:ext>
            </a:extLst>
          </p:cNvPr>
          <p:cNvPicPr>
            <a:picLocks noChangeAspect="1"/>
          </p:cNvPicPr>
          <p:nvPr/>
        </p:nvPicPr>
        <p:blipFill>
          <a:blip r:embed="rId19">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pic>
        <p:nvPicPr>
          <p:cNvPr id="5" name="Graphic 4" descr="Thumbs up sign with solid fill">
            <a:extLst>
              <a:ext uri="{FF2B5EF4-FFF2-40B4-BE49-F238E27FC236}">
                <a16:creationId xmlns:a16="http://schemas.microsoft.com/office/drawing/2014/main" id="{044D6DEC-61E7-CA34-8998-BC2DBC0826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52994" y="3911139"/>
            <a:ext cx="360000" cy="360000"/>
          </a:xfrm>
          <a:prstGeom prst="rect">
            <a:avLst/>
          </a:prstGeom>
        </p:spPr>
      </p:pic>
      <p:pic>
        <p:nvPicPr>
          <p:cNvPr id="6" name="Graphic 5" descr="Thumbs up sign with solid fill">
            <a:extLst>
              <a:ext uri="{FF2B5EF4-FFF2-40B4-BE49-F238E27FC236}">
                <a16:creationId xmlns:a16="http://schemas.microsoft.com/office/drawing/2014/main" id="{006352BB-4342-7B73-B13E-1BBDB663D07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9863" y="2652803"/>
            <a:ext cx="360000" cy="360000"/>
          </a:xfrm>
          <a:prstGeom prst="rect">
            <a:avLst/>
          </a:prstGeom>
        </p:spPr>
      </p:pic>
      <p:pic>
        <p:nvPicPr>
          <p:cNvPr id="7" name="Graphic 6" descr="Thumbs up sign with solid fill">
            <a:extLst>
              <a:ext uri="{FF2B5EF4-FFF2-40B4-BE49-F238E27FC236}">
                <a16:creationId xmlns:a16="http://schemas.microsoft.com/office/drawing/2014/main" id="{81CAA6EE-FDCD-2E30-CBAA-AD07BAF2479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9863" y="3130819"/>
            <a:ext cx="360000" cy="360000"/>
          </a:xfrm>
          <a:prstGeom prst="rect">
            <a:avLst/>
          </a:prstGeom>
        </p:spPr>
      </p:pic>
    </p:spTree>
    <p:extLst>
      <p:ext uri="{BB962C8B-B14F-4D97-AF65-F5344CB8AC3E}">
        <p14:creationId xmlns:p14="http://schemas.microsoft.com/office/powerpoint/2010/main" val="24280184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a:extLst>
            <a:ext uri="{FF2B5EF4-FFF2-40B4-BE49-F238E27FC236}">
              <a16:creationId xmlns:a16="http://schemas.microsoft.com/office/drawing/2014/main" id="{AA8EF1F1-EB9E-266D-6627-8AAB532AE59A}"/>
            </a:ext>
          </a:extLst>
        </p:cNvPr>
        <p:cNvGrpSpPr/>
        <p:nvPr/>
      </p:nvGrpSpPr>
      <p:grpSpPr>
        <a:xfrm>
          <a:off x="0" y="0"/>
          <a:ext cx="0" cy="0"/>
          <a:chOff x="0" y="0"/>
          <a:chExt cx="0" cy="0"/>
        </a:xfrm>
      </p:grpSpPr>
      <p:sp>
        <p:nvSpPr>
          <p:cNvPr id="8" name="Object4">
            <a:extLst>
              <a:ext uri="{FF2B5EF4-FFF2-40B4-BE49-F238E27FC236}">
                <a16:creationId xmlns:a16="http://schemas.microsoft.com/office/drawing/2014/main" id="{8F0E5FC1-C3EC-D63C-0CF6-3F0AABFAA30D}"/>
              </a:ext>
            </a:extLst>
          </p:cNvPr>
          <p:cNvSpPr/>
          <p:nvPr/>
        </p:nvSpPr>
        <p:spPr>
          <a:xfrm>
            <a:off x="816000" y="2821291"/>
            <a:ext cx="3840000" cy="720000"/>
          </a:xfrm>
          <a:prstGeom prst="rect">
            <a:avLst/>
          </a:prstGeom>
          <a:noFill/>
          <a:ln/>
        </p:spPr>
        <p:txBody>
          <a:bodyPr wrap="square" lIns="0" tIns="0" rIns="0" bIns="0" rtlCol="0" anchor="t"/>
          <a:lstStyle/>
          <a:p>
            <a:pPr marL="0" marR="0" lvl="0" indent="0" algn="l" defTabSz="304815" rtl="0" eaLnBrk="1" fontAlgn="auto" latinLnBrk="0" hangingPunct="1">
              <a:lnSpc>
                <a:spcPts val="72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5F3E4"/>
                </a:solidFill>
                <a:effectLst/>
                <a:uLnTx/>
                <a:uFillTx/>
                <a:latin typeface="Hepta Slab Bold" pitchFamily="34" charset="0"/>
                <a:ea typeface="Hepta Slab Bold" pitchFamily="34" charset="-122"/>
                <a:cs typeface="Hepta Slab Bold" pitchFamily="34" charset="-120"/>
              </a:rPr>
              <a:t>Sense Making</a:t>
            </a:r>
            <a:endParaRPr kumimoji="0" lang="en-US" sz="3200" b="0" i="0" u="none" strike="noStrike" kern="1200" cap="none" spc="0" normalizeH="0" baseline="0" noProof="0" dirty="0">
              <a:ln>
                <a:noFill/>
              </a:ln>
              <a:solidFill>
                <a:srgbClr val="F5F3E4"/>
              </a:solidFill>
              <a:effectLst/>
              <a:uLnTx/>
              <a:uFillTx/>
              <a:latin typeface="Calibri" panose="020F0502020204030204"/>
              <a:ea typeface="+mn-ea"/>
              <a:cs typeface="+mn-cs"/>
            </a:endParaRPr>
          </a:p>
        </p:txBody>
      </p:sp>
      <p:sp>
        <p:nvSpPr>
          <p:cNvPr id="9" name="Object6">
            <a:extLst>
              <a:ext uri="{FF2B5EF4-FFF2-40B4-BE49-F238E27FC236}">
                <a16:creationId xmlns:a16="http://schemas.microsoft.com/office/drawing/2014/main" id="{37CE8E3E-3304-7197-A596-CDEAE2C5ACB8}"/>
              </a:ext>
            </a:extLst>
          </p:cNvPr>
          <p:cNvSpPr/>
          <p:nvPr/>
        </p:nvSpPr>
        <p:spPr>
          <a:xfrm>
            <a:off x="819840" y="669001"/>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F5F3E4"/>
                </a:solidFill>
                <a:effectLst/>
                <a:uLnTx/>
                <a:uFillTx/>
                <a:latin typeface="Montserrat ExtraBold" pitchFamily="34" charset="0"/>
                <a:ea typeface="Montserrat ExtraBold" pitchFamily="34" charset="-122"/>
                <a:cs typeface="Montserrat ExtraBold" pitchFamily="34" charset="-120"/>
              </a:rPr>
              <a:t>Key takeaways</a:t>
            </a:r>
            <a:endParaRPr kumimoji="0" lang="en-US" sz="1600" b="0" i="0" u="none" strike="noStrike" kern="1200" cap="all" spc="0" normalizeH="0" baseline="0" noProof="0" dirty="0">
              <a:ln>
                <a:noFill/>
              </a:ln>
              <a:solidFill>
                <a:srgbClr val="F5F3E4"/>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2EAE9C3B-4603-9AA2-20EA-06DEDF8FFFA0}"/>
              </a:ext>
            </a:extLst>
          </p:cNvPr>
          <p:cNvGrpSpPr/>
          <p:nvPr/>
        </p:nvGrpSpPr>
        <p:grpSpPr>
          <a:xfrm>
            <a:off x="1" y="6042107"/>
            <a:ext cx="11864037" cy="911852"/>
            <a:chOff x="579560" y="9184073"/>
            <a:chExt cx="18133625" cy="1393723"/>
          </a:xfrm>
        </p:grpSpPr>
        <p:sp>
          <p:nvSpPr>
            <p:cNvPr id="11" name="Title 1">
              <a:extLst>
                <a:ext uri="{FF2B5EF4-FFF2-40B4-BE49-F238E27FC236}">
                  <a16:creationId xmlns:a16="http://schemas.microsoft.com/office/drawing/2014/main" id="{D31F1FB5-C15C-522E-DAE0-DC5E98F0C66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2" name="Picture 11">
              <a:extLst>
                <a:ext uri="{FF2B5EF4-FFF2-40B4-BE49-F238E27FC236}">
                  <a16:creationId xmlns:a16="http://schemas.microsoft.com/office/drawing/2014/main" id="{662F802D-78A5-D1D7-182C-608FE0CF0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3" name="Picture 12">
              <a:extLst>
                <a:ext uri="{FF2B5EF4-FFF2-40B4-BE49-F238E27FC236}">
                  <a16:creationId xmlns:a16="http://schemas.microsoft.com/office/drawing/2014/main" id="{80514152-33A2-3B42-2ABE-468E50ECE8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2" name="TextBox 1">
            <a:extLst>
              <a:ext uri="{FF2B5EF4-FFF2-40B4-BE49-F238E27FC236}">
                <a16:creationId xmlns:a16="http://schemas.microsoft.com/office/drawing/2014/main" id="{4C48DD22-38FA-3C0C-A033-B654D8F51BA4}"/>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chemeClr val="bg2"/>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67</a:t>
            </a:fld>
            <a:endParaRPr kumimoji="0" lang="en-US" sz="1333" b="0" i="0" u="none" strike="noStrike" kern="1200" cap="none" spc="0" normalizeH="0" baseline="0" noProof="0" dirty="0">
              <a:ln>
                <a:noFill/>
              </a:ln>
              <a:solidFill>
                <a:schemeClr val="bg2"/>
              </a:solidFill>
              <a:effectLst/>
              <a:uLnTx/>
              <a:uFillTx/>
              <a:latin typeface="Hepta Slab Medium" pitchFamily="2" charset="0"/>
              <a:ea typeface="+mn-ea"/>
              <a:cs typeface="Hepta Slab Medium" pitchFamily="2" charset="0"/>
            </a:endParaRPr>
          </a:p>
        </p:txBody>
      </p:sp>
      <p:sp>
        <p:nvSpPr>
          <p:cNvPr id="3" name="Object6">
            <a:extLst>
              <a:ext uri="{FF2B5EF4-FFF2-40B4-BE49-F238E27FC236}">
                <a16:creationId xmlns:a16="http://schemas.microsoft.com/office/drawing/2014/main" id="{3B2CCB61-93EC-34DE-0E0B-D40B18BC260F}"/>
              </a:ext>
            </a:extLst>
          </p:cNvPr>
          <p:cNvSpPr/>
          <p:nvPr/>
        </p:nvSpPr>
        <p:spPr>
          <a:xfrm>
            <a:off x="819839" y="3669376"/>
            <a:ext cx="6600135"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F5F3E4"/>
                </a:solidFill>
                <a:effectLst/>
                <a:uLnTx/>
                <a:uFillTx/>
                <a:latin typeface="Montserrat ExtraBold" pitchFamily="34" charset="0"/>
                <a:ea typeface="Montserrat ExtraBold" pitchFamily="34" charset="-122"/>
                <a:cs typeface="Montserrat ExtraBold" pitchFamily="34" charset="-120"/>
              </a:rPr>
              <a:t>Terragni’s multi-disciplinary insights engine</a:t>
            </a:r>
            <a:endParaRPr kumimoji="0" lang="en-US" sz="1600" b="0" i="0" u="none" strike="noStrike" kern="1200" cap="all" spc="0" normalizeH="0" baseline="0" noProof="0" dirty="0">
              <a:ln>
                <a:noFill/>
              </a:ln>
              <a:solidFill>
                <a:srgbClr val="F5F3E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80193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a:extLst>
            <a:ext uri="{FF2B5EF4-FFF2-40B4-BE49-F238E27FC236}">
              <a16:creationId xmlns:a16="http://schemas.microsoft.com/office/drawing/2014/main" id="{D2D59B53-4FE5-7C9D-B314-9BAE599A8C03}"/>
            </a:ext>
          </a:extLst>
        </p:cNvPr>
        <p:cNvGrpSpPr/>
        <p:nvPr/>
      </p:nvGrpSpPr>
      <p:grpSpPr>
        <a:xfrm>
          <a:off x="0" y="0"/>
          <a:ext cx="0" cy="0"/>
          <a:chOff x="0" y="0"/>
          <a:chExt cx="0" cy="0"/>
        </a:xfrm>
      </p:grpSpPr>
      <p:sp>
        <p:nvSpPr>
          <p:cNvPr id="9" name="Object6">
            <a:extLst>
              <a:ext uri="{FF2B5EF4-FFF2-40B4-BE49-F238E27FC236}">
                <a16:creationId xmlns:a16="http://schemas.microsoft.com/office/drawing/2014/main" id="{D2738B67-5E03-D1AA-2611-AE2DD3DCC4A6}"/>
              </a:ext>
            </a:extLst>
          </p:cNvPr>
          <p:cNvSpPr/>
          <p:nvPr/>
        </p:nvSpPr>
        <p:spPr>
          <a:xfrm>
            <a:off x="819840" y="592801"/>
            <a:ext cx="263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F5F3E4"/>
                </a:solidFill>
                <a:effectLst/>
                <a:uLnTx/>
                <a:uFillTx/>
                <a:latin typeface="Montserrat ExtraBold" pitchFamily="34" charset="0"/>
                <a:ea typeface="Montserrat ExtraBold" pitchFamily="34" charset="-122"/>
                <a:cs typeface="Montserrat ExtraBold" pitchFamily="34" charset="-120"/>
              </a:rPr>
              <a:t>Key takeaways</a:t>
            </a:r>
            <a:endParaRPr kumimoji="0" lang="en-US" sz="1600" b="0" i="0" u="none" strike="noStrike" kern="1200" cap="all" spc="0" normalizeH="0" baseline="0" noProof="0" dirty="0">
              <a:ln>
                <a:noFill/>
              </a:ln>
              <a:solidFill>
                <a:srgbClr val="F5F3E4"/>
              </a:solidFill>
              <a:effectLst/>
              <a:uLnTx/>
              <a:uFillTx/>
              <a:latin typeface="Calibri" panose="020F0502020204030204"/>
              <a:ea typeface="+mn-ea"/>
              <a:cs typeface="+mn-cs"/>
            </a:endParaRPr>
          </a:p>
        </p:txBody>
      </p:sp>
      <p:sp>
        <p:nvSpPr>
          <p:cNvPr id="10" name="Object5">
            <a:extLst>
              <a:ext uri="{FF2B5EF4-FFF2-40B4-BE49-F238E27FC236}">
                <a16:creationId xmlns:a16="http://schemas.microsoft.com/office/drawing/2014/main" id="{941A80C5-2BA1-5611-A170-71881EF6646F}"/>
              </a:ext>
            </a:extLst>
          </p:cNvPr>
          <p:cNvSpPr/>
          <p:nvPr/>
        </p:nvSpPr>
        <p:spPr>
          <a:xfrm>
            <a:off x="766800" y="3048402"/>
            <a:ext cx="3148868" cy="275957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600" b="0" i="0" u="none" strike="noStrike" kern="1200" cap="all" spc="0" normalizeH="0" baseline="0" noProof="0" dirty="0">
                <a:ln>
                  <a:noFill/>
                </a:ln>
                <a:solidFill>
                  <a:srgbClr val="F5F3E4"/>
                </a:solidFill>
                <a:effectLst/>
                <a:uLnTx/>
                <a:uFillTx/>
                <a:latin typeface="Montserrat ExtraBold" pitchFamily="34" charset="0"/>
                <a:ea typeface="+mn-ea"/>
                <a:cs typeface="+mn-cs"/>
              </a:rPr>
              <a:t>STRENGTHS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Seen as</a:t>
            </a:r>
          </a:p>
          <a:p>
            <a:pPr marL="304815" marR="0" lvl="1" indent="0" algn="l" defTabSz="30481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Safe</a:t>
            </a:r>
          </a:p>
          <a:p>
            <a:pPr marL="304815" marR="0" lvl="1" indent="0" algn="l" defTabSz="30481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High on integrity</a:t>
            </a:r>
          </a:p>
          <a:p>
            <a:pPr marL="304815" marR="0" lvl="1"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High on stability</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‘Home brand/Family brand’ a strong emotional connect driver  </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Robust industry leading digital infrastructure</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Good place to put in money – take out money</a:t>
            </a:r>
          </a:p>
        </p:txBody>
      </p:sp>
      <p:grpSp>
        <p:nvGrpSpPr>
          <p:cNvPr id="14" name="Group 13">
            <a:extLst>
              <a:ext uri="{FF2B5EF4-FFF2-40B4-BE49-F238E27FC236}">
                <a16:creationId xmlns:a16="http://schemas.microsoft.com/office/drawing/2014/main" id="{1F12B089-5895-EEAF-08BF-1FD118C2F412}"/>
              </a:ext>
            </a:extLst>
          </p:cNvPr>
          <p:cNvGrpSpPr/>
          <p:nvPr/>
        </p:nvGrpSpPr>
        <p:grpSpPr>
          <a:xfrm>
            <a:off x="1" y="6042107"/>
            <a:ext cx="11864037" cy="911852"/>
            <a:chOff x="579560" y="9184073"/>
            <a:chExt cx="18133625" cy="1393723"/>
          </a:xfrm>
        </p:grpSpPr>
        <p:sp>
          <p:nvSpPr>
            <p:cNvPr id="17" name="Title 1">
              <a:extLst>
                <a:ext uri="{FF2B5EF4-FFF2-40B4-BE49-F238E27FC236}">
                  <a16:creationId xmlns:a16="http://schemas.microsoft.com/office/drawing/2014/main" id="{F2F49F83-2234-9813-27D5-19CB143D6E91}"/>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20" name="Picture 19">
              <a:extLst>
                <a:ext uri="{FF2B5EF4-FFF2-40B4-BE49-F238E27FC236}">
                  <a16:creationId xmlns:a16="http://schemas.microsoft.com/office/drawing/2014/main" id="{343BC6F7-7D8B-70B2-017B-C8D5BDA83E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21" name="Picture 20">
              <a:extLst>
                <a:ext uri="{FF2B5EF4-FFF2-40B4-BE49-F238E27FC236}">
                  <a16:creationId xmlns:a16="http://schemas.microsoft.com/office/drawing/2014/main" id="{F6532CC8-0E36-5456-A90B-1FF44513F3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2" name="Object5">
            <a:extLst>
              <a:ext uri="{FF2B5EF4-FFF2-40B4-BE49-F238E27FC236}">
                <a16:creationId xmlns:a16="http://schemas.microsoft.com/office/drawing/2014/main" id="{2ED4B8F3-F4C2-008B-2126-5CF01A98D7B5}"/>
              </a:ext>
            </a:extLst>
          </p:cNvPr>
          <p:cNvSpPr/>
          <p:nvPr/>
        </p:nvSpPr>
        <p:spPr>
          <a:xfrm>
            <a:off x="766800" y="1324275"/>
            <a:ext cx="3472800" cy="149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600" b="0" i="0" u="none" strike="noStrike" kern="1200" cap="all" spc="0" normalizeH="0" baseline="0" noProof="0" dirty="0">
                <a:ln>
                  <a:noFill/>
                </a:ln>
                <a:solidFill>
                  <a:srgbClr val="F5F3E4"/>
                </a:solidFill>
                <a:effectLst/>
                <a:uLnTx/>
                <a:uFillTx/>
                <a:latin typeface="Montserrat ExtraBold" pitchFamily="34" charset="0"/>
                <a:ea typeface="+mn-ea"/>
                <a:cs typeface="+mn-cs"/>
              </a:rPr>
              <a:t>CELESTA expectations</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Help me grow my money</a:t>
            </a:r>
          </a:p>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Help me enhance my lifestyle</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Help me enjoy exclusivity</a:t>
            </a: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5F3E4"/>
              </a:solidFill>
              <a:effectLst/>
              <a:uLnTx/>
              <a:uFillTx/>
              <a:latin typeface="Montserrat ExtraBold" pitchFamily="34" charset="0"/>
              <a:ea typeface="+mn-ea"/>
              <a:cs typeface="+mn-cs"/>
            </a:endParaRPr>
          </a:p>
        </p:txBody>
      </p:sp>
      <p:sp>
        <p:nvSpPr>
          <p:cNvPr id="12" name="Object5">
            <a:extLst>
              <a:ext uri="{FF2B5EF4-FFF2-40B4-BE49-F238E27FC236}">
                <a16:creationId xmlns:a16="http://schemas.microsoft.com/office/drawing/2014/main" id="{D145A8DB-6F04-D714-E888-2D85D05EB284}"/>
              </a:ext>
            </a:extLst>
          </p:cNvPr>
          <p:cNvSpPr/>
          <p:nvPr/>
        </p:nvSpPr>
        <p:spPr>
          <a:xfrm>
            <a:off x="8150674" y="1324275"/>
            <a:ext cx="3473364" cy="285825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600" b="0" i="0" u="none" strike="noStrike" kern="1200" cap="all" spc="0" normalizeH="0" baseline="0" noProof="0" dirty="0">
                <a:ln>
                  <a:noFill/>
                </a:ln>
                <a:solidFill>
                  <a:srgbClr val="F5F3E4"/>
                </a:solidFill>
                <a:effectLst/>
                <a:uLnTx/>
                <a:uFillTx/>
                <a:latin typeface="Montserrat ExtraBold" pitchFamily="34" charset="0"/>
                <a:ea typeface="+mn-ea"/>
                <a:cs typeface="+mn-cs"/>
              </a:rPr>
              <a:t>What is not working</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“Premium banking” offerings perceived to be limited and of low relevance </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While the “NR” customer is functionally satisfied, experiential engagement is weak</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Celesta’s Functional Ease is not strong enough a differentiator for the  Domestic Affluent customer</a:t>
            </a:r>
            <a:endParaRPr kumimoji="0" lang="en-US" sz="1600" b="0" i="0" u="none" strike="noStrike" kern="1200" cap="none" spc="0" normalizeH="0" baseline="0" noProof="0" dirty="0">
              <a:ln>
                <a:noFill/>
              </a:ln>
              <a:solidFill>
                <a:srgbClr val="F5F3E4"/>
              </a:solidFill>
              <a:effectLst/>
              <a:uLnTx/>
              <a:uFillTx/>
              <a:latin typeface="Montserrat ExtraBold" pitchFamily="34" charset="0"/>
              <a:ea typeface="+mn-ea"/>
              <a:cs typeface="+mn-cs"/>
            </a:endParaRP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Weak “Word-of-Mouth” </a:t>
            </a:r>
          </a:p>
        </p:txBody>
      </p:sp>
      <p:sp>
        <p:nvSpPr>
          <p:cNvPr id="13" name="Object5">
            <a:extLst>
              <a:ext uri="{FF2B5EF4-FFF2-40B4-BE49-F238E27FC236}">
                <a16:creationId xmlns:a16="http://schemas.microsoft.com/office/drawing/2014/main" id="{BCE3F8D3-D0B4-08C8-7FD7-501F26ACB5F4}"/>
              </a:ext>
            </a:extLst>
          </p:cNvPr>
          <p:cNvSpPr/>
          <p:nvPr/>
        </p:nvSpPr>
        <p:spPr>
          <a:xfrm>
            <a:off x="4296489" y="1324275"/>
            <a:ext cx="3473364" cy="185898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600" b="0" i="0" u="none" strike="noStrike" kern="1200" cap="all" spc="0" normalizeH="0" baseline="0" noProof="0" dirty="0">
                <a:ln>
                  <a:noFill/>
                </a:ln>
                <a:solidFill>
                  <a:srgbClr val="F5F3E4"/>
                </a:solidFill>
                <a:effectLst/>
                <a:uLnTx/>
                <a:uFillTx/>
                <a:latin typeface="Montserrat ExtraBold" pitchFamily="34" charset="0"/>
                <a:ea typeface="+mn-ea"/>
                <a:cs typeface="+mn-cs"/>
              </a:rPr>
              <a:t>Untapped opportunities</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Domestic affluent</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Beyond money - Wealth</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Beyond Status – Prestige</a:t>
            </a:r>
          </a:p>
          <a:p>
            <a:pPr defTabSz="304815">
              <a:spcAft>
                <a:spcPts val="800"/>
              </a:spcAf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Engage “Family as a unit”</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srgbClr val="F5F3E4"/>
                </a:solidFill>
                <a:effectLst/>
                <a:uLnTx/>
                <a:uFillTx/>
                <a:latin typeface="Montserrat Medium" pitchFamily="2" charset="0"/>
                <a:ea typeface="+mn-ea"/>
                <a:cs typeface="+mn-cs"/>
              </a:rPr>
              <a:t>White Glove</a:t>
            </a: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5F3E4"/>
              </a:solidFill>
              <a:effectLst/>
              <a:uLnTx/>
              <a:uFillTx/>
              <a:latin typeface="Montserrat ExtraBold" pitchFamily="34" charset="0"/>
              <a:ea typeface="+mn-ea"/>
              <a:cs typeface="+mn-cs"/>
            </a:endParaRPr>
          </a:p>
        </p:txBody>
      </p:sp>
      <p:sp>
        <p:nvSpPr>
          <p:cNvPr id="3" name="TextBox 2">
            <a:extLst>
              <a:ext uri="{FF2B5EF4-FFF2-40B4-BE49-F238E27FC236}">
                <a16:creationId xmlns:a16="http://schemas.microsoft.com/office/drawing/2014/main" id="{E4EF2368-BA1E-0E80-B2A6-15B083055EF6}"/>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chemeClr val="bg2"/>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68</a:t>
            </a:fld>
            <a:endParaRPr kumimoji="0" lang="en-US" sz="1333" b="0" i="0" u="none" strike="noStrike" kern="1200" cap="none" spc="0" normalizeH="0" baseline="0" noProof="0" dirty="0">
              <a:ln>
                <a:noFill/>
              </a:ln>
              <a:solidFill>
                <a:schemeClr val="bg2"/>
              </a:solidFill>
              <a:effectLst/>
              <a:uLnTx/>
              <a:uFillTx/>
              <a:latin typeface="Hepta Slab Medium" pitchFamily="2" charset="0"/>
              <a:ea typeface="+mn-ea"/>
              <a:cs typeface="Hepta Slab Medium" pitchFamily="2" charset="0"/>
            </a:endParaRPr>
          </a:p>
        </p:txBody>
      </p:sp>
    </p:spTree>
    <p:extLst>
      <p:ext uri="{BB962C8B-B14F-4D97-AF65-F5344CB8AC3E}">
        <p14:creationId xmlns:p14="http://schemas.microsoft.com/office/powerpoint/2010/main" val="16299850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294E285-A601-10F8-6DB2-9FDD7F2FD6E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24FA02E-24EE-A9B4-A2E4-0A2D4FEC1903}"/>
              </a:ext>
            </a:extLst>
          </p:cNvPr>
          <p:cNvSpPr txBox="1"/>
          <p:nvPr/>
        </p:nvSpPr>
        <p:spPr>
          <a:xfrm>
            <a:off x="913883" y="2709000"/>
            <a:ext cx="3461204" cy="861774"/>
          </a:xfrm>
          <a:prstGeom prst="rect">
            <a:avLst/>
          </a:prstGeom>
          <a:noFill/>
        </p:spPr>
        <p:txBody>
          <a:bodyPr wrap="none" rtlCol="0">
            <a:spAutoFit/>
          </a:bodyP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prstClr val="white"/>
                </a:solidFill>
                <a:effectLst/>
                <a:uLnTx/>
                <a:uFillTx/>
                <a:latin typeface="Hepta Slab SemiBold" pitchFamily="2" charset="0"/>
                <a:ea typeface="+mn-ea"/>
                <a:cs typeface="+mn-cs"/>
              </a:rPr>
              <a:t>Up Next?</a:t>
            </a:r>
            <a:endParaRPr kumimoji="0" lang="en-IN" sz="5000" b="1" i="0" u="none" strike="noStrike" kern="1200" cap="none" spc="0" normalizeH="0" baseline="0" noProof="0" dirty="0">
              <a:ln>
                <a:noFill/>
              </a:ln>
              <a:solidFill>
                <a:prstClr val="white"/>
              </a:solidFill>
              <a:effectLst/>
              <a:uLnTx/>
              <a:uFillTx/>
              <a:latin typeface="Hepta Slab SemiBold" pitchFamily="2" charset="0"/>
              <a:ea typeface="+mn-ea"/>
              <a:cs typeface="+mn-cs"/>
            </a:endParaRPr>
          </a:p>
        </p:txBody>
      </p:sp>
      <p:sp>
        <p:nvSpPr>
          <p:cNvPr id="9" name="Object6">
            <a:extLst>
              <a:ext uri="{FF2B5EF4-FFF2-40B4-BE49-F238E27FC236}">
                <a16:creationId xmlns:a16="http://schemas.microsoft.com/office/drawing/2014/main" id="{493859C0-557B-6078-2F27-B6E562814C06}"/>
              </a:ext>
            </a:extLst>
          </p:cNvPr>
          <p:cNvSpPr/>
          <p:nvPr/>
        </p:nvSpPr>
        <p:spPr>
          <a:xfrm>
            <a:off x="819840" y="669000"/>
            <a:ext cx="3388568" cy="435018"/>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prstClr val="white"/>
                </a:solidFill>
                <a:effectLst/>
                <a:uLnTx/>
                <a:uFillTx/>
                <a:latin typeface="Montserrat ExtraBold" pitchFamily="34" charset="0"/>
                <a:ea typeface="Montserrat ExtraBold" pitchFamily="34" charset="-122"/>
                <a:cs typeface="Montserrat ExtraBold" pitchFamily="34" charset="-120"/>
              </a:rPr>
              <a:t>The CELESTA PROGRAM</a:t>
            </a:r>
            <a:endParaRPr kumimoji="0" lang="en-US" sz="1600" b="0" i="0" u="none" strike="noStrike" kern="1200" cap="all" spc="0" normalizeH="0" baseline="0" noProof="0" dirty="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7F9E4F6A-BA4C-C395-56E5-A1C8A8DF2C2D}"/>
              </a:ext>
            </a:extLst>
          </p:cNvPr>
          <p:cNvGrpSpPr/>
          <p:nvPr/>
        </p:nvGrpSpPr>
        <p:grpSpPr>
          <a:xfrm>
            <a:off x="1" y="6042107"/>
            <a:ext cx="11864037" cy="911852"/>
            <a:chOff x="579560" y="9184073"/>
            <a:chExt cx="18133625" cy="1393723"/>
          </a:xfrm>
        </p:grpSpPr>
        <p:sp>
          <p:nvSpPr>
            <p:cNvPr id="11" name="Title 1">
              <a:extLst>
                <a:ext uri="{FF2B5EF4-FFF2-40B4-BE49-F238E27FC236}">
                  <a16:creationId xmlns:a16="http://schemas.microsoft.com/office/drawing/2014/main" id="{8DF4B085-35F3-254A-9E27-E5AEEBD63E95}"/>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2" name="Picture 11">
              <a:extLst>
                <a:ext uri="{FF2B5EF4-FFF2-40B4-BE49-F238E27FC236}">
                  <a16:creationId xmlns:a16="http://schemas.microsoft.com/office/drawing/2014/main" id="{46A56BD2-8839-3AF2-382F-0C507576A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6" name="Picture 15">
              <a:extLst>
                <a:ext uri="{FF2B5EF4-FFF2-40B4-BE49-F238E27FC236}">
                  <a16:creationId xmlns:a16="http://schemas.microsoft.com/office/drawing/2014/main" id="{FFBE39BA-3A27-1732-53A5-2263737B3F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2" name="TextBox 1">
            <a:extLst>
              <a:ext uri="{FF2B5EF4-FFF2-40B4-BE49-F238E27FC236}">
                <a16:creationId xmlns:a16="http://schemas.microsoft.com/office/drawing/2014/main" id="{6D464C45-7CE9-BCC6-2ABE-94985FD995AA}"/>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chemeClr val="bg2"/>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69</a:t>
            </a:fld>
            <a:endParaRPr kumimoji="0" lang="en-US" sz="1333" b="0" i="0" u="none" strike="noStrike" kern="1200" cap="none" spc="0" normalizeH="0" baseline="0" noProof="0" dirty="0">
              <a:ln>
                <a:noFill/>
              </a:ln>
              <a:solidFill>
                <a:schemeClr val="bg2"/>
              </a:solidFill>
              <a:effectLst/>
              <a:uLnTx/>
              <a:uFillTx/>
              <a:latin typeface="Hepta Slab Medium" pitchFamily="2" charset="0"/>
              <a:ea typeface="+mn-ea"/>
              <a:cs typeface="Hepta Slab Medium" pitchFamily="2" charset="0"/>
            </a:endParaRPr>
          </a:p>
        </p:txBody>
      </p:sp>
    </p:spTree>
    <p:extLst>
      <p:ext uri="{BB962C8B-B14F-4D97-AF65-F5344CB8AC3E}">
        <p14:creationId xmlns:p14="http://schemas.microsoft.com/office/powerpoint/2010/main" val="18536518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3C2472"/>
        </a:solidFill>
        <a:effectLst/>
      </p:bgPr>
    </p:bg>
    <p:spTree>
      <p:nvGrpSpPr>
        <p:cNvPr id="1" name="">
          <a:extLst>
            <a:ext uri="{FF2B5EF4-FFF2-40B4-BE49-F238E27FC236}">
              <a16:creationId xmlns:a16="http://schemas.microsoft.com/office/drawing/2014/main" id="{3FE93DA5-0B5E-F2F6-B924-EA60D335B3F3}"/>
            </a:ext>
          </a:extLst>
        </p:cNvPr>
        <p:cNvGrpSpPr/>
        <p:nvPr/>
      </p:nvGrpSpPr>
      <p:grpSpPr>
        <a:xfrm>
          <a:off x="0" y="0"/>
          <a:ext cx="0" cy="0"/>
          <a:chOff x="0" y="0"/>
          <a:chExt cx="0" cy="0"/>
        </a:xfrm>
      </p:grpSpPr>
      <p:sp>
        <p:nvSpPr>
          <p:cNvPr id="9" name="Object6">
            <a:extLst>
              <a:ext uri="{FF2B5EF4-FFF2-40B4-BE49-F238E27FC236}">
                <a16:creationId xmlns:a16="http://schemas.microsoft.com/office/drawing/2014/main" id="{3F728DFB-5DF6-561A-EE35-AA2896AEB167}"/>
              </a:ext>
            </a:extLst>
          </p:cNvPr>
          <p:cNvSpPr/>
          <p:nvPr/>
        </p:nvSpPr>
        <p:spPr>
          <a:xfrm>
            <a:off x="816000" y="3789000"/>
            <a:ext cx="7908900" cy="435018"/>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lang="en-US" sz="5000" b="1" dirty="0">
                <a:solidFill>
                  <a:prstClr val="white"/>
                </a:solidFill>
                <a:latin typeface="Hepta Slab SemiBold" pitchFamily="2" charset="0"/>
              </a:rPr>
              <a:t>RECOMMENDATIONS</a:t>
            </a:r>
          </a:p>
        </p:txBody>
      </p:sp>
      <p:grpSp>
        <p:nvGrpSpPr>
          <p:cNvPr id="10" name="Group 9">
            <a:extLst>
              <a:ext uri="{FF2B5EF4-FFF2-40B4-BE49-F238E27FC236}">
                <a16:creationId xmlns:a16="http://schemas.microsoft.com/office/drawing/2014/main" id="{49D45821-B8B7-2F80-2A9E-64359AC310ED}"/>
              </a:ext>
            </a:extLst>
          </p:cNvPr>
          <p:cNvGrpSpPr/>
          <p:nvPr/>
        </p:nvGrpSpPr>
        <p:grpSpPr>
          <a:xfrm>
            <a:off x="1" y="6042107"/>
            <a:ext cx="11864037" cy="911852"/>
            <a:chOff x="579560" y="9184073"/>
            <a:chExt cx="18133625" cy="1393723"/>
          </a:xfrm>
        </p:grpSpPr>
        <p:sp>
          <p:nvSpPr>
            <p:cNvPr id="11" name="Title 1">
              <a:extLst>
                <a:ext uri="{FF2B5EF4-FFF2-40B4-BE49-F238E27FC236}">
                  <a16:creationId xmlns:a16="http://schemas.microsoft.com/office/drawing/2014/main" id="{B1EC4ECE-B8AC-08E8-825E-10268A652E0D}"/>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2" name="Picture 11">
              <a:extLst>
                <a:ext uri="{FF2B5EF4-FFF2-40B4-BE49-F238E27FC236}">
                  <a16:creationId xmlns:a16="http://schemas.microsoft.com/office/drawing/2014/main" id="{7DA41EDA-1524-1066-C645-221413B01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3" name="Picture 12">
              <a:extLst>
                <a:ext uri="{FF2B5EF4-FFF2-40B4-BE49-F238E27FC236}">
                  <a16:creationId xmlns:a16="http://schemas.microsoft.com/office/drawing/2014/main" id="{491EC564-977F-4CD6-3160-DFB8AD05BB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2" name="TextBox 1">
            <a:extLst>
              <a:ext uri="{FF2B5EF4-FFF2-40B4-BE49-F238E27FC236}">
                <a16:creationId xmlns:a16="http://schemas.microsoft.com/office/drawing/2014/main" id="{F6EFA2F6-2085-6D46-8FEA-DCB5CB754AF7}"/>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70</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Tree>
    <p:extLst>
      <p:ext uri="{BB962C8B-B14F-4D97-AF65-F5344CB8AC3E}">
        <p14:creationId xmlns:p14="http://schemas.microsoft.com/office/powerpoint/2010/main" val="20213329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5F3E4"/>
        </a:solidFill>
        <a:effectLst/>
      </p:bgPr>
    </p:bg>
    <p:spTree>
      <p:nvGrpSpPr>
        <p:cNvPr id="1" name="">
          <a:extLst>
            <a:ext uri="{FF2B5EF4-FFF2-40B4-BE49-F238E27FC236}">
              <a16:creationId xmlns:a16="http://schemas.microsoft.com/office/drawing/2014/main" id="{2EF73572-1D27-A9A0-904F-5130397A6B56}"/>
            </a:ext>
          </a:extLst>
        </p:cNvPr>
        <p:cNvGrpSpPr/>
        <p:nvPr/>
      </p:nvGrpSpPr>
      <p:grpSpPr>
        <a:xfrm>
          <a:off x="0" y="0"/>
          <a:ext cx="0" cy="0"/>
          <a:chOff x="0" y="0"/>
          <a:chExt cx="0" cy="0"/>
        </a:xfrm>
      </p:grpSpPr>
      <p:sp>
        <p:nvSpPr>
          <p:cNvPr id="14" name="Object5">
            <a:extLst>
              <a:ext uri="{FF2B5EF4-FFF2-40B4-BE49-F238E27FC236}">
                <a16:creationId xmlns:a16="http://schemas.microsoft.com/office/drawing/2014/main" id="{76ED6C44-54D4-455B-0D7D-0AB91635B58E}"/>
              </a:ext>
            </a:extLst>
          </p:cNvPr>
          <p:cNvSpPr/>
          <p:nvPr/>
        </p:nvSpPr>
        <p:spPr>
          <a:xfrm>
            <a:off x="816000" y="2341566"/>
            <a:ext cx="1962000" cy="288792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Incorporate Experiential Segments </a:t>
            </a:r>
            <a:r>
              <a:rPr lang="en-US" sz="1333" dirty="0">
                <a:solidFill>
                  <a:prstClr val="black">
                    <a:lumMod val="50000"/>
                    <a:lumOff val="50000"/>
                  </a:prstClr>
                </a:solidFill>
                <a:latin typeface="Montserrat Medium" pitchFamily="2" charset="0"/>
                <a:ea typeface="Hepta Slab Regular" pitchFamily="34" charset="-122"/>
                <a:cs typeface="Hepta Slab Regular" pitchFamily="2" charset="0"/>
              </a:rPr>
              <a:t>as an integral part of Federal Bank/Celesta Segmentation strategy</a:t>
            </a: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Design offerings &amp; experiences that closely match customer context</a:t>
            </a:r>
            <a:r>
              <a:rPr lang="en-US" sz="1333" dirty="0">
                <a:solidFill>
                  <a:prstClr val="black">
                    <a:lumMod val="50000"/>
                    <a:lumOff val="50000"/>
                  </a:prstClr>
                </a:solidFill>
                <a:latin typeface="Montserrat Medium" pitchFamily="2" charset="0"/>
                <a:ea typeface="Hepta Slab Regular" pitchFamily="34" charset="-122"/>
                <a:cs typeface="Hepta Slab Regular" pitchFamily="2" charset="0"/>
              </a:rPr>
              <a:t> and experiential expectations to </a:t>
            </a: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stay continuously relevant</a:t>
            </a:r>
            <a:endPar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endParaRPr>
          </a:p>
        </p:txBody>
      </p:sp>
      <p:sp>
        <p:nvSpPr>
          <p:cNvPr id="17" name="Object5">
            <a:extLst>
              <a:ext uri="{FF2B5EF4-FFF2-40B4-BE49-F238E27FC236}">
                <a16:creationId xmlns:a16="http://schemas.microsoft.com/office/drawing/2014/main" id="{CCB66539-3F8B-9814-FEE3-6170BADF6785}"/>
              </a:ext>
            </a:extLst>
          </p:cNvPr>
          <p:cNvSpPr/>
          <p:nvPr/>
        </p:nvSpPr>
        <p:spPr>
          <a:xfrm>
            <a:off x="3576000" y="2341566"/>
            <a:ext cx="1962000" cy="20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rPr>
              <a:t>Redefine RM’s Role </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rPr>
              <a:t>Generate alignment with the customer aspirations &amp; challenges</a:t>
            </a:r>
          </a:p>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rPr>
              <a:t>Making the customer feel “Prioritized” &amp; “Differentiated” </a:t>
            </a:r>
          </a:p>
          <a:p>
            <a:pPr marL="0" marR="0" lvl="0" indent="0" algn="l" defTabSz="304815" rtl="0" eaLnBrk="1" fontAlgn="auto" latinLnBrk="0" hangingPunct="1">
              <a:lnSpc>
                <a:spcPct val="100000"/>
              </a:lnSpc>
              <a:spcBef>
                <a:spcPts val="0"/>
              </a:spcBef>
              <a:spcAft>
                <a:spcPts val="0"/>
              </a:spcAft>
              <a:buClrTx/>
              <a:buSzTx/>
              <a:buFontTx/>
              <a:buNone/>
              <a:tabLst/>
              <a:defRPr/>
            </a:pPr>
            <a:r>
              <a:rPr lang="en-US" sz="1333" dirty="0">
                <a:solidFill>
                  <a:prstClr val="black">
                    <a:lumMod val="50000"/>
                    <a:lumOff val="50000"/>
                  </a:prstClr>
                </a:solidFill>
                <a:latin typeface="Montserrat Medium" pitchFamily="2" charset="0"/>
                <a:cs typeface="Hepta Slab Regular" pitchFamily="2" charset="0"/>
              </a:rPr>
              <a:t>Single point customer ownership &amp; accountability</a:t>
            </a:r>
            <a:endPar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endParaRPr>
          </a:p>
        </p:txBody>
      </p:sp>
      <p:sp>
        <p:nvSpPr>
          <p:cNvPr id="18" name="Object5">
            <a:extLst>
              <a:ext uri="{FF2B5EF4-FFF2-40B4-BE49-F238E27FC236}">
                <a16:creationId xmlns:a16="http://schemas.microsoft.com/office/drawing/2014/main" id="{E83C80E7-553C-050F-8218-D03D2305C07E}"/>
              </a:ext>
            </a:extLst>
          </p:cNvPr>
          <p:cNvSpPr/>
          <p:nvPr/>
        </p:nvSpPr>
        <p:spPr>
          <a:xfrm>
            <a:off x="6535010" y="2341566"/>
            <a:ext cx="1962000" cy="216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Design </a:t>
            </a:r>
            <a:r>
              <a:rPr lang="en-US" sz="1333" dirty="0">
                <a:solidFill>
                  <a:prstClr val="black">
                    <a:lumMod val="50000"/>
                    <a:lumOff val="50000"/>
                  </a:prstClr>
                </a:solidFill>
                <a:latin typeface="Montserrat Medium" pitchFamily="2" charset="0"/>
                <a:ea typeface="Hepta Slab Regular" pitchFamily="34" charset="-122"/>
                <a:cs typeface="Hepta Slab Regular" pitchFamily="2" charset="0"/>
              </a:rPr>
              <a:t>experiences across journeys and touchpoints to </a:t>
            </a:r>
          </a:p>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Drive “Exclusivity” , “Affiliation” and “Prestige”</a:t>
            </a:r>
          </a:p>
          <a:p>
            <a:pPr marL="0" marR="0" lvl="0" indent="0" algn="l" defTabSz="304815" rtl="0" eaLnBrk="1" fontAlgn="auto" latinLnBrk="0" hangingPunct="1">
              <a:lnSpc>
                <a:spcPct val="100000"/>
              </a:lnSpc>
              <a:spcBef>
                <a:spcPts val="0"/>
              </a:spcBef>
              <a:spcAft>
                <a:spcPts val="0"/>
              </a:spcAft>
              <a:buClrTx/>
              <a:buSzTx/>
              <a:buFontTx/>
              <a:buNone/>
              <a:tabLst/>
              <a:defRPr/>
            </a:pPr>
            <a:r>
              <a:rPr lang="en-US" sz="1333" dirty="0">
                <a:solidFill>
                  <a:prstClr val="black">
                    <a:lumMod val="50000"/>
                    <a:lumOff val="50000"/>
                  </a:prstClr>
                </a:solidFill>
                <a:latin typeface="Montserrat Medium" pitchFamily="2" charset="0"/>
                <a:cs typeface="Hepta Slab Regular" pitchFamily="2" charset="0"/>
              </a:rPr>
              <a:t>Leverage the power of “Engagement driven Attention” economy for Celesta</a:t>
            </a:r>
            <a:endPar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endParaRPr>
          </a:p>
        </p:txBody>
      </p:sp>
      <p:sp>
        <p:nvSpPr>
          <p:cNvPr id="19" name="Object5">
            <a:extLst>
              <a:ext uri="{FF2B5EF4-FFF2-40B4-BE49-F238E27FC236}">
                <a16:creationId xmlns:a16="http://schemas.microsoft.com/office/drawing/2014/main" id="{12588B71-A6D8-2180-0245-E03D82EED49D}"/>
              </a:ext>
            </a:extLst>
          </p:cNvPr>
          <p:cNvSpPr/>
          <p:nvPr/>
        </p:nvSpPr>
        <p:spPr>
          <a:xfrm>
            <a:off x="9456000" y="2341566"/>
            <a:ext cx="1962000" cy="228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rPr>
              <a:t>Make friction as the leading metric for engagement</a:t>
            </a:r>
          </a:p>
          <a:p>
            <a:pPr marL="0" marR="0" lvl="0" indent="0" algn="l" defTabSz="304815" rtl="0" eaLnBrk="1" fontAlgn="auto" latinLnBrk="0" hangingPunct="1">
              <a:lnSpc>
                <a:spcPct val="100000"/>
              </a:lnSpc>
              <a:spcBef>
                <a:spcPts val="0"/>
              </a:spcBef>
              <a:spcAft>
                <a:spcPts val="1200"/>
              </a:spcAft>
              <a:buClrTx/>
              <a:buSzTx/>
              <a:buFontTx/>
              <a:buNone/>
              <a:tabLst/>
              <a:defRPr/>
            </a:pPr>
            <a:r>
              <a:rPr lang="en-US" sz="1333" dirty="0">
                <a:solidFill>
                  <a:prstClr val="black">
                    <a:lumMod val="50000"/>
                    <a:lumOff val="50000"/>
                  </a:prstClr>
                </a:solidFill>
                <a:latin typeface="Montserrat Medium" pitchFamily="2" charset="0"/>
                <a:cs typeface="Hepta Slab Regular" pitchFamily="2" charset="0"/>
              </a:rPr>
              <a:t>Track Physical &amp; Temporal friction as Celesta scales</a:t>
            </a:r>
          </a:p>
          <a:p>
            <a:pPr marL="0" marR="0" lvl="0" indent="0" algn="l" defTabSz="304815" rtl="0" eaLnBrk="1" fontAlgn="auto" latinLnBrk="0" hangingPunct="1">
              <a:lnSpc>
                <a:spcPct val="100000"/>
              </a:lnSpc>
              <a:spcBef>
                <a:spcPts val="0"/>
              </a:spcBef>
              <a:spcAft>
                <a:spcPts val="1200"/>
              </a:spcAft>
              <a:buClrTx/>
              <a:buSzTx/>
              <a:buFontTx/>
              <a:buNone/>
              <a:tabLst/>
              <a:defRPr/>
            </a:pPr>
            <a:r>
              <a:rPr lang="en-US" sz="1333" dirty="0">
                <a:solidFill>
                  <a:prstClr val="black">
                    <a:lumMod val="50000"/>
                    <a:lumOff val="50000"/>
                  </a:prstClr>
                </a:solidFill>
                <a:latin typeface="Montserrat Medium" pitchFamily="2" charset="0"/>
                <a:cs typeface="Hepta Slab Regular" pitchFamily="2" charset="0"/>
              </a:rPr>
              <a:t>Minimize Cognitive Friction through targeted process simplification </a:t>
            </a:r>
          </a:p>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rPr>
              <a:t>Minimize Perceived Friction through compassionate empathy and contextual communication</a:t>
            </a: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endParaRPr>
          </a:p>
        </p:txBody>
      </p:sp>
      <p:sp>
        <p:nvSpPr>
          <p:cNvPr id="20" name="Object5">
            <a:extLst>
              <a:ext uri="{FF2B5EF4-FFF2-40B4-BE49-F238E27FC236}">
                <a16:creationId xmlns:a16="http://schemas.microsoft.com/office/drawing/2014/main" id="{831D9FDE-9125-BF56-76B5-B9832E472559}"/>
              </a:ext>
            </a:extLst>
          </p:cNvPr>
          <p:cNvSpPr/>
          <p:nvPr/>
        </p:nvSpPr>
        <p:spPr>
          <a:xfrm>
            <a:off x="816000" y="1463044"/>
            <a:ext cx="2280000" cy="584774"/>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Montserrat ExtraBold" pitchFamily="2" charset="0"/>
                <a:ea typeface="Hepta Slab Regular" pitchFamily="34" charset="-122"/>
                <a:cs typeface="Hepta Slab Regular" pitchFamily="2" charset="0"/>
              </a:rPr>
              <a:t>EXPERIENTIAL SEGMENTS</a:t>
            </a:r>
            <a:endParaRPr kumimoji="0" lang="en-US" sz="1800" b="0" i="0" u="none" strike="noStrike" kern="1200" cap="none" spc="0" normalizeH="0" baseline="0" noProof="0" dirty="0">
              <a:ln>
                <a:noFill/>
              </a:ln>
              <a:solidFill>
                <a:srgbClr val="A9734C"/>
              </a:solidFill>
              <a:effectLst/>
              <a:uLnTx/>
              <a:uFillTx/>
              <a:latin typeface="Montserrat ExtraBold" pitchFamily="2" charset="0"/>
              <a:ea typeface="+mn-ea"/>
              <a:cs typeface="Hepta Slab Regular"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030A0"/>
              </a:solidFill>
              <a:effectLst/>
              <a:uLnTx/>
              <a:uFillTx/>
              <a:latin typeface="Montserrat ExtraBold" pitchFamily="2" charset="0"/>
              <a:ea typeface="+mn-ea"/>
              <a:cs typeface="Hepta Slab Regular" pitchFamily="2" charset="0"/>
            </a:endParaRPr>
          </a:p>
        </p:txBody>
      </p:sp>
      <p:sp>
        <p:nvSpPr>
          <p:cNvPr id="21" name="Object5">
            <a:extLst>
              <a:ext uri="{FF2B5EF4-FFF2-40B4-BE49-F238E27FC236}">
                <a16:creationId xmlns:a16="http://schemas.microsoft.com/office/drawing/2014/main" id="{B96DC805-B6D7-2658-D7D8-BE17570AFFD7}"/>
              </a:ext>
            </a:extLst>
          </p:cNvPr>
          <p:cNvSpPr/>
          <p:nvPr/>
        </p:nvSpPr>
        <p:spPr>
          <a:xfrm>
            <a:off x="3576000" y="1463044"/>
            <a:ext cx="1960991" cy="584774"/>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Montserrat ExtraBold" pitchFamily="2" charset="0"/>
                <a:ea typeface="Hepta Slab Regular" pitchFamily="34" charset="-122"/>
                <a:cs typeface="Hepta Slab Regular" pitchFamily="2" charset="0"/>
              </a:rPr>
              <a:t>ENGAGEMENT CUSTODIAN</a:t>
            </a:r>
            <a:endParaRPr kumimoji="0" lang="en-US" sz="1800" b="0" i="0" u="none" strike="noStrike" kern="1200" cap="none" spc="0" normalizeH="0" baseline="0" noProof="0" dirty="0">
              <a:ln>
                <a:noFill/>
              </a:ln>
              <a:solidFill>
                <a:srgbClr val="A9734C"/>
              </a:solidFill>
              <a:effectLst/>
              <a:uLnTx/>
              <a:uFillTx/>
              <a:latin typeface="Montserrat ExtraBold" pitchFamily="2" charset="0"/>
              <a:ea typeface="+mn-ea"/>
              <a:cs typeface="Hepta Slab Regular" pitchFamily="2" charset="0"/>
            </a:endParaRPr>
          </a:p>
        </p:txBody>
      </p:sp>
      <p:sp>
        <p:nvSpPr>
          <p:cNvPr id="22" name="Object5">
            <a:extLst>
              <a:ext uri="{FF2B5EF4-FFF2-40B4-BE49-F238E27FC236}">
                <a16:creationId xmlns:a16="http://schemas.microsoft.com/office/drawing/2014/main" id="{149AE915-BB35-01E3-02EE-CA4E096310A3}"/>
              </a:ext>
            </a:extLst>
          </p:cNvPr>
          <p:cNvSpPr/>
          <p:nvPr/>
        </p:nvSpPr>
        <p:spPr>
          <a:xfrm>
            <a:off x="6535010" y="1463043"/>
            <a:ext cx="1960991" cy="584773"/>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Montserrat ExtraBold" pitchFamily="2" charset="0"/>
                <a:ea typeface="Hepta Slab Regular" pitchFamily="34" charset="-122"/>
                <a:cs typeface="Hepta Slab Regular" pitchFamily="2" charset="0"/>
              </a:rPr>
              <a:t>THE WHITE GLOVE</a:t>
            </a:r>
            <a:endParaRPr kumimoji="0" lang="en-US" sz="1800" b="0" i="0" u="none" strike="noStrike" kern="1200" cap="none" spc="0" normalizeH="0" baseline="0" noProof="0" dirty="0">
              <a:ln>
                <a:noFill/>
              </a:ln>
              <a:solidFill>
                <a:srgbClr val="A9734C"/>
              </a:solidFill>
              <a:effectLst/>
              <a:uLnTx/>
              <a:uFillTx/>
              <a:latin typeface="Montserrat ExtraBold" pitchFamily="2" charset="0"/>
              <a:ea typeface="+mn-ea"/>
              <a:cs typeface="Hepta Slab Regular" pitchFamily="2" charset="0"/>
            </a:endParaRPr>
          </a:p>
        </p:txBody>
      </p:sp>
      <p:sp>
        <p:nvSpPr>
          <p:cNvPr id="23" name="Object5">
            <a:extLst>
              <a:ext uri="{FF2B5EF4-FFF2-40B4-BE49-F238E27FC236}">
                <a16:creationId xmlns:a16="http://schemas.microsoft.com/office/drawing/2014/main" id="{3642D03C-224C-D536-F414-821A3F0C7916}"/>
              </a:ext>
            </a:extLst>
          </p:cNvPr>
          <p:cNvSpPr/>
          <p:nvPr/>
        </p:nvSpPr>
        <p:spPr>
          <a:xfrm>
            <a:off x="9456001" y="1463044"/>
            <a:ext cx="1840989" cy="584772"/>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Montserrat ExtraBold" pitchFamily="2" charset="0"/>
                <a:ea typeface="Hepta Slab Regular" pitchFamily="34" charset="-122"/>
                <a:cs typeface="Hepta Slab Regular" pitchFamily="2" charset="0"/>
              </a:rPr>
              <a:t>FRICTIONLESS EXPERIENCES</a:t>
            </a:r>
            <a:endParaRPr kumimoji="0" lang="en-US" sz="1800" b="0" i="0" u="none" strike="noStrike" kern="1200" cap="none" spc="0" normalizeH="0" baseline="0" noProof="0" dirty="0">
              <a:ln>
                <a:noFill/>
              </a:ln>
              <a:solidFill>
                <a:srgbClr val="A9734C"/>
              </a:solidFill>
              <a:effectLst/>
              <a:uLnTx/>
              <a:uFillTx/>
              <a:latin typeface="Montserrat ExtraBold" pitchFamily="2" charset="0"/>
              <a:ea typeface="+mn-ea"/>
              <a:cs typeface="Hepta Slab Regular" pitchFamily="2" charset="0"/>
            </a:endParaRPr>
          </a:p>
        </p:txBody>
      </p:sp>
      <p:sp>
        <p:nvSpPr>
          <p:cNvPr id="24" name="TextBox 23">
            <a:extLst>
              <a:ext uri="{FF2B5EF4-FFF2-40B4-BE49-F238E27FC236}">
                <a16:creationId xmlns:a16="http://schemas.microsoft.com/office/drawing/2014/main" id="{036E40E3-D996-E76C-E7AB-B2D70475E41D}"/>
              </a:ext>
            </a:extLst>
          </p:cNvPr>
          <p:cNvSpPr txBox="1"/>
          <p:nvPr/>
        </p:nvSpPr>
        <p:spPr>
          <a:xfrm>
            <a:off x="816000" y="374720"/>
            <a:ext cx="6936514" cy="584775"/>
          </a:xfrm>
          <a:prstGeom prst="rect">
            <a:avLst/>
          </a:prstGeom>
          <a:noFill/>
        </p:spPr>
        <p:txBody>
          <a:bodyPr wrap="none" lIns="0" rtlCol="0">
            <a:spAutoFit/>
          </a:bodyP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002060"/>
                </a:solidFill>
                <a:effectLst/>
                <a:uLnTx/>
                <a:uFillTx/>
                <a:latin typeface="Hepta Slab SemiBold" pitchFamily="2" charset="0"/>
                <a:ea typeface="+mn-ea"/>
                <a:cs typeface="Hepta Slab SemiBold" pitchFamily="2" charset="0"/>
              </a:rPr>
              <a:t>The Recommendation Pillars</a:t>
            </a:r>
            <a:r>
              <a:rPr kumimoji="0" lang="en-IN" sz="3200" b="1" i="0" u="none" strike="noStrike" kern="1200" cap="none" spc="0" normalizeH="0" baseline="0" noProof="0" dirty="0">
                <a:ln>
                  <a:noFill/>
                </a:ln>
                <a:solidFill>
                  <a:srgbClr val="7030A0"/>
                </a:solidFill>
                <a:effectLst/>
                <a:uLnTx/>
                <a:uFillTx/>
                <a:latin typeface="Hepta Slab SemiBold" pitchFamily="2" charset="0"/>
                <a:ea typeface="+mn-ea"/>
                <a:cs typeface="Hepta Slab SemiBold" pitchFamily="2" charset="0"/>
              </a:rPr>
              <a:t>.</a:t>
            </a:r>
            <a:endParaRPr kumimoji="0" lang="en-IN" sz="3200" b="1" i="0" u="none" strike="noStrike" kern="1200" cap="none" spc="0" normalizeH="0" baseline="0" noProof="0" dirty="0">
              <a:ln>
                <a:noFill/>
              </a:ln>
              <a:solidFill>
                <a:srgbClr val="FFDE00"/>
              </a:solidFill>
              <a:effectLst/>
              <a:uLnTx/>
              <a:uFillTx/>
              <a:latin typeface="Hepta Slab SemiBold" pitchFamily="2" charset="0"/>
              <a:ea typeface="+mn-ea"/>
              <a:cs typeface="Hepta Slab SemiBold" pitchFamily="2" charset="0"/>
            </a:endParaRPr>
          </a:p>
        </p:txBody>
      </p:sp>
      <p:grpSp>
        <p:nvGrpSpPr>
          <p:cNvPr id="28" name="Group 27">
            <a:extLst>
              <a:ext uri="{FF2B5EF4-FFF2-40B4-BE49-F238E27FC236}">
                <a16:creationId xmlns:a16="http://schemas.microsoft.com/office/drawing/2014/main" id="{1F770353-6569-218E-7F2D-4A168737C953}"/>
              </a:ext>
            </a:extLst>
          </p:cNvPr>
          <p:cNvGrpSpPr/>
          <p:nvPr/>
        </p:nvGrpSpPr>
        <p:grpSpPr>
          <a:xfrm>
            <a:off x="-61290" y="6053155"/>
            <a:ext cx="12253290" cy="971832"/>
            <a:chOff x="-187799" y="8336784"/>
            <a:chExt cx="18379935" cy="1457748"/>
          </a:xfrm>
        </p:grpSpPr>
        <p:pic>
          <p:nvPicPr>
            <p:cNvPr id="29" name="Picture 28">
              <a:extLst>
                <a:ext uri="{FF2B5EF4-FFF2-40B4-BE49-F238E27FC236}">
                  <a16:creationId xmlns:a16="http://schemas.microsoft.com/office/drawing/2014/main" id="{7CFB8349-3178-3414-8021-5245C16BB5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30" name="Title 1">
              <a:extLst>
                <a:ext uri="{FF2B5EF4-FFF2-40B4-BE49-F238E27FC236}">
                  <a16:creationId xmlns:a16="http://schemas.microsoft.com/office/drawing/2014/main" id="{5F56E969-C0DA-33FB-88E8-53DABB7F45C1}"/>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31" name="Picture 30">
              <a:extLst>
                <a:ext uri="{FF2B5EF4-FFF2-40B4-BE49-F238E27FC236}">
                  <a16:creationId xmlns:a16="http://schemas.microsoft.com/office/drawing/2014/main" id="{9C8C167A-63A6-6CD8-18FE-0DF4126820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 name="TextBox 1">
            <a:extLst>
              <a:ext uri="{FF2B5EF4-FFF2-40B4-BE49-F238E27FC236}">
                <a16:creationId xmlns:a16="http://schemas.microsoft.com/office/drawing/2014/main" id="{BE4BB6B6-9A3D-5DD0-7A04-A6175A1B3C59}"/>
              </a:ext>
            </a:extLst>
          </p:cNvPr>
          <p:cNvSpPr txBox="1"/>
          <p:nvPr/>
        </p:nvSpPr>
        <p:spPr>
          <a:xfrm>
            <a:off x="816000" y="937574"/>
            <a:ext cx="1340110" cy="369332"/>
          </a:xfrm>
          <a:prstGeom prst="rect">
            <a:avLst/>
          </a:prstGeom>
          <a:noFill/>
        </p:spPr>
        <p:txBody>
          <a:bodyPr wrap="none" lIns="0" rIns="0" rtlCol="0">
            <a:spAutoFit/>
          </a:bodyPr>
          <a:lstStyle/>
          <a:p>
            <a:r>
              <a:rPr lang="en-US" dirty="0">
                <a:solidFill>
                  <a:schemeClr val="tx1">
                    <a:lumMod val="65000"/>
                    <a:lumOff val="35000"/>
                  </a:schemeClr>
                </a:solidFill>
                <a:latin typeface="Montserrat SemiBold" panose="00000700000000000000" pitchFamily="2" charset="0"/>
              </a:rPr>
              <a:t>STRATEGIC</a:t>
            </a:r>
            <a:endParaRPr lang="en-IN" dirty="0">
              <a:solidFill>
                <a:schemeClr val="tx1">
                  <a:lumMod val="65000"/>
                  <a:lumOff val="35000"/>
                </a:schemeClr>
              </a:solidFill>
              <a:latin typeface="Montserrat SemiBold" panose="00000700000000000000" pitchFamily="2" charset="0"/>
            </a:endParaRPr>
          </a:p>
        </p:txBody>
      </p:sp>
      <p:sp>
        <p:nvSpPr>
          <p:cNvPr id="3" name="TextBox 2">
            <a:extLst>
              <a:ext uri="{FF2B5EF4-FFF2-40B4-BE49-F238E27FC236}">
                <a16:creationId xmlns:a16="http://schemas.microsoft.com/office/drawing/2014/main" id="{B515F2F5-0913-541A-4768-222AFB712105}"/>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71</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Tree>
    <p:extLst>
      <p:ext uri="{BB962C8B-B14F-4D97-AF65-F5344CB8AC3E}">
        <p14:creationId xmlns:p14="http://schemas.microsoft.com/office/powerpoint/2010/main" val="18375139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5F3E4"/>
        </a:solidFill>
        <a:effectLst/>
      </p:bgPr>
    </p:bg>
    <p:spTree>
      <p:nvGrpSpPr>
        <p:cNvPr id="1" name="">
          <a:extLst>
            <a:ext uri="{FF2B5EF4-FFF2-40B4-BE49-F238E27FC236}">
              <a16:creationId xmlns:a16="http://schemas.microsoft.com/office/drawing/2014/main" id="{4C96E572-ACC4-1546-7C45-6CFF7DF18B31}"/>
            </a:ext>
          </a:extLst>
        </p:cNvPr>
        <p:cNvGrpSpPr/>
        <p:nvPr/>
      </p:nvGrpSpPr>
      <p:grpSpPr>
        <a:xfrm>
          <a:off x="0" y="0"/>
          <a:ext cx="0" cy="0"/>
          <a:chOff x="0" y="0"/>
          <a:chExt cx="0" cy="0"/>
        </a:xfrm>
      </p:grpSpPr>
      <p:sp>
        <p:nvSpPr>
          <p:cNvPr id="14" name="Object5">
            <a:extLst>
              <a:ext uri="{FF2B5EF4-FFF2-40B4-BE49-F238E27FC236}">
                <a16:creationId xmlns:a16="http://schemas.microsoft.com/office/drawing/2014/main" id="{4A0F771B-CBCD-AE36-DC53-4A694BD365F6}"/>
              </a:ext>
            </a:extLst>
          </p:cNvPr>
          <p:cNvSpPr/>
          <p:nvPr/>
        </p:nvSpPr>
        <p:spPr>
          <a:xfrm>
            <a:off x="816000" y="2727276"/>
            <a:ext cx="1962000" cy="180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Map key behavioural customer journeys to understand points of high “Emotion Arousal” (Peaks).</a:t>
            </a:r>
          </a:p>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“Peaks” are opportunities for building strong &amp; lasting customer engagement in a profitable manner!</a:t>
            </a:r>
            <a:endPar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endParaRPr>
          </a:p>
        </p:txBody>
      </p:sp>
      <p:sp>
        <p:nvSpPr>
          <p:cNvPr id="17" name="Object5">
            <a:extLst>
              <a:ext uri="{FF2B5EF4-FFF2-40B4-BE49-F238E27FC236}">
                <a16:creationId xmlns:a16="http://schemas.microsoft.com/office/drawing/2014/main" id="{4213F49B-3F6E-A46F-F203-DB191BB0B572}"/>
              </a:ext>
            </a:extLst>
          </p:cNvPr>
          <p:cNvSpPr/>
          <p:nvPr/>
        </p:nvSpPr>
        <p:spPr>
          <a:xfrm>
            <a:off x="3576000" y="2727276"/>
            <a:ext cx="1962000" cy="20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rPr>
              <a:t>Design and blue-print processes to support the customer journeys. This ensures that experiences are delivered as “designed”</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mn-ea"/>
                <a:cs typeface="Hepta Slab Regular" pitchFamily="2" charset="0"/>
              </a:rPr>
              <a:t>Making the customer feel “Prioritized” &amp; “Differentiated” </a:t>
            </a:r>
          </a:p>
        </p:txBody>
      </p:sp>
      <p:sp>
        <p:nvSpPr>
          <p:cNvPr id="18" name="Object5">
            <a:extLst>
              <a:ext uri="{FF2B5EF4-FFF2-40B4-BE49-F238E27FC236}">
                <a16:creationId xmlns:a16="http://schemas.microsoft.com/office/drawing/2014/main" id="{6E0EF029-CE31-FA70-B238-EA70770D2398}"/>
              </a:ext>
            </a:extLst>
          </p:cNvPr>
          <p:cNvSpPr/>
          <p:nvPr/>
        </p:nvSpPr>
        <p:spPr>
          <a:xfrm>
            <a:off x="6535009" y="2727276"/>
            <a:ext cx="1962000" cy="216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200"/>
              </a:spcAft>
              <a:buClrTx/>
              <a:buSzTx/>
              <a:buFontTx/>
              <a:buNone/>
              <a:tabLst/>
              <a:defRPr/>
            </a:pPr>
            <a:r>
              <a:rPr lang="en-US" sz="1333" dirty="0">
                <a:solidFill>
                  <a:prstClr val="black">
                    <a:lumMod val="50000"/>
                    <a:lumOff val="50000"/>
                  </a:prstClr>
                </a:solidFill>
                <a:latin typeface="Montserrat Medium" pitchFamily="2" charset="0"/>
                <a:ea typeface="Hepta Slab Regular" pitchFamily="34" charset="-122"/>
                <a:cs typeface="Hepta Slab Regular" pitchFamily="2" charset="0"/>
              </a:rPr>
              <a:t>Systemic intentional preparation for failure</a:t>
            </a:r>
          </a:p>
          <a:p>
            <a:pPr marL="0" marR="0" lvl="0" indent="0" algn="l" defTabSz="304815" rtl="0" eaLnBrk="1" fontAlgn="auto" latinLnBrk="0" hangingPunct="1">
              <a:lnSpc>
                <a:spcPct val="100000"/>
              </a:lnSpc>
              <a:spcBef>
                <a:spcPts val="0"/>
              </a:spcBef>
              <a:spcAft>
                <a:spcPts val="1200"/>
              </a:spcAft>
              <a:buClrTx/>
              <a:buSzTx/>
              <a:buFontTx/>
              <a:buNone/>
              <a:tabLst/>
              <a:defRPr/>
            </a:pP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Designed to convey assurance - when things go wrong</a:t>
            </a:r>
          </a:p>
          <a:p>
            <a:pPr marL="0" marR="0" lvl="0" indent="0" algn="l" defTabSz="304815" rtl="0" eaLnBrk="1" fontAlgn="auto" latinLnBrk="0" hangingPunct="1">
              <a:lnSpc>
                <a:spcPct val="100000"/>
              </a:lnSpc>
              <a:spcBef>
                <a:spcPts val="0"/>
              </a:spcBef>
              <a:spcAft>
                <a:spcPts val="1200"/>
              </a:spcAft>
              <a:buClrTx/>
              <a:buSzTx/>
              <a:buFontTx/>
              <a:buNone/>
              <a:tabLst/>
              <a:defRPr/>
            </a:pPr>
            <a:r>
              <a:rPr lang="en-US" sz="1333" dirty="0">
                <a:solidFill>
                  <a:prstClr val="black">
                    <a:lumMod val="50000"/>
                    <a:lumOff val="50000"/>
                  </a:prstClr>
                </a:solidFill>
                <a:latin typeface="Montserrat Medium" pitchFamily="2" charset="0"/>
                <a:ea typeface="Hepta Slab Regular" pitchFamily="34" charset="-122"/>
                <a:cs typeface="Hepta Slab Regular" pitchFamily="2" charset="0"/>
              </a:rPr>
              <a:t>Designed to ensure </a:t>
            </a:r>
            <a:r>
              <a:rPr kumimoji="0" lang="en-US" sz="1333" b="0" i="0" u="none" strike="noStrike" kern="1200" cap="none" spc="0" normalizeH="0" baseline="0" noProof="0" dirty="0">
                <a:ln>
                  <a:noFill/>
                </a:ln>
                <a:solidFill>
                  <a:prstClr val="black">
                    <a:lumMod val="50000"/>
                    <a:lumOff val="50000"/>
                  </a:prstClr>
                </a:solidFill>
                <a:effectLst/>
                <a:uLnTx/>
                <a:uFillTx/>
                <a:latin typeface="Montserrat Medium" pitchFamily="2" charset="0"/>
                <a:ea typeface="Hepta Slab Regular" pitchFamily="34" charset="-122"/>
                <a:cs typeface="Hepta Slab Regular" pitchFamily="2" charset="0"/>
              </a:rPr>
              <a:t>customer faces the least stress &amp; impact</a:t>
            </a:r>
          </a:p>
        </p:txBody>
      </p:sp>
      <p:sp>
        <p:nvSpPr>
          <p:cNvPr id="20" name="Object5">
            <a:extLst>
              <a:ext uri="{FF2B5EF4-FFF2-40B4-BE49-F238E27FC236}">
                <a16:creationId xmlns:a16="http://schemas.microsoft.com/office/drawing/2014/main" id="{87649D79-8569-1B18-287A-B02DC281BAB4}"/>
              </a:ext>
            </a:extLst>
          </p:cNvPr>
          <p:cNvSpPr/>
          <p:nvPr/>
        </p:nvSpPr>
        <p:spPr>
          <a:xfrm>
            <a:off x="816000" y="1767276"/>
            <a:ext cx="1962000" cy="584774"/>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Montserrat ExtraBold" pitchFamily="2" charset="0"/>
                <a:ea typeface="Hepta Slab Regular" pitchFamily="34" charset="-122"/>
                <a:cs typeface="Hepta Slab Regular" pitchFamily="2" charset="0"/>
              </a:rPr>
              <a:t>CUSTOMER JOURNEY MAP</a:t>
            </a:r>
            <a:endParaRPr kumimoji="0" lang="en-US" sz="1800" b="0" i="0" u="none" strike="noStrike" kern="1200" cap="none" spc="0" normalizeH="0" baseline="0" noProof="0" dirty="0">
              <a:ln>
                <a:noFill/>
              </a:ln>
              <a:solidFill>
                <a:srgbClr val="A9734C"/>
              </a:solidFill>
              <a:effectLst/>
              <a:uLnTx/>
              <a:uFillTx/>
              <a:latin typeface="Montserrat ExtraBold" pitchFamily="2" charset="0"/>
              <a:ea typeface="+mn-ea"/>
              <a:cs typeface="Hepta Slab Regular" pitchFamily="2" charset="0"/>
            </a:endParaRPr>
          </a:p>
        </p:txBody>
      </p:sp>
      <p:sp>
        <p:nvSpPr>
          <p:cNvPr id="21" name="Object5">
            <a:extLst>
              <a:ext uri="{FF2B5EF4-FFF2-40B4-BE49-F238E27FC236}">
                <a16:creationId xmlns:a16="http://schemas.microsoft.com/office/drawing/2014/main" id="{24678B83-E81A-C582-A1C2-4CC007A6FF52}"/>
              </a:ext>
            </a:extLst>
          </p:cNvPr>
          <p:cNvSpPr/>
          <p:nvPr/>
        </p:nvSpPr>
        <p:spPr>
          <a:xfrm>
            <a:off x="3575999" y="1767276"/>
            <a:ext cx="1962000" cy="584774"/>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Montserrat ExtraBold" pitchFamily="2" charset="0"/>
                <a:ea typeface="Hepta Slab Regular" pitchFamily="34" charset="-122"/>
                <a:cs typeface="Hepta Slab Regular" pitchFamily="2" charset="0"/>
              </a:rPr>
              <a:t>PROCESS BLUEPRINTING</a:t>
            </a:r>
            <a:endParaRPr kumimoji="0" lang="en-US" sz="1800" b="0" i="0" u="none" strike="noStrike" kern="1200" cap="none" spc="0" normalizeH="0" baseline="0" noProof="0" dirty="0">
              <a:ln>
                <a:noFill/>
              </a:ln>
              <a:solidFill>
                <a:srgbClr val="A9734C"/>
              </a:solidFill>
              <a:effectLst/>
              <a:uLnTx/>
              <a:uFillTx/>
              <a:latin typeface="Montserrat ExtraBold" pitchFamily="2" charset="0"/>
              <a:ea typeface="+mn-ea"/>
              <a:cs typeface="Hepta Slab Regular" pitchFamily="2" charset="0"/>
            </a:endParaRPr>
          </a:p>
        </p:txBody>
      </p:sp>
      <p:sp>
        <p:nvSpPr>
          <p:cNvPr id="22" name="Object5">
            <a:extLst>
              <a:ext uri="{FF2B5EF4-FFF2-40B4-BE49-F238E27FC236}">
                <a16:creationId xmlns:a16="http://schemas.microsoft.com/office/drawing/2014/main" id="{87ABD14F-62C0-EC4E-0DE6-655BC75DB26A}"/>
              </a:ext>
            </a:extLst>
          </p:cNvPr>
          <p:cNvSpPr/>
          <p:nvPr/>
        </p:nvSpPr>
        <p:spPr>
          <a:xfrm>
            <a:off x="6535009" y="1767276"/>
            <a:ext cx="1962000" cy="584774"/>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9734C"/>
                </a:solidFill>
                <a:effectLst/>
                <a:uLnTx/>
                <a:uFillTx/>
                <a:latin typeface="Montserrat ExtraBold" pitchFamily="2" charset="0"/>
                <a:ea typeface="Hepta Slab Regular" pitchFamily="34" charset="-122"/>
                <a:cs typeface="Hepta Slab Regular" pitchFamily="2" charset="0"/>
              </a:rPr>
              <a:t>SERVICE RECOVERY </a:t>
            </a:r>
            <a:endParaRPr kumimoji="0" lang="en-US" sz="1800" b="0" i="0" u="none" strike="noStrike" kern="1200" cap="none" spc="0" normalizeH="0" baseline="0" noProof="0" dirty="0">
              <a:ln>
                <a:noFill/>
              </a:ln>
              <a:solidFill>
                <a:srgbClr val="A9734C"/>
              </a:solidFill>
              <a:effectLst/>
              <a:uLnTx/>
              <a:uFillTx/>
              <a:latin typeface="Montserrat ExtraBold" pitchFamily="2" charset="0"/>
              <a:ea typeface="+mn-ea"/>
              <a:cs typeface="Hepta Slab Regular" pitchFamily="2" charset="0"/>
            </a:endParaRPr>
          </a:p>
        </p:txBody>
      </p:sp>
      <p:sp>
        <p:nvSpPr>
          <p:cNvPr id="24" name="TextBox 23">
            <a:extLst>
              <a:ext uri="{FF2B5EF4-FFF2-40B4-BE49-F238E27FC236}">
                <a16:creationId xmlns:a16="http://schemas.microsoft.com/office/drawing/2014/main" id="{CB888AE2-8EE4-D286-B0FF-847DDFB5AB27}"/>
              </a:ext>
            </a:extLst>
          </p:cNvPr>
          <p:cNvSpPr txBox="1"/>
          <p:nvPr/>
        </p:nvSpPr>
        <p:spPr>
          <a:xfrm>
            <a:off x="816000" y="374720"/>
            <a:ext cx="6751848" cy="584775"/>
          </a:xfrm>
          <a:prstGeom prst="rect">
            <a:avLst/>
          </a:prstGeom>
          <a:noFill/>
        </p:spPr>
        <p:txBody>
          <a:bodyPr wrap="none" lIns="0" rIns="0" rtlCol="0">
            <a:spAutoFit/>
          </a:bodyPr>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002060"/>
                </a:solidFill>
                <a:effectLst/>
                <a:uLnTx/>
                <a:uFillTx/>
                <a:latin typeface="Hepta Slab SemiBold" pitchFamily="2" charset="0"/>
                <a:ea typeface="+mn-ea"/>
                <a:cs typeface="Hepta Slab SemiBold" pitchFamily="2" charset="0"/>
              </a:rPr>
              <a:t>The Recommendation Pillars</a:t>
            </a:r>
            <a:r>
              <a:rPr kumimoji="0" lang="en-IN" sz="3200" b="1" i="0" u="none" strike="noStrike" kern="1200" cap="none" spc="0" normalizeH="0" baseline="0" noProof="0" dirty="0">
                <a:ln>
                  <a:noFill/>
                </a:ln>
                <a:solidFill>
                  <a:srgbClr val="7030A0"/>
                </a:solidFill>
                <a:effectLst/>
                <a:uLnTx/>
                <a:uFillTx/>
                <a:latin typeface="Hepta Slab SemiBold" pitchFamily="2" charset="0"/>
                <a:ea typeface="+mn-ea"/>
                <a:cs typeface="Hepta Slab SemiBold" pitchFamily="2" charset="0"/>
              </a:rPr>
              <a:t>.</a:t>
            </a:r>
            <a:endParaRPr kumimoji="0" lang="en-IN" sz="3200" b="1" i="0" u="none" strike="noStrike" kern="1200" cap="none" spc="0" normalizeH="0" baseline="0" noProof="0" dirty="0">
              <a:ln>
                <a:noFill/>
              </a:ln>
              <a:solidFill>
                <a:srgbClr val="FFDE00"/>
              </a:solidFill>
              <a:effectLst/>
              <a:uLnTx/>
              <a:uFillTx/>
              <a:latin typeface="Hepta Slab SemiBold" pitchFamily="2" charset="0"/>
              <a:ea typeface="+mn-ea"/>
              <a:cs typeface="Hepta Slab SemiBold" pitchFamily="2" charset="0"/>
            </a:endParaRPr>
          </a:p>
        </p:txBody>
      </p:sp>
      <p:grpSp>
        <p:nvGrpSpPr>
          <p:cNvPr id="28" name="Group 27">
            <a:extLst>
              <a:ext uri="{FF2B5EF4-FFF2-40B4-BE49-F238E27FC236}">
                <a16:creationId xmlns:a16="http://schemas.microsoft.com/office/drawing/2014/main" id="{060CDB6B-8E99-445E-E8BF-F6EDD8CB3913}"/>
              </a:ext>
            </a:extLst>
          </p:cNvPr>
          <p:cNvGrpSpPr/>
          <p:nvPr/>
        </p:nvGrpSpPr>
        <p:grpSpPr>
          <a:xfrm>
            <a:off x="-61290" y="6053155"/>
            <a:ext cx="12253290" cy="971832"/>
            <a:chOff x="-187799" y="8336784"/>
            <a:chExt cx="18379935" cy="1457748"/>
          </a:xfrm>
        </p:grpSpPr>
        <p:pic>
          <p:nvPicPr>
            <p:cNvPr id="29" name="Picture 28">
              <a:extLst>
                <a:ext uri="{FF2B5EF4-FFF2-40B4-BE49-F238E27FC236}">
                  <a16:creationId xmlns:a16="http://schemas.microsoft.com/office/drawing/2014/main" id="{D2A83144-5ACF-CFFA-DA13-E9F1016ED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30" name="Title 1">
              <a:extLst>
                <a:ext uri="{FF2B5EF4-FFF2-40B4-BE49-F238E27FC236}">
                  <a16:creationId xmlns:a16="http://schemas.microsoft.com/office/drawing/2014/main" id="{DABD3563-A2BB-6314-ED9B-F236A5A49E4C}"/>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31" name="Picture 30">
              <a:extLst>
                <a:ext uri="{FF2B5EF4-FFF2-40B4-BE49-F238E27FC236}">
                  <a16:creationId xmlns:a16="http://schemas.microsoft.com/office/drawing/2014/main" id="{D8842CE6-6C46-B88D-CF77-F7C435B891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 name="TextBox 1">
            <a:extLst>
              <a:ext uri="{FF2B5EF4-FFF2-40B4-BE49-F238E27FC236}">
                <a16:creationId xmlns:a16="http://schemas.microsoft.com/office/drawing/2014/main" id="{24396783-2349-92F0-9B74-3D61D5751C89}"/>
              </a:ext>
            </a:extLst>
          </p:cNvPr>
          <p:cNvSpPr txBox="1"/>
          <p:nvPr/>
        </p:nvSpPr>
        <p:spPr>
          <a:xfrm>
            <a:off x="816000" y="937574"/>
            <a:ext cx="1763303" cy="369332"/>
          </a:xfrm>
          <a:prstGeom prst="rect">
            <a:avLst/>
          </a:prstGeom>
          <a:noFill/>
        </p:spPr>
        <p:txBody>
          <a:bodyPr wrap="none" lIns="0" rIns="0" rtlCol="0">
            <a:spAutoFit/>
          </a:bodyPr>
          <a:lstStyle/>
          <a:p>
            <a:r>
              <a:rPr lang="en-US" dirty="0">
                <a:solidFill>
                  <a:schemeClr val="tx1">
                    <a:lumMod val="65000"/>
                    <a:lumOff val="35000"/>
                  </a:schemeClr>
                </a:solidFill>
                <a:latin typeface="Montserrat SemiBold" panose="00000700000000000000" pitchFamily="2" charset="0"/>
              </a:rPr>
              <a:t>OPERATIONAL</a:t>
            </a:r>
            <a:endParaRPr lang="en-IN" dirty="0">
              <a:solidFill>
                <a:schemeClr val="tx1">
                  <a:lumMod val="65000"/>
                  <a:lumOff val="35000"/>
                </a:schemeClr>
              </a:solidFill>
              <a:latin typeface="Montserrat SemiBold" panose="00000700000000000000" pitchFamily="2" charset="0"/>
            </a:endParaRPr>
          </a:p>
        </p:txBody>
      </p:sp>
      <p:sp>
        <p:nvSpPr>
          <p:cNvPr id="3" name="TextBox 2">
            <a:extLst>
              <a:ext uri="{FF2B5EF4-FFF2-40B4-BE49-F238E27FC236}">
                <a16:creationId xmlns:a16="http://schemas.microsoft.com/office/drawing/2014/main" id="{92651528-1D1B-5747-AAF7-E447AA67BD2E}"/>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72</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Tree>
    <p:extLst>
      <p:ext uri="{BB962C8B-B14F-4D97-AF65-F5344CB8AC3E}">
        <p14:creationId xmlns:p14="http://schemas.microsoft.com/office/powerpoint/2010/main" val="15896359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B1442A32-E093-CE82-4FA4-52DC137502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7803E7-1773-F6AB-FAFB-86E3120EF934}"/>
              </a:ext>
            </a:extLst>
          </p:cNvPr>
          <p:cNvSpPr txBox="1"/>
          <p:nvPr/>
        </p:nvSpPr>
        <p:spPr>
          <a:xfrm>
            <a:off x="5937952" y="503854"/>
            <a:ext cx="316112" cy="630942"/>
          </a:xfrm>
          <a:prstGeom prst="rect">
            <a:avLst/>
          </a:prstGeom>
          <a:noFill/>
        </p:spPr>
        <p:txBody>
          <a:bodyPr wrap="none" rtlCol="0">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3D2C72"/>
                </a:solidFill>
                <a:effectLst/>
                <a:uLnTx/>
                <a:uFillTx/>
                <a:latin typeface="Hepta Slab SemiBold" pitchFamily="2" charset="0"/>
                <a:ea typeface="+mn-ea"/>
                <a:cs typeface="+mn-cs"/>
              </a:rPr>
              <a:t> </a:t>
            </a:r>
          </a:p>
        </p:txBody>
      </p:sp>
      <p:sp>
        <p:nvSpPr>
          <p:cNvPr id="6" name="TextBox 5">
            <a:extLst>
              <a:ext uri="{FF2B5EF4-FFF2-40B4-BE49-F238E27FC236}">
                <a16:creationId xmlns:a16="http://schemas.microsoft.com/office/drawing/2014/main" id="{AA568963-812B-29BB-6AF3-B1586B488F56}"/>
              </a:ext>
            </a:extLst>
          </p:cNvPr>
          <p:cNvSpPr txBox="1"/>
          <p:nvPr/>
        </p:nvSpPr>
        <p:spPr>
          <a:xfrm>
            <a:off x="1194658" y="2759779"/>
            <a:ext cx="9802685" cy="861774"/>
          </a:xfrm>
          <a:prstGeom prst="rect">
            <a:avLst/>
          </a:prstGeom>
          <a:noFill/>
        </p:spPr>
        <p:txBody>
          <a:bodyPr wrap="none" rtlCol="0">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F5F3E4"/>
                </a:solidFill>
                <a:effectLst/>
                <a:uLnTx/>
                <a:uFillTx/>
                <a:latin typeface="Hepta Slab SemiBold" pitchFamily="2" charset="0"/>
                <a:ea typeface="+mn-ea"/>
                <a:cs typeface="+mn-cs"/>
              </a:rPr>
              <a:t>Experiential Segmentation</a:t>
            </a:r>
            <a:endParaRPr kumimoji="0" lang="en-IN" sz="5000" b="1" i="0" u="none" strike="noStrike" kern="1200" cap="none" spc="0" normalizeH="0" baseline="0" noProof="0" dirty="0">
              <a:ln>
                <a:noFill/>
              </a:ln>
              <a:solidFill>
                <a:srgbClr val="F5F3E4"/>
              </a:solidFill>
              <a:effectLst/>
              <a:uLnTx/>
              <a:uFillTx/>
              <a:latin typeface="Hepta Slab SemiBold" pitchFamily="2" charset="0"/>
              <a:ea typeface="+mn-ea"/>
              <a:cs typeface="+mn-cs"/>
            </a:endParaRPr>
          </a:p>
        </p:txBody>
      </p:sp>
      <p:grpSp>
        <p:nvGrpSpPr>
          <p:cNvPr id="8" name="Group 7">
            <a:extLst>
              <a:ext uri="{FF2B5EF4-FFF2-40B4-BE49-F238E27FC236}">
                <a16:creationId xmlns:a16="http://schemas.microsoft.com/office/drawing/2014/main" id="{0F223DEF-C97C-20E5-5514-444A53540898}"/>
              </a:ext>
            </a:extLst>
          </p:cNvPr>
          <p:cNvGrpSpPr/>
          <p:nvPr/>
        </p:nvGrpSpPr>
        <p:grpSpPr>
          <a:xfrm>
            <a:off x="1" y="6042107"/>
            <a:ext cx="11864037" cy="911852"/>
            <a:chOff x="579560" y="9184073"/>
            <a:chExt cx="18133625" cy="1393723"/>
          </a:xfrm>
        </p:grpSpPr>
        <p:sp>
          <p:nvSpPr>
            <p:cNvPr id="9" name="Title 1">
              <a:extLst>
                <a:ext uri="{FF2B5EF4-FFF2-40B4-BE49-F238E27FC236}">
                  <a16:creationId xmlns:a16="http://schemas.microsoft.com/office/drawing/2014/main" id="{A61FDDE8-36B5-E3E6-8134-D6A0F56E4124}"/>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0" name="Picture 9">
              <a:extLst>
                <a:ext uri="{FF2B5EF4-FFF2-40B4-BE49-F238E27FC236}">
                  <a16:creationId xmlns:a16="http://schemas.microsoft.com/office/drawing/2014/main" id="{9BDC0828-34D4-C710-F554-3BB6ABE8D3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1" name="Picture 10">
              <a:extLst>
                <a:ext uri="{FF2B5EF4-FFF2-40B4-BE49-F238E27FC236}">
                  <a16:creationId xmlns:a16="http://schemas.microsoft.com/office/drawing/2014/main" id="{6E8E19C2-DB8B-B511-496B-06897A94C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3" name="TextBox 12">
            <a:extLst>
              <a:ext uri="{FF2B5EF4-FFF2-40B4-BE49-F238E27FC236}">
                <a16:creationId xmlns:a16="http://schemas.microsoft.com/office/drawing/2014/main" id="{FDFAFB7E-9574-CAB8-7913-4C2677651EAC}"/>
              </a:ext>
            </a:extLst>
          </p:cNvPr>
          <p:cNvSpPr txBox="1"/>
          <p:nvPr/>
        </p:nvSpPr>
        <p:spPr>
          <a:xfrm>
            <a:off x="11384038" y="60627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r>
              <a:rPr kumimoji="0" lang="en-US" sz="1200"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rPr>
              <a:t>70</a:t>
            </a:r>
            <a:endParaRPr kumimoji="0" lang="en-US" sz="1333" b="0" i="0" u="none" strike="noStrike" kern="1200" cap="none" spc="0" normalizeH="0" baseline="0" noProof="0" dirty="0">
              <a:ln>
                <a:noFill/>
              </a:ln>
              <a:solidFill>
                <a:srgbClr val="FFDE00"/>
              </a:solidFill>
              <a:effectLst/>
              <a:uLnTx/>
              <a:uFillTx/>
              <a:latin typeface="Hepta Slab Medium" pitchFamily="2" charset="0"/>
              <a:ea typeface="+mn-ea"/>
              <a:cs typeface="Hepta Slab Medium" pitchFamily="2" charset="0"/>
            </a:endParaRPr>
          </a:p>
        </p:txBody>
      </p:sp>
      <p:sp>
        <p:nvSpPr>
          <p:cNvPr id="3" name="Object6">
            <a:extLst>
              <a:ext uri="{FF2B5EF4-FFF2-40B4-BE49-F238E27FC236}">
                <a16:creationId xmlns:a16="http://schemas.microsoft.com/office/drawing/2014/main" id="{51899AE9-950B-1618-7D19-22BD05A99B55}"/>
              </a:ext>
            </a:extLst>
          </p:cNvPr>
          <p:cNvSpPr/>
          <p:nvPr/>
        </p:nvSpPr>
        <p:spPr>
          <a:xfrm>
            <a:off x="1362764" y="3621553"/>
            <a:ext cx="9634578"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F5F3E4"/>
                </a:solidFill>
                <a:effectLst/>
                <a:uLnTx/>
                <a:uFillTx/>
                <a:latin typeface="Montserrat ExtraBold" pitchFamily="34" charset="0"/>
                <a:ea typeface="Montserrat ExtraBold" pitchFamily="34" charset="-122"/>
                <a:cs typeface="Montserrat ExtraBold" pitchFamily="34" charset="-120"/>
              </a:rPr>
              <a:t>The breakthrough outside-in perspective</a:t>
            </a:r>
          </a:p>
          <a:p>
            <a:pPr marL="0" marR="0" lvl="0" indent="0" algn="l" defTabSz="304815" rtl="0" eaLnBrk="1" fontAlgn="auto" latinLnBrk="0" hangingPunct="1">
              <a:lnSpc>
                <a:spcPts val="2925"/>
              </a:lnSpc>
              <a:spcBef>
                <a:spcPts val="0"/>
              </a:spcBef>
              <a:spcAft>
                <a:spcPts val="0"/>
              </a:spcAft>
              <a:buClrTx/>
              <a:buSzTx/>
              <a:buFontTx/>
              <a:buNone/>
              <a:tabLst/>
              <a:defRPr/>
            </a:pPr>
            <a:r>
              <a:rPr lang="en-US" sz="1600" cap="all" dirty="0">
                <a:solidFill>
                  <a:srgbClr val="F5F3E4"/>
                </a:solidFill>
                <a:latin typeface="Montserrat ExtraBold" pitchFamily="34" charset="0"/>
              </a:rPr>
              <a:t>Segmenting customers on </a:t>
            </a:r>
            <a:r>
              <a:rPr lang="en-US" sz="1600" cap="all" dirty="0">
                <a:solidFill>
                  <a:srgbClr val="FFC000"/>
                </a:solidFill>
                <a:latin typeface="Montserrat ExtraBold" pitchFamily="34" charset="0"/>
              </a:rPr>
              <a:t>their experiential needs</a:t>
            </a:r>
            <a:endParaRPr kumimoji="0" lang="en-US" sz="1600" b="0" i="0" u="none" strike="noStrike" kern="1200" cap="all" spc="0" normalizeH="0" baseline="0" noProof="0" dirty="0">
              <a:ln>
                <a:noFill/>
              </a:ln>
              <a:solidFill>
                <a:srgbClr val="FFC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38128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3F3FF"/>
        </a:solidFill>
        <a:effectLst/>
      </p:bgPr>
    </p:bg>
    <p:spTree>
      <p:nvGrpSpPr>
        <p:cNvPr id="1" name="">
          <a:extLst>
            <a:ext uri="{FF2B5EF4-FFF2-40B4-BE49-F238E27FC236}">
              <a16:creationId xmlns:a16="http://schemas.microsoft.com/office/drawing/2014/main" id="{6E836D0F-75DA-B6AC-9EE2-CADD3986E64D}"/>
            </a:ext>
          </a:extLst>
        </p:cNvPr>
        <p:cNvGrpSpPr/>
        <p:nvPr/>
      </p:nvGrpSpPr>
      <p:grpSpPr>
        <a:xfrm>
          <a:off x="0" y="0"/>
          <a:ext cx="0" cy="0"/>
          <a:chOff x="0" y="0"/>
          <a:chExt cx="0" cy="0"/>
        </a:xfrm>
      </p:grpSpPr>
      <p:sp>
        <p:nvSpPr>
          <p:cNvPr id="28" name="Object5">
            <a:extLst>
              <a:ext uri="{FF2B5EF4-FFF2-40B4-BE49-F238E27FC236}">
                <a16:creationId xmlns:a16="http://schemas.microsoft.com/office/drawing/2014/main" id="{BC000CE7-5FDE-18D0-8849-A0627CFF3D12}"/>
              </a:ext>
            </a:extLst>
          </p:cNvPr>
          <p:cNvSpPr/>
          <p:nvPr/>
        </p:nvSpPr>
        <p:spPr>
          <a:xfrm>
            <a:off x="1621" y="5532787"/>
            <a:ext cx="12192000" cy="707211"/>
          </a:xfrm>
          <a:prstGeom prst="rect">
            <a:avLst/>
          </a:prstGeom>
          <a:solidFill>
            <a:srgbClr val="993300"/>
          </a:solid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467" b="0" i="0" u="none" strike="noStrike" kern="1200" cap="none" spc="0" normalizeH="0" baseline="0" noProof="0" dirty="0">
              <a:ln>
                <a:noFill/>
              </a:ln>
              <a:solidFill>
                <a:srgbClr val="F5F3E4"/>
              </a:solidFill>
              <a:effectLst/>
              <a:uLnTx/>
              <a:uFillTx/>
              <a:latin typeface="Montserrat Medium" pitchFamily="2" charset="0"/>
              <a:ea typeface="+mn-ea"/>
              <a:cs typeface="Hepta Slab Regular" pitchFamily="2" charset="0"/>
            </a:endParaRPr>
          </a:p>
        </p:txBody>
      </p:sp>
      <p:sp>
        <p:nvSpPr>
          <p:cNvPr id="16" name="Object6">
            <a:extLst>
              <a:ext uri="{FF2B5EF4-FFF2-40B4-BE49-F238E27FC236}">
                <a16:creationId xmlns:a16="http://schemas.microsoft.com/office/drawing/2014/main" id="{CB41EE75-5236-B455-3810-A52B58323CC6}"/>
              </a:ext>
            </a:extLst>
          </p:cNvPr>
          <p:cNvSpPr/>
          <p:nvPr/>
        </p:nvSpPr>
        <p:spPr>
          <a:xfrm>
            <a:off x="447903" y="2088767"/>
            <a:ext cx="3339974" cy="840422"/>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3C7EFF"/>
                </a:solidFill>
                <a:effectLst/>
                <a:uLnTx/>
                <a:uFillTx/>
                <a:latin typeface="Montserrat ExtraBold" pitchFamily="34" charset="0"/>
                <a:ea typeface="Montserrat ExtraBold" pitchFamily="34" charset="-122"/>
                <a:cs typeface="Montserrat ExtraBold" pitchFamily="34" charset="-120"/>
              </a:rPr>
              <a:t>Recommended EXPERIENTIAL SEGMENTS </a:t>
            </a:r>
          </a:p>
        </p:txBody>
      </p:sp>
      <p:sp>
        <p:nvSpPr>
          <p:cNvPr id="14" name="Object5">
            <a:extLst>
              <a:ext uri="{FF2B5EF4-FFF2-40B4-BE49-F238E27FC236}">
                <a16:creationId xmlns:a16="http://schemas.microsoft.com/office/drawing/2014/main" id="{9087EEFE-6CCC-B876-5B45-ADAD670F8E45}"/>
              </a:ext>
            </a:extLst>
          </p:cNvPr>
          <p:cNvSpPr/>
          <p:nvPr/>
        </p:nvSpPr>
        <p:spPr>
          <a:xfrm>
            <a:off x="3929071" y="2553042"/>
            <a:ext cx="2889296" cy="2418166"/>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rPr>
              <a:t>Primary Segment</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rPr>
              <a:t>45+ years of age from the southern part of India &amp; is Non-Resident Indian </a:t>
            </a:r>
          </a:p>
          <a:p>
            <a:pPr marL="0" marR="0" lvl="0" indent="0" algn="l" defTabSz="304815" rtl="0" eaLnBrk="1" fontAlgn="auto" latinLnBrk="0" hangingPunct="1">
              <a:lnSpc>
                <a:spcPct val="100000"/>
              </a:lnSpc>
              <a:spcBef>
                <a:spcPts val="0"/>
              </a:spcBef>
              <a:spcAft>
                <a:spcPts val="800"/>
              </a:spcAft>
              <a:buClrTx/>
              <a:buSzTx/>
              <a:buFontTx/>
              <a:buNone/>
              <a:tabLst/>
              <a:defRPr/>
            </a:pPr>
            <a:r>
              <a:rPr lang="en-US" sz="1600" dirty="0">
                <a:solidFill>
                  <a:srgbClr val="7030A0"/>
                </a:solidFill>
                <a:latin typeface="Montserrat SemiBold" panose="00000700000000000000" pitchFamily="2" charset="0"/>
                <a:cs typeface="Hepta Slab Regular" pitchFamily="2" charset="0"/>
              </a:rPr>
              <a:t>CURRENT STRONGHOLD</a:t>
            </a:r>
            <a:endParaRPr kumimoji="0" lang="en-US" sz="1600" b="0" i="0" u="none" strike="noStrike" kern="1200" cap="none" spc="0" normalizeH="0" baseline="0" noProof="0" dirty="0">
              <a:ln>
                <a:noFill/>
              </a:ln>
              <a:solidFill>
                <a:srgbClr val="7030A0"/>
              </a:solidFill>
              <a:effectLst/>
              <a:uLnTx/>
              <a:uFillTx/>
              <a:latin typeface="Montserrat SemiBold" panose="00000700000000000000" pitchFamily="2" charset="0"/>
              <a:cs typeface="Hepta Slab Regular" pitchFamily="2" charset="0"/>
            </a:endParaRPr>
          </a:p>
        </p:txBody>
      </p:sp>
      <p:sp>
        <p:nvSpPr>
          <p:cNvPr id="20" name="Object5">
            <a:extLst>
              <a:ext uri="{FF2B5EF4-FFF2-40B4-BE49-F238E27FC236}">
                <a16:creationId xmlns:a16="http://schemas.microsoft.com/office/drawing/2014/main" id="{150CCE0D-F237-66DE-0496-9A91D45D0000}"/>
              </a:ext>
            </a:extLst>
          </p:cNvPr>
          <p:cNvSpPr/>
          <p:nvPr/>
        </p:nvSpPr>
        <p:spPr>
          <a:xfrm>
            <a:off x="3929071" y="2024230"/>
            <a:ext cx="2640000" cy="2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C7EFF"/>
                </a:solidFill>
                <a:effectLst/>
                <a:uLnTx/>
                <a:uFillTx/>
                <a:latin typeface="Montserrat ExtraBold" pitchFamily="2" charset="0"/>
                <a:ea typeface="+mn-ea"/>
                <a:cs typeface="Hepta Slab Regular" pitchFamily="2" charset="0"/>
              </a:rPr>
              <a:t>PRAVASI PIONEERS</a:t>
            </a:r>
          </a:p>
        </p:txBody>
      </p:sp>
      <p:sp>
        <p:nvSpPr>
          <p:cNvPr id="24" name="Object5">
            <a:extLst>
              <a:ext uri="{FF2B5EF4-FFF2-40B4-BE49-F238E27FC236}">
                <a16:creationId xmlns:a16="http://schemas.microsoft.com/office/drawing/2014/main" id="{D6FCD85F-9A81-70AC-E4C8-100B4DF10A78}"/>
              </a:ext>
            </a:extLst>
          </p:cNvPr>
          <p:cNvSpPr/>
          <p:nvPr/>
        </p:nvSpPr>
        <p:spPr>
          <a:xfrm>
            <a:off x="3929072" y="2929189"/>
            <a:ext cx="2640000" cy="2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prstClr val="white">
                    <a:lumMod val="85000"/>
                  </a:prstClr>
                </a:solidFill>
                <a:effectLst/>
                <a:uLnTx/>
                <a:uFillTx/>
                <a:latin typeface="Hepta Slab Medium" pitchFamily="2" charset="0"/>
                <a:ea typeface="Hepta Slab Regular" pitchFamily="34" charset="-122"/>
                <a:cs typeface="Hepta Slab Medium" pitchFamily="2" charset="0"/>
              </a:rPr>
              <a:t>---</a:t>
            </a:r>
            <a:endParaRPr kumimoji="0" lang="en-US" sz="1200" b="0" i="0" u="none" strike="noStrike" kern="1200" cap="none" spc="0" normalizeH="0" baseline="0" noProof="0" dirty="0">
              <a:ln>
                <a:noFill/>
              </a:ln>
              <a:solidFill>
                <a:prstClr val="white">
                  <a:lumMod val="85000"/>
                </a:prstClr>
              </a:solidFill>
              <a:effectLst/>
              <a:uLnTx/>
              <a:uFillTx/>
              <a:latin typeface="Hepta Slab Medium" pitchFamily="2" charset="0"/>
              <a:ea typeface="+mn-ea"/>
              <a:cs typeface="Hepta Slab Medium" pitchFamily="2" charset="0"/>
            </a:endParaRPr>
          </a:p>
        </p:txBody>
      </p:sp>
      <p:sp>
        <p:nvSpPr>
          <p:cNvPr id="19" name="Object5">
            <a:extLst>
              <a:ext uri="{FF2B5EF4-FFF2-40B4-BE49-F238E27FC236}">
                <a16:creationId xmlns:a16="http://schemas.microsoft.com/office/drawing/2014/main" id="{34CB50DB-478F-EDE7-EC61-67502D4EE501}"/>
              </a:ext>
            </a:extLst>
          </p:cNvPr>
          <p:cNvSpPr/>
          <p:nvPr/>
        </p:nvSpPr>
        <p:spPr>
          <a:xfrm>
            <a:off x="3959891" y="5632689"/>
            <a:ext cx="2640000" cy="586761"/>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500" b="0" i="0" u="none" strike="noStrike" kern="1200" cap="none" spc="0" normalizeH="0" baseline="0" noProof="0" dirty="0">
                <a:ln>
                  <a:noFill/>
                </a:ln>
                <a:solidFill>
                  <a:srgbClr val="F5F3E4"/>
                </a:solidFill>
                <a:effectLst/>
                <a:uLnTx/>
                <a:uFillTx/>
                <a:latin typeface="Montserrat ExtraBold" pitchFamily="2" charset="0"/>
                <a:ea typeface="Hepta Slab Regular" pitchFamily="34" charset="-122"/>
                <a:cs typeface="Hepta Slab Regular" pitchFamily="2" charset="0"/>
              </a:rPr>
              <a:t>Primary desired emotion</a:t>
            </a:r>
            <a:br>
              <a:rPr kumimoji="0" lang="en-US" sz="1333" b="0" i="0" u="none" strike="noStrike" kern="1200" cap="none" spc="0" normalizeH="0" baseline="0" noProof="0" dirty="0">
                <a:ln>
                  <a:noFill/>
                </a:ln>
                <a:solidFill>
                  <a:srgbClr val="F5F3E4"/>
                </a:solidFill>
                <a:effectLst/>
                <a:uLnTx/>
                <a:uFillTx/>
                <a:latin typeface="Montserrat Medium" pitchFamily="2" charset="0"/>
                <a:ea typeface="Hepta Slab Regular" pitchFamily="34" charset="-122"/>
                <a:cs typeface="Hepta Slab Regular" pitchFamily="2" charset="0"/>
              </a:rPr>
            </a:br>
            <a:r>
              <a:rPr kumimoji="0" lang="en-US" sz="1600" b="0" i="0" u="none" strike="noStrike" kern="1200" cap="none" spc="0" normalizeH="0" baseline="0" noProof="0" dirty="0">
                <a:ln>
                  <a:noFill/>
                </a:ln>
                <a:solidFill>
                  <a:srgbClr val="F5F3E4"/>
                </a:solidFill>
                <a:effectLst/>
                <a:uLnTx/>
                <a:uFillTx/>
                <a:latin typeface="Montserrat Medium" pitchFamily="2" charset="0"/>
                <a:ea typeface="+mn-ea"/>
                <a:cs typeface="Hepta Slab Regular" pitchFamily="2" charset="0"/>
              </a:rPr>
              <a:t>Assurance and faith</a:t>
            </a:r>
          </a:p>
        </p:txBody>
      </p:sp>
      <p:sp>
        <p:nvSpPr>
          <p:cNvPr id="22" name="Object5">
            <a:extLst>
              <a:ext uri="{FF2B5EF4-FFF2-40B4-BE49-F238E27FC236}">
                <a16:creationId xmlns:a16="http://schemas.microsoft.com/office/drawing/2014/main" id="{250988C8-20C3-5B9B-BE8F-BECC5A3333F1}"/>
              </a:ext>
            </a:extLst>
          </p:cNvPr>
          <p:cNvSpPr/>
          <p:nvPr/>
        </p:nvSpPr>
        <p:spPr>
          <a:xfrm>
            <a:off x="7494398" y="5632689"/>
            <a:ext cx="2640000" cy="586761"/>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500" b="0" i="0" u="none" strike="noStrike" kern="1200" cap="none" spc="0" normalizeH="0" baseline="0" noProof="0" dirty="0">
                <a:ln>
                  <a:noFill/>
                </a:ln>
                <a:solidFill>
                  <a:srgbClr val="F5F3E4"/>
                </a:solidFill>
                <a:effectLst/>
                <a:uLnTx/>
                <a:uFillTx/>
                <a:latin typeface="Montserrat ExtraBold" pitchFamily="2" charset="0"/>
                <a:ea typeface="Hepta Slab Regular" pitchFamily="34" charset="-122"/>
                <a:cs typeface="Hepta Slab Regular" pitchFamily="2" charset="0"/>
              </a:rPr>
              <a:t>Primary desired emotion</a:t>
            </a:r>
            <a:br>
              <a:rPr kumimoji="0" lang="en-US" sz="1467" b="0" i="0" u="none" strike="noStrike" kern="1200" cap="none" spc="0" normalizeH="0" baseline="0" noProof="0" dirty="0">
                <a:ln>
                  <a:noFill/>
                </a:ln>
                <a:solidFill>
                  <a:srgbClr val="F5F3E4"/>
                </a:solidFill>
                <a:effectLst/>
                <a:uLnTx/>
                <a:uFillTx/>
                <a:latin typeface="Montserrat ExtraBold" pitchFamily="2" charset="0"/>
                <a:ea typeface="Hepta Slab Regular" pitchFamily="34" charset="-122"/>
                <a:cs typeface="Hepta Slab Regular" pitchFamily="2" charset="0"/>
              </a:rPr>
            </a:br>
            <a:r>
              <a:rPr kumimoji="0" lang="en-US" sz="1600" b="0" i="0" u="none" strike="noStrike" kern="1200" cap="none" spc="0" normalizeH="0" baseline="0" noProof="0" dirty="0">
                <a:ln>
                  <a:noFill/>
                </a:ln>
                <a:solidFill>
                  <a:srgbClr val="F5F3E4"/>
                </a:solidFill>
                <a:effectLst/>
                <a:uLnTx/>
                <a:uFillTx/>
                <a:latin typeface="Montserrat Medium" pitchFamily="2" charset="0"/>
                <a:ea typeface="+mn-ea"/>
                <a:cs typeface="Hepta Slab Regular" pitchFamily="2" charset="0"/>
              </a:rPr>
              <a:t>Convenience and priority</a:t>
            </a:r>
          </a:p>
        </p:txBody>
      </p:sp>
      <p:pic>
        <p:nvPicPr>
          <p:cNvPr id="3" name="Picture 2">
            <a:extLst>
              <a:ext uri="{FF2B5EF4-FFF2-40B4-BE49-F238E27FC236}">
                <a16:creationId xmlns:a16="http://schemas.microsoft.com/office/drawing/2014/main" id="{ED3382A5-92D4-3F12-8AA8-3992DFFB2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0833" y="741074"/>
            <a:ext cx="1568239" cy="1279587"/>
          </a:xfrm>
          <a:prstGeom prst="rect">
            <a:avLst/>
          </a:prstGeom>
        </p:spPr>
      </p:pic>
      <p:grpSp>
        <p:nvGrpSpPr>
          <p:cNvPr id="31" name="Group 30">
            <a:extLst>
              <a:ext uri="{FF2B5EF4-FFF2-40B4-BE49-F238E27FC236}">
                <a16:creationId xmlns:a16="http://schemas.microsoft.com/office/drawing/2014/main" id="{4E080200-8B2B-66AF-7802-51EED25117CC}"/>
              </a:ext>
            </a:extLst>
          </p:cNvPr>
          <p:cNvGrpSpPr/>
          <p:nvPr/>
        </p:nvGrpSpPr>
        <p:grpSpPr>
          <a:xfrm>
            <a:off x="-61290" y="6053155"/>
            <a:ext cx="12253290" cy="971832"/>
            <a:chOff x="-187799" y="8336784"/>
            <a:chExt cx="18379935" cy="1457748"/>
          </a:xfrm>
        </p:grpSpPr>
        <p:pic>
          <p:nvPicPr>
            <p:cNvPr id="32" name="Picture 31">
              <a:extLst>
                <a:ext uri="{FF2B5EF4-FFF2-40B4-BE49-F238E27FC236}">
                  <a16:creationId xmlns:a16="http://schemas.microsoft.com/office/drawing/2014/main" id="{34F5F3D3-728C-FCF7-CD3E-4FFCFB06CA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33" name="Title 1">
              <a:extLst>
                <a:ext uri="{FF2B5EF4-FFF2-40B4-BE49-F238E27FC236}">
                  <a16:creationId xmlns:a16="http://schemas.microsoft.com/office/drawing/2014/main" id="{86CD8545-FA1F-BEB0-C2AB-6C5E3D1A713B}"/>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34" name="Picture 33">
              <a:extLst>
                <a:ext uri="{FF2B5EF4-FFF2-40B4-BE49-F238E27FC236}">
                  <a16:creationId xmlns:a16="http://schemas.microsoft.com/office/drawing/2014/main" id="{1D539781-453D-A6FF-0AC8-866A513196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36" name="TextBox 35">
            <a:extLst>
              <a:ext uri="{FF2B5EF4-FFF2-40B4-BE49-F238E27FC236}">
                <a16:creationId xmlns:a16="http://schemas.microsoft.com/office/drawing/2014/main" id="{AE301693-F546-9484-DE48-7D6F933FFCF5}"/>
              </a:ext>
            </a:extLst>
          </p:cNvPr>
          <p:cNvSpPr txBox="1"/>
          <p:nvPr/>
        </p:nvSpPr>
        <p:spPr>
          <a:xfrm>
            <a:off x="11372190" y="6269526"/>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74</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37" name="Object5">
            <a:extLst>
              <a:ext uri="{FF2B5EF4-FFF2-40B4-BE49-F238E27FC236}">
                <a16:creationId xmlns:a16="http://schemas.microsoft.com/office/drawing/2014/main" id="{EDB11A93-5AE0-9BDF-CB55-5FA8F8ABCC92}"/>
              </a:ext>
            </a:extLst>
          </p:cNvPr>
          <p:cNvSpPr/>
          <p:nvPr/>
        </p:nvSpPr>
        <p:spPr>
          <a:xfrm>
            <a:off x="3919775" y="2304011"/>
            <a:ext cx="2889297" cy="2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lumMod val="65000"/>
                    <a:lumOff val="35000"/>
                  </a:prstClr>
                </a:solidFill>
                <a:effectLst/>
                <a:uLnTx/>
                <a:uFillTx/>
                <a:latin typeface="Montserrat" panose="00000500000000000000" pitchFamily="2" charset="0"/>
                <a:ea typeface="+mn-ea"/>
                <a:cs typeface="Hepta Slab Regular" pitchFamily="2" charset="0"/>
              </a:rPr>
              <a:t>SEGMENT PROFILE IDENTIFIERS</a:t>
            </a:r>
          </a:p>
        </p:txBody>
      </p:sp>
      <p:sp>
        <p:nvSpPr>
          <p:cNvPr id="2" name="Object5">
            <a:extLst>
              <a:ext uri="{FF2B5EF4-FFF2-40B4-BE49-F238E27FC236}">
                <a16:creationId xmlns:a16="http://schemas.microsoft.com/office/drawing/2014/main" id="{3216301C-8266-622D-9A0C-9922F9DDA67E}"/>
              </a:ext>
            </a:extLst>
          </p:cNvPr>
          <p:cNvSpPr/>
          <p:nvPr/>
        </p:nvSpPr>
        <p:spPr>
          <a:xfrm>
            <a:off x="7472159" y="2553043"/>
            <a:ext cx="3240001" cy="2418166"/>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Montserrat Medium" pitchFamily="2" charset="0"/>
                <a:ea typeface="Hepta Slab Regular" pitchFamily="34" charset="-122"/>
                <a:cs typeface="Hepta Slab Regular" pitchFamily="2" charset="0"/>
              </a:rPr>
              <a:t> </a:t>
            </a:r>
            <a:r>
              <a:rPr kumimoji="0" lang="en-US" sz="24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rPr>
              <a:t>Adjacent Segment</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Montserrat Medium" pitchFamily="2" charset="0"/>
                <a:ea typeface="Hepta Slab Regular" pitchFamily="34" charset="-122"/>
                <a:cs typeface="Hepta Slab Regular" pitchFamily="2" charset="0"/>
              </a:rPr>
              <a:t>30-45-year-olds, Indians, who are relatives /spouses/children/friends of the "Pravasi Pioneers“</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Montserrat SemiBold" panose="00000700000000000000" pitchFamily="2" charset="0"/>
                <a:ea typeface="+mn-ea"/>
                <a:cs typeface="Hepta Slab Regular" pitchFamily="2" charset="0"/>
              </a:rPr>
              <a:t>LOW-HANGING ADJACENCY</a:t>
            </a: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800" b="0" i="0" u="none" strike="noStrike" kern="1200" cap="none" spc="0" normalizeH="0" baseline="0" noProof="0" dirty="0">
              <a:ln>
                <a:noFill/>
              </a:ln>
              <a:solidFill>
                <a:srgbClr val="7030A0"/>
              </a:solidFill>
              <a:effectLst/>
              <a:uLnTx/>
              <a:uFillTx/>
              <a:latin typeface="Montserrat Medium" pitchFamily="2" charset="0"/>
              <a:ea typeface="Hepta Slab Regular" pitchFamily="34" charset="-122"/>
              <a:cs typeface="Hepta Slab Regular" pitchFamily="2" charset="0"/>
            </a:endParaRPr>
          </a:p>
        </p:txBody>
      </p:sp>
      <p:sp>
        <p:nvSpPr>
          <p:cNvPr id="5" name="Object5">
            <a:extLst>
              <a:ext uri="{FF2B5EF4-FFF2-40B4-BE49-F238E27FC236}">
                <a16:creationId xmlns:a16="http://schemas.microsoft.com/office/drawing/2014/main" id="{50E9E6E8-A199-0FCC-5EF2-06D113DA50BE}"/>
              </a:ext>
            </a:extLst>
          </p:cNvPr>
          <p:cNvSpPr/>
          <p:nvPr/>
        </p:nvSpPr>
        <p:spPr>
          <a:xfrm>
            <a:off x="7472159" y="2024230"/>
            <a:ext cx="3240001" cy="24823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C7EFF"/>
                </a:solidFill>
                <a:effectLst/>
                <a:uLnTx/>
                <a:uFillTx/>
                <a:latin typeface="Montserrat ExtraBold" pitchFamily="2" charset="0"/>
                <a:ea typeface="+mn-ea"/>
                <a:cs typeface="Hepta Slab Regular" pitchFamily="2" charset="0"/>
              </a:rPr>
              <a:t>ANCHOR ALLIANCE</a:t>
            </a:r>
          </a:p>
        </p:txBody>
      </p:sp>
      <p:sp>
        <p:nvSpPr>
          <p:cNvPr id="8" name="Object5">
            <a:extLst>
              <a:ext uri="{FF2B5EF4-FFF2-40B4-BE49-F238E27FC236}">
                <a16:creationId xmlns:a16="http://schemas.microsoft.com/office/drawing/2014/main" id="{2FD4BB58-47B2-2A2F-FF9C-C97C2C35278C}"/>
              </a:ext>
            </a:extLst>
          </p:cNvPr>
          <p:cNvSpPr/>
          <p:nvPr/>
        </p:nvSpPr>
        <p:spPr>
          <a:xfrm>
            <a:off x="8732190" y="2415486"/>
            <a:ext cx="2640000" cy="166754"/>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prstClr val="white">
                    <a:lumMod val="85000"/>
                  </a:prstClr>
                </a:solidFill>
                <a:effectLst/>
                <a:uLnTx/>
                <a:uFillTx/>
                <a:latin typeface="Hepta Slab Medium" pitchFamily="2" charset="0"/>
                <a:ea typeface="Hepta Slab Regular" pitchFamily="34" charset="-122"/>
                <a:cs typeface="Hepta Slab Medium" pitchFamily="2" charset="0"/>
              </a:rPr>
              <a:t>---</a:t>
            </a:r>
            <a:endParaRPr kumimoji="0" lang="en-US" sz="1333" b="0" i="0" u="none" strike="noStrike" kern="1200" cap="none" spc="0" normalizeH="0" baseline="0" noProof="0" dirty="0">
              <a:ln>
                <a:noFill/>
              </a:ln>
              <a:solidFill>
                <a:prstClr val="white">
                  <a:lumMod val="85000"/>
                </a:prstClr>
              </a:solidFill>
              <a:effectLst/>
              <a:uLnTx/>
              <a:uFillTx/>
              <a:latin typeface="Hepta Slab Medium" pitchFamily="2" charset="0"/>
              <a:ea typeface="+mn-ea"/>
              <a:cs typeface="Hepta Slab Medium" pitchFamily="2" charset="0"/>
            </a:endParaRPr>
          </a:p>
        </p:txBody>
      </p:sp>
      <p:pic>
        <p:nvPicPr>
          <p:cNvPr id="10" name="Picture 9">
            <a:extLst>
              <a:ext uri="{FF2B5EF4-FFF2-40B4-BE49-F238E27FC236}">
                <a16:creationId xmlns:a16="http://schemas.microsoft.com/office/drawing/2014/main" id="{A8EBFC2E-66F0-8A74-4325-BA9D94B1B1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55748" y="786427"/>
            <a:ext cx="1311542" cy="1188880"/>
          </a:xfrm>
          <a:prstGeom prst="rect">
            <a:avLst/>
          </a:prstGeom>
        </p:spPr>
      </p:pic>
      <p:sp>
        <p:nvSpPr>
          <p:cNvPr id="11" name="Object5">
            <a:extLst>
              <a:ext uri="{FF2B5EF4-FFF2-40B4-BE49-F238E27FC236}">
                <a16:creationId xmlns:a16="http://schemas.microsoft.com/office/drawing/2014/main" id="{36DF2035-46BA-B032-FC95-28E96616D7D9}"/>
              </a:ext>
            </a:extLst>
          </p:cNvPr>
          <p:cNvSpPr/>
          <p:nvPr/>
        </p:nvSpPr>
        <p:spPr>
          <a:xfrm>
            <a:off x="7462863" y="2304011"/>
            <a:ext cx="2889297" cy="2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lumMod val="65000"/>
                    <a:lumOff val="35000"/>
                  </a:prstClr>
                </a:solidFill>
                <a:effectLst/>
                <a:uLnTx/>
                <a:uFillTx/>
                <a:latin typeface="Montserrat" panose="00000500000000000000" pitchFamily="2" charset="0"/>
                <a:ea typeface="+mn-ea"/>
                <a:cs typeface="Hepta Slab Regular" pitchFamily="2" charset="0"/>
              </a:rPr>
              <a:t>SEGMENT PROFILE IDENTIFIERS</a:t>
            </a:r>
          </a:p>
        </p:txBody>
      </p:sp>
    </p:spTree>
    <p:extLst>
      <p:ext uri="{BB962C8B-B14F-4D97-AF65-F5344CB8AC3E}">
        <p14:creationId xmlns:p14="http://schemas.microsoft.com/office/powerpoint/2010/main" val="24445290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3F3FF"/>
        </a:solidFill>
        <a:effectLst/>
      </p:bgPr>
    </p:bg>
    <p:spTree>
      <p:nvGrpSpPr>
        <p:cNvPr id="1" name="">
          <a:extLst>
            <a:ext uri="{FF2B5EF4-FFF2-40B4-BE49-F238E27FC236}">
              <a16:creationId xmlns:a16="http://schemas.microsoft.com/office/drawing/2014/main" id="{35A988B6-7F1C-88F2-BD9C-D566F04E25C0}"/>
            </a:ext>
          </a:extLst>
        </p:cNvPr>
        <p:cNvGrpSpPr/>
        <p:nvPr/>
      </p:nvGrpSpPr>
      <p:grpSpPr>
        <a:xfrm>
          <a:off x="0" y="0"/>
          <a:ext cx="0" cy="0"/>
          <a:chOff x="0" y="0"/>
          <a:chExt cx="0" cy="0"/>
        </a:xfrm>
      </p:grpSpPr>
      <p:sp>
        <p:nvSpPr>
          <p:cNvPr id="28" name="Object5">
            <a:extLst>
              <a:ext uri="{FF2B5EF4-FFF2-40B4-BE49-F238E27FC236}">
                <a16:creationId xmlns:a16="http://schemas.microsoft.com/office/drawing/2014/main" id="{C1A5A4DF-C380-33BF-8E03-CAF83187B96D}"/>
              </a:ext>
            </a:extLst>
          </p:cNvPr>
          <p:cNvSpPr/>
          <p:nvPr/>
        </p:nvSpPr>
        <p:spPr>
          <a:xfrm>
            <a:off x="1621" y="5532787"/>
            <a:ext cx="12192000" cy="707211"/>
          </a:xfrm>
          <a:prstGeom prst="rect">
            <a:avLst/>
          </a:prstGeom>
          <a:solidFill>
            <a:srgbClr val="993300"/>
          </a:solid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467" b="0" i="0" u="none" strike="noStrike" kern="1200" cap="none" spc="0" normalizeH="0" baseline="0" noProof="0" dirty="0">
              <a:ln>
                <a:noFill/>
              </a:ln>
              <a:solidFill>
                <a:srgbClr val="F5F3E4"/>
              </a:solidFill>
              <a:effectLst/>
              <a:uLnTx/>
              <a:uFillTx/>
              <a:latin typeface="Montserrat Medium" pitchFamily="2" charset="0"/>
              <a:ea typeface="+mn-ea"/>
              <a:cs typeface="Hepta Slab Regular" pitchFamily="2" charset="0"/>
            </a:endParaRPr>
          </a:p>
        </p:txBody>
      </p:sp>
      <p:sp>
        <p:nvSpPr>
          <p:cNvPr id="19" name="Object5">
            <a:extLst>
              <a:ext uri="{FF2B5EF4-FFF2-40B4-BE49-F238E27FC236}">
                <a16:creationId xmlns:a16="http://schemas.microsoft.com/office/drawing/2014/main" id="{FFF08EA8-B938-3471-5191-43010BDD59DF}"/>
              </a:ext>
            </a:extLst>
          </p:cNvPr>
          <p:cNvSpPr/>
          <p:nvPr/>
        </p:nvSpPr>
        <p:spPr>
          <a:xfrm>
            <a:off x="4134165" y="5665962"/>
            <a:ext cx="2640000" cy="586761"/>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500" b="0" i="0" u="none" strike="noStrike" kern="1200" cap="none" spc="0" normalizeH="0" baseline="0" noProof="0" dirty="0">
                <a:ln>
                  <a:noFill/>
                </a:ln>
                <a:solidFill>
                  <a:srgbClr val="F5F3E4"/>
                </a:solidFill>
                <a:effectLst/>
                <a:uLnTx/>
                <a:uFillTx/>
                <a:latin typeface="Montserrat ExtraBold" pitchFamily="2" charset="0"/>
                <a:ea typeface="Hepta Slab Regular" pitchFamily="34" charset="-122"/>
                <a:cs typeface="Hepta Slab Regular" pitchFamily="2" charset="0"/>
              </a:rPr>
              <a:t>Primary desired emotion</a:t>
            </a:r>
            <a:br>
              <a:rPr kumimoji="0" lang="en-US" sz="1333" b="0" i="0" u="none" strike="noStrike" kern="1200" cap="none" spc="0" normalizeH="0" baseline="0" noProof="0" dirty="0">
                <a:ln>
                  <a:noFill/>
                </a:ln>
                <a:solidFill>
                  <a:srgbClr val="F5F3E4"/>
                </a:solidFill>
                <a:effectLst/>
                <a:uLnTx/>
                <a:uFillTx/>
                <a:latin typeface="Montserrat Medium" pitchFamily="2" charset="0"/>
                <a:ea typeface="Hepta Slab Regular" pitchFamily="34" charset="-122"/>
                <a:cs typeface="Hepta Slab Regular" pitchFamily="2" charset="0"/>
              </a:rPr>
            </a:br>
            <a:r>
              <a:rPr kumimoji="0" lang="en-US" sz="1600" b="0" i="0" u="none" strike="noStrike" kern="1200" cap="none" spc="0" normalizeH="0" baseline="0" noProof="0" dirty="0">
                <a:ln>
                  <a:noFill/>
                </a:ln>
                <a:solidFill>
                  <a:srgbClr val="F5F3E4"/>
                </a:solidFill>
                <a:effectLst/>
                <a:uLnTx/>
                <a:uFillTx/>
                <a:latin typeface="Montserrat Medium" pitchFamily="2" charset="0"/>
                <a:ea typeface="+mn-ea"/>
                <a:cs typeface="Hepta Slab Regular" pitchFamily="2" charset="0"/>
              </a:rPr>
              <a:t>Assurance and faith</a:t>
            </a:r>
          </a:p>
        </p:txBody>
      </p:sp>
      <p:sp>
        <p:nvSpPr>
          <p:cNvPr id="27" name="Object5">
            <a:extLst>
              <a:ext uri="{FF2B5EF4-FFF2-40B4-BE49-F238E27FC236}">
                <a16:creationId xmlns:a16="http://schemas.microsoft.com/office/drawing/2014/main" id="{93D89A58-E175-52A0-05B4-0159720EC884}"/>
              </a:ext>
            </a:extLst>
          </p:cNvPr>
          <p:cNvSpPr/>
          <p:nvPr/>
        </p:nvSpPr>
        <p:spPr>
          <a:xfrm>
            <a:off x="7160360" y="5652340"/>
            <a:ext cx="2640000" cy="586761"/>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500" b="0" i="0" u="none" strike="noStrike" kern="1200" cap="none" spc="0" normalizeH="0" baseline="0" noProof="0" dirty="0">
                <a:ln>
                  <a:noFill/>
                </a:ln>
                <a:solidFill>
                  <a:srgbClr val="F5F3E4"/>
                </a:solidFill>
                <a:effectLst/>
                <a:uLnTx/>
                <a:uFillTx/>
                <a:latin typeface="Montserrat ExtraBold" pitchFamily="2" charset="0"/>
                <a:ea typeface="Hepta Slab Regular" pitchFamily="34" charset="-122"/>
                <a:cs typeface="Hepta Slab Regular" pitchFamily="2" charset="0"/>
              </a:rPr>
              <a:t>Aspirational Focus</a:t>
            </a:r>
            <a:br>
              <a:rPr kumimoji="0" lang="en-US" sz="1500" b="0" i="0" u="none" strike="noStrike" kern="1200" cap="none" spc="0" normalizeH="0" baseline="0" noProof="0" dirty="0">
                <a:ln>
                  <a:noFill/>
                </a:ln>
                <a:solidFill>
                  <a:srgbClr val="F5F3E4"/>
                </a:solidFill>
                <a:effectLst/>
                <a:uLnTx/>
                <a:uFillTx/>
                <a:latin typeface="Montserrat ExtraBold" pitchFamily="2" charset="0"/>
                <a:ea typeface="Hepta Slab Regular" pitchFamily="34" charset="-122"/>
                <a:cs typeface="Hepta Slab Regular" pitchFamily="2" charset="0"/>
              </a:rPr>
            </a:br>
            <a:r>
              <a:rPr kumimoji="0" lang="en-US" sz="1600" b="0" i="0" u="none" strike="noStrike" kern="1200" cap="none" spc="0" normalizeH="0" baseline="0" noProof="0" dirty="0">
                <a:ln>
                  <a:noFill/>
                </a:ln>
                <a:solidFill>
                  <a:srgbClr val="F5F3E4"/>
                </a:solidFill>
                <a:effectLst/>
                <a:uLnTx/>
                <a:uFillTx/>
                <a:latin typeface="Montserrat Medium" pitchFamily="2" charset="0"/>
                <a:ea typeface="+mn-ea"/>
                <a:cs typeface="Hepta Slab Regular" pitchFamily="2" charset="0"/>
              </a:rPr>
              <a:t>Prestige and exclusivity</a:t>
            </a:r>
            <a:endParaRPr kumimoji="0" lang="en-US" sz="1467" b="0" i="0" u="none" strike="noStrike" kern="1200" cap="none" spc="0" normalizeH="0" baseline="0" noProof="0" dirty="0">
              <a:ln>
                <a:noFill/>
              </a:ln>
              <a:solidFill>
                <a:srgbClr val="F5F3E4"/>
              </a:solidFill>
              <a:effectLst/>
              <a:uLnTx/>
              <a:uFillTx/>
              <a:latin typeface="Montserrat Medium" pitchFamily="2" charset="0"/>
              <a:ea typeface="+mn-ea"/>
              <a:cs typeface="Hepta Slab Regular" pitchFamily="2" charset="0"/>
            </a:endParaRPr>
          </a:p>
        </p:txBody>
      </p:sp>
      <p:grpSp>
        <p:nvGrpSpPr>
          <p:cNvPr id="31" name="Group 30">
            <a:extLst>
              <a:ext uri="{FF2B5EF4-FFF2-40B4-BE49-F238E27FC236}">
                <a16:creationId xmlns:a16="http://schemas.microsoft.com/office/drawing/2014/main" id="{BB812051-1A18-3439-AB57-0634051925C4}"/>
              </a:ext>
            </a:extLst>
          </p:cNvPr>
          <p:cNvGrpSpPr/>
          <p:nvPr/>
        </p:nvGrpSpPr>
        <p:grpSpPr>
          <a:xfrm>
            <a:off x="-61290" y="6053155"/>
            <a:ext cx="12253290" cy="971832"/>
            <a:chOff x="-187799" y="8336784"/>
            <a:chExt cx="18379935" cy="1457748"/>
          </a:xfrm>
        </p:grpSpPr>
        <p:pic>
          <p:nvPicPr>
            <p:cNvPr id="32" name="Picture 31">
              <a:extLst>
                <a:ext uri="{FF2B5EF4-FFF2-40B4-BE49-F238E27FC236}">
                  <a16:creationId xmlns:a16="http://schemas.microsoft.com/office/drawing/2014/main" id="{7A7AE250-4012-261B-F0A1-48A2039D21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33" name="Title 1">
              <a:extLst>
                <a:ext uri="{FF2B5EF4-FFF2-40B4-BE49-F238E27FC236}">
                  <a16:creationId xmlns:a16="http://schemas.microsoft.com/office/drawing/2014/main" id="{93BB08D3-0C01-8B62-B66D-BE86DE99DEC7}"/>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34" name="Picture 33">
              <a:extLst>
                <a:ext uri="{FF2B5EF4-FFF2-40B4-BE49-F238E27FC236}">
                  <a16:creationId xmlns:a16="http://schemas.microsoft.com/office/drawing/2014/main" id="{98E38B83-22AA-B912-99EC-07EEC1E94A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36" name="TextBox 35">
            <a:extLst>
              <a:ext uri="{FF2B5EF4-FFF2-40B4-BE49-F238E27FC236}">
                <a16:creationId xmlns:a16="http://schemas.microsoft.com/office/drawing/2014/main" id="{D42EB1D1-4FA4-AB7D-BFFD-2765364BCAB8}"/>
              </a:ext>
            </a:extLst>
          </p:cNvPr>
          <p:cNvSpPr txBox="1"/>
          <p:nvPr/>
        </p:nvSpPr>
        <p:spPr>
          <a:xfrm>
            <a:off x="11372190" y="6269526"/>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75</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4" name="Object5">
            <a:extLst>
              <a:ext uri="{FF2B5EF4-FFF2-40B4-BE49-F238E27FC236}">
                <a16:creationId xmlns:a16="http://schemas.microsoft.com/office/drawing/2014/main" id="{FCAEF08B-C326-A7F2-E789-31F444E90585}"/>
              </a:ext>
            </a:extLst>
          </p:cNvPr>
          <p:cNvSpPr/>
          <p:nvPr/>
        </p:nvSpPr>
        <p:spPr>
          <a:xfrm>
            <a:off x="4139650" y="2178338"/>
            <a:ext cx="6996349" cy="3082906"/>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rPr>
              <a:t>Target Customer Base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rPr>
              <a:t>Age 40yrs &amp; above</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rPr>
              <a:t>Seek the agility, speed &amp; energy of modern Private banks like an HDFC or KOTAK OR DBS but also seek the “perceived” assurance, confidence, robustness &amp; solidity of banks like State Bank of India, ICICI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rPr>
              <a:t>Seek the sense of control &amp; empowerment associated with digital touchpoints but also would seek the assurance &amp; ownership that comes with contextual financial &amp; wealth management advice coming from an investment expert.</a:t>
            </a:r>
            <a:endParaRPr kumimoji="0" lang="en-IN" sz="1800" b="0" i="0" u="none" strike="noStrike" kern="1200" cap="none" spc="0" normalizeH="0" baseline="0" noProof="0" dirty="0">
              <a:ln>
                <a:noFill/>
              </a:ln>
              <a:solidFill>
                <a:srgbClr val="7030A0"/>
              </a:solidFill>
              <a:effectLst/>
              <a:uLnTx/>
              <a:uFillTx/>
              <a:latin typeface="Montserrat Medium" pitchFamily="2" charset="0"/>
              <a:ea typeface="+mn-ea"/>
              <a:cs typeface="Hepta Slab Regular" pitchFamily="2" charset="0"/>
            </a:endParaRPr>
          </a:p>
        </p:txBody>
      </p:sp>
      <p:sp>
        <p:nvSpPr>
          <p:cNvPr id="6" name="Object5">
            <a:extLst>
              <a:ext uri="{FF2B5EF4-FFF2-40B4-BE49-F238E27FC236}">
                <a16:creationId xmlns:a16="http://schemas.microsoft.com/office/drawing/2014/main" id="{04A9FD7F-1253-C554-660F-FAB3A6B4574E}"/>
              </a:ext>
            </a:extLst>
          </p:cNvPr>
          <p:cNvSpPr/>
          <p:nvPr/>
        </p:nvSpPr>
        <p:spPr>
          <a:xfrm>
            <a:off x="4139652" y="1649525"/>
            <a:ext cx="3540000" cy="24823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C7EFF"/>
                </a:solidFill>
                <a:effectLst/>
                <a:uLnTx/>
                <a:uFillTx/>
                <a:latin typeface="Montserrat ExtraBold" pitchFamily="2" charset="0"/>
                <a:ea typeface="Hepta Slab Regular" pitchFamily="34" charset="-122"/>
                <a:cs typeface="Hepta Slab Regular" pitchFamily="2" charset="0"/>
              </a:rPr>
              <a:t>ELITE SYNERGY</a:t>
            </a:r>
          </a:p>
        </p:txBody>
      </p:sp>
      <p:sp>
        <p:nvSpPr>
          <p:cNvPr id="8" name="Object5">
            <a:extLst>
              <a:ext uri="{FF2B5EF4-FFF2-40B4-BE49-F238E27FC236}">
                <a16:creationId xmlns:a16="http://schemas.microsoft.com/office/drawing/2014/main" id="{FFA9D54C-87C1-D5C9-7F5D-2FD123E03F10}"/>
              </a:ext>
            </a:extLst>
          </p:cNvPr>
          <p:cNvSpPr/>
          <p:nvPr/>
        </p:nvSpPr>
        <p:spPr>
          <a:xfrm>
            <a:off x="8732190" y="2415486"/>
            <a:ext cx="2640000" cy="166754"/>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333" b="0" i="0" u="none" strike="noStrike" kern="1200" cap="none" spc="0" normalizeH="0" baseline="0" noProof="0" dirty="0">
                <a:ln>
                  <a:noFill/>
                </a:ln>
                <a:solidFill>
                  <a:prstClr val="white">
                    <a:lumMod val="85000"/>
                  </a:prstClr>
                </a:solidFill>
                <a:effectLst/>
                <a:uLnTx/>
                <a:uFillTx/>
                <a:latin typeface="Hepta Slab Medium" pitchFamily="2" charset="0"/>
                <a:ea typeface="Hepta Slab Regular" pitchFamily="34" charset="-122"/>
                <a:cs typeface="Hepta Slab Medium" pitchFamily="2" charset="0"/>
              </a:rPr>
              <a:t>---</a:t>
            </a:r>
            <a:endParaRPr kumimoji="0" lang="en-US" sz="1333" b="0" i="0" u="none" strike="noStrike" kern="1200" cap="none" spc="0" normalizeH="0" baseline="0" noProof="0" dirty="0">
              <a:ln>
                <a:noFill/>
              </a:ln>
              <a:solidFill>
                <a:prstClr val="white">
                  <a:lumMod val="85000"/>
                </a:prstClr>
              </a:solidFill>
              <a:effectLst/>
              <a:uLnTx/>
              <a:uFillTx/>
              <a:latin typeface="Hepta Slab Medium" pitchFamily="2" charset="0"/>
              <a:ea typeface="+mn-ea"/>
              <a:cs typeface="Hepta Slab Medium" pitchFamily="2" charset="0"/>
            </a:endParaRPr>
          </a:p>
        </p:txBody>
      </p:sp>
      <p:pic>
        <p:nvPicPr>
          <p:cNvPr id="9" name="Picture 8">
            <a:extLst>
              <a:ext uri="{FF2B5EF4-FFF2-40B4-BE49-F238E27FC236}">
                <a16:creationId xmlns:a16="http://schemas.microsoft.com/office/drawing/2014/main" id="{AE406398-7EEC-1800-C41A-5B3E039A5A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9652" y="423903"/>
            <a:ext cx="1669051" cy="1164518"/>
          </a:xfrm>
          <a:prstGeom prst="rect">
            <a:avLst/>
          </a:prstGeom>
        </p:spPr>
      </p:pic>
      <p:sp>
        <p:nvSpPr>
          <p:cNvPr id="12" name="Object5">
            <a:extLst>
              <a:ext uri="{FF2B5EF4-FFF2-40B4-BE49-F238E27FC236}">
                <a16:creationId xmlns:a16="http://schemas.microsoft.com/office/drawing/2014/main" id="{01C1BF17-070B-C04B-87E4-9F550BA7CF71}"/>
              </a:ext>
            </a:extLst>
          </p:cNvPr>
          <p:cNvSpPr/>
          <p:nvPr/>
        </p:nvSpPr>
        <p:spPr>
          <a:xfrm>
            <a:off x="4134165" y="1929306"/>
            <a:ext cx="2889297" cy="2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lumMod val="65000"/>
                    <a:lumOff val="35000"/>
                  </a:prstClr>
                </a:solidFill>
                <a:effectLst/>
                <a:uLnTx/>
                <a:uFillTx/>
                <a:latin typeface="Montserrat" panose="00000500000000000000" pitchFamily="2" charset="0"/>
                <a:ea typeface="+mn-ea"/>
                <a:cs typeface="Hepta Slab Regular" pitchFamily="2" charset="0"/>
              </a:rPr>
              <a:t>SEGMENT PROFILE IDENTIFIERS</a:t>
            </a:r>
          </a:p>
        </p:txBody>
      </p:sp>
      <p:sp>
        <p:nvSpPr>
          <p:cNvPr id="2" name="Object6">
            <a:extLst>
              <a:ext uri="{FF2B5EF4-FFF2-40B4-BE49-F238E27FC236}">
                <a16:creationId xmlns:a16="http://schemas.microsoft.com/office/drawing/2014/main" id="{2A31102F-20DF-0670-95C5-571A9F8436E0}"/>
              </a:ext>
            </a:extLst>
          </p:cNvPr>
          <p:cNvSpPr/>
          <p:nvPr/>
        </p:nvSpPr>
        <p:spPr>
          <a:xfrm>
            <a:off x="447903" y="2088767"/>
            <a:ext cx="3339974" cy="840422"/>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3C7EFF"/>
                </a:solidFill>
                <a:effectLst/>
                <a:uLnTx/>
                <a:uFillTx/>
                <a:latin typeface="Montserrat ExtraBold" pitchFamily="34" charset="0"/>
                <a:ea typeface="Montserrat ExtraBold" pitchFamily="34" charset="-122"/>
                <a:cs typeface="Montserrat ExtraBold" pitchFamily="34" charset="-120"/>
              </a:rPr>
              <a:t>Recommended EXPERIENTIAL SEGMENTS </a:t>
            </a:r>
          </a:p>
        </p:txBody>
      </p:sp>
    </p:spTree>
    <p:extLst>
      <p:ext uri="{BB962C8B-B14F-4D97-AF65-F5344CB8AC3E}">
        <p14:creationId xmlns:p14="http://schemas.microsoft.com/office/powerpoint/2010/main" val="36632127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1E8F8"/>
        </a:solidFill>
        <a:effectLst/>
      </p:bgPr>
    </p:bg>
    <p:spTree>
      <p:nvGrpSpPr>
        <p:cNvPr id="1" name="">
          <a:extLst>
            <a:ext uri="{FF2B5EF4-FFF2-40B4-BE49-F238E27FC236}">
              <a16:creationId xmlns:a16="http://schemas.microsoft.com/office/drawing/2014/main" id="{100D1C14-3E71-601C-7427-37BF03CEA56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8D3EBD9-DC0D-C5BC-A3B2-FA1503B30A29}"/>
              </a:ext>
            </a:extLst>
          </p:cNvPr>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b="13650"/>
          <a:stretch/>
        </p:blipFill>
        <p:spPr>
          <a:xfrm>
            <a:off x="-712545" y="1381761"/>
            <a:ext cx="3442931" cy="4728718"/>
          </a:xfrm>
          <a:prstGeom prst="rect">
            <a:avLst/>
          </a:prstGeom>
        </p:spPr>
      </p:pic>
      <p:sp>
        <p:nvSpPr>
          <p:cNvPr id="16" name="Object6">
            <a:extLst>
              <a:ext uri="{FF2B5EF4-FFF2-40B4-BE49-F238E27FC236}">
                <a16:creationId xmlns:a16="http://schemas.microsoft.com/office/drawing/2014/main" id="{03891549-A18B-9472-CAC2-0FE8248B053B}"/>
              </a:ext>
            </a:extLst>
          </p:cNvPr>
          <p:cNvSpPr/>
          <p:nvPr/>
        </p:nvSpPr>
        <p:spPr>
          <a:xfrm>
            <a:off x="417099" y="555055"/>
            <a:ext cx="6545675" cy="43604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811717"/>
                </a:solidFill>
                <a:effectLst/>
                <a:uLnTx/>
                <a:uFillTx/>
                <a:latin typeface="Montserrat ExtraBold" pitchFamily="34" charset="0"/>
                <a:ea typeface="Montserrat ExtraBold" pitchFamily="34" charset="-122"/>
                <a:cs typeface="Montserrat ExtraBold" pitchFamily="34" charset="-120"/>
              </a:rPr>
              <a:t>RM AS THE engagement CUSTODIAN</a:t>
            </a:r>
            <a:endParaRPr kumimoji="0" lang="en-US" sz="1600" b="0" i="0" u="none" strike="noStrike" kern="1200" cap="all" spc="0" normalizeH="0" baseline="0" noProof="0" dirty="0">
              <a:ln>
                <a:noFill/>
              </a:ln>
              <a:solidFill>
                <a:srgbClr val="811717"/>
              </a:solidFill>
              <a:effectLst/>
              <a:uLnTx/>
              <a:uFillTx/>
              <a:latin typeface="Calibri" panose="020F0502020204030204"/>
              <a:ea typeface="+mn-ea"/>
              <a:cs typeface="+mn-cs"/>
            </a:endParaRPr>
          </a:p>
        </p:txBody>
      </p:sp>
      <p:sp>
        <p:nvSpPr>
          <p:cNvPr id="11" name="Object5">
            <a:extLst>
              <a:ext uri="{FF2B5EF4-FFF2-40B4-BE49-F238E27FC236}">
                <a16:creationId xmlns:a16="http://schemas.microsoft.com/office/drawing/2014/main" id="{55EB0AB3-1037-FAC8-3DBF-2433B9CE8B64}"/>
              </a:ext>
            </a:extLst>
          </p:cNvPr>
          <p:cNvSpPr/>
          <p:nvPr/>
        </p:nvSpPr>
        <p:spPr>
          <a:xfrm>
            <a:off x="3649613" y="1509000"/>
            <a:ext cx="2640000" cy="24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11717"/>
                </a:solidFill>
                <a:effectLst/>
                <a:uLnTx/>
                <a:uFillTx/>
                <a:latin typeface="Hepta Slab" pitchFamily="2" charset="0"/>
                <a:ea typeface="+mn-ea"/>
                <a:cs typeface="Hepta Slab" pitchFamily="2" charset="0"/>
              </a:rPr>
              <a:t>EXPERTISE</a:t>
            </a:r>
          </a:p>
        </p:txBody>
      </p:sp>
      <p:sp>
        <p:nvSpPr>
          <p:cNvPr id="12" name="Object5">
            <a:extLst>
              <a:ext uri="{FF2B5EF4-FFF2-40B4-BE49-F238E27FC236}">
                <a16:creationId xmlns:a16="http://schemas.microsoft.com/office/drawing/2014/main" id="{7EADB5A0-4C90-E181-CDAB-EC14956381C7}"/>
              </a:ext>
            </a:extLst>
          </p:cNvPr>
          <p:cNvSpPr/>
          <p:nvPr/>
        </p:nvSpPr>
        <p:spPr>
          <a:xfrm>
            <a:off x="6546295" y="1544800"/>
            <a:ext cx="2640000" cy="54332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11717"/>
                </a:solidFill>
                <a:effectLst/>
                <a:uLnTx/>
                <a:uFillTx/>
                <a:latin typeface="Hepta Slab" pitchFamily="2" charset="0"/>
                <a:ea typeface="Hepta Slab Regular" pitchFamily="34" charset="-122"/>
                <a:cs typeface="Hepta Slab" pitchFamily="2" charset="0"/>
              </a:rPr>
              <a:t>CUSTOMER ENGAGEMENT</a:t>
            </a:r>
            <a:endParaRPr kumimoji="0" lang="en-US" sz="1800" b="0" i="0" u="none" strike="noStrike" kern="1200" cap="none" spc="0" normalizeH="0" baseline="0" noProof="0" dirty="0">
              <a:ln>
                <a:noFill/>
              </a:ln>
              <a:solidFill>
                <a:srgbClr val="811717"/>
              </a:solidFill>
              <a:effectLst/>
              <a:uLnTx/>
              <a:uFillTx/>
              <a:latin typeface="Hepta Slab" pitchFamily="2" charset="0"/>
              <a:ea typeface="+mn-ea"/>
              <a:cs typeface="Hepta Slab" pitchFamily="2" charset="0"/>
            </a:endParaRPr>
          </a:p>
        </p:txBody>
      </p:sp>
      <p:sp>
        <p:nvSpPr>
          <p:cNvPr id="15" name="Object5">
            <a:extLst>
              <a:ext uri="{FF2B5EF4-FFF2-40B4-BE49-F238E27FC236}">
                <a16:creationId xmlns:a16="http://schemas.microsoft.com/office/drawing/2014/main" id="{47520A7C-D875-2DAD-CD8A-7AE00B7DC2C8}"/>
              </a:ext>
            </a:extLst>
          </p:cNvPr>
          <p:cNvSpPr/>
          <p:nvPr/>
        </p:nvSpPr>
        <p:spPr>
          <a:xfrm>
            <a:off x="9552000" y="1509000"/>
            <a:ext cx="2640000" cy="54332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11717"/>
                </a:solidFill>
                <a:effectLst/>
                <a:uLnTx/>
                <a:uFillTx/>
                <a:latin typeface="Hepta Slab" pitchFamily="2" charset="0"/>
                <a:ea typeface="Hepta Slab Regular" pitchFamily="34" charset="-122"/>
                <a:cs typeface="Hepta Slab" pitchFamily="2" charset="0"/>
              </a:rPr>
              <a:t>TRANSACTION FACILITATION</a:t>
            </a:r>
            <a:endParaRPr kumimoji="0" lang="en-US" sz="1800" b="0" i="0" u="none" strike="noStrike" kern="1200" cap="none" spc="0" normalizeH="0" baseline="0" noProof="0" dirty="0">
              <a:ln>
                <a:noFill/>
              </a:ln>
              <a:solidFill>
                <a:srgbClr val="811717"/>
              </a:solidFill>
              <a:effectLst/>
              <a:uLnTx/>
              <a:uFillTx/>
              <a:latin typeface="Hepta Slab" pitchFamily="2" charset="0"/>
              <a:ea typeface="+mn-ea"/>
              <a:cs typeface="Hepta Slab" pitchFamily="2" charset="0"/>
            </a:endParaRPr>
          </a:p>
        </p:txBody>
      </p:sp>
      <p:sp>
        <p:nvSpPr>
          <p:cNvPr id="17" name="Object5">
            <a:extLst>
              <a:ext uri="{FF2B5EF4-FFF2-40B4-BE49-F238E27FC236}">
                <a16:creationId xmlns:a16="http://schemas.microsoft.com/office/drawing/2014/main" id="{8558FBAA-B1A8-2FDA-B799-7E9C8193D746}"/>
              </a:ext>
            </a:extLst>
          </p:cNvPr>
          <p:cNvSpPr/>
          <p:nvPr/>
        </p:nvSpPr>
        <p:spPr>
          <a:xfrm>
            <a:off x="3649614" y="2642765"/>
            <a:ext cx="2313281" cy="27644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Wealth &amp; investment planning</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Family banking</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Resolution expertise</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Industry domain</a:t>
            </a: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Connect may be remote, periodic, need &amp; context driven</a:t>
            </a: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p:txBody>
      </p:sp>
      <p:sp>
        <p:nvSpPr>
          <p:cNvPr id="19" name="Object5">
            <a:extLst>
              <a:ext uri="{FF2B5EF4-FFF2-40B4-BE49-F238E27FC236}">
                <a16:creationId xmlns:a16="http://schemas.microsoft.com/office/drawing/2014/main" id="{2BCF5807-C696-67F2-7736-A249A32B1951}"/>
              </a:ext>
            </a:extLst>
          </p:cNvPr>
          <p:cNvSpPr/>
          <p:nvPr/>
        </p:nvSpPr>
        <p:spPr>
          <a:xfrm>
            <a:off x="6546295" y="2678565"/>
            <a:ext cx="2466161" cy="3050351"/>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Rapport building</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Updates – transaction specific as well as about customers’ area of interest</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Program utilization nudges</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“Ownership &amp; stress transference”</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Conversations</a:t>
            </a: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In-person connect, frequently by RM, periodically by</a:t>
            </a:r>
            <a:b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b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“Senior Person”</a:t>
            </a: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p:txBody>
      </p:sp>
      <p:sp>
        <p:nvSpPr>
          <p:cNvPr id="21" name="Object5">
            <a:extLst>
              <a:ext uri="{FF2B5EF4-FFF2-40B4-BE49-F238E27FC236}">
                <a16:creationId xmlns:a16="http://schemas.microsoft.com/office/drawing/2014/main" id="{D5915929-4F22-6BD7-FF65-D2A819652A6A}"/>
              </a:ext>
            </a:extLst>
          </p:cNvPr>
          <p:cNvSpPr/>
          <p:nvPr/>
        </p:nvSpPr>
        <p:spPr>
          <a:xfrm>
            <a:off x="9552001" y="2642765"/>
            <a:ext cx="2131360" cy="2524401"/>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Digital first</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“My Celesta”</a:t>
            </a: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a:p>
            <a:pPr marL="0" marR="0" lvl="0" indent="0" algn="l" defTabSz="304815" rtl="0" eaLnBrk="1" fontAlgn="auto"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Seamless digital-physical handshake</a:t>
            </a:r>
          </a:p>
          <a:p>
            <a:pPr marL="0" marR="0" lvl="0" indent="0" algn="l" defTabSz="304815" rtl="0" eaLnBrk="1" fontAlgn="auto"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Proactive reliable systems</a:t>
            </a:r>
          </a:p>
          <a:p>
            <a:pPr marL="0" marR="0" lvl="0" indent="0" algn="l" defTabSz="304815"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rPr>
              <a:t>Personalization</a:t>
            </a: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a:p>
            <a:pPr marL="0" marR="0" lvl="0" indent="0" algn="l" defTabSz="304815" rtl="0" eaLnBrk="1" fontAlgn="auto" latinLnBrk="0" hangingPunct="1">
              <a:lnSpc>
                <a:spcPct val="100000"/>
              </a:lnSpc>
              <a:spcBef>
                <a:spcPts val="0"/>
              </a:spcBef>
              <a:spcAft>
                <a:spcPts val="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ontserrat Medium" pitchFamily="2" charset="0"/>
              <a:ea typeface="Hepta Slab Regular" pitchFamily="34" charset="-122"/>
              <a:cs typeface="Hepta Slab Regular" pitchFamily="2" charset="0"/>
            </a:endParaRPr>
          </a:p>
        </p:txBody>
      </p:sp>
      <p:grpSp>
        <p:nvGrpSpPr>
          <p:cNvPr id="24" name="Group 23">
            <a:extLst>
              <a:ext uri="{FF2B5EF4-FFF2-40B4-BE49-F238E27FC236}">
                <a16:creationId xmlns:a16="http://schemas.microsoft.com/office/drawing/2014/main" id="{F9F05AF3-EF3E-60C6-9A36-3D36E7B5222A}"/>
              </a:ext>
            </a:extLst>
          </p:cNvPr>
          <p:cNvGrpSpPr/>
          <p:nvPr/>
        </p:nvGrpSpPr>
        <p:grpSpPr>
          <a:xfrm>
            <a:off x="-61290" y="6053155"/>
            <a:ext cx="12253290" cy="971832"/>
            <a:chOff x="-187799" y="8336784"/>
            <a:chExt cx="18379935" cy="1457748"/>
          </a:xfrm>
        </p:grpSpPr>
        <p:pic>
          <p:nvPicPr>
            <p:cNvPr id="25" name="Picture 24">
              <a:extLst>
                <a:ext uri="{FF2B5EF4-FFF2-40B4-BE49-F238E27FC236}">
                  <a16:creationId xmlns:a16="http://schemas.microsoft.com/office/drawing/2014/main" id="{58A0E5AC-B934-6739-643D-7707C0E242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6" name="Title 1">
              <a:extLst>
                <a:ext uri="{FF2B5EF4-FFF2-40B4-BE49-F238E27FC236}">
                  <a16:creationId xmlns:a16="http://schemas.microsoft.com/office/drawing/2014/main" id="{4FE2A5E2-C5B2-8B1B-CE06-FD916F7ACE1C}"/>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7" name="Picture 26">
              <a:extLst>
                <a:ext uri="{FF2B5EF4-FFF2-40B4-BE49-F238E27FC236}">
                  <a16:creationId xmlns:a16="http://schemas.microsoft.com/office/drawing/2014/main" id="{E5DEEB07-905A-B33A-F5B3-55E539FC06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cxnSp>
        <p:nvCxnSpPr>
          <p:cNvPr id="3" name="Straight Connector 2">
            <a:extLst>
              <a:ext uri="{FF2B5EF4-FFF2-40B4-BE49-F238E27FC236}">
                <a16:creationId xmlns:a16="http://schemas.microsoft.com/office/drawing/2014/main" id="{3389C189-07BD-884A-2D58-FB89459A36CE}"/>
              </a:ext>
            </a:extLst>
          </p:cNvPr>
          <p:cNvCxnSpPr>
            <a:cxnSpLocks/>
          </p:cNvCxnSpPr>
          <p:nvPr/>
        </p:nvCxnSpPr>
        <p:spPr>
          <a:xfrm>
            <a:off x="3649614" y="4155440"/>
            <a:ext cx="2159541" cy="0"/>
          </a:xfrm>
          <a:prstGeom prst="line">
            <a:avLst/>
          </a:prstGeom>
          <a:ln>
            <a:solidFill>
              <a:srgbClr val="F5F3E4"/>
            </a:solid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878E10D1-53EF-983A-B232-62F00FF9F2EE}"/>
              </a:ext>
            </a:extLst>
          </p:cNvPr>
          <p:cNvCxnSpPr>
            <a:cxnSpLocks/>
          </p:cNvCxnSpPr>
          <p:nvPr/>
        </p:nvCxnSpPr>
        <p:spPr>
          <a:xfrm>
            <a:off x="6546295" y="4739880"/>
            <a:ext cx="2159541" cy="0"/>
          </a:xfrm>
          <a:prstGeom prst="line">
            <a:avLst/>
          </a:prstGeom>
          <a:ln>
            <a:solidFill>
              <a:srgbClr val="F5F3E4"/>
            </a:solidFill>
          </a:ln>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243DB87E-D218-0623-EDD6-C8CD64B7C492}"/>
              </a:ext>
            </a:extLst>
          </p:cNvPr>
          <p:cNvCxnSpPr>
            <a:cxnSpLocks/>
          </p:cNvCxnSpPr>
          <p:nvPr/>
        </p:nvCxnSpPr>
        <p:spPr>
          <a:xfrm>
            <a:off x="9523820" y="3302000"/>
            <a:ext cx="2159541" cy="0"/>
          </a:xfrm>
          <a:prstGeom prst="line">
            <a:avLst/>
          </a:prstGeom>
          <a:ln>
            <a:solidFill>
              <a:srgbClr val="F5F3E4"/>
            </a:solidFill>
          </a:ln>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1DD5B41F-6300-8C46-5B9D-AB8C86368A69}"/>
              </a:ext>
            </a:extLst>
          </p:cNvPr>
          <p:cNvCxnSpPr>
            <a:cxnSpLocks/>
          </p:cNvCxnSpPr>
          <p:nvPr/>
        </p:nvCxnSpPr>
        <p:spPr>
          <a:xfrm>
            <a:off x="3649614" y="2458720"/>
            <a:ext cx="2159541" cy="0"/>
          </a:xfrm>
          <a:prstGeom prst="line">
            <a:avLst/>
          </a:prstGeom>
          <a:ln>
            <a:solidFill>
              <a:srgbClr val="F5F3E4"/>
            </a:solidFill>
          </a:ln>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A17AF049-81EF-DBF3-B6BB-DD4972139A22}"/>
              </a:ext>
            </a:extLst>
          </p:cNvPr>
          <p:cNvCxnSpPr>
            <a:cxnSpLocks/>
          </p:cNvCxnSpPr>
          <p:nvPr/>
        </p:nvCxnSpPr>
        <p:spPr>
          <a:xfrm>
            <a:off x="6546295" y="2458720"/>
            <a:ext cx="2159541" cy="0"/>
          </a:xfrm>
          <a:prstGeom prst="line">
            <a:avLst/>
          </a:prstGeom>
          <a:ln>
            <a:solidFill>
              <a:srgbClr val="F5F3E4"/>
            </a:solid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F793BAF8-005D-9530-D851-ADF1A311B009}"/>
              </a:ext>
            </a:extLst>
          </p:cNvPr>
          <p:cNvCxnSpPr>
            <a:cxnSpLocks/>
          </p:cNvCxnSpPr>
          <p:nvPr/>
        </p:nvCxnSpPr>
        <p:spPr>
          <a:xfrm>
            <a:off x="9523820" y="2458720"/>
            <a:ext cx="2159541" cy="0"/>
          </a:xfrm>
          <a:prstGeom prst="line">
            <a:avLst/>
          </a:prstGeom>
          <a:ln>
            <a:solidFill>
              <a:srgbClr val="F5F3E4"/>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804396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095F41F3-2DC3-2627-5508-1EE66608D9AF}"/>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0F850958-958E-6634-40AC-C40C6413CD1C}"/>
              </a:ext>
            </a:extLst>
          </p:cNvPr>
          <p:cNvGrpSpPr/>
          <p:nvPr/>
        </p:nvGrpSpPr>
        <p:grpSpPr>
          <a:xfrm>
            <a:off x="-61290" y="6053155"/>
            <a:ext cx="12253290" cy="971832"/>
            <a:chOff x="-187799" y="8336784"/>
            <a:chExt cx="18379935" cy="1457748"/>
          </a:xfrm>
        </p:grpSpPr>
        <p:pic>
          <p:nvPicPr>
            <p:cNvPr id="32" name="Picture 31">
              <a:extLst>
                <a:ext uri="{FF2B5EF4-FFF2-40B4-BE49-F238E27FC236}">
                  <a16:creationId xmlns:a16="http://schemas.microsoft.com/office/drawing/2014/main" id="{4E8A359F-30F0-ECF4-44DB-C05E203019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33" name="Title 1">
              <a:extLst>
                <a:ext uri="{FF2B5EF4-FFF2-40B4-BE49-F238E27FC236}">
                  <a16:creationId xmlns:a16="http://schemas.microsoft.com/office/drawing/2014/main" id="{9ADDDC22-20EA-0EDC-B388-E8B9B01487EF}"/>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34" name="Picture 33">
              <a:extLst>
                <a:ext uri="{FF2B5EF4-FFF2-40B4-BE49-F238E27FC236}">
                  <a16:creationId xmlns:a16="http://schemas.microsoft.com/office/drawing/2014/main" id="{5424C31D-6CDF-0E3C-5F15-827C651C62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36" name="TextBox 35">
            <a:extLst>
              <a:ext uri="{FF2B5EF4-FFF2-40B4-BE49-F238E27FC236}">
                <a16:creationId xmlns:a16="http://schemas.microsoft.com/office/drawing/2014/main" id="{30097206-7F42-3608-A5BC-C0836CE66504}"/>
              </a:ext>
            </a:extLst>
          </p:cNvPr>
          <p:cNvSpPr txBox="1"/>
          <p:nvPr/>
        </p:nvSpPr>
        <p:spPr>
          <a:xfrm>
            <a:off x="11372190" y="6269526"/>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77</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5" name="Object5">
            <a:extLst>
              <a:ext uri="{FF2B5EF4-FFF2-40B4-BE49-F238E27FC236}">
                <a16:creationId xmlns:a16="http://schemas.microsoft.com/office/drawing/2014/main" id="{585BA891-45FF-DA95-FECD-A4EC651802EC}"/>
              </a:ext>
            </a:extLst>
          </p:cNvPr>
          <p:cNvSpPr/>
          <p:nvPr/>
        </p:nvSpPr>
        <p:spPr>
          <a:xfrm>
            <a:off x="632838" y="1937460"/>
            <a:ext cx="10678936" cy="417301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lumMod val="85000"/>
                  </a:schemeClr>
                </a:solidFill>
                <a:effectLst/>
                <a:uLnTx/>
                <a:uFillTx/>
                <a:latin typeface="Montserrat Medium" pitchFamily="2" charset="0"/>
                <a:ea typeface="+mn-ea"/>
                <a:cs typeface="Hepta Slab Regular" pitchFamily="2" charset="0"/>
              </a:rPr>
              <a:t>In the context of </a:t>
            </a:r>
            <a:r>
              <a:rPr lang="en-US" dirty="0">
                <a:solidFill>
                  <a:schemeClr val="bg1">
                    <a:lumMod val="85000"/>
                  </a:schemeClr>
                </a:solidFill>
                <a:latin typeface="Montserrat Medium" pitchFamily="2" charset="0"/>
                <a:cs typeface="Hepta Slab Regular" pitchFamily="2" charset="0"/>
              </a:rPr>
              <a:t>the domestic market, t</a:t>
            </a:r>
            <a:r>
              <a:rPr kumimoji="0" lang="en-US" sz="1800" b="0" i="0" u="none" strike="noStrike" kern="1200" cap="none" spc="0" normalizeH="0" baseline="0" noProof="0" dirty="0">
                <a:ln>
                  <a:noFill/>
                </a:ln>
                <a:solidFill>
                  <a:schemeClr val="bg1">
                    <a:lumMod val="85000"/>
                  </a:schemeClr>
                </a:solidFill>
                <a:effectLst/>
                <a:uLnTx/>
                <a:uFillTx/>
                <a:latin typeface="Montserrat Medium" pitchFamily="2" charset="0"/>
                <a:ea typeface="+mn-ea"/>
                <a:cs typeface="Hepta Slab Regular" pitchFamily="2" charset="0"/>
              </a:rPr>
              <a:t>he current qualifying criteria of Celesta often mean that a typical potential prospect is in a higher age demographic.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85000"/>
                  </a:schemeClr>
                </a:solidFill>
                <a:latin typeface="Montserrat Medium" pitchFamily="2" charset="0"/>
                <a:cs typeface="Hepta Slab Regular" pitchFamily="2" charset="0"/>
              </a:rPr>
              <a:t>This increases the probability of prospect being aware/familiar/ or already engaged with a competition.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85000"/>
                  </a:schemeClr>
                </a:solidFill>
                <a:latin typeface="Montserrat Medium" pitchFamily="2" charset="0"/>
                <a:cs typeface="Hepta Slab Regular" pitchFamily="2" charset="0"/>
              </a:rPr>
              <a:t>This impacts NTB acquisition at Celesta Level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bg1">
                  <a:lumMod val="85000"/>
                </a:schemeClr>
              </a:solidFill>
              <a:latin typeface="Montserrat Medium" pitchFamily="2" charset="0"/>
              <a:cs typeface="Hepta Slab Regular" pitchFamily="2" charset="0"/>
            </a:endParaRPr>
          </a:p>
          <a:p>
            <a:pPr>
              <a:defRPr/>
            </a:pPr>
            <a:r>
              <a:rPr kumimoji="0" lang="en-US" sz="1800" b="0" i="0" u="none" strike="noStrike" kern="1200" cap="none" spc="0" normalizeH="0" baseline="0" noProof="0" dirty="0">
                <a:ln>
                  <a:noFill/>
                </a:ln>
                <a:solidFill>
                  <a:schemeClr val="bg1">
                    <a:lumMod val="85000"/>
                  </a:schemeClr>
                </a:solidFill>
                <a:effectLst/>
                <a:uLnTx/>
                <a:uFillTx/>
                <a:latin typeface="Montserrat Medium" pitchFamily="2" charset="0"/>
                <a:ea typeface="+mn-ea"/>
                <a:cs typeface="Hepta Slab Regular" pitchFamily="2" charset="0"/>
              </a:rPr>
              <a:t>An intermediate premium tier with a lower qualifying criteria than Celesta can help attract the younger demographic (30-40) which can then be subsequently upgraded to Celesta criteria , through active engagement</a:t>
            </a:r>
            <a:endParaRPr kumimoji="0" lang="en-IN" sz="1800" b="0" i="0" u="none" strike="noStrike" kern="1200" cap="none" spc="0" normalizeH="0" baseline="0" noProof="0" dirty="0">
              <a:ln>
                <a:noFill/>
              </a:ln>
              <a:solidFill>
                <a:schemeClr val="bg1">
                  <a:lumMod val="85000"/>
                </a:schemeClr>
              </a:solidFill>
              <a:effectLst/>
              <a:uLnTx/>
              <a:uFillTx/>
              <a:latin typeface="Montserrat Medium" pitchFamily="2" charset="0"/>
              <a:ea typeface="+mn-ea"/>
              <a:cs typeface="Hepta Slab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bg1">
                  <a:lumMod val="85000"/>
                </a:schemeClr>
              </a:solidFill>
              <a:latin typeface="Montserrat Medium" pitchFamily="2" charset="0"/>
              <a:cs typeface="Hepta Slab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85000"/>
                  </a:schemeClr>
                </a:solidFill>
                <a:latin typeface="Montserrat Medium" pitchFamily="2" charset="0"/>
                <a:cs typeface="Hepta Slab Regular" pitchFamily="2" charset="0"/>
              </a:rPr>
              <a:t>Additionally, the wide gap between Imperio &amp; Celesta leads ETB Imperio customers to perceive Celesta to be a distant aspiration</a:t>
            </a:r>
            <a:endParaRPr kumimoji="0" lang="en-US" sz="1800" b="0" i="0" u="none" strike="noStrike" kern="1200" cap="none" spc="0" normalizeH="0" baseline="0" noProof="0" dirty="0">
              <a:ln>
                <a:noFill/>
              </a:ln>
              <a:solidFill>
                <a:schemeClr val="bg1">
                  <a:lumMod val="85000"/>
                </a:schemeClr>
              </a:solidFill>
              <a:effectLst/>
              <a:uLnTx/>
              <a:uFillTx/>
              <a:latin typeface="Montserrat Medium" pitchFamily="2" charset="0"/>
              <a:ea typeface="+mn-ea"/>
              <a:cs typeface="Hepta Slab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bg1">
                  <a:lumMod val="85000"/>
                </a:schemeClr>
              </a:solidFill>
              <a:latin typeface="Montserrat Medium" pitchFamily="2" charset="0"/>
              <a:cs typeface="Hepta Slab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85000"/>
                  </a:schemeClr>
                </a:solidFill>
                <a:latin typeface="Montserrat Medium" pitchFamily="2" charset="0"/>
                <a:cs typeface="Hepta Slab Regular" pitchFamily="2" charset="0"/>
              </a:rPr>
              <a:t>An intermediate level will make give a “step-wise” progressive perception to meeting Celesta eligibility</a:t>
            </a:r>
          </a:p>
        </p:txBody>
      </p:sp>
      <p:sp>
        <p:nvSpPr>
          <p:cNvPr id="2" name="TextBox 1">
            <a:extLst>
              <a:ext uri="{FF2B5EF4-FFF2-40B4-BE49-F238E27FC236}">
                <a16:creationId xmlns:a16="http://schemas.microsoft.com/office/drawing/2014/main" id="{23D7AD9D-930C-9E34-638F-5A98742EC950}"/>
              </a:ext>
            </a:extLst>
          </p:cNvPr>
          <p:cNvSpPr txBox="1"/>
          <p:nvPr/>
        </p:nvSpPr>
        <p:spPr>
          <a:xfrm>
            <a:off x="304434" y="653577"/>
            <a:ext cx="11150809" cy="707886"/>
          </a:xfrm>
          <a:prstGeom prst="rect">
            <a:avLst/>
          </a:prstGeom>
          <a:noFill/>
        </p:spPr>
        <p:txBody>
          <a:bodyPr wrap="none" rtlCol="0">
            <a:spAutoFit/>
          </a:body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5F3E4"/>
                </a:solidFill>
                <a:effectLst/>
                <a:uLnTx/>
                <a:uFillTx/>
                <a:latin typeface="Hepta Slab SemiBold" pitchFamily="2" charset="0"/>
                <a:ea typeface="+mn-ea"/>
                <a:cs typeface="+mn-cs"/>
              </a:rPr>
              <a:t>Imperio++ : A steppingstone to Celesta</a:t>
            </a:r>
            <a:endParaRPr kumimoji="0" lang="en-IN" sz="4000" b="1" i="0" u="none" strike="noStrike" kern="1200" cap="none" spc="0" normalizeH="0" baseline="0" noProof="0" dirty="0">
              <a:ln>
                <a:noFill/>
              </a:ln>
              <a:solidFill>
                <a:srgbClr val="F5F3E4"/>
              </a:solidFill>
              <a:effectLst/>
              <a:uLnTx/>
              <a:uFillTx/>
              <a:latin typeface="Hepta Slab SemiBold" pitchFamily="2" charset="0"/>
              <a:ea typeface="+mn-ea"/>
              <a:cs typeface="+mn-cs"/>
            </a:endParaRPr>
          </a:p>
        </p:txBody>
      </p:sp>
      <p:sp>
        <p:nvSpPr>
          <p:cNvPr id="3" name="Object6">
            <a:extLst>
              <a:ext uri="{FF2B5EF4-FFF2-40B4-BE49-F238E27FC236}">
                <a16:creationId xmlns:a16="http://schemas.microsoft.com/office/drawing/2014/main" id="{51AAB851-5F83-25C2-5C9E-E8557182210C}"/>
              </a:ext>
            </a:extLst>
          </p:cNvPr>
          <p:cNvSpPr/>
          <p:nvPr/>
        </p:nvSpPr>
        <p:spPr>
          <a:xfrm>
            <a:off x="417099" y="311473"/>
            <a:ext cx="6545675" cy="436048"/>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dirty="0">
                <a:ln>
                  <a:noFill/>
                </a:ln>
                <a:solidFill>
                  <a:schemeClr val="bg1"/>
                </a:solidFill>
                <a:effectLst/>
                <a:uLnTx/>
                <a:uFillTx/>
                <a:latin typeface="Montserrat ExtraBold" pitchFamily="34" charset="0"/>
                <a:ea typeface="Montserrat ExtraBold" pitchFamily="34" charset="-122"/>
                <a:cs typeface="Montserrat ExtraBold" pitchFamily="34" charset="-120"/>
              </a:rPr>
              <a:t>A new tier suggestion</a:t>
            </a:r>
            <a:endParaRPr kumimoji="0" lang="en-US" sz="1600" b="0" i="0" u="none" strike="noStrike" kern="1200" cap="all"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05392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a:extLst>
            <a:ext uri="{FF2B5EF4-FFF2-40B4-BE49-F238E27FC236}">
              <a16:creationId xmlns:a16="http://schemas.microsoft.com/office/drawing/2014/main" id="{F0C4C1D9-24D5-38C3-098F-F9446ECE904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03DABD4-D93D-D394-C89F-79F48992E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8088" y="2812648"/>
            <a:ext cx="5003912" cy="4045352"/>
          </a:xfrm>
          <a:prstGeom prst="rect">
            <a:avLst/>
          </a:prstGeom>
        </p:spPr>
      </p:pic>
      <p:sp>
        <p:nvSpPr>
          <p:cNvPr id="6" name="TextBox 5">
            <a:extLst>
              <a:ext uri="{FF2B5EF4-FFF2-40B4-BE49-F238E27FC236}">
                <a16:creationId xmlns:a16="http://schemas.microsoft.com/office/drawing/2014/main" id="{45207D9F-F7E5-0A4F-3924-6A9977B18E39}"/>
              </a:ext>
            </a:extLst>
          </p:cNvPr>
          <p:cNvSpPr txBox="1"/>
          <p:nvPr/>
        </p:nvSpPr>
        <p:spPr>
          <a:xfrm>
            <a:off x="759414" y="2737695"/>
            <a:ext cx="2174397" cy="338554"/>
          </a:xfrm>
          <a:prstGeom prst="rect">
            <a:avLst/>
          </a:prstGeom>
          <a:noFill/>
        </p:spPr>
        <p:txBody>
          <a:bodyPr wrap="square" rtlCol="0">
            <a:spAutoFit/>
          </a:bodyPr>
          <a:lstStyle/>
          <a:p>
            <a:pPr marL="0" marR="0" lvl="0" indent="0" algn="l" defTabSz="30483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ExtraBold" pitchFamily="2" charset="0"/>
                <a:ea typeface="+mn-ea"/>
                <a:cs typeface="Hepta Slab ExtraBold" pitchFamily="2" charset="0"/>
              </a:rPr>
              <a:t>The White Glove</a:t>
            </a:r>
            <a:endParaRPr kumimoji="0" lang="en-IN" sz="1600" b="0" i="0" u="none" strike="noStrike" kern="1200" cap="none" spc="0" normalizeH="0" baseline="0" noProof="0" dirty="0">
              <a:ln>
                <a:noFill/>
              </a:ln>
              <a:solidFill>
                <a:prstClr val="white"/>
              </a:solidFill>
              <a:effectLst/>
              <a:uLnTx/>
              <a:uFillTx/>
              <a:latin typeface="Hepta Slab ExtraBold" pitchFamily="2" charset="0"/>
              <a:ea typeface="+mn-ea"/>
              <a:cs typeface="Hepta Slab ExtraBold" pitchFamily="2" charset="0"/>
            </a:endParaRPr>
          </a:p>
        </p:txBody>
      </p:sp>
      <p:grpSp>
        <p:nvGrpSpPr>
          <p:cNvPr id="11" name="Group 10">
            <a:extLst>
              <a:ext uri="{FF2B5EF4-FFF2-40B4-BE49-F238E27FC236}">
                <a16:creationId xmlns:a16="http://schemas.microsoft.com/office/drawing/2014/main" id="{A5315328-0C8F-1007-8847-CCFE938F54D1}"/>
              </a:ext>
            </a:extLst>
          </p:cNvPr>
          <p:cNvGrpSpPr/>
          <p:nvPr/>
        </p:nvGrpSpPr>
        <p:grpSpPr>
          <a:xfrm>
            <a:off x="1" y="6042107"/>
            <a:ext cx="11864037" cy="911852"/>
            <a:chOff x="579560" y="9184073"/>
            <a:chExt cx="18133625" cy="1393723"/>
          </a:xfrm>
        </p:grpSpPr>
        <p:sp>
          <p:nvSpPr>
            <p:cNvPr id="12" name="Title 1">
              <a:extLst>
                <a:ext uri="{FF2B5EF4-FFF2-40B4-BE49-F238E27FC236}">
                  <a16:creationId xmlns:a16="http://schemas.microsoft.com/office/drawing/2014/main" id="{43D8131C-420C-AF8D-CD46-1615AED8F701}"/>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3" name="Picture 12">
              <a:extLst>
                <a:ext uri="{FF2B5EF4-FFF2-40B4-BE49-F238E27FC236}">
                  <a16:creationId xmlns:a16="http://schemas.microsoft.com/office/drawing/2014/main" id="{7F9C482F-8DFE-71CC-1973-C20CA9A8B4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4" name="Picture 13">
              <a:extLst>
                <a:ext uri="{FF2B5EF4-FFF2-40B4-BE49-F238E27FC236}">
                  <a16:creationId xmlns:a16="http://schemas.microsoft.com/office/drawing/2014/main" id="{96DE36D6-7B7C-CD6E-6C64-3C6CC91B25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Object5">
            <a:extLst>
              <a:ext uri="{FF2B5EF4-FFF2-40B4-BE49-F238E27FC236}">
                <a16:creationId xmlns:a16="http://schemas.microsoft.com/office/drawing/2014/main" id="{46679A60-F2D8-1ED2-584C-936AC5A4BC01}"/>
              </a:ext>
            </a:extLst>
          </p:cNvPr>
          <p:cNvSpPr/>
          <p:nvPr/>
        </p:nvSpPr>
        <p:spPr>
          <a:xfrm>
            <a:off x="3668285" y="1832762"/>
            <a:ext cx="5280000" cy="2707953"/>
          </a:xfrm>
          <a:prstGeom prst="rect">
            <a:avLst/>
          </a:prstGeom>
          <a:noFill/>
          <a:ln/>
        </p:spPr>
        <p:txBody>
          <a:bodyPr wrap="square" lIns="0" tIns="0" rIns="0" bIns="0" rtlCol="0" anchor="t"/>
          <a:lstStyle/>
          <a:p>
            <a:pPr marL="0" marR="0" lvl="0" indent="0" algn="l" defTabSz="304831"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prstClr val="white"/>
                </a:solidFill>
                <a:effectLst/>
                <a:uLnTx/>
                <a:uFillTx/>
                <a:latin typeface="Hepta Slab SemiBold" pitchFamily="2" charset="0"/>
                <a:ea typeface="Hepta Slab Regular" pitchFamily="34" charset="-122"/>
                <a:cs typeface="Hepta Slab SemiBold" pitchFamily="2" charset="0"/>
              </a:rPr>
              <a:t>A (Digi)concierge program that </a:t>
            </a:r>
            <a:r>
              <a:rPr kumimoji="0" lang="en-US" sz="2667" b="0" i="0" u="none" strike="noStrike" kern="1200" cap="none" spc="0" normalizeH="0" baseline="0" noProof="0" dirty="0">
                <a:ln>
                  <a:noFill/>
                </a:ln>
                <a:solidFill>
                  <a:prstClr val="white">
                    <a:lumMod val="65000"/>
                  </a:prstClr>
                </a:solidFill>
                <a:effectLst/>
                <a:uLnTx/>
                <a:uFillTx/>
                <a:latin typeface="Hepta Slab SemiBold" pitchFamily="2" charset="0"/>
                <a:ea typeface="Hepta Slab Regular" pitchFamily="34" charset="-122"/>
                <a:cs typeface="Hepta Slab SemiBold" pitchFamily="2" charset="0"/>
              </a:rPr>
              <a:t>continually aligns </a:t>
            </a:r>
            <a:r>
              <a:rPr kumimoji="0" lang="en-US" sz="2667" b="0" i="0" u="none" strike="noStrike" kern="1200" cap="none" spc="0" normalizeH="0" baseline="0" noProof="0" dirty="0">
                <a:ln>
                  <a:noFill/>
                </a:ln>
                <a:solidFill>
                  <a:prstClr val="white"/>
                </a:solidFill>
                <a:effectLst/>
                <a:uLnTx/>
                <a:uFillTx/>
                <a:latin typeface="Hepta Slab SemiBold" pitchFamily="2" charset="0"/>
                <a:ea typeface="Hepta Slab Regular" pitchFamily="34" charset="-122"/>
                <a:cs typeface="Hepta Slab SemiBold" pitchFamily="2" charset="0"/>
              </a:rPr>
              <a:t>to customers’ functional &amp; emotional </a:t>
            </a:r>
            <a:r>
              <a:rPr kumimoji="0" lang="en-US" sz="2667" b="0" i="0" u="none" strike="noStrike" kern="1200" cap="none" spc="0" normalizeH="0" baseline="0" noProof="0" dirty="0">
                <a:ln>
                  <a:noFill/>
                </a:ln>
                <a:solidFill>
                  <a:prstClr val="white">
                    <a:lumMod val="65000"/>
                  </a:prstClr>
                </a:solidFill>
                <a:effectLst/>
                <a:uLnTx/>
                <a:uFillTx/>
                <a:latin typeface="Hepta Slab SemiBold" pitchFamily="2" charset="0"/>
                <a:ea typeface="Hepta Slab Regular" pitchFamily="34" charset="-122"/>
                <a:cs typeface="Hepta Slab SemiBold" pitchFamily="2" charset="0"/>
              </a:rPr>
              <a:t>context</a:t>
            </a:r>
            <a:r>
              <a:rPr kumimoji="0" lang="en-US" sz="2667" b="0" i="0" u="none" strike="noStrike" kern="1200" cap="none" spc="0" normalizeH="0" baseline="0" noProof="0" dirty="0">
                <a:ln>
                  <a:noFill/>
                </a:ln>
                <a:solidFill>
                  <a:prstClr val="white"/>
                </a:solidFill>
                <a:effectLst/>
                <a:uLnTx/>
                <a:uFillTx/>
                <a:latin typeface="Hepta Slab SemiBold" pitchFamily="2" charset="0"/>
                <a:ea typeface="Hepta Slab Regular" pitchFamily="34" charset="-122"/>
                <a:cs typeface="Hepta Slab SemiBold" pitchFamily="2" charset="0"/>
              </a:rPr>
              <a:t> &amp; experiential expectations</a:t>
            </a:r>
            <a:endParaRPr kumimoji="0" lang="en-US" sz="2667" b="0" i="0" u="none" strike="noStrike" kern="1200" cap="none" spc="0" normalizeH="0" baseline="0" noProof="0" dirty="0">
              <a:ln>
                <a:noFill/>
              </a:ln>
              <a:solidFill>
                <a:prstClr val="white"/>
              </a:solidFill>
              <a:effectLst/>
              <a:uLnTx/>
              <a:uFillTx/>
              <a:latin typeface="Hepta Slab SemiBold" pitchFamily="2" charset="0"/>
              <a:ea typeface="+mn-ea"/>
              <a:cs typeface="Hepta Slab SemiBold" pitchFamily="2" charset="0"/>
            </a:endParaRPr>
          </a:p>
        </p:txBody>
      </p:sp>
      <p:cxnSp>
        <p:nvCxnSpPr>
          <p:cNvPr id="17" name="Straight Connector 16">
            <a:extLst>
              <a:ext uri="{FF2B5EF4-FFF2-40B4-BE49-F238E27FC236}">
                <a16:creationId xmlns:a16="http://schemas.microsoft.com/office/drawing/2014/main" id="{A32CD5DC-825B-7B54-C92A-F85724FA6AFB}"/>
              </a:ext>
            </a:extLst>
          </p:cNvPr>
          <p:cNvCxnSpPr>
            <a:cxnSpLocks/>
          </p:cNvCxnSpPr>
          <p:nvPr/>
        </p:nvCxnSpPr>
        <p:spPr>
          <a:xfrm flipV="1">
            <a:off x="3484719" y="1832763"/>
            <a:ext cx="0" cy="211764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01DBAA0-1D28-C8D8-0FD8-B5C9E3F61969}"/>
              </a:ext>
            </a:extLst>
          </p:cNvPr>
          <p:cNvSpPr txBox="1"/>
          <p:nvPr/>
        </p:nvSpPr>
        <p:spPr>
          <a:xfrm>
            <a:off x="677435" y="591166"/>
            <a:ext cx="8270850" cy="502573"/>
          </a:xfrm>
          <a:prstGeom prst="rect">
            <a:avLst/>
          </a:prstGeom>
          <a:noFill/>
        </p:spPr>
        <p:txBody>
          <a:bodyPr wrap="square" rtlCol="0">
            <a:spAutoFit/>
          </a:bodyPr>
          <a:lstStyle/>
          <a:p>
            <a:pPr marL="0" marR="0" lvl="0" indent="0" algn="l" defTabSz="304831"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lumMod val="85000"/>
                  </a:prstClr>
                </a:solidFill>
                <a:effectLst/>
                <a:uLnTx/>
                <a:uFillTx/>
                <a:latin typeface="Montserrat SemiBold" panose="00000700000000000000" pitchFamily="2" charset="0"/>
              </a:rPr>
              <a:t>CONSTRUCTING THE CONTEXTUAL ALIGNMENT</a:t>
            </a:r>
          </a:p>
          <a:p>
            <a:pPr marL="0" marR="0" lvl="0" indent="0" algn="l" defTabSz="304831"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lumMod val="85000"/>
                  </a:prstClr>
                </a:solidFill>
                <a:effectLst/>
                <a:uLnTx/>
                <a:uFillTx/>
                <a:latin typeface="Montserrat SemiBold" panose="00000700000000000000" pitchFamily="2" charset="0"/>
              </a:rPr>
              <a:t>SOME EXAMPLES</a:t>
            </a:r>
            <a:endParaRPr kumimoji="0" lang="en-IN" sz="1333" b="0" i="0" u="none" strike="noStrike" kern="1200" cap="none" spc="0" normalizeH="0" baseline="0" noProof="0" dirty="0">
              <a:ln>
                <a:noFill/>
              </a:ln>
              <a:solidFill>
                <a:prstClr val="white">
                  <a:lumMod val="85000"/>
                </a:prstClr>
              </a:solidFill>
              <a:effectLst/>
              <a:uLnTx/>
              <a:uFillTx/>
              <a:latin typeface="Montserrat SemiBold" panose="00000700000000000000" pitchFamily="2" charset="0"/>
            </a:endParaRPr>
          </a:p>
        </p:txBody>
      </p:sp>
      <p:pic>
        <p:nvPicPr>
          <p:cNvPr id="2" name="Picture 1">
            <a:extLst>
              <a:ext uri="{FF2B5EF4-FFF2-40B4-BE49-F238E27FC236}">
                <a16:creationId xmlns:a16="http://schemas.microsoft.com/office/drawing/2014/main" id="{64715296-7030-1BD4-C2A3-AA4532A4A34F}"/>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660826" y="6357893"/>
            <a:ext cx="373693" cy="383995"/>
          </a:xfrm>
          <a:prstGeom prst="rect">
            <a:avLst/>
          </a:prstGeom>
        </p:spPr>
      </p:pic>
    </p:spTree>
    <p:extLst>
      <p:ext uri="{BB962C8B-B14F-4D97-AF65-F5344CB8AC3E}">
        <p14:creationId xmlns:p14="http://schemas.microsoft.com/office/powerpoint/2010/main" val="20855201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0758DB-C8ED-FD29-EBB3-5095E5B395DB}"/>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EA7A0A57-9773-98DE-EC6E-CC24F2802C87}"/>
              </a:ext>
            </a:extLst>
          </p:cNvPr>
          <p:cNvGrpSpPr/>
          <p:nvPr/>
        </p:nvGrpSpPr>
        <p:grpSpPr>
          <a:xfrm>
            <a:off x="1" y="6042107"/>
            <a:ext cx="11864037" cy="911852"/>
            <a:chOff x="579560" y="9184073"/>
            <a:chExt cx="18133625" cy="1393723"/>
          </a:xfrm>
        </p:grpSpPr>
        <p:sp>
          <p:nvSpPr>
            <p:cNvPr id="22" name="Title 1">
              <a:extLst>
                <a:ext uri="{FF2B5EF4-FFF2-40B4-BE49-F238E27FC236}">
                  <a16:creationId xmlns:a16="http://schemas.microsoft.com/office/drawing/2014/main" id="{BF859D2C-C5FC-7DA3-3739-7CD43F85C512}"/>
                </a:ext>
              </a:extLst>
            </p:cNvPr>
            <p:cNvSpPr txBox="1">
              <a:spLocks/>
            </p:cNvSpPr>
            <p:nvPr/>
          </p:nvSpPr>
          <p:spPr>
            <a:xfrm>
              <a:off x="6434826" y="983780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23" name="Picture 22">
              <a:extLst>
                <a:ext uri="{FF2B5EF4-FFF2-40B4-BE49-F238E27FC236}">
                  <a16:creationId xmlns:a16="http://schemas.microsoft.com/office/drawing/2014/main" id="{BCF8E746-2A85-C48A-B75D-A75B1DF8D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24" name="Picture 23">
              <a:extLst>
                <a:ext uri="{FF2B5EF4-FFF2-40B4-BE49-F238E27FC236}">
                  <a16:creationId xmlns:a16="http://schemas.microsoft.com/office/drawing/2014/main" id="{000BEB54-A303-7B7D-586E-1B218CC930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pic>
        <p:nvPicPr>
          <p:cNvPr id="4" name="Picture 3">
            <a:extLst>
              <a:ext uri="{FF2B5EF4-FFF2-40B4-BE49-F238E27FC236}">
                <a16:creationId xmlns:a16="http://schemas.microsoft.com/office/drawing/2014/main" id="{1FF16423-2EF1-4DA5-559D-89FEC1AED6AB}"/>
              </a:ext>
            </a:extLst>
          </p:cNvPr>
          <p:cNvPicPr>
            <a:picLocks noChangeAspect="1"/>
          </p:cNvPicPr>
          <p:nvPr/>
        </p:nvPicPr>
        <p:blipFill>
          <a:blip r:embed="rId5">
            <a:alphaModFix/>
            <a:extLst>
              <a:ext uri="{BEBA8EAE-BF5A-486C-A8C5-ECC9F3942E4B}">
                <a14:imgProps xmlns:a14="http://schemas.microsoft.com/office/drawing/2010/main">
                  <a14:imgLayer r:embed="rId6">
                    <a14:imgEffect>
                      <a14:sharpenSoften amount="-25000"/>
                    </a14:imgEffect>
                    <a14:imgEffect>
                      <a14:colorTemperature colorTemp="5300"/>
                    </a14:imgEffect>
                    <a14:imgEffect>
                      <a14:brightnessContrast bright="-40000" contrast="-20000"/>
                    </a14:imgEffect>
                  </a14:imgLayer>
                </a14:imgProps>
              </a:ext>
            </a:extLst>
          </a:blip>
          <a:stretch>
            <a:fillRect/>
          </a:stretch>
        </p:blipFill>
        <p:spPr>
          <a:xfrm>
            <a:off x="0" y="0"/>
            <a:ext cx="12192000" cy="6858000"/>
          </a:xfrm>
          <a:prstGeom prst="rect">
            <a:avLst/>
          </a:prstGeom>
        </p:spPr>
      </p:pic>
      <p:sp>
        <p:nvSpPr>
          <p:cNvPr id="6" name="Object5">
            <a:extLst>
              <a:ext uri="{FF2B5EF4-FFF2-40B4-BE49-F238E27FC236}">
                <a16:creationId xmlns:a16="http://schemas.microsoft.com/office/drawing/2014/main" id="{1DE922D8-E818-AFC3-61DA-8D241F9CCE43}"/>
              </a:ext>
            </a:extLst>
          </p:cNvPr>
          <p:cNvSpPr/>
          <p:nvPr/>
        </p:nvSpPr>
        <p:spPr>
          <a:xfrm>
            <a:off x="327964" y="3510882"/>
            <a:ext cx="2900429" cy="3505738"/>
          </a:xfrm>
          <a:prstGeom prst="rect">
            <a:avLst/>
          </a:prstGeom>
          <a:noFill/>
          <a:ln/>
        </p:spPr>
        <p:txBody>
          <a:bodyPr wrap="square" lIns="0" tIns="0" rIns="0" bIns="0" rtlCol="0" anchor="t"/>
          <a:lstStyle/>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“I planned an exquisite getaway in Cambodia…</a:t>
            </a:r>
            <a:b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br>
            <a:b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b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Except when I landed,</a:t>
            </a:r>
            <a:b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b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I realized I forgot to research about where could I enjoy the best local specialty–</a:t>
            </a:r>
            <a:b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b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Palm Wine…”</a:t>
            </a:r>
          </a:p>
          <a:p>
            <a:pPr marL="0" marR="0" lvl="0" indent="0" algn="l" defTabSz="304831"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endParaRPr>
          </a:p>
        </p:txBody>
      </p:sp>
      <p:sp>
        <p:nvSpPr>
          <p:cNvPr id="7" name="Object6">
            <a:extLst>
              <a:ext uri="{FF2B5EF4-FFF2-40B4-BE49-F238E27FC236}">
                <a16:creationId xmlns:a16="http://schemas.microsoft.com/office/drawing/2014/main" id="{DE1DC804-DA02-18A4-3EC2-EA4987490FBA}"/>
              </a:ext>
            </a:extLst>
          </p:cNvPr>
          <p:cNvSpPr/>
          <p:nvPr/>
        </p:nvSpPr>
        <p:spPr>
          <a:xfrm>
            <a:off x="373470" y="554072"/>
            <a:ext cx="5156160" cy="371475"/>
          </a:xfrm>
          <a:prstGeom prst="rect">
            <a:avLst/>
          </a:prstGeom>
          <a:noFill/>
          <a:ln/>
        </p:spPr>
        <p:txBody>
          <a:bodyPr wrap="square" lIns="0" tIns="0" rIns="0" bIns="0" rtlCol="0" anchor="t"/>
          <a:lstStyle/>
          <a:p>
            <a:pPr marL="0" marR="0" lvl="0" indent="0" algn="l" defTabSz="304831"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prstClr val="white"/>
                </a:solidFill>
                <a:effectLst/>
                <a:uLnTx/>
                <a:uFillTx/>
                <a:latin typeface="Montserrat ExtraBold" pitchFamily="34" charset="0"/>
                <a:ea typeface="Montserrat ExtraBold" pitchFamily="34" charset="-122"/>
                <a:cs typeface="Montserrat ExtraBold" pitchFamily="34" charset="-120"/>
              </a:rPr>
              <a:t>THE WHITE GLOVE</a:t>
            </a:r>
            <a:endParaRPr kumimoji="0" lang="en-US" sz="1600" b="0" i="0" u="none" strike="noStrike" kern="1200" cap="all"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BBD94E2E-3690-B97D-0C2D-5E615C01DE25}"/>
              </a:ext>
            </a:extLst>
          </p:cNvPr>
          <p:cNvSpPr txBox="1"/>
          <p:nvPr/>
        </p:nvSpPr>
        <p:spPr>
          <a:xfrm>
            <a:off x="4676577" y="3510883"/>
            <a:ext cx="2900429" cy="584775"/>
          </a:xfrm>
          <a:prstGeom prst="rect">
            <a:avLst/>
          </a:prstGeom>
          <a:noFill/>
        </p:spPr>
        <p:txBody>
          <a:bodyPr wrap="square">
            <a:spAutoFit/>
          </a:bodyPr>
          <a:lstStyle/>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600" b="0" i="1"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 </a:t>
            </a: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I called My Celesta Concierge</a:t>
            </a:r>
            <a:r>
              <a:rPr kumimoji="0" lang="en-US" sz="1600" b="0" i="1"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a:t>
            </a:r>
            <a:endPar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endParaRPr>
          </a:p>
        </p:txBody>
      </p:sp>
      <p:grpSp>
        <p:nvGrpSpPr>
          <p:cNvPr id="9" name="Group 8">
            <a:extLst>
              <a:ext uri="{FF2B5EF4-FFF2-40B4-BE49-F238E27FC236}">
                <a16:creationId xmlns:a16="http://schemas.microsoft.com/office/drawing/2014/main" id="{B1100EAC-34F9-5852-728D-563CAD3BA24A}"/>
              </a:ext>
            </a:extLst>
          </p:cNvPr>
          <p:cNvGrpSpPr/>
          <p:nvPr/>
        </p:nvGrpSpPr>
        <p:grpSpPr>
          <a:xfrm>
            <a:off x="8390966" y="3522784"/>
            <a:ext cx="3473070" cy="2328435"/>
            <a:chOff x="7747147" y="2001893"/>
            <a:chExt cx="3473070" cy="2328435"/>
          </a:xfrm>
        </p:grpSpPr>
        <p:sp>
          <p:nvSpPr>
            <p:cNvPr id="10" name="Object5">
              <a:extLst>
                <a:ext uri="{FF2B5EF4-FFF2-40B4-BE49-F238E27FC236}">
                  <a16:creationId xmlns:a16="http://schemas.microsoft.com/office/drawing/2014/main" id="{952F7DAD-D86A-6D44-C45A-8C60390ED1CE}"/>
                </a:ext>
              </a:extLst>
            </p:cNvPr>
            <p:cNvSpPr/>
            <p:nvPr/>
          </p:nvSpPr>
          <p:spPr>
            <a:xfrm>
              <a:off x="7840198" y="2001893"/>
              <a:ext cx="3199982" cy="778629"/>
            </a:xfrm>
            <a:prstGeom prst="rect">
              <a:avLst/>
            </a:prstGeom>
            <a:noFill/>
            <a:ln/>
          </p:spPr>
          <p:txBody>
            <a:bodyPr wrap="square" lIns="0" tIns="0" rIns="0" bIns="0" rtlCol="0" anchor="t"/>
            <a:lstStyle/>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Influencer driven curated Destination Services-travel, cuisine, culture, wellness</a:t>
              </a:r>
            </a:p>
          </p:txBody>
        </p:sp>
        <p:sp>
          <p:nvSpPr>
            <p:cNvPr id="11" name="TextBox 10">
              <a:extLst>
                <a:ext uri="{FF2B5EF4-FFF2-40B4-BE49-F238E27FC236}">
                  <a16:creationId xmlns:a16="http://schemas.microsoft.com/office/drawing/2014/main" id="{D3ADFACF-D116-36D5-5FD7-1C03A323E05F}"/>
                </a:ext>
              </a:extLst>
            </p:cNvPr>
            <p:cNvSpPr txBox="1"/>
            <p:nvPr/>
          </p:nvSpPr>
          <p:spPr>
            <a:xfrm>
              <a:off x="7747147" y="2945333"/>
              <a:ext cx="3473070" cy="1384995"/>
            </a:xfrm>
            <a:prstGeom prst="rect">
              <a:avLst/>
            </a:prstGeom>
            <a:noFill/>
          </p:spPr>
          <p:txBody>
            <a:bodyPr wrap="square">
              <a:spAutoFit/>
            </a:bodyPr>
            <a:lstStyle/>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rPr>
                <a:t>Celesta certified premium social media influencers community that Celesta Customers can tap into for verified curated content &amp; recommendations on experiencing destinations that they travel to.</a:t>
              </a:r>
            </a:p>
          </p:txBody>
        </p:sp>
      </p:grpSp>
      <p:grpSp>
        <p:nvGrpSpPr>
          <p:cNvPr id="12" name="Group 11">
            <a:extLst>
              <a:ext uri="{FF2B5EF4-FFF2-40B4-BE49-F238E27FC236}">
                <a16:creationId xmlns:a16="http://schemas.microsoft.com/office/drawing/2014/main" id="{213BAAED-3766-C32C-0527-502CBF9F4401}"/>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C5E6CC67-C4BF-E5DF-FE74-C36807FF9066}"/>
                </a:ext>
              </a:extLst>
            </p:cNvPr>
            <p:cNvSpPr txBox="1">
              <a:spLocks/>
            </p:cNvSpPr>
            <p:nvPr/>
          </p:nvSpPr>
          <p:spPr>
            <a:xfrm>
              <a:off x="6434826" y="983780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610A744D-0898-A62D-A5CF-7EFC685D92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5" name="Picture 14">
              <a:extLst>
                <a:ext uri="{FF2B5EF4-FFF2-40B4-BE49-F238E27FC236}">
                  <a16:creationId xmlns:a16="http://schemas.microsoft.com/office/drawing/2014/main" id="{3E364C24-A92D-A03B-03E1-FAAE11265D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cxnSp>
        <p:nvCxnSpPr>
          <p:cNvPr id="16" name="Straight Connector 15">
            <a:extLst>
              <a:ext uri="{FF2B5EF4-FFF2-40B4-BE49-F238E27FC236}">
                <a16:creationId xmlns:a16="http://schemas.microsoft.com/office/drawing/2014/main" id="{C9C10D22-0D59-66E0-CEB0-9284B919D760}"/>
              </a:ext>
            </a:extLst>
          </p:cNvPr>
          <p:cNvCxnSpPr>
            <a:cxnSpLocks/>
          </p:cNvCxnSpPr>
          <p:nvPr/>
        </p:nvCxnSpPr>
        <p:spPr>
          <a:xfrm>
            <a:off x="8484018" y="3298788"/>
            <a:ext cx="72943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88D081C-CD94-BD7C-1D79-EC9E64368E73}"/>
              </a:ext>
            </a:extLst>
          </p:cNvPr>
          <p:cNvCxnSpPr>
            <a:cxnSpLocks/>
          </p:cNvCxnSpPr>
          <p:nvPr/>
        </p:nvCxnSpPr>
        <p:spPr>
          <a:xfrm>
            <a:off x="4676577" y="3298788"/>
            <a:ext cx="72943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69EB340-D6C9-4FBD-BF65-B42F0AE4CE79}"/>
              </a:ext>
            </a:extLst>
          </p:cNvPr>
          <p:cNvCxnSpPr>
            <a:cxnSpLocks/>
          </p:cNvCxnSpPr>
          <p:nvPr/>
        </p:nvCxnSpPr>
        <p:spPr>
          <a:xfrm>
            <a:off x="327964" y="3298788"/>
            <a:ext cx="72943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1326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9A0291-E91F-AE4D-AD08-B41B7AA07B65}"/>
              </a:ext>
            </a:extLst>
          </p:cNvPr>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Lst>
          </a:blip>
          <a:stretch>
            <a:fillRect/>
          </a:stretch>
        </p:blipFill>
        <p:spPr>
          <a:xfrm>
            <a:off x="0" y="0"/>
            <a:ext cx="12192000" cy="6858000"/>
          </a:xfrm>
          <a:prstGeom prst="rect">
            <a:avLst/>
          </a:prstGeom>
        </p:spPr>
      </p:pic>
      <p:sp>
        <p:nvSpPr>
          <p:cNvPr id="4" name="Object6">
            <a:extLst>
              <a:ext uri="{FF2B5EF4-FFF2-40B4-BE49-F238E27FC236}">
                <a16:creationId xmlns:a16="http://schemas.microsoft.com/office/drawing/2014/main" id="{E5070639-F0E2-D117-DE4C-9BE5E0A90DEA}"/>
              </a:ext>
            </a:extLst>
          </p:cNvPr>
          <p:cNvSpPr/>
          <p:nvPr/>
        </p:nvSpPr>
        <p:spPr>
          <a:xfrm>
            <a:off x="373470" y="554072"/>
            <a:ext cx="5156160" cy="371475"/>
          </a:xfrm>
          <a:prstGeom prst="rect">
            <a:avLst/>
          </a:prstGeom>
          <a:noFill/>
          <a:ln/>
        </p:spPr>
        <p:txBody>
          <a:bodyPr wrap="square" lIns="0" tIns="0" rIns="0" bIns="0" rtlCol="0" anchor="t"/>
          <a:lstStyle/>
          <a:p>
            <a:pPr marL="0" marR="0" lvl="0" indent="0" algn="l" defTabSz="304831"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prstClr val="white"/>
                </a:solidFill>
                <a:effectLst/>
                <a:uLnTx/>
                <a:uFillTx/>
                <a:latin typeface="Montserrat ExtraBold" pitchFamily="34" charset="0"/>
                <a:ea typeface="Montserrat ExtraBold" pitchFamily="34" charset="-122"/>
                <a:cs typeface="Montserrat ExtraBold" pitchFamily="34" charset="-120"/>
              </a:rPr>
              <a:t>THE WHITE GLOVE</a:t>
            </a:r>
            <a:endParaRPr kumimoji="0" lang="en-US" sz="1600" b="0" i="0" u="none" strike="noStrike" kern="1200" cap="all" spc="0" normalizeH="0" baseline="0" noProof="0" dirty="0">
              <a:ln>
                <a:noFill/>
              </a:ln>
              <a:solidFill>
                <a:prstClr val="white"/>
              </a:solidFill>
              <a:effectLst/>
              <a:uLnTx/>
              <a:uFillTx/>
              <a:latin typeface="Calibri" panose="020F0502020204030204"/>
              <a:ea typeface="+mn-ea"/>
              <a:cs typeface="+mn-cs"/>
            </a:endParaRPr>
          </a:p>
        </p:txBody>
      </p:sp>
      <p:sp>
        <p:nvSpPr>
          <p:cNvPr id="5" name="Object5">
            <a:extLst>
              <a:ext uri="{FF2B5EF4-FFF2-40B4-BE49-F238E27FC236}">
                <a16:creationId xmlns:a16="http://schemas.microsoft.com/office/drawing/2014/main" id="{EAF65D74-A727-84B5-35C5-7F22C1E098DE}"/>
              </a:ext>
            </a:extLst>
          </p:cNvPr>
          <p:cNvSpPr/>
          <p:nvPr/>
        </p:nvSpPr>
        <p:spPr>
          <a:xfrm>
            <a:off x="327964" y="3510882"/>
            <a:ext cx="2900429" cy="2458655"/>
          </a:xfrm>
          <a:prstGeom prst="rect">
            <a:avLst/>
          </a:prstGeom>
          <a:noFill/>
          <a:ln/>
        </p:spPr>
        <p:txBody>
          <a:bodyPr wrap="square" lIns="0" tIns="0" rIns="0" bIns="0" rtlCol="0" anchor="t"/>
          <a:lstStyle/>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“I don’t much watch movies…</a:t>
            </a:r>
          </a:p>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What do I do with these movie tickets…</a:t>
            </a:r>
          </a:p>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I wish I could get something more relevant instead… like a tea-box subscription perhaps..”</a:t>
            </a:r>
          </a:p>
          <a:p>
            <a:pPr marL="0" marR="0" lvl="0" indent="0" algn="l" defTabSz="304831"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endParaRPr>
          </a:p>
        </p:txBody>
      </p:sp>
      <p:sp>
        <p:nvSpPr>
          <p:cNvPr id="6" name="TextBox 5">
            <a:extLst>
              <a:ext uri="{FF2B5EF4-FFF2-40B4-BE49-F238E27FC236}">
                <a16:creationId xmlns:a16="http://schemas.microsoft.com/office/drawing/2014/main" id="{575DFE00-3EF4-A7BA-F0C5-C640A823383D}"/>
              </a:ext>
            </a:extLst>
          </p:cNvPr>
          <p:cNvSpPr txBox="1"/>
          <p:nvPr/>
        </p:nvSpPr>
        <p:spPr>
          <a:xfrm>
            <a:off x="4676577" y="3510883"/>
            <a:ext cx="2900429" cy="584775"/>
          </a:xfrm>
          <a:prstGeom prst="rect">
            <a:avLst/>
          </a:prstGeom>
          <a:noFill/>
        </p:spPr>
        <p:txBody>
          <a:bodyPr wrap="square">
            <a:spAutoFit/>
          </a:bodyPr>
          <a:lstStyle/>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---Let me set this up on My Celesta---</a:t>
            </a:r>
          </a:p>
        </p:txBody>
      </p:sp>
      <p:grpSp>
        <p:nvGrpSpPr>
          <p:cNvPr id="7" name="Group 6">
            <a:extLst>
              <a:ext uri="{FF2B5EF4-FFF2-40B4-BE49-F238E27FC236}">
                <a16:creationId xmlns:a16="http://schemas.microsoft.com/office/drawing/2014/main" id="{168C355E-78D6-CD1C-017A-2E04A6263645}"/>
              </a:ext>
            </a:extLst>
          </p:cNvPr>
          <p:cNvGrpSpPr/>
          <p:nvPr/>
        </p:nvGrpSpPr>
        <p:grpSpPr>
          <a:xfrm>
            <a:off x="8388639" y="3522785"/>
            <a:ext cx="3838337" cy="2952444"/>
            <a:chOff x="7744819" y="2001893"/>
            <a:chExt cx="3838337" cy="2952444"/>
          </a:xfrm>
        </p:grpSpPr>
        <p:sp>
          <p:nvSpPr>
            <p:cNvPr id="8" name="Object5">
              <a:extLst>
                <a:ext uri="{FF2B5EF4-FFF2-40B4-BE49-F238E27FC236}">
                  <a16:creationId xmlns:a16="http://schemas.microsoft.com/office/drawing/2014/main" id="{A0C9B0A3-C7DF-1668-B522-11685013B1A9}"/>
                </a:ext>
              </a:extLst>
            </p:cNvPr>
            <p:cNvSpPr/>
            <p:nvPr/>
          </p:nvSpPr>
          <p:spPr>
            <a:xfrm>
              <a:off x="7840198" y="2001893"/>
              <a:ext cx="3742958" cy="778629"/>
            </a:xfrm>
            <a:prstGeom prst="rect">
              <a:avLst/>
            </a:prstGeom>
            <a:noFill/>
            <a:ln/>
          </p:spPr>
          <p:txBody>
            <a:bodyPr wrap="square" lIns="0" tIns="0" rIns="0" bIns="0" rtlCol="0" anchor="t"/>
            <a:lstStyle/>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My Celesta Program –</a:t>
              </a:r>
              <a:b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br>
              <a:r>
                <a:rPr kumimoji="0" lang="en-US" sz="1600" b="0" i="0" u="none" strike="noStrike" kern="1200" cap="none" spc="0" normalizeH="0" baseline="0" noProof="0" dirty="0">
                  <a:ln>
                    <a:noFill/>
                  </a:ln>
                  <a:solidFill>
                    <a:prstClr val="white"/>
                  </a:solidFill>
                  <a:effectLst/>
                  <a:uLnTx/>
                  <a:uFillTx/>
                  <a:latin typeface="Hepta Slab Medium" pitchFamily="2" charset="0"/>
                  <a:ea typeface="+mn-ea"/>
                  <a:cs typeface="Hepta Slab Medium" pitchFamily="2" charset="0"/>
                </a:rPr>
                <a:t>“Configured Benefits” </a:t>
              </a:r>
            </a:p>
          </p:txBody>
        </p:sp>
        <p:sp>
          <p:nvSpPr>
            <p:cNvPr id="9" name="TextBox 8">
              <a:extLst>
                <a:ext uri="{FF2B5EF4-FFF2-40B4-BE49-F238E27FC236}">
                  <a16:creationId xmlns:a16="http://schemas.microsoft.com/office/drawing/2014/main" id="{B4CB688F-9C79-5ACD-663A-EAAA2215AAB1}"/>
                </a:ext>
              </a:extLst>
            </p:cNvPr>
            <p:cNvSpPr txBox="1"/>
            <p:nvPr/>
          </p:nvSpPr>
          <p:spPr>
            <a:xfrm>
              <a:off x="7744819" y="2604976"/>
              <a:ext cx="3394633" cy="2349361"/>
            </a:xfrm>
            <a:prstGeom prst="rect">
              <a:avLst/>
            </a:prstGeom>
            <a:noFill/>
          </p:spPr>
          <p:txBody>
            <a:bodyPr wrap="square">
              <a:spAutoFit/>
            </a:bodyPr>
            <a:lstStyle/>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rPr>
                <a:t>An exclusive interface that allows the customer “configure” how they would like to use the “The Celesta </a:t>
              </a:r>
              <a:r>
                <a:rPr kumimoji="0" lang="en-US" sz="1400" b="0" i="0" u="none" strike="noStrike" kern="1200" cap="none" spc="0" normalizeH="0" baseline="0" noProof="0" dirty="0" err="1">
                  <a:ln>
                    <a:noFill/>
                  </a:ln>
                  <a:solidFill>
                    <a:prstClr val="white"/>
                  </a:solidFill>
                  <a:effectLst/>
                  <a:uLnTx/>
                  <a:uFillTx/>
                  <a:latin typeface="Montserrat Medium" pitchFamily="2" charset="0"/>
                  <a:ea typeface="+mn-ea"/>
                  <a:cs typeface="Hepta Slab Medium" pitchFamily="2" charset="0"/>
                </a:rPr>
                <a:t>DigiConcierge</a:t>
              </a:r>
              <a:r>
                <a:rPr kumimoji="0" lang="en-US" sz="14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rPr>
                <a:t>” – A way to enhance onboarding engagement.</a:t>
              </a:r>
            </a:p>
            <a:p>
              <a:pPr marL="0" marR="0" lvl="0" indent="0" algn="l" defTabSz="304831"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Montserrat Medium" pitchFamily="2" charset="0"/>
                  <a:ea typeface="+mn-ea"/>
                  <a:cs typeface="Hepta Slab Medium" pitchFamily="2" charset="0"/>
                </a:rPr>
                <a:t>An opportunity for the “Custodian” team to build rapport with the customer. A means for the brand to continuously be aligned with customers’ interests.</a:t>
              </a:r>
            </a:p>
          </p:txBody>
        </p:sp>
      </p:grpSp>
      <p:cxnSp>
        <p:nvCxnSpPr>
          <p:cNvPr id="10" name="Straight Connector 9">
            <a:extLst>
              <a:ext uri="{FF2B5EF4-FFF2-40B4-BE49-F238E27FC236}">
                <a16:creationId xmlns:a16="http://schemas.microsoft.com/office/drawing/2014/main" id="{C5C90700-1098-A0D3-B136-FDB143EF66EF}"/>
              </a:ext>
            </a:extLst>
          </p:cNvPr>
          <p:cNvCxnSpPr>
            <a:cxnSpLocks/>
          </p:cNvCxnSpPr>
          <p:nvPr/>
        </p:nvCxnSpPr>
        <p:spPr>
          <a:xfrm>
            <a:off x="8484018" y="3298788"/>
            <a:ext cx="72943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0A72B8-666C-F36D-EDB3-681D938177A7}"/>
              </a:ext>
            </a:extLst>
          </p:cNvPr>
          <p:cNvCxnSpPr>
            <a:cxnSpLocks/>
          </p:cNvCxnSpPr>
          <p:nvPr/>
        </p:nvCxnSpPr>
        <p:spPr>
          <a:xfrm>
            <a:off x="4676577" y="3298788"/>
            <a:ext cx="72943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FE39FBD-350B-7D53-F202-1D8497A2FE8A}"/>
              </a:ext>
            </a:extLst>
          </p:cNvPr>
          <p:cNvCxnSpPr>
            <a:cxnSpLocks/>
          </p:cNvCxnSpPr>
          <p:nvPr/>
        </p:nvCxnSpPr>
        <p:spPr>
          <a:xfrm>
            <a:off x="327964" y="3298788"/>
            <a:ext cx="72943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797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814A1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B8065E1-8EAA-FC91-D04B-0CECC530CD87}"/>
              </a:ext>
            </a:extLst>
          </p:cNvPr>
          <p:cNvSpPr/>
          <p:nvPr/>
        </p:nvSpPr>
        <p:spPr>
          <a:xfrm>
            <a:off x="0" y="0"/>
            <a:ext cx="6096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46"/>
            <a:endParaRPr lang="en-IN">
              <a:solidFill>
                <a:prstClr val="white"/>
              </a:solidFill>
              <a:latin typeface="Calibri" panose="020F0502020204030204"/>
            </a:endParaRPr>
          </a:p>
        </p:txBody>
      </p:sp>
      <p:sp>
        <p:nvSpPr>
          <p:cNvPr id="16" name="Object6">
            <a:extLst>
              <a:ext uri="{FF2B5EF4-FFF2-40B4-BE49-F238E27FC236}">
                <a16:creationId xmlns:a16="http://schemas.microsoft.com/office/drawing/2014/main" id="{DBC8D89D-6377-A058-585D-48DC059FFC49}"/>
              </a:ext>
            </a:extLst>
          </p:cNvPr>
          <p:cNvSpPr/>
          <p:nvPr/>
        </p:nvSpPr>
        <p:spPr>
          <a:xfrm>
            <a:off x="923306" y="459478"/>
            <a:ext cx="5156160" cy="371475"/>
          </a:xfrm>
          <a:prstGeom prst="rect">
            <a:avLst/>
          </a:prstGeom>
          <a:noFill/>
          <a:ln/>
        </p:spPr>
        <p:txBody>
          <a:bodyPr wrap="square" lIns="0" tIns="0" rIns="0" bIns="0" rtlCol="0" anchor="t"/>
          <a:lstStyle/>
          <a:p>
            <a:pPr defTabSz="304815">
              <a:lnSpc>
                <a:spcPts val="2925"/>
              </a:lnSpc>
              <a:defRPr/>
            </a:pPr>
            <a:r>
              <a:rPr lang="en-US" sz="1600" cap="all" dirty="0">
                <a:solidFill>
                  <a:prstClr val="white"/>
                </a:solidFill>
                <a:latin typeface="Montserrat ExtraBold" pitchFamily="34" charset="0"/>
                <a:ea typeface="Montserrat ExtraBold" pitchFamily="34" charset="-122"/>
                <a:cs typeface="Montserrat ExtraBold" pitchFamily="34" charset="-120"/>
              </a:rPr>
              <a:t>SERVICE RECOVERY – PLANNING FOR FAILURE</a:t>
            </a:r>
            <a:endParaRPr lang="en-US" sz="1600" cap="all" dirty="0">
              <a:solidFill>
                <a:prstClr val="white"/>
              </a:solidFill>
              <a:latin typeface="Calibri" panose="020F0502020204030204"/>
            </a:endParaRPr>
          </a:p>
        </p:txBody>
      </p:sp>
      <p:sp>
        <p:nvSpPr>
          <p:cNvPr id="11" name="TextBox 10">
            <a:extLst>
              <a:ext uri="{FF2B5EF4-FFF2-40B4-BE49-F238E27FC236}">
                <a16:creationId xmlns:a16="http://schemas.microsoft.com/office/drawing/2014/main" id="{824E06D7-DCCF-444B-A861-C0FDF6F5EB42}"/>
              </a:ext>
            </a:extLst>
          </p:cNvPr>
          <p:cNvSpPr txBox="1"/>
          <p:nvPr/>
        </p:nvSpPr>
        <p:spPr>
          <a:xfrm>
            <a:off x="7032000" y="4819796"/>
            <a:ext cx="4121760" cy="1015663"/>
          </a:xfrm>
          <a:prstGeom prst="rect">
            <a:avLst/>
          </a:prstGeom>
          <a:noFill/>
        </p:spPr>
        <p:txBody>
          <a:bodyPr wrap="square" rtlCol="0">
            <a:spAutoFit/>
          </a:bodyPr>
          <a:lstStyle/>
          <a:p>
            <a:pPr defTabSz="304815">
              <a:defRPr/>
            </a:pPr>
            <a:r>
              <a:rPr lang="en-IN" sz="1200" dirty="0">
                <a:solidFill>
                  <a:prstClr val="white"/>
                </a:solidFill>
                <a:latin typeface="Montserrat Medium" pitchFamily="2" charset="0"/>
              </a:rPr>
              <a:t>A structured, systematic and empowered approach</a:t>
            </a:r>
            <a:br>
              <a:rPr lang="en-IN" sz="1200" dirty="0">
                <a:solidFill>
                  <a:prstClr val="white"/>
                </a:solidFill>
                <a:latin typeface="Montserrat Medium" pitchFamily="2" charset="0"/>
              </a:rPr>
            </a:br>
            <a:r>
              <a:rPr lang="en-IN" sz="1200" dirty="0">
                <a:solidFill>
                  <a:prstClr val="white"/>
                </a:solidFill>
                <a:latin typeface="Montserrat Medium" pitchFamily="2" charset="0"/>
              </a:rPr>
              <a:t>to post-facto address customer fulfilment process failures &amp; stress points to prevent subsequent &amp; future engagement breakdown</a:t>
            </a:r>
          </a:p>
        </p:txBody>
      </p:sp>
      <p:sp>
        <p:nvSpPr>
          <p:cNvPr id="10" name="TextBox 9">
            <a:extLst>
              <a:ext uri="{FF2B5EF4-FFF2-40B4-BE49-F238E27FC236}">
                <a16:creationId xmlns:a16="http://schemas.microsoft.com/office/drawing/2014/main" id="{D7137D6E-2B2B-13F3-88DD-5A472EA730A5}"/>
              </a:ext>
            </a:extLst>
          </p:cNvPr>
          <p:cNvSpPr txBox="1"/>
          <p:nvPr/>
        </p:nvSpPr>
        <p:spPr>
          <a:xfrm>
            <a:off x="7032001" y="3023844"/>
            <a:ext cx="4121760" cy="830997"/>
          </a:xfrm>
          <a:prstGeom prst="rect">
            <a:avLst/>
          </a:prstGeom>
          <a:noFill/>
        </p:spPr>
        <p:txBody>
          <a:bodyPr wrap="square" rtlCol="0">
            <a:spAutoFit/>
          </a:bodyPr>
          <a:lstStyle/>
          <a:p>
            <a:pPr defTabSz="304815">
              <a:defRPr/>
            </a:pPr>
            <a:r>
              <a:rPr lang="en-IN" sz="1200" dirty="0">
                <a:solidFill>
                  <a:prstClr val="white"/>
                </a:solidFill>
                <a:latin typeface="Montserrat ExtraBold" pitchFamily="2" charset="0"/>
              </a:rPr>
              <a:t>What matters is recovering in manner that</a:t>
            </a:r>
          </a:p>
          <a:p>
            <a:pPr marL="304815" lvl="1" defTabSz="304815">
              <a:defRPr/>
            </a:pPr>
            <a:r>
              <a:rPr lang="en-IN" sz="1200" dirty="0">
                <a:solidFill>
                  <a:prstClr val="white"/>
                </a:solidFill>
                <a:latin typeface="Montserrat Medium" pitchFamily="2" charset="0"/>
              </a:rPr>
              <a:t>Minimizes impact on customer engagement</a:t>
            </a:r>
          </a:p>
          <a:p>
            <a:pPr marL="304815" lvl="1" defTabSz="304815">
              <a:defRPr/>
            </a:pPr>
            <a:r>
              <a:rPr lang="en-IN" sz="1200" dirty="0">
                <a:solidFill>
                  <a:prstClr val="white"/>
                </a:solidFill>
                <a:latin typeface="Montserrat Medium" pitchFamily="2" charset="0"/>
              </a:rPr>
              <a:t>Drives positive word-of-mouth</a:t>
            </a:r>
          </a:p>
          <a:p>
            <a:pPr marL="304815" lvl="1" defTabSz="304815">
              <a:defRPr/>
            </a:pPr>
            <a:r>
              <a:rPr lang="en-IN" sz="1200" dirty="0">
                <a:solidFill>
                  <a:prstClr val="white"/>
                </a:solidFill>
                <a:latin typeface="Montserrat Medium" pitchFamily="2" charset="0"/>
              </a:rPr>
              <a:t>Does not cause the brand to loose money</a:t>
            </a:r>
          </a:p>
        </p:txBody>
      </p:sp>
      <p:sp>
        <p:nvSpPr>
          <p:cNvPr id="14" name="TextBox 13">
            <a:extLst>
              <a:ext uri="{FF2B5EF4-FFF2-40B4-BE49-F238E27FC236}">
                <a16:creationId xmlns:a16="http://schemas.microsoft.com/office/drawing/2014/main" id="{DCC277F5-8E7C-AE58-9E27-713A4FDB8813}"/>
              </a:ext>
            </a:extLst>
          </p:cNvPr>
          <p:cNvSpPr txBox="1"/>
          <p:nvPr/>
        </p:nvSpPr>
        <p:spPr>
          <a:xfrm>
            <a:off x="7032000" y="4014153"/>
            <a:ext cx="4121760" cy="646331"/>
          </a:xfrm>
          <a:prstGeom prst="rect">
            <a:avLst/>
          </a:prstGeom>
          <a:noFill/>
        </p:spPr>
        <p:txBody>
          <a:bodyPr wrap="square" rtlCol="0">
            <a:spAutoFit/>
          </a:bodyPr>
          <a:lstStyle/>
          <a:p>
            <a:pPr defTabSz="304815">
              <a:defRPr/>
            </a:pPr>
            <a:r>
              <a:rPr lang="en-US" sz="1200" dirty="0">
                <a:solidFill>
                  <a:prstClr val="white"/>
                </a:solidFill>
                <a:latin typeface="Montserrat Medium" pitchFamily="2" charset="0"/>
                <a:cs typeface="Hepta Slab Medium" pitchFamily="2" charset="0"/>
              </a:rPr>
              <a:t>The key to service recovery is to focus on moments of high emotional arousal (Peaks) and guarding against negative biases that could set in</a:t>
            </a:r>
            <a:endParaRPr lang="en-IN" sz="1200" dirty="0">
              <a:solidFill>
                <a:prstClr val="white"/>
              </a:solidFill>
              <a:latin typeface="Montserrat Medium" pitchFamily="2" charset="0"/>
              <a:cs typeface="Hepta Slab Medium" pitchFamily="2" charset="0"/>
            </a:endParaRPr>
          </a:p>
        </p:txBody>
      </p:sp>
      <p:sp>
        <p:nvSpPr>
          <p:cNvPr id="26" name="TextBox 25">
            <a:extLst>
              <a:ext uri="{FF2B5EF4-FFF2-40B4-BE49-F238E27FC236}">
                <a16:creationId xmlns:a16="http://schemas.microsoft.com/office/drawing/2014/main" id="{6B4E4585-19ED-1B4F-F2E0-032AA990D9F3}"/>
              </a:ext>
            </a:extLst>
          </p:cNvPr>
          <p:cNvSpPr txBox="1"/>
          <p:nvPr/>
        </p:nvSpPr>
        <p:spPr>
          <a:xfrm>
            <a:off x="7032000" y="1853706"/>
            <a:ext cx="4236197" cy="748795"/>
          </a:xfrm>
          <a:prstGeom prst="rect">
            <a:avLst/>
          </a:prstGeom>
          <a:noFill/>
        </p:spPr>
        <p:txBody>
          <a:bodyPr wrap="square">
            <a:spAutoFit/>
          </a:bodyPr>
          <a:lstStyle/>
          <a:p>
            <a:pPr defTabSz="914446"/>
            <a:r>
              <a:rPr lang="en-IN" sz="2133" dirty="0">
                <a:solidFill>
                  <a:srgbClr val="FFDD00"/>
                </a:solidFill>
                <a:latin typeface="Hepta Slab Medium" pitchFamily="2" charset="0"/>
                <a:cs typeface="Hepta Slab Medium" pitchFamily="2" charset="0"/>
              </a:rPr>
              <a:t>Even the best laid processes &amp; journeys fail.</a:t>
            </a:r>
            <a:endParaRPr lang="en-IN" sz="1867" dirty="0">
              <a:solidFill>
                <a:srgbClr val="FFDD00"/>
              </a:solidFill>
              <a:latin typeface="Hepta Slab Medium" pitchFamily="2" charset="0"/>
              <a:cs typeface="Hepta Slab Medium" pitchFamily="2" charset="0"/>
            </a:endParaRPr>
          </a:p>
        </p:txBody>
      </p:sp>
      <p:pic>
        <p:nvPicPr>
          <p:cNvPr id="4" name="Picture 3">
            <a:extLst>
              <a:ext uri="{FF2B5EF4-FFF2-40B4-BE49-F238E27FC236}">
                <a16:creationId xmlns:a16="http://schemas.microsoft.com/office/drawing/2014/main" id="{C2273CA0-E87F-2098-ABDD-3514E222E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58" y="1615093"/>
            <a:ext cx="5151085" cy="3457137"/>
          </a:xfrm>
          <a:prstGeom prst="rect">
            <a:avLst/>
          </a:prstGeom>
        </p:spPr>
      </p:pic>
      <p:grpSp>
        <p:nvGrpSpPr>
          <p:cNvPr id="27" name="Group 26">
            <a:extLst>
              <a:ext uri="{FF2B5EF4-FFF2-40B4-BE49-F238E27FC236}">
                <a16:creationId xmlns:a16="http://schemas.microsoft.com/office/drawing/2014/main" id="{A2E1E4A5-D51D-4532-9C36-9D17004868A7}"/>
              </a:ext>
            </a:extLst>
          </p:cNvPr>
          <p:cNvGrpSpPr/>
          <p:nvPr/>
        </p:nvGrpSpPr>
        <p:grpSpPr>
          <a:xfrm>
            <a:off x="1" y="6042107"/>
            <a:ext cx="11864037" cy="911852"/>
            <a:chOff x="579560" y="9184073"/>
            <a:chExt cx="18133625" cy="1393723"/>
          </a:xfrm>
        </p:grpSpPr>
        <p:sp>
          <p:nvSpPr>
            <p:cNvPr id="28" name="Title 1">
              <a:extLst>
                <a:ext uri="{FF2B5EF4-FFF2-40B4-BE49-F238E27FC236}">
                  <a16:creationId xmlns:a16="http://schemas.microsoft.com/office/drawing/2014/main" id="{E2AFA849-FCB2-500D-6A70-D9959CC37CB2}"/>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29" name="Picture 28">
              <a:extLst>
                <a:ext uri="{FF2B5EF4-FFF2-40B4-BE49-F238E27FC236}">
                  <a16:creationId xmlns:a16="http://schemas.microsoft.com/office/drawing/2014/main" id="{2C9D29C3-2133-7714-4F6C-3CE03A0D99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30" name="Picture 29">
              <a:extLst>
                <a:ext uri="{FF2B5EF4-FFF2-40B4-BE49-F238E27FC236}">
                  <a16:creationId xmlns:a16="http://schemas.microsoft.com/office/drawing/2014/main" id="{0B8B352E-B3B1-EDA7-2D50-EB6FD0ECF8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Tree>
    <p:extLst>
      <p:ext uri="{BB962C8B-B14F-4D97-AF65-F5344CB8AC3E}">
        <p14:creationId xmlns:p14="http://schemas.microsoft.com/office/powerpoint/2010/main" val="15408217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814A17"/>
        </a:solidFill>
        <a:effectLst/>
      </p:bgPr>
    </p:bg>
    <p:spTree>
      <p:nvGrpSpPr>
        <p:cNvPr id="1" name=""/>
        <p:cNvGrpSpPr/>
        <p:nvPr/>
      </p:nvGrpSpPr>
      <p:grpSpPr>
        <a:xfrm>
          <a:off x="0" y="0"/>
          <a:ext cx="0" cy="0"/>
          <a:chOff x="0" y="0"/>
          <a:chExt cx="0" cy="0"/>
        </a:xfrm>
      </p:grpSpPr>
      <p:sp>
        <p:nvSpPr>
          <p:cNvPr id="20" name="Object5">
            <a:extLst>
              <a:ext uri="{FF2B5EF4-FFF2-40B4-BE49-F238E27FC236}">
                <a16:creationId xmlns:a16="http://schemas.microsoft.com/office/drawing/2014/main" id="{9B05935E-6EE1-3B32-A0B4-5CD4E4BFBF2A}"/>
              </a:ext>
            </a:extLst>
          </p:cNvPr>
          <p:cNvSpPr/>
          <p:nvPr/>
        </p:nvSpPr>
        <p:spPr>
          <a:xfrm>
            <a:off x="1688" y="5360746"/>
            <a:ext cx="12192000" cy="707211"/>
          </a:xfrm>
          <a:prstGeom prst="rect">
            <a:avLst/>
          </a:prstGeom>
          <a:solidFill>
            <a:srgbClr val="003975"/>
          </a:solidFill>
          <a:ln/>
        </p:spPr>
        <p:txBody>
          <a:bodyPr wrap="square" lIns="0" tIns="0" rIns="0" bIns="0" rtlCol="0" anchor="t"/>
          <a:lstStyle/>
          <a:p>
            <a:pPr defTabSz="304815">
              <a:spcAft>
                <a:spcPts val="800"/>
              </a:spcAft>
              <a:defRPr/>
            </a:pPr>
            <a:endParaRPr lang="en-US" sz="1467" dirty="0">
              <a:solidFill>
                <a:srgbClr val="F5F3E4"/>
              </a:solidFill>
              <a:latin typeface="Montserrat Medium" pitchFamily="2" charset="0"/>
              <a:cs typeface="Hepta Slab Regular" pitchFamily="2" charset="0"/>
            </a:endParaRPr>
          </a:p>
        </p:txBody>
      </p:sp>
      <p:sp>
        <p:nvSpPr>
          <p:cNvPr id="16" name="Object6">
            <a:extLst>
              <a:ext uri="{FF2B5EF4-FFF2-40B4-BE49-F238E27FC236}">
                <a16:creationId xmlns:a16="http://schemas.microsoft.com/office/drawing/2014/main" id="{DBC8D89D-6377-A058-585D-48DC059FFC49}"/>
              </a:ext>
            </a:extLst>
          </p:cNvPr>
          <p:cNvSpPr/>
          <p:nvPr/>
        </p:nvSpPr>
        <p:spPr>
          <a:xfrm>
            <a:off x="819840" y="669001"/>
            <a:ext cx="5156160" cy="371475"/>
          </a:xfrm>
          <a:prstGeom prst="rect">
            <a:avLst/>
          </a:prstGeom>
          <a:noFill/>
          <a:ln/>
        </p:spPr>
        <p:txBody>
          <a:bodyPr wrap="square" lIns="0" tIns="0" rIns="0" bIns="0" rtlCol="0" anchor="t"/>
          <a:lstStyle/>
          <a:p>
            <a:pPr defTabSz="304815">
              <a:lnSpc>
                <a:spcPts val="2925"/>
              </a:lnSpc>
              <a:defRPr/>
            </a:pPr>
            <a:r>
              <a:rPr lang="en-US" sz="1600" cap="all" dirty="0">
                <a:solidFill>
                  <a:prstClr val="white"/>
                </a:solidFill>
                <a:latin typeface="Montserrat ExtraBold" pitchFamily="34" charset="0"/>
                <a:ea typeface="Montserrat ExtraBold" pitchFamily="34" charset="-122"/>
                <a:cs typeface="Montserrat ExtraBold" pitchFamily="34" charset="-120"/>
              </a:rPr>
              <a:t>SERVICE RECOVERY</a:t>
            </a:r>
            <a:endParaRPr lang="en-US" sz="1600" cap="all" dirty="0">
              <a:solidFill>
                <a:prstClr val="white"/>
              </a:solidFill>
              <a:latin typeface="Calibri" panose="020F0502020204030204"/>
            </a:endParaRPr>
          </a:p>
        </p:txBody>
      </p:sp>
      <p:sp>
        <p:nvSpPr>
          <p:cNvPr id="10" name="Object5">
            <a:extLst>
              <a:ext uri="{FF2B5EF4-FFF2-40B4-BE49-F238E27FC236}">
                <a16:creationId xmlns:a16="http://schemas.microsoft.com/office/drawing/2014/main" id="{50D7CFB4-4B11-F866-D1AB-A79BF1D9BEA8}"/>
              </a:ext>
            </a:extLst>
          </p:cNvPr>
          <p:cNvSpPr/>
          <p:nvPr/>
        </p:nvSpPr>
        <p:spPr>
          <a:xfrm>
            <a:off x="815999" y="1749000"/>
            <a:ext cx="2640000" cy="240000"/>
          </a:xfrm>
          <a:prstGeom prst="rect">
            <a:avLst/>
          </a:prstGeom>
          <a:noFill/>
          <a:ln/>
        </p:spPr>
        <p:txBody>
          <a:bodyPr wrap="square" lIns="0" tIns="0" rIns="0" bIns="0" rtlCol="0" anchor="t"/>
          <a:lstStyle/>
          <a:p>
            <a:pPr defTabSz="304815">
              <a:defRPr/>
            </a:pPr>
            <a:r>
              <a:rPr lang="en-US" dirty="0">
                <a:solidFill>
                  <a:prstClr val="white"/>
                </a:solidFill>
                <a:latin typeface="Montserrat ExtraBold" pitchFamily="2" charset="0"/>
                <a:cs typeface="Hepta Slab Regular" pitchFamily="2" charset="0"/>
              </a:rPr>
              <a:t>IMMEDIATE RESPONSE </a:t>
            </a:r>
          </a:p>
        </p:txBody>
      </p:sp>
      <p:sp>
        <p:nvSpPr>
          <p:cNvPr id="12" name="Object5">
            <a:extLst>
              <a:ext uri="{FF2B5EF4-FFF2-40B4-BE49-F238E27FC236}">
                <a16:creationId xmlns:a16="http://schemas.microsoft.com/office/drawing/2014/main" id="{E25A7EE6-F240-8487-AAF6-C49F015AF369}"/>
              </a:ext>
            </a:extLst>
          </p:cNvPr>
          <p:cNvSpPr/>
          <p:nvPr/>
        </p:nvSpPr>
        <p:spPr>
          <a:xfrm>
            <a:off x="4716000" y="1749000"/>
            <a:ext cx="2640000" cy="240000"/>
          </a:xfrm>
          <a:prstGeom prst="rect">
            <a:avLst/>
          </a:prstGeom>
          <a:noFill/>
          <a:ln/>
        </p:spPr>
        <p:txBody>
          <a:bodyPr wrap="square" lIns="0" tIns="0" rIns="0" bIns="0" rtlCol="0" anchor="t"/>
          <a:lstStyle/>
          <a:p>
            <a:pPr defTabSz="304815">
              <a:defRPr/>
            </a:pPr>
            <a:r>
              <a:rPr lang="en-US" dirty="0">
                <a:solidFill>
                  <a:prstClr val="white"/>
                </a:solidFill>
                <a:latin typeface="Montserrat ExtraBold" pitchFamily="2" charset="0"/>
                <a:ea typeface="Hepta Slab Regular" pitchFamily="34" charset="-122"/>
                <a:cs typeface="Hepta Slab Regular" pitchFamily="2" charset="0"/>
              </a:rPr>
              <a:t>SHORT TERM RESPONSE</a:t>
            </a:r>
            <a:endParaRPr lang="en-US" dirty="0">
              <a:solidFill>
                <a:prstClr val="white"/>
              </a:solidFill>
              <a:latin typeface="Montserrat ExtraBold" pitchFamily="2" charset="0"/>
              <a:cs typeface="Hepta Slab Regular" pitchFamily="2" charset="0"/>
            </a:endParaRPr>
          </a:p>
        </p:txBody>
      </p:sp>
      <p:sp>
        <p:nvSpPr>
          <p:cNvPr id="14" name="Object5">
            <a:extLst>
              <a:ext uri="{FF2B5EF4-FFF2-40B4-BE49-F238E27FC236}">
                <a16:creationId xmlns:a16="http://schemas.microsoft.com/office/drawing/2014/main" id="{40A164FF-62C9-6F10-A01C-EB66B3FE4034}"/>
              </a:ext>
            </a:extLst>
          </p:cNvPr>
          <p:cNvSpPr/>
          <p:nvPr/>
        </p:nvSpPr>
        <p:spPr>
          <a:xfrm>
            <a:off x="8496000" y="1749000"/>
            <a:ext cx="2640000" cy="240000"/>
          </a:xfrm>
          <a:prstGeom prst="rect">
            <a:avLst/>
          </a:prstGeom>
          <a:noFill/>
          <a:ln/>
        </p:spPr>
        <p:txBody>
          <a:bodyPr wrap="square" lIns="0" tIns="0" rIns="0" bIns="0" rtlCol="0" anchor="t"/>
          <a:lstStyle/>
          <a:p>
            <a:pPr defTabSz="304815">
              <a:defRPr/>
            </a:pPr>
            <a:r>
              <a:rPr lang="en-US" dirty="0">
                <a:solidFill>
                  <a:prstClr val="white"/>
                </a:solidFill>
                <a:latin typeface="Montserrat ExtraBold" pitchFamily="2" charset="0"/>
                <a:ea typeface="Hepta Slab Regular" pitchFamily="34" charset="-122"/>
                <a:cs typeface="Hepta Slab Regular" pitchFamily="2" charset="0"/>
              </a:rPr>
              <a:t>PROCESS SHIFTS</a:t>
            </a:r>
            <a:endParaRPr lang="en-US" dirty="0">
              <a:solidFill>
                <a:prstClr val="white"/>
              </a:solidFill>
              <a:latin typeface="Montserrat ExtraBold" pitchFamily="2" charset="0"/>
              <a:cs typeface="Hepta Slab Regular" pitchFamily="2" charset="0"/>
            </a:endParaRPr>
          </a:p>
        </p:txBody>
      </p:sp>
      <p:sp>
        <p:nvSpPr>
          <p:cNvPr id="15" name="Object5">
            <a:extLst>
              <a:ext uri="{FF2B5EF4-FFF2-40B4-BE49-F238E27FC236}">
                <a16:creationId xmlns:a16="http://schemas.microsoft.com/office/drawing/2014/main" id="{681AF791-FCD2-27C2-4E35-09444B41B030}"/>
              </a:ext>
            </a:extLst>
          </p:cNvPr>
          <p:cNvSpPr/>
          <p:nvPr/>
        </p:nvSpPr>
        <p:spPr>
          <a:xfrm>
            <a:off x="815999" y="2469000"/>
            <a:ext cx="2640000" cy="2640000"/>
          </a:xfrm>
          <a:prstGeom prst="rect">
            <a:avLst/>
          </a:prstGeom>
          <a:noFill/>
          <a:ln/>
        </p:spPr>
        <p:txBody>
          <a:bodyPr wrap="square" lIns="0" tIns="0" rIns="0" bIns="0" rtlCol="0" anchor="t"/>
          <a:lstStyle/>
          <a:p>
            <a:pPr defTabSz="304815">
              <a:spcAft>
                <a:spcPts val="800"/>
              </a:spcAft>
              <a:defRPr/>
            </a:pPr>
            <a:r>
              <a:rPr lang="en-US" sz="1333" dirty="0">
                <a:solidFill>
                  <a:prstClr val="white"/>
                </a:solidFill>
                <a:latin typeface="Montserrat Medium" pitchFamily="2" charset="0"/>
                <a:cs typeface="Hepta Slab Regular" pitchFamily="2" charset="0"/>
              </a:rPr>
              <a:t>Ownership &amp; Stress transference</a:t>
            </a:r>
          </a:p>
          <a:p>
            <a:pPr defTabSz="304815">
              <a:spcAft>
                <a:spcPts val="800"/>
              </a:spcAft>
              <a:defRPr/>
            </a:pPr>
            <a:r>
              <a:rPr lang="en-US" sz="1333" dirty="0">
                <a:solidFill>
                  <a:prstClr val="white"/>
                </a:solidFill>
                <a:latin typeface="Montserrat Medium" pitchFamily="2" charset="0"/>
                <a:cs typeface="Hepta Slab Regular" pitchFamily="2" charset="0"/>
              </a:rPr>
              <a:t>Escalation matrix – visible, available &amp; informed</a:t>
            </a:r>
          </a:p>
          <a:p>
            <a:pPr defTabSz="304815">
              <a:spcAft>
                <a:spcPts val="800"/>
              </a:spcAft>
              <a:defRPr/>
            </a:pPr>
            <a:r>
              <a:rPr lang="en-US" sz="1333" dirty="0">
                <a:solidFill>
                  <a:prstClr val="white"/>
                </a:solidFill>
                <a:latin typeface="Montserrat Medium" pitchFamily="2" charset="0"/>
                <a:cs typeface="Hepta Slab Regular" pitchFamily="2" charset="0"/>
              </a:rPr>
              <a:t>No questions asked redressal</a:t>
            </a:r>
          </a:p>
          <a:p>
            <a:pPr defTabSz="304815">
              <a:spcAft>
                <a:spcPts val="800"/>
              </a:spcAft>
              <a:defRPr/>
            </a:pPr>
            <a:r>
              <a:rPr lang="en-US" sz="1333" dirty="0">
                <a:solidFill>
                  <a:prstClr val="white"/>
                </a:solidFill>
                <a:latin typeface="Montserrat Medium" pitchFamily="2" charset="0"/>
                <a:cs typeface="Hepta Slab Regular" pitchFamily="2" charset="0"/>
              </a:rPr>
              <a:t>Transparency</a:t>
            </a:r>
          </a:p>
          <a:p>
            <a:pPr defTabSz="304815">
              <a:spcAft>
                <a:spcPts val="800"/>
              </a:spcAft>
              <a:defRPr/>
            </a:pPr>
            <a:r>
              <a:rPr lang="en-US" sz="1333" dirty="0">
                <a:solidFill>
                  <a:prstClr val="white"/>
                </a:solidFill>
                <a:latin typeface="Montserrat Medium" pitchFamily="2" charset="0"/>
                <a:cs typeface="Hepta Slab Regular" pitchFamily="2" charset="0"/>
              </a:rPr>
              <a:t>Precision</a:t>
            </a:r>
          </a:p>
          <a:p>
            <a:pPr defTabSz="304815">
              <a:spcAft>
                <a:spcPts val="800"/>
              </a:spcAft>
              <a:defRPr/>
            </a:pPr>
            <a:r>
              <a:rPr lang="en-US" sz="1333" dirty="0">
                <a:solidFill>
                  <a:prstClr val="white"/>
                </a:solidFill>
                <a:latin typeface="Montserrat Medium" pitchFamily="2" charset="0"/>
                <a:cs typeface="Hepta Slab Regular" pitchFamily="2" charset="0"/>
              </a:rPr>
              <a:t>Clarity</a:t>
            </a:r>
          </a:p>
        </p:txBody>
      </p:sp>
      <p:sp>
        <p:nvSpPr>
          <p:cNvPr id="17" name="Object5">
            <a:extLst>
              <a:ext uri="{FF2B5EF4-FFF2-40B4-BE49-F238E27FC236}">
                <a16:creationId xmlns:a16="http://schemas.microsoft.com/office/drawing/2014/main" id="{4268AC2E-C169-E176-CB2F-71DDEFEC68C8}"/>
              </a:ext>
            </a:extLst>
          </p:cNvPr>
          <p:cNvSpPr/>
          <p:nvPr/>
        </p:nvSpPr>
        <p:spPr>
          <a:xfrm>
            <a:off x="4716000" y="2469000"/>
            <a:ext cx="2640000" cy="2880000"/>
          </a:xfrm>
          <a:prstGeom prst="rect">
            <a:avLst/>
          </a:prstGeom>
          <a:noFill/>
          <a:ln/>
        </p:spPr>
        <p:txBody>
          <a:bodyPr wrap="square" lIns="0" tIns="0" rIns="0" bIns="0" rtlCol="0" anchor="t"/>
          <a:lstStyle/>
          <a:p>
            <a:pPr defTabSz="304815">
              <a:spcAft>
                <a:spcPts val="800"/>
              </a:spcAft>
              <a:defRPr/>
            </a:pPr>
            <a:r>
              <a:rPr lang="en-US" sz="1333" dirty="0">
                <a:solidFill>
                  <a:prstClr val="white"/>
                </a:solidFill>
                <a:latin typeface="Montserrat Medium" pitchFamily="2" charset="0"/>
                <a:ea typeface="Hepta Slab Regular" pitchFamily="34" charset="-122"/>
                <a:cs typeface="Hepta Slab Regular" pitchFamily="2" charset="0"/>
              </a:rPr>
              <a:t>Best resolution to address functional impact and outcome</a:t>
            </a:r>
          </a:p>
          <a:p>
            <a:pPr defTabSz="304815">
              <a:spcAft>
                <a:spcPts val="800"/>
              </a:spcAft>
              <a:defRPr/>
            </a:pPr>
            <a:r>
              <a:rPr lang="en-US" sz="1333" dirty="0">
                <a:solidFill>
                  <a:prstClr val="white"/>
                </a:solidFill>
                <a:latin typeface="Montserrat Medium" pitchFamily="2" charset="0"/>
                <a:cs typeface="Hepta Slab Regular" pitchFamily="2" charset="0"/>
              </a:rPr>
              <a:t>Proactive updates </a:t>
            </a:r>
          </a:p>
          <a:p>
            <a:pPr defTabSz="304815">
              <a:spcAft>
                <a:spcPts val="800"/>
              </a:spcAft>
              <a:defRPr/>
            </a:pPr>
            <a:r>
              <a:rPr lang="en-US" sz="1333" dirty="0">
                <a:solidFill>
                  <a:prstClr val="white"/>
                </a:solidFill>
                <a:latin typeface="Montserrat Medium" pitchFamily="2" charset="0"/>
                <a:cs typeface="Hepta Slab Regular" pitchFamily="2" charset="0"/>
              </a:rPr>
              <a:t>Time bound</a:t>
            </a:r>
          </a:p>
        </p:txBody>
      </p:sp>
      <p:sp>
        <p:nvSpPr>
          <p:cNvPr id="18" name="Object5">
            <a:extLst>
              <a:ext uri="{FF2B5EF4-FFF2-40B4-BE49-F238E27FC236}">
                <a16:creationId xmlns:a16="http://schemas.microsoft.com/office/drawing/2014/main" id="{EE8CA5F8-5E82-2F7A-0C06-28A787BDF10C}"/>
              </a:ext>
            </a:extLst>
          </p:cNvPr>
          <p:cNvSpPr/>
          <p:nvPr/>
        </p:nvSpPr>
        <p:spPr>
          <a:xfrm>
            <a:off x="8496000" y="2469000"/>
            <a:ext cx="2640000" cy="2880000"/>
          </a:xfrm>
          <a:prstGeom prst="rect">
            <a:avLst/>
          </a:prstGeom>
          <a:noFill/>
          <a:ln/>
        </p:spPr>
        <p:txBody>
          <a:bodyPr wrap="square" lIns="0" tIns="0" rIns="0" bIns="0" rtlCol="0" anchor="t"/>
          <a:lstStyle/>
          <a:p>
            <a:pPr defTabSz="304815">
              <a:spcAft>
                <a:spcPts val="800"/>
              </a:spcAft>
              <a:defRPr/>
            </a:pPr>
            <a:r>
              <a:rPr lang="en-US" sz="1333" dirty="0">
                <a:solidFill>
                  <a:prstClr val="white"/>
                </a:solidFill>
                <a:latin typeface="Montserrat Medium" pitchFamily="2" charset="0"/>
                <a:ea typeface="Hepta Slab Regular" pitchFamily="34" charset="-122"/>
                <a:cs typeface="Hepta Slab Regular" pitchFamily="2" charset="0"/>
              </a:rPr>
              <a:t>System changes</a:t>
            </a:r>
          </a:p>
          <a:p>
            <a:pPr defTabSz="304815">
              <a:spcAft>
                <a:spcPts val="800"/>
              </a:spcAft>
              <a:defRPr/>
            </a:pPr>
            <a:r>
              <a:rPr lang="en-US" sz="1333" dirty="0">
                <a:solidFill>
                  <a:prstClr val="white"/>
                </a:solidFill>
                <a:latin typeface="Montserrat Medium" pitchFamily="2" charset="0"/>
                <a:cs typeface="Hepta Slab Regular" pitchFamily="2" charset="0"/>
              </a:rPr>
              <a:t>Process alignments</a:t>
            </a:r>
          </a:p>
          <a:p>
            <a:pPr defTabSz="304815">
              <a:spcAft>
                <a:spcPts val="800"/>
              </a:spcAft>
              <a:defRPr/>
            </a:pPr>
            <a:r>
              <a:rPr lang="en-US" sz="1333" dirty="0">
                <a:solidFill>
                  <a:prstClr val="white"/>
                </a:solidFill>
                <a:latin typeface="Montserrat Medium" pitchFamily="2" charset="0"/>
                <a:cs typeface="Hepta Slab Regular" pitchFamily="2" charset="0"/>
              </a:rPr>
              <a:t>People orientation</a:t>
            </a:r>
          </a:p>
        </p:txBody>
      </p:sp>
      <p:sp>
        <p:nvSpPr>
          <p:cNvPr id="19" name="Object5">
            <a:extLst>
              <a:ext uri="{FF2B5EF4-FFF2-40B4-BE49-F238E27FC236}">
                <a16:creationId xmlns:a16="http://schemas.microsoft.com/office/drawing/2014/main" id="{73D61FBC-3763-A2E8-3837-6E58F6B3386E}"/>
              </a:ext>
            </a:extLst>
          </p:cNvPr>
          <p:cNvSpPr/>
          <p:nvPr/>
        </p:nvSpPr>
        <p:spPr>
          <a:xfrm>
            <a:off x="816000" y="5630539"/>
            <a:ext cx="9960001" cy="371475"/>
          </a:xfrm>
          <a:prstGeom prst="rect">
            <a:avLst/>
          </a:prstGeom>
          <a:noFill/>
          <a:ln/>
        </p:spPr>
        <p:txBody>
          <a:bodyPr wrap="square" lIns="0" tIns="0" rIns="0" bIns="0" rtlCol="0" anchor="t"/>
          <a:lstStyle/>
          <a:p>
            <a:pPr defTabSz="304815">
              <a:spcAft>
                <a:spcPts val="800"/>
              </a:spcAft>
              <a:defRPr/>
            </a:pPr>
            <a:r>
              <a:rPr lang="en-US" sz="1467" dirty="0">
                <a:solidFill>
                  <a:prstClr val="white">
                    <a:lumMod val="95000"/>
                  </a:prstClr>
                </a:solidFill>
                <a:latin typeface="Montserrat Medium" pitchFamily="2" charset="0"/>
                <a:cs typeface="Hepta Slab Regular" pitchFamily="2" charset="0"/>
              </a:rPr>
              <a:t>B</a:t>
            </a:r>
            <a:r>
              <a:rPr lang="en-US" sz="1467" dirty="0" err="1">
                <a:solidFill>
                  <a:prstClr val="white">
                    <a:lumMod val="95000"/>
                  </a:prstClr>
                </a:solidFill>
                <a:latin typeface="Montserrat Medium" pitchFamily="2" charset="0"/>
                <a:cs typeface="Hepta Slab Regular" pitchFamily="2" charset="0"/>
              </a:rPr>
              <a:t>iases</a:t>
            </a:r>
            <a:r>
              <a:rPr lang="en-US" sz="1467" dirty="0">
                <a:solidFill>
                  <a:prstClr val="white">
                    <a:lumMod val="95000"/>
                  </a:prstClr>
                </a:solidFill>
                <a:latin typeface="Montserrat Medium" pitchFamily="2" charset="0"/>
                <a:cs typeface="Hepta Slab Regular" pitchFamily="2" charset="0"/>
              </a:rPr>
              <a:t> to guard against - Cognitive Dissonance, Fundamental Attribution Error, Forked Tail Effect</a:t>
            </a:r>
          </a:p>
          <a:p>
            <a:pPr defTabSz="304815">
              <a:spcAft>
                <a:spcPts val="800"/>
              </a:spcAft>
              <a:defRPr/>
            </a:pPr>
            <a:endParaRPr lang="en-US" sz="1467" dirty="0">
              <a:solidFill>
                <a:srgbClr val="E7E6E6">
                  <a:lumMod val="50000"/>
                </a:srgbClr>
              </a:solidFill>
              <a:latin typeface="Montserrat Medium" pitchFamily="2" charset="0"/>
              <a:cs typeface="Hepta Slab Regular" pitchFamily="2" charset="0"/>
            </a:endParaRPr>
          </a:p>
        </p:txBody>
      </p:sp>
      <p:grpSp>
        <p:nvGrpSpPr>
          <p:cNvPr id="27" name="Group 26">
            <a:extLst>
              <a:ext uri="{FF2B5EF4-FFF2-40B4-BE49-F238E27FC236}">
                <a16:creationId xmlns:a16="http://schemas.microsoft.com/office/drawing/2014/main" id="{805F4EC2-D702-B709-1DCB-409F55280B50}"/>
              </a:ext>
            </a:extLst>
          </p:cNvPr>
          <p:cNvGrpSpPr/>
          <p:nvPr/>
        </p:nvGrpSpPr>
        <p:grpSpPr>
          <a:xfrm>
            <a:off x="1" y="6042107"/>
            <a:ext cx="11864037" cy="911852"/>
            <a:chOff x="579560" y="9184073"/>
            <a:chExt cx="18133625" cy="1393723"/>
          </a:xfrm>
        </p:grpSpPr>
        <p:sp>
          <p:nvSpPr>
            <p:cNvPr id="28" name="Title 1">
              <a:extLst>
                <a:ext uri="{FF2B5EF4-FFF2-40B4-BE49-F238E27FC236}">
                  <a16:creationId xmlns:a16="http://schemas.microsoft.com/office/drawing/2014/main" id="{01650124-2E67-B2A3-6A3A-0DD55D8D2211}"/>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defRPr/>
              </a:pPr>
              <a:r>
                <a:rPr lang="en-IN" sz="800" dirty="0">
                  <a:solidFill>
                    <a:prstClr val="white"/>
                  </a:solidFill>
                  <a:latin typeface="Montserrat Medium" pitchFamily="2" charset="0"/>
                  <a:cs typeface="Hepta Slab" pitchFamily="2" charset="0"/>
                </a:rPr>
                <a:t>TERRAGNI CONSULTING (P) LTD PRIVATE AND CONFIDENTIAL</a:t>
              </a:r>
            </a:p>
          </p:txBody>
        </p:sp>
        <p:pic>
          <p:nvPicPr>
            <p:cNvPr id="29" name="Picture 28">
              <a:extLst>
                <a:ext uri="{FF2B5EF4-FFF2-40B4-BE49-F238E27FC236}">
                  <a16:creationId xmlns:a16="http://schemas.microsoft.com/office/drawing/2014/main" id="{4E6858A9-132F-6F1D-BEE4-6D3B128EEE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30" name="Picture 29">
              <a:extLst>
                <a:ext uri="{FF2B5EF4-FFF2-40B4-BE49-F238E27FC236}">
                  <a16:creationId xmlns:a16="http://schemas.microsoft.com/office/drawing/2014/main" id="{49C6E597-E6D1-777D-BC7A-6AC7FFC8CC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21" name="TextBox 20">
            <a:extLst>
              <a:ext uri="{FF2B5EF4-FFF2-40B4-BE49-F238E27FC236}">
                <a16:creationId xmlns:a16="http://schemas.microsoft.com/office/drawing/2014/main" id="{550F80AC-1FAD-FA70-1473-450DE9993E15}"/>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defRP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defRPr/>
              </a:pPr>
              <a:t>82</a:t>
            </a:fld>
            <a:endParaRPr lang="en-US" sz="1333" dirty="0">
              <a:solidFill>
                <a:srgbClr val="0D0D0D"/>
              </a:solidFill>
              <a:latin typeface="Hepta Slab Medium" pitchFamily="2" charset="0"/>
              <a:cs typeface="Hepta Slab Medium" pitchFamily="2" charset="0"/>
            </a:endParaRPr>
          </a:p>
        </p:txBody>
      </p:sp>
    </p:spTree>
    <p:extLst>
      <p:ext uri="{BB962C8B-B14F-4D97-AF65-F5344CB8AC3E}">
        <p14:creationId xmlns:p14="http://schemas.microsoft.com/office/powerpoint/2010/main" val="22168196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EEF8FC"/>
        </a:solidFill>
        <a:effectLst/>
      </p:bgPr>
    </p:bg>
    <p:spTree>
      <p:nvGrpSpPr>
        <p:cNvPr id="1" name="">
          <a:extLst>
            <a:ext uri="{FF2B5EF4-FFF2-40B4-BE49-F238E27FC236}">
              <a16:creationId xmlns:a16="http://schemas.microsoft.com/office/drawing/2014/main" id="{96D55D8F-0162-67A3-E880-CCA9AB37724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E142FFA-851E-500B-CA8F-36989B1669B0}"/>
              </a:ext>
            </a:extLst>
          </p:cNvPr>
          <p:cNvSpPr txBox="1">
            <a:spLocks/>
          </p:cNvSpPr>
          <p:nvPr/>
        </p:nvSpPr>
        <p:spPr>
          <a:xfrm>
            <a:off x="838200" y="365125"/>
            <a:ext cx="10515600" cy="1325563"/>
          </a:xfrm>
          <a:prstGeom prst="rect">
            <a:avLst/>
          </a:prstGeom>
        </p:spPr>
        <p:txBody>
          <a:bodyPr vert="horz" lIns="91440" tIns="45720" rIns="91440" bIns="45720" rtlCol="0" anchor="t" anchorCtr="0">
            <a:normAutofit/>
          </a:bodyPr>
          <a:lstStyle>
            <a:lvl1pPr algn="ctr" defTabSz="914400" rtl="0" eaLnBrk="1" latinLnBrk="0" hangingPunct="1">
              <a:lnSpc>
                <a:spcPct val="90000"/>
              </a:lnSpc>
              <a:spcBef>
                <a:spcPct val="0"/>
              </a:spcBef>
              <a:buNone/>
              <a:defRPr sz="4500" kern="1200">
                <a:solidFill>
                  <a:schemeClr val="tx1">
                    <a:lumMod val="65000"/>
                    <a:lumOff val="35000"/>
                  </a:schemeClr>
                </a:solidFill>
                <a:latin typeface="Hepta Slab ExtraBold" pitchFamily="2" charset="0"/>
                <a:ea typeface="+mj-ea"/>
                <a:cs typeface="Hepta Slab ExtraBold"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500" b="0" i="0" u="none" strike="noStrike" kern="1200" cap="none" spc="0" normalizeH="0" baseline="0" noProof="0" dirty="0">
                <a:ln>
                  <a:noFill/>
                </a:ln>
                <a:solidFill>
                  <a:prstClr val="black">
                    <a:lumMod val="50000"/>
                    <a:lumOff val="50000"/>
                  </a:prstClr>
                </a:solidFill>
                <a:effectLst/>
                <a:uLnTx/>
                <a:uFillTx/>
                <a:latin typeface="Hepta Slab ExtraBold" pitchFamily="2" charset="0"/>
                <a:ea typeface="+mj-ea"/>
                <a:cs typeface="Hepta Slab ExtraBold" pitchFamily="2" charset="0"/>
              </a:rPr>
              <a:t>The Marketing Aircover</a:t>
            </a:r>
            <a:endParaRPr kumimoji="0" lang="en-IN" sz="4500" b="0" i="0" u="none" strike="noStrike" kern="1200" cap="none" spc="0" normalizeH="0" baseline="0" noProof="0" dirty="0">
              <a:ln>
                <a:noFill/>
              </a:ln>
              <a:solidFill>
                <a:prstClr val="black">
                  <a:lumMod val="50000"/>
                  <a:lumOff val="50000"/>
                </a:prstClr>
              </a:solidFill>
              <a:effectLst/>
              <a:uLnTx/>
              <a:uFillTx/>
              <a:latin typeface="Hepta Slab ExtraBold" pitchFamily="2" charset="0"/>
              <a:ea typeface="+mj-ea"/>
              <a:cs typeface="Hepta Slab ExtraBold" pitchFamily="2" charset="0"/>
            </a:endParaRPr>
          </a:p>
        </p:txBody>
      </p:sp>
      <p:graphicFrame>
        <p:nvGraphicFramePr>
          <p:cNvPr id="2" name="Table 1">
            <a:extLst>
              <a:ext uri="{FF2B5EF4-FFF2-40B4-BE49-F238E27FC236}">
                <a16:creationId xmlns:a16="http://schemas.microsoft.com/office/drawing/2014/main" id="{EB94BAB5-3EBD-FF70-3A91-E3E188A184A3}"/>
              </a:ext>
            </a:extLst>
          </p:cNvPr>
          <p:cNvGraphicFramePr>
            <a:graphicFrameLocks noGrp="1"/>
          </p:cNvGraphicFramePr>
          <p:nvPr>
            <p:extLst>
              <p:ext uri="{D42A27DB-BD31-4B8C-83A1-F6EECF244321}">
                <p14:modId xmlns:p14="http://schemas.microsoft.com/office/powerpoint/2010/main" val="2262419493"/>
              </p:ext>
            </p:extLst>
          </p:nvPr>
        </p:nvGraphicFramePr>
        <p:xfrm>
          <a:off x="913621" y="1843339"/>
          <a:ext cx="10364755" cy="4333332"/>
        </p:xfrm>
        <a:graphic>
          <a:graphicData uri="http://schemas.openxmlformats.org/drawingml/2006/table">
            <a:tbl>
              <a:tblPr firstRow="1" bandRow="1">
                <a:tableStyleId>{5C22544A-7EE6-4342-B048-85BDC9FD1C3A}</a:tableStyleId>
              </a:tblPr>
              <a:tblGrid>
                <a:gridCol w="2072951">
                  <a:extLst>
                    <a:ext uri="{9D8B030D-6E8A-4147-A177-3AD203B41FA5}">
                      <a16:colId xmlns:a16="http://schemas.microsoft.com/office/drawing/2014/main" val="2186079090"/>
                    </a:ext>
                  </a:extLst>
                </a:gridCol>
                <a:gridCol w="2072951">
                  <a:extLst>
                    <a:ext uri="{9D8B030D-6E8A-4147-A177-3AD203B41FA5}">
                      <a16:colId xmlns:a16="http://schemas.microsoft.com/office/drawing/2014/main" val="1983834374"/>
                    </a:ext>
                  </a:extLst>
                </a:gridCol>
                <a:gridCol w="2072951">
                  <a:extLst>
                    <a:ext uri="{9D8B030D-6E8A-4147-A177-3AD203B41FA5}">
                      <a16:colId xmlns:a16="http://schemas.microsoft.com/office/drawing/2014/main" val="422667323"/>
                    </a:ext>
                  </a:extLst>
                </a:gridCol>
                <a:gridCol w="2072951">
                  <a:extLst>
                    <a:ext uri="{9D8B030D-6E8A-4147-A177-3AD203B41FA5}">
                      <a16:colId xmlns:a16="http://schemas.microsoft.com/office/drawing/2014/main" val="2662768714"/>
                    </a:ext>
                  </a:extLst>
                </a:gridCol>
                <a:gridCol w="2072951">
                  <a:extLst>
                    <a:ext uri="{9D8B030D-6E8A-4147-A177-3AD203B41FA5}">
                      <a16:colId xmlns:a16="http://schemas.microsoft.com/office/drawing/2014/main" val="1936330156"/>
                    </a:ext>
                  </a:extLst>
                </a:gridCol>
              </a:tblGrid>
              <a:tr h="340024">
                <a:tc>
                  <a:txBody>
                    <a:bodyPr/>
                    <a:lstStyle/>
                    <a:p>
                      <a:r>
                        <a:rPr lang="en-US" b="0" dirty="0">
                          <a:latin typeface="Montserrat SemiBold" panose="00000700000000000000" pitchFamily="2" charset="0"/>
                        </a:rPr>
                        <a:t>Status</a:t>
                      </a:r>
                      <a:endParaRPr lang="en-IN" b="0" dirty="0">
                        <a:latin typeface="Montserrat SemiBold" panose="00000700000000000000" pitchFamily="2" charset="0"/>
                      </a:endParaRPr>
                    </a:p>
                  </a:txBody>
                  <a:tcPr>
                    <a:solidFill>
                      <a:schemeClr val="accent1"/>
                    </a:solidFill>
                  </a:tcPr>
                </a:tc>
                <a:tc>
                  <a:txBody>
                    <a:bodyPr/>
                    <a:lstStyle/>
                    <a:p>
                      <a:r>
                        <a:rPr lang="en-US" b="0" dirty="0">
                          <a:latin typeface="Montserrat SemiBold" panose="00000700000000000000" pitchFamily="2" charset="0"/>
                        </a:rPr>
                        <a:t>Certainty</a:t>
                      </a:r>
                      <a:endParaRPr lang="en-IN" b="0" dirty="0">
                        <a:latin typeface="Montserrat SemiBold" panose="00000700000000000000" pitchFamily="2" charset="0"/>
                      </a:endParaRPr>
                    </a:p>
                  </a:txBody>
                  <a:tcPr>
                    <a:solidFill>
                      <a:schemeClr val="accent1"/>
                    </a:solidFill>
                  </a:tcPr>
                </a:tc>
                <a:tc>
                  <a:txBody>
                    <a:bodyPr/>
                    <a:lstStyle/>
                    <a:p>
                      <a:r>
                        <a:rPr lang="en-US" b="0" dirty="0">
                          <a:latin typeface="Montserrat SemiBold" panose="00000700000000000000" pitchFamily="2" charset="0"/>
                        </a:rPr>
                        <a:t>Autonomy</a:t>
                      </a:r>
                      <a:endParaRPr lang="en-IN" b="0" dirty="0">
                        <a:latin typeface="Montserrat SemiBold" panose="00000700000000000000" pitchFamily="2" charset="0"/>
                      </a:endParaRPr>
                    </a:p>
                  </a:txBody>
                  <a:tcPr>
                    <a:solidFill>
                      <a:schemeClr val="accent1"/>
                    </a:solidFill>
                  </a:tcPr>
                </a:tc>
                <a:tc>
                  <a:txBody>
                    <a:bodyPr/>
                    <a:lstStyle/>
                    <a:p>
                      <a:r>
                        <a:rPr lang="en-US" b="0" dirty="0">
                          <a:latin typeface="Montserrat SemiBold" panose="00000700000000000000" pitchFamily="2" charset="0"/>
                        </a:rPr>
                        <a:t>Relatedness</a:t>
                      </a:r>
                      <a:endParaRPr lang="en-IN" b="0" dirty="0">
                        <a:latin typeface="Montserrat SemiBold" panose="00000700000000000000" pitchFamily="2" charset="0"/>
                      </a:endParaRPr>
                    </a:p>
                  </a:txBody>
                  <a:tcPr>
                    <a:solidFill>
                      <a:schemeClr val="accent1"/>
                    </a:solidFill>
                  </a:tcPr>
                </a:tc>
                <a:tc>
                  <a:txBody>
                    <a:bodyPr/>
                    <a:lstStyle/>
                    <a:p>
                      <a:r>
                        <a:rPr lang="en-US" b="0" dirty="0">
                          <a:latin typeface="Montserrat SemiBold" panose="00000700000000000000" pitchFamily="2" charset="0"/>
                        </a:rPr>
                        <a:t>Fairness</a:t>
                      </a:r>
                      <a:endParaRPr lang="en-IN" b="0" dirty="0">
                        <a:latin typeface="Montserrat SemiBold" panose="00000700000000000000" pitchFamily="2" charset="0"/>
                      </a:endParaRPr>
                    </a:p>
                  </a:txBody>
                  <a:tcPr>
                    <a:solidFill>
                      <a:schemeClr val="accent1"/>
                    </a:solidFill>
                  </a:tcPr>
                </a:tc>
                <a:extLst>
                  <a:ext uri="{0D108BD9-81ED-4DB2-BD59-A6C34878D82A}">
                    <a16:rowId xmlns:a16="http://schemas.microsoft.com/office/drawing/2014/main" val="713759237"/>
                  </a:ext>
                </a:extLst>
              </a:tr>
              <a:tr h="1663058">
                <a:tc>
                  <a:txBody>
                    <a:bodyPr/>
                    <a:lstStyle/>
                    <a:p>
                      <a:r>
                        <a:rPr lang="en-US" sz="1200" dirty="0">
                          <a:solidFill>
                            <a:srgbClr val="264161"/>
                          </a:solidFill>
                          <a:latin typeface="Montserrat SemiBold" panose="00000700000000000000" pitchFamily="2" charset="0"/>
                        </a:rPr>
                        <a:t>Perceived Social Standing</a:t>
                      </a:r>
                    </a:p>
                    <a:p>
                      <a:r>
                        <a:rPr lang="en-US" sz="1100" dirty="0">
                          <a:solidFill>
                            <a:schemeClr val="accent1"/>
                          </a:solidFill>
                          <a:latin typeface="Montserrat Medium" panose="00000600000000000000" pitchFamily="2" charset="0"/>
                        </a:rPr>
                        <a:t>Wealth clients are highly sensitive to their perceived status. Exclusive access, VIP recognition, and personalized attention elevate their sense of importance.</a:t>
                      </a:r>
                      <a:endParaRPr lang="en-IN"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Reducing Ambiguity &amp; Risk</a:t>
                      </a:r>
                    </a:p>
                    <a:p>
                      <a:r>
                        <a:rPr lang="en-US" sz="1100" dirty="0">
                          <a:solidFill>
                            <a:schemeClr val="accent1"/>
                          </a:solidFill>
                          <a:latin typeface="Montserrat Medium" panose="00000600000000000000" pitchFamily="2" charset="0"/>
                        </a:rPr>
                        <a:t>Premium clients value predictability in market fluctuations, investment returns, and financial planning.</a:t>
                      </a:r>
                      <a:endParaRPr lang="en-IN"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Sense of Control</a:t>
                      </a:r>
                    </a:p>
                    <a:p>
                      <a:r>
                        <a:rPr lang="en-US" sz="1100" dirty="0">
                          <a:solidFill>
                            <a:schemeClr val="accent1"/>
                          </a:solidFill>
                          <a:latin typeface="Montserrat Medium" panose="00000600000000000000" pitchFamily="2" charset="0"/>
                        </a:rPr>
                        <a:t>Clients prefer control over their financial choices while valuing expert guidance.</a:t>
                      </a:r>
                      <a:endParaRPr lang="en-IN"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Sense of Belonging &amp; Trust</a:t>
                      </a:r>
                    </a:p>
                    <a:p>
                      <a:r>
                        <a:rPr lang="en-US" sz="1100" dirty="0">
                          <a:solidFill>
                            <a:schemeClr val="accent1"/>
                          </a:solidFill>
                          <a:latin typeface="Montserrat Medium" panose="00000600000000000000" pitchFamily="2" charset="0"/>
                        </a:rPr>
                        <a:t>Relationship-driven banking thrives on trust and personal connections.</a:t>
                      </a:r>
                      <a:r>
                        <a:rPr lang="en-GB" sz="1100" dirty="0">
                          <a:solidFill>
                            <a:schemeClr val="accent1"/>
                          </a:solidFill>
                          <a:latin typeface="Montserrat Medium" panose="00000600000000000000" pitchFamily="2" charset="0"/>
                        </a:rPr>
                        <a:t> </a:t>
                      </a:r>
                      <a:endParaRPr lang="en-IN"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Perceived Equity &amp; Transparency</a:t>
                      </a:r>
                    </a:p>
                    <a:p>
                      <a:r>
                        <a:rPr lang="en-US" sz="1100" dirty="0">
                          <a:solidFill>
                            <a:schemeClr val="accent1"/>
                          </a:solidFill>
                          <a:latin typeface="Montserrat Medium" panose="00000600000000000000" pitchFamily="2" charset="0"/>
                        </a:rPr>
                        <a:t>Premium banking clients demand transparency and equitable treatment across wealth tiers.</a:t>
                      </a:r>
                      <a:endParaRPr lang="en-IN" sz="1100" dirty="0">
                        <a:solidFill>
                          <a:schemeClr val="accent1"/>
                        </a:solidFill>
                        <a:latin typeface="Montserrat Medium" panose="00000600000000000000" pitchFamily="2" charset="0"/>
                      </a:endParaRPr>
                    </a:p>
                  </a:txBody>
                  <a:tcPr>
                    <a:solidFill>
                      <a:srgbClr val="F8FCFE"/>
                    </a:solidFill>
                  </a:tcPr>
                </a:tc>
                <a:extLst>
                  <a:ext uri="{0D108BD9-81ED-4DB2-BD59-A6C34878D82A}">
                    <a16:rowId xmlns:a16="http://schemas.microsoft.com/office/drawing/2014/main" val="1891795587"/>
                  </a:ext>
                </a:extLst>
              </a:tr>
              <a:tr h="2169252">
                <a:tc>
                  <a:txBody>
                    <a:bodyPr/>
                    <a:lstStyle/>
                    <a:p>
                      <a:r>
                        <a:rPr lang="en-GB" sz="1100" dirty="0">
                          <a:solidFill>
                            <a:schemeClr val="tx1">
                              <a:lumMod val="65000"/>
                              <a:lumOff val="35000"/>
                            </a:schemeClr>
                          </a:solidFill>
                          <a:latin typeface="Montserrat SemiBold" panose="00000700000000000000" pitchFamily="2" charset="0"/>
                        </a:rPr>
                        <a:t>Nudge Example: </a:t>
                      </a:r>
                      <a:r>
                        <a:rPr lang="en-GB" sz="1100" dirty="0">
                          <a:solidFill>
                            <a:schemeClr val="tx1">
                              <a:lumMod val="65000"/>
                              <a:lumOff val="35000"/>
                            </a:schemeClr>
                          </a:solidFill>
                          <a:latin typeface="Montserrat Medium" panose="00000600000000000000" pitchFamily="2" charset="0"/>
                        </a:rPr>
                        <a:t>“</a:t>
                      </a:r>
                      <a:r>
                        <a:rPr lang="en-US" sz="1100" dirty="0">
                          <a:solidFill>
                            <a:schemeClr val="tx1">
                              <a:lumMod val="65000"/>
                              <a:lumOff val="35000"/>
                            </a:schemeClr>
                          </a:solidFill>
                          <a:latin typeface="Montserrat Medium" panose="00000600000000000000" pitchFamily="2" charset="0"/>
                        </a:rPr>
                        <a:t>Exclusive Events: Private investment dinners, networking with ultra-high-net-worth (UHNW) individuals.”</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GB" sz="1100" dirty="0">
                          <a:solidFill>
                            <a:schemeClr val="tx1">
                              <a:lumMod val="65000"/>
                              <a:lumOff val="35000"/>
                            </a:schemeClr>
                          </a:solidFill>
                          <a:latin typeface="Montserrat SemiBold" panose="00000700000000000000" pitchFamily="2" charset="0"/>
                        </a:rPr>
                        <a:t>Nudge Example:  </a:t>
                      </a:r>
                      <a:r>
                        <a:rPr lang="en-US" sz="1100" dirty="0">
                          <a:solidFill>
                            <a:schemeClr val="tx1">
                              <a:lumMod val="65000"/>
                              <a:lumOff val="35000"/>
                            </a:schemeClr>
                          </a:solidFill>
                          <a:latin typeface="Montserrat Medium" panose="00000600000000000000" pitchFamily="2" charset="0"/>
                        </a:rPr>
                        <a:t>Preemptive Market Insights: Provide proactive alerts on market movements with clear action steps.</a:t>
                      </a:r>
                    </a:p>
                    <a:p>
                      <a:r>
                        <a:rPr lang="en-US" sz="1100" dirty="0">
                          <a:solidFill>
                            <a:schemeClr val="tx1">
                              <a:lumMod val="65000"/>
                              <a:lumOff val="35000"/>
                            </a:schemeClr>
                          </a:solidFill>
                          <a:latin typeface="Montserrat Medium" panose="00000600000000000000" pitchFamily="2" charset="0"/>
                        </a:rPr>
                        <a:t>Personalized Wealth Roadmaps: AI-driven future scenario simulations.</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GB" sz="1100" dirty="0">
                          <a:solidFill>
                            <a:schemeClr val="tx1">
                              <a:lumMod val="65000"/>
                              <a:lumOff val="35000"/>
                            </a:schemeClr>
                          </a:solidFill>
                          <a:latin typeface="Montserrat SemiBold" panose="00000700000000000000" pitchFamily="2" charset="0"/>
                        </a:rPr>
                        <a:t>Nudge Example:</a:t>
                      </a:r>
                    </a:p>
                    <a:p>
                      <a:r>
                        <a:rPr lang="en-US" sz="1100" dirty="0">
                          <a:solidFill>
                            <a:schemeClr val="tx1">
                              <a:lumMod val="65000"/>
                              <a:lumOff val="35000"/>
                            </a:schemeClr>
                          </a:solidFill>
                          <a:latin typeface="Montserrat Medium" panose="00000600000000000000" pitchFamily="2" charset="0"/>
                        </a:rPr>
                        <a:t>Guided Yet Flexible: Offer AI-based recommendations with an “override” option.</a:t>
                      </a:r>
                    </a:p>
                    <a:p>
                      <a:r>
                        <a:rPr lang="en-US" sz="1100" dirty="0">
                          <a:solidFill>
                            <a:schemeClr val="tx1">
                              <a:lumMod val="65000"/>
                              <a:lumOff val="35000"/>
                            </a:schemeClr>
                          </a:solidFill>
                          <a:latin typeface="Montserrat Medium" panose="00000600000000000000" pitchFamily="2" charset="0"/>
                        </a:rPr>
                        <a:t>Empowerment Messaging: “Your wealth, your decisions—powered by expert insights.”</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GB" sz="1100" dirty="0">
                          <a:solidFill>
                            <a:schemeClr val="tx1">
                              <a:lumMod val="65000"/>
                              <a:lumOff val="35000"/>
                            </a:schemeClr>
                          </a:solidFill>
                          <a:latin typeface="Montserrat SemiBold" panose="00000700000000000000" pitchFamily="2" charset="0"/>
                        </a:rPr>
                        <a:t>Nudge Example : </a:t>
                      </a:r>
                    </a:p>
                    <a:p>
                      <a:r>
                        <a:rPr lang="en-US" sz="1100" dirty="0">
                          <a:solidFill>
                            <a:schemeClr val="tx1">
                              <a:lumMod val="65000"/>
                              <a:lumOff val="35000"/>
                            </a:schemeClr>
                          </a:solidFill>
                          <a:latin typeface="Montserrat Medium" panose="00000600000000000000" pitchFamily="2" charset="0"/>
                        </a:rPr>
                        <a:t>Private Community Building: Exclusive investment clubs, curated peer events.</a:t>
                      </a:r>
                    </a:p>
                    <a:p>
                      <a:r>
                        <a:rPr lang="en-US" sz="1100" dirty="0">
                          <a:solidFill>
                            <a:schemeClr val="tx1">
                              <a:lumMod val="65000"/>
                              <a:lumOff val="35000"/>
                            </a:schemeClr>
                          </a:solidFill>
                          <a:latin typeface="Montserrat Medium" panose="00000600000000000000" pitchFamily="2" charset="0"/>
                        </a:rPr>
                        <a:t>Warm Onboarding Rituals: Personalized welcome kits, hand-written notes.</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GB" sz="1100" dirty="0">
                          <a:solidFill>
                            <a:schemeClr val="tx1">
                              <a:lumMod val="65000"/>
                              <a:lumOff val="35000"/>
                            </a:schemeClr>
                          </a:solidFill>
                          <a:latin typeface="Montserrat SemiBold" panose="00000700000000000000" pitchFamily="2" charset="0"/>
                        </a:rPr>
                        <a:t>Nudge Example : </a:t>
                      </a:r>
                    </a:p>
                    <a:p>
                      <a:r>
                        <a:rPr lang="en-US" sz="1100" dirty="0">
                          <a:solidFill>
                            <a:schemeClr val="tx1">
                              <a:lumMod val="65000"/>
                              <a:lumOff val="35000"/>
                            </a:schemeClr>
                          </a:solidFill>
                          <a:latin typeface="Montserrat Medium" panose="00000600000000000000" pitchFamily="2" charset="0"/>
                        </a:rPr>
                        <a:t>Loyalty-Based Benefits: Rewarding longevity with incremental privileges.</a:t>
                      </a:r>
                    </a:p>
                    <a:p>
                      <a:r>
                        <a:rPr lang="en-US" sz="1100" dirty="0">
                          <a:solidFill>
                            <a:schemeClr val="tx1">
                              <a:lumMod val="65000"/>
                              <a:lumOff val="35000"/>
                            </a:schemeClr>
                          </a:solidFill>
                          <a:latin typeface="Montserrat Medium" panose="00000600000000000000" pitchFamily="2" charset="0"/>
                        </a:rPr>
                        <a:t>Fair Access to Opportunities: Ensure all elite clients get equal early access to lucrative investments.</a:t>
                      </a:r>
                      <a:endParaRPr lang="en-IN" sz="1100" dirty="0">
                        <a:solidFill>
                          <a:schemeClr val="tx1">
                            <a:lumMod val="65000"/>
                            <a:lumOff val="35000"/>
                          </a:schemeClr>
                        </a:solidFill>
                        <a:latin typeface="Montserrat Medium" panose="00000600000000000000" pitchFamily="2" charset="0"/>
                      </a:endParaRPr>
                    </a:p>
                  </a:txBody>
                  <a:tcPr/>
                </a:tc>
                <a:extLst>
                  <a:ext uri="{0D108BD9-81ED-4DB2-BD59-A6C34878D82A}">
                    <a16:rowId xmlns:a16="http://schemas.microsoft.com/office/drawing/2014/main" val="557557460"/>
                  </a:ext>
                </a:extLst>
              </a:tr>
            </a:tbl>
          </a:graphicData>
        </a:graphic>
      </p:graphicFrame>
      <p:sp>
        <p:nvSpPr>
          <p:cNvPr id="5" name="TextBox 4">
            <a:extLst>
              <a:ext uri="{FF2B5EF4-FFF2-40B4-BE49-F238E27FC236}">
                <a16:creationId xmlns:a16="http://schemas.microsoft.com/office/drawing/2014/main" id="{BD4C6CE9-00A4-7B84-AB1D-DE4FA174BB87}"/>
              </a:ext>
            </a:extLst>
          </p:cNvPr>
          <p:cNvSpPr txBox="1"/>
          <p:nvPr/>
        </p:nvSpPr>
        <p:spPr>
          <a:xfrm>
            <a:off x="838200" y="970385"/>
            <a:ext cx="907492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A1919"/>
                </a:solidFill>
                <a:effectLst/>
                <a:uLnTx/>
                <a:uFillTx/>
                <a:latin typeface="Montserrat SemiBold" panose="00000700000000000000" pitchFamily="2" charset="0"/>
                <a:ea typeface="+mn-ea"/>
                <a:cs typeface="+mn-cs"/>
              </a:rPr>
              <a:t>SCARF: To bridge the perceived friction led deficit &amp; drive decision velocity</a:t>
            </a:r>
            <a:endParaRPr kumimoji="0" lang="en-IN" sz="1800" b="0" i="0" u="none" strike="noStrike" kern="1200" cap="none" spc="0" normalizeH="0" baseline="0" noProof="0" dirty="0">
              <a:ln>
                <a:noFill/>
              </a:ln>
              <a:solidFill>
                <a:srgbClr val="AA1919"/>
              </a:solidFill>
              <a:effectLst/>
              <a:uLnTx/>
              <a:uFillTx/>
              <a:latin typeface="Montserrat SemiBold" panose="00000700000000000000" pitchFamily="2" charset="0"/>
              <a:ea typeface="+mn-ea"/>
              <a:cs typeface="+mn-cs"/>
            </a:endParaRPr>
          </a:p>
        </p:txBody>
      </p:sp>
      <p:sp>
        <p:nvSpPr>
          <p:cNvPr id="6" name="TextBox 5">
            <a:extLst>
              <a:ext uri="{FF2B5EF4-FFF2-40B4-BE49-F238E27FC236}">
                <a16:creationId xmlns:a16="http://schemas.microsoft.com/office/drawing/2014/main" id="{81E3FFC4-13D2-8653-0566-50A54D5782C1}"/>
              </a:ext>
            </a:extLst>
          </p:cNvPr>
          <p:cNvSpPr txBox="1"/>
          <p:nvPr/>
        </p:nvSpPr>
        <p:spPr>
          <a:xfrm>
            <a:off x="838200" y="1284370"/>
            <a:ext cx="1051559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Medium" panose="00000600000000000000" pitchFamily="2" charset="0"/>
                <a:ea typeface="+mn-ea"/>
                <a:cs typeface="+mn-cs"/>
              </a:rPr>
              <a:t>Identifies social factors that influence human behaviour. These factors drive our responses to situations, promoting either a threat or a reward response. The model emphasizes that meeting these needs can positively impact motivation</a:t>
            </a:r>
            <a:endParaRPr kumimoji="0" lang="en-IN" sz="1200" b="0" i="0" u="none" strike="noStrike" kern="1200" cap="none" spc="0" normalizeH="0" baseline="0" noProof="0" dirty="0">
              <a:ln>
                <a:noFill/>
              </a:ln>
              <a:solidFill>
                <a:prstClr val="black"/>
              </a:solidFill>
              <a:effectLst/>
              <a:uLnTx/>
              <a:uFillTx/>
              <a:latin typeface="Montserrat Medium" panose="00000600000000000000" pitchFamily="2" charset="0"/>
              <a:ea typeface="+mn-ea"/>
              <a:cs typeface="+mn-cs"/>
            </a:endParaRPr>
          </a:p>
        </p:txBody>
      </p:sp>
      <p:sp>
        <p:nvSpPr>
          <p:cNvPr id="4" name="Slide Number Placeholder 3">
            <a:extLst>
              <a:ext uri="{FF2B5EF4-FFF2-40B4-BE49-F238E27FC236}">
                <a16:creationId xmlns:a16="http://schemas.microsoft.com/office/drawing/2014/main" id="{DB2D23AE-CE4C-C66F-1DE5-B61C98F9C6C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F4E5A2-1BAB-4189-9F33-C7F9CA021385}" type="slidenum">
              <a:rPr kumimoji="0" lang="en-IN" sz="1050" b="0" i="0" u="none" strike="noStrike" kern="1200" cap="none" spc="0" normalizeH="0" baseline="0" noProof="0" smtClean="0">
                <a:ln>
                  <a:noFill/>
                </a:ln>
                <a:solidFill>
                  <a:srgbClr val="E8E8E8">
                    <a:lumMod val="50000"/>
                  </a:srgbClr>
                </a:solidFill>
                <a:effectLst/>
                <a:uLnTx/>
                <a:uFillTx/>
                <a:latin typeface="Montserrat SemiBold" panose="000007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IN" sz="1050" b="0" i="0" u="none" strike="noStrike" kern="1200" cap="none" spc="0" normalizeH="0" baseline="0" noProof="0" dirty="0">
              <a:ln>
                <a:noFill/>
              </a:ln>
              <a:solidFill>
                <a:srgbClr val="E8E8E8">
                  <a:lumMod val="50000"/>
                </a:srgbClr>
              </a:solidFill>
              <a:effectLst/>
              <a:uLnTx/>
              <a:uFillTx/>
              <a:latin typeface="Montserrat SemiBold" panose="00000700000000000000" pitchFamily="2" charset="0"/>
              <a:ea typeface="+mn-ea"/>
              <a:cs typeface="+mn-cs"/>
            </a:endParaRPr>
          </a:p>
        </p:txBody>
      </p:sp>
      <p:grpSp>
        <p:nvGrpSpPr>
          <p:cNvPr id="7" name="Group 6">
            <a:extLst>
              <a:ext uri="{FF2B5EF4-FFF2-40B4-BE49-F238E27FC236}">
                <a16:creationId xmlns:a16="http://schemas.microsoft.com/office/drawing/2014/main" id="{A9B05F75-9039-09C9-3CF8-D51E2F408072}"/>
              </a:ext>
            </a:extLst>
          </p:cNvPr>
          <p:cNvGrpSpPr/>
          <p:nvPr/>
        </p:nvGrpSpPr>
        <p:grpSpPr>
          <a:xfrm>
            <a:off x="-61290" y="6053155"/>
            <a:ext cx="12253290" cy="971832"/>
            <a:chOff x="-187799" y="8336784"/>
            <a:chExt cx="18379935" cy="1457748"/>
          </a:xfrm>
        </p:grpSpPr>
        <p:pic>
          <p:nvPicPr>
            <p:cNvPr id="8" name="Picture 7">
              <a:extLst>
                <a:ext uri="{FF2B5EF4-FFF2-40B4-BE49-F238E27FC236}">
                  <a16:creationId xmlns:a16="http://schemas.microsoft.com/office/drawing/2014/main" id="{DC95FE32-D404-A19E-C098-D14351A0A8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9" name="Title 1">
              <a:extLst>
                <a:ext uri="{FF2B5EF4-FFF2-40B4-BE49-F238E27FC236}">
                  <a16:creationId xmlns:a16="http://schemas.microsoft.com/office/drawing/2014/main" id="{584E5F49-33E7-893C-5BFF-92F1F9F02688}"/>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0" name="Picture 9">
              <a:extLst>
                <a:ext uri="{FF2B5EF4-FFF2-40B4-BE49-F238E27FC236}">
                  <a16:creationId xmlns:a16="http://schemas.microsoft.com/office/drawing/2014/main" id="{C012AB7F-FC87-6904-C36B-3E7C148097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Tree>
    <p:extLst>
      <p:ext uri="{BB962C8B-B14F-4D97-AF65-F5344CB8AC3E}">
        <p14:creationId xmlns:p14="http://schemas.microsoft.com/office/powerpoint/2010/main" val="588802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EEF8FC"/>
        </a:solidFill>
        <a:effectLst/>
      </p:bgPr>
    </p:bg>
    <p:spTree>
      <p:nvGrpSpPr>
        <p:cNvPr id="1" name="">
          <a:extLst>
            <a:ext uri="{FF2B5EF4-FFF2-40B4-BE49-F238E27FC236}">
              <a16:creationId xmlns:a16="http://schemas.microsoft.com/office/drawing/2014/main" id="{253F838C-C298-70A4-DB20-DEC4765D76A6}"/>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06144D3-65AF-B9A5-902B-2483513A7EA3}"/>
              </a:ext>
            </a:extLst>
          </p:cNvPr>
          <p:cNvGraphicFramePr>
            <a:graphicFrameLocks noGrp="1"/>
          </p:cNvGraphicFramePr>
          <p:nvPr/>
        </p:nvGraphicFramePr>
        <p:xfrm>
          <a:off x="968308" y="1656833"/>
          <a:ext cx="10385490" cy="3471348"/>
        </p:xfrm>
        <a:graphic>
          <a:graphicData uri="http://schemas.openxmlformats.org/drawingml/2006/table">
            <a:tbl>
              <a:tblPr firstRow="1" bandRow="1">
                <a:tableStyleId>{5C22544A-7EE6-4342-B048-85BDC9FD1C3A}</a:tableStyleId>
              </a:tblPr>
              <a:tblGrid>
                <a:gridCol w="1676216">
                  <a:extLst>
                    <a:ext uri="{9D8B030D-6E8A-4147-A177-3AD203B41FA5}">
                      <a16:colId xmlns:a16="http://schemas.microsoft.com/office/drawing/2014/main" val="1468943080"/>
                    </a:ext>
                  </a:extLst>
                </a:gridCol>
                <a:gridCol w="1785614">
                  <a:extLst>
                    <a:ext uri="{9D8B030D-6E8A-4147-A177-3AD203B41FA5}">
                      <a16:colId xmlns:a16="http://schemas.microsoft.com/office/drawing/2014/main" val="3073271658"/>
                    </a:ext>
                  </a:extLst>
                </a:gridCol>
                <a:gridCol w="1730915">
                  <a:extLst>
                    <a:ext uri="{9D8B030D-6E8A-4147-A177-3AD203B41FA5}">
                      <a16:colId xmlns:a16="http://schemas.microsoft.com/office/drawing/2014/main" val="2846429912"/>
                    </a:ext>
                  </a:extLst>
                </a:gridCol>
                <a:gridCol w="1730915">
                  <a:extLst>
                    <a:ext uri="{9D8B030D-6E8A-4147-A177-3AD203B41FA5}">
                      <a16:colId xmlns:a16="http://schemas.microsoft.com/office/drawing/2014/main" val="3889052104"/>
                    </a:ext>
                  </a:extLst>
                </a:gridCol>
                <a:gridCol w="1730915">
                  <a:extLst>
                    <a:ext uri="{9D8B030D-6E8A-4147-A177-3AD203B41FA5}">
                      <a16:colId xmlns:a16="http://schemas.microsoft.com/office/drawing/2014/main" val="4053748505"/>
                    </a:ext>
                  </a:extLst>
                </a:gridCol>
                <a:gridCol w="1730915">
                  <a:extLst>
                    <a:ext uri="{9D8B030D-6E8A-4147-A177-3AD203B41FA5}">
                      <a16:colId xmlns:a16="http://schemas.microsoft.com/office/drawing/2014/main" val="1806729961"/>
                    </a:ext>
                  </a:extLst>
                </a:gridCol>
              </a:tblGrid>
              <a:tr h="726040">
                <a:tc>
                  <a:txBody>
                    <a:bodyPr/>
                    <a:lstStyle/>
                    <a:p>
                      <a:r>
                        <a:rPr lang="en-IN" dirty="0">
                          <a:latin typeface="Montserrat Medium" panose="00000600000000000000" pitchFamily="2" charset="0"/>
                        </a:rPr>
                        <a:t>Social Currency</a:t>
                      </a:r>
                    </a:p>
                  </a:txBody>
                  <a:tcPr/>
                </a:tc>
                <a:tc>
                  <a:txBody>
                    <a:bodyPr/>
                    <a:lstStyle/>
                    <a:p>
                      <a:r>
                        <a:rPr lang="en-US" dirty="0">
                          <a:latin typeface="Montserrat Medium" panose="00000600000000000000" pitchFamily="2" charset="0"/>
                        </a:rPr>
                        <a:t>Triggers</a:t>
                      </a:r>
                      <a:endParaRPr lang="en-IN" dirty="0">
                        <a:latin typeface="Montserrat Medium" panose="00000600000000000000" pitchFamily="2" charset="0"/>
                      </a:endParaRPr>
                    </a:p>
                  </a:txBody>
                  <a:tcPr/>
                </a:tc>
                <a:tc>
                  <a:txBody>
                    <a:bodyPr/>
                    <a:lstStyle/>
                    <a:p>
                      <a:r>
                        <a:rPr lang="en-US" dirty="0">
                          <a:latin typeface="Montserrat Medium" panose="00000600000000000000" pitchFamily="2" charset="0"/>
                        </a:rPr>
                        <a:t>Emotion</a:t>
                      </a:r>
                      <a:endParaRPr lang="en-IN" dirty="0">
                        <a:latin typeface="Montserrat Medium" panose="00000600000000000000" pitchFamily="2" charset="0"/>
                      </a:endParaRPr>
                    </a:p>
                  </a:txBody>
                  <a:tcPr/>
                </a:tc>
                <a:tc>
                  <a:txBody>
                    <a:bodyPr/>
                    <a:lstStyle/>
                    <a:p>
                      <a:r>
                        <a:rPr lang="en-US" dirty="0">
                          <a:latin typeface="Montserrat Medium" panose="00000600000000000000" pitchFamily="2" charset="0"/>
                        </a:rPr>
                        <a:t>Public</a:t>
                      </a:r>
                      <a:endParaRPr lang="en-IN" dirty="0">
                        <a:latin typeface="Montserrat Medium" panose="00000600000000000000" pitchFamily="2" charset="0"/>
                      </a:endParaRPr>
                    </a:p>
                  </a:txBody>
                  <a:tcPr/>
                </a:tc>
                <a:tc>
                  <a:txBody>
                    <a:bodyPr/>
                    <a:lstStyle/>
                    <a:p>
                      <a:r>
                        <a:rPr lang="en-US" dirty="0">
                          <a:latin typeface="Montserrat Medium" panose="00000600000000000000" pitchFamily="2" charset="0"/>
                        </a:rPr>
                        <a:t>Practical</a:t>
                      </a:r>
                      <a:endParaRPr lang="en-IN" dirty="0">
                        <a:latin typeface="Montserrat Medium" panose="00000600000000000000" pitchFamily="2" charset="0"/>
                      </a:endParaRPr>
                    </a:p>
                  </a:txBody>
                  <a:tcPr/>
                </a:tc>
                <a:tc>
                  <a:txBody>
                    <a:bodyPr/>
                    <a:lstStyle/>
                    <a:p>
                      <a:r>
                        <a:rPr lang="en-US" dirty="0">
                          <a:latin typeface="Montserrat Medium" panose="00000600000000000000" pitchFamily="2" charset="0"/>
                        </a:rPr>
                        <a:t>Stories</a:t>
                      </a:r>
                      <a:endParaRPr lang="en-IN" dirty="0">
                        <a:latin typeface="Montserrat Medium" panose="00000600000000000000" pitchFamily="2" charset="0"/>
                      </a:endParaRPr>
                    </a:p>
                  </a:txBody>
                  <a:tcPr/>
                </a:tc>
                <a:extLst>
                  <a:ext uri="{0D108BD9-81ED-4DB2-BD59-A6C34878D82A}">
                    <a16:rowId xmlns:a16="http://schemas.microsoft.com/office/drawing/2014/main" val="2582926745"/>
                  </a:ext>
                </a:extLst>
              </a:tr>
              <a:tr h="1372654">
                <a:tc>
                  <a:txBody>
                    <a:bodyPr/>
                    <a:lstStyle/>
                    <a:p>
                      <a:endParaRPr lang="en-IN" sz="1200" dirty="0">
                        <a:latin typeface="Montserrat Medium" panose="00000600000000000000" pitchFamily="2" charset="0"/>
                      </a:endParaRPr>
                    </a:p>
                  </a:txBody>
                  <a:tcPr>
                    <a:solidFill>
                      <a:srgbClr val="F8FCFE"/>
                    </a:solidFill>
                  </a:tcPr>
                </a:tc>
                <a:tc>
                  <a:txBody>
                    <a:bodyPr/>
                    <a:lstStyle/>
                    <a:p>
                      <a:endParaRPr lang="en-IN" sz="1200" dirty="0">
                        <a:latin typeface="Montserrat Medium" panose="00000600000000000000" pitchFamily="2" charset="0"/>
                      </a:endParaRPr>
                    </a:p>
                  </a:txBody>
                  <a:tcPr>
                    <a:solidFill>
                      <a:srgbClr val="F8FCFE"/>
                    </a:solidFill>
                  </a:tcPr>
                </a:tc>
                <a:tc>
                  <a:txBody>
                    <a:bodyPr/>
                    <a:lstStyle/>
                    <a:p>
                      <a:endParaRPr lang="en-IN" sz="1200" dirty="0">
                        <a:latin typeface="Montserrat Medium" panose="00000600000000000000" pitchFamily="2" charset="0"/>
                      </a:endParaRPr>
                    </a:p>
                  </a:txBody>
                  <a:tcPr>
                    <a:solidFill>
                      <a:srgbClr val="F8FCFE"/>
                    </a:solidFill>
                  </a:tcPr>
                </a:tc>
                <a:tc>
                  <a:txBody>
                    <a:bodyPr/>
                    <a:lstStyle/>
                    <a:p>
                      <a:endParaRPr lang="en-IN" sz="1200" dirty="0">
                        <a:latin typeface="Montserrat Medium" panose="00000600000000000000" pitchFamily="2" charset="0"/>
                      </a:endParaRPr>
                    </a:p>
                  </a:txBody>
                  <a:tcPr>
                    <a:solidFill>
                      <a:srgbClr val="F8FCFE"/>
                    </a:solidFill>
                  </a:tcPr>
                </a:tc>
                <a:tc>
                  <a:txBody>
                    <a:bodyPr/>
                    <a:lstStyle/>
                    <a:p>
                      <a:endParaRPr lang="en-IN" sz="1200" dirty="0">
                        <a:latin typeface="Montserrat Medium" panose="00000600000000000000" pitchFamily="2" charset="0"/>
                      </a:endParaRPr>
                    </a:p>
                  </a:txBody>
                  <a:tcPr>
                    <a:solidFill>
                      <a:srgbClr val="F8FCFE"/>
                    </a:solidFill>
                  </a:tcPr>
                </a:tc>
                <a:tc>
                  <a:txBody>
                    <a:bodyPr/>
                    <a:lstStyle/>
                    <a:p>
                      <a:endParaRPr lang="en-IN" sz="1200" dirty="0">
                        <a:latin typeface="Montserrat Medium" panose="00000600000000000000" pitchFamily="2" charset="0"/>
                      </a:endParaRPr>
                    </a:p>
                  </a:txBody>
                  <a:tcPr>
                    <a:solidFill>
                      <a:srgbClr val="F8FCFE"/>
                    </a:solidFill>
                  </a:tcPr>
                </a:tc>
                <a:extLst>
                  <a:ext uri="{0D108BD9-81ED-4DB2-BD59-A6C34878D82A}">
                    <a16:rowId xmlns:a16="http://schemas.microsoft.com/office/drawing/2014/main" val="3392798187"/>
                  </a:ext>
                </a:extLst>
              </a:tr>
              <a:tr h="1372654">
                <a:tc>
                  <a:txBody>
                    <a:bodyPr/>
                    <a:lstStyle/>
                    <a:p>
                      <a:endParaRPr lang="en-IN" sz="1200" dirty="0">
                        <a:latin typeface="Montserrat Medium" panose="00000600000000000000" pitchFamily="2" charset="0"/>
                      </a:endParaRPr>
                    </a:p>
                  </a:txBody>
                  <a:tcPr/>
                </a:tc>
                <a:tc>
                  <a:txBody>
                    <a:bodyPr/>
                    <a:lstStyle/>
                    <a:p>
                      <a:endParaRPr lang="en-IN" sz="1200" dirty="0">
                        <a:latin typeface="Montserrat Medium" panose="00000600000000000000" pitchFamily="2" charset="0"/>
                      </a:endParaRPr>
                    </a:p>
                  </a:txBody>
                  <a:tcPr/>
                </a:tc>
                <a:tc>
                  <a:txBody>
                    <a:bodyPr/>
                    <a:lstStyle/>
                    <a:p>
                      <a:endParaRPr lang="en-IN" sz="1200" dirty="0">
                        <a:latin typeface="Montserrat Medium" panose="00000600000000000000" pitchFamily="2" charset="0"/>
                      </a:endParaRPr>
                    </a:p>
                  </a:txBody>
                  <a:tcPr/>
                </a:tc>
                <a:tc>
                  <a:txBody>
                    <a:bodyPr/>
                    <a:lstStyle/>
                    <a:p>
                      <a:endParaRPr lang="en-IN" sz="1200" dirty="0">
                        <a:latin typeface="Montserrat Medium" panose="00000600000000000000" pitchFamily="2" charset="0"/>
                      </a:endParaRPr>
                    </a:p>
                  </a:txBody>
                  <a:tcPr/>
                </a:tc>
                <a:tc>
                  <a:txBody>
                    <a:bodyPr/>
                    <a:lstStyle/>
                    <a:p>
                      <a:endParaRPr lang="en-IN" sz="1200" dirty="0">
                        <a:latin typeface="Montserrat Medium" panose="00000600000000000000" pitchFamily="2" charset="0"/>
                      </a:endParaRPr>
                    </a:p>
                  </a:txBody>
                  <a:tcPr/>
                </a:tc>
                <a:tc>
                  <a:txBody>
                    <a:bodyPr/>
                    <a:lstStyle/>
                    <a:p>
                      <a:endParaRPr lang="en-IN" sz="1200" dirty="0">
                        <a:latin typeface="Montserrat Medium" panose="00000600000000000000" pitchFamily="2" charset="0"/>
                      </a:endParaRPr>
                    </a:p>
                  </a:txBody>
                  <a:tcPr/>
                </a:tc>
                <a:extLst>
                  <a:ext uri="{0D108BD9-81ED-4DB2-BD59-A6C34878D82A}">
                    <a16:rowId xmlns:a16="http://schemas.microsoft.com/office/drawing/2014/main" val="1627436273"/>
                  </a:ext>
                </a:extLst>
              </a:tr>
            </a:tbl>
          </a:graphicData>
        </a:graphic>
      </p:graphicFrame>
      <p:sp>
        <p:nvSpPr>
          <p:cNvPr id="6" name="Title 1">
            <a:extLst>
              <a:ext uri="{FF2B5EF4-FFF2-40B4-BE49-F238E27FC236}">
                <a16:creationId xmlns:a16="http://schemas.microsoft.com/office/drawing/2014/main" id="{333C7C67-5FCA-0AD6-4B93-4B1EA0B72686}"/>
              </a:ext>
            </a:extLst>
          </p:cNvPr>
          <p:cNvSpPr txBox="1">
            <a:spLocks/>
          </p:cNvSpPr>
          <p:nvPr/>
        </p:nvSpPr>
        <p:spPr>
          <a:xfrm>
            <a:off x="838200" y="365125"/>
            <a:ext cx="10515600" cy="1325563"/>
          </a:xfrm>
          <a:prstGeom prst="rect">
            <a:avLst/>
          </a:prstGeom>
        </p:spPr>
        <p:txBody>
          <a:bodyPr vert="horz" lIns="91440" tIns="45720" rIns="91440" bIns="45720" rtlCol="0" anchor="t" anchorCtr="0">
            <a:normAutofit/>
          </a:bodyPr>
          <a:lstStyle>
            <a:lvl1pPr algn="ctr" defTabSz="914400" rtl="0" eaLnBrk="1" latinLnBrk="0" hangingPunct="1">
              <a:lnSpc>
                <a:spcPct val="90000"/>
              </a:lnSpc>
              <a:spcBef>
                <a:spcPct val="0"/>
              </a:spcBef>
              <a:buNone/>
              <a:defRPr sz="4500" kern="1200">
                <a:solidFill>
                  <a:schemeClr val="tx1">
                    <a:lumMod val="65000"/>
                    <a:lumOff val="35000"/>
                  </a:schemeClr>
                </a:solidFill>
                <a:latin typeface="Hepta Slab ExtraBold" pitchFamily="2" charset="0"/>
                <a:ea typeface="+mj-ea"/>
                <a:cs typeface="Hepta Slab ExtraBold"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500" b="0" i="0" u="none" strike="noStrike" kern="1200" cap="none" spc="0" normalizeH="0" baseline="0" noProof="0" dirty="0">
                <a:ln>
                  <a:noFill/>
                </a:ln>
                <a:solidFill>
                  <a:prstClr val="black">
                    <a:lumMod val="50000"/>
                    <a:lumOff val="50000"/>
                  </a:prstClr>
                </a:solidFill>
                <a:effectLst/>
                <a:uLnTx/>
                <a:uFillTx/>
                <a:latin typeface="Hepta Slab ExtraBold" pitchFamily="2" charset="0"/>
                <a:ea typeface="+mj-ea"/>
                <a:cs typeface="Hepta Slab ExtraBold" pitchFamily="2" charset="0"/>
              </a:rPr>
              <a:t>The Marketing Aircover</a:t>
            </a:r>
            <a:endParaRPr kumimoji="0" lang="en-IN" sz="4500" b="0" i="0" u="none" strike="noStrike" kern="1200" cap="none" spc="0" normalizeH="0" baseline="0" noProof="0" dirty="0">
              <a:ln>
                <a:noFill/>
              </a:ln>
              <a:solidFill>
                <a:prstClr val="black">
                  <a:lumMod val="50000"/>
                  <a:lumOff val="50000"/>
                </a:prstClr>
              </a:solidFill>
              <a:effectLst/>
              <a:uLnTx/>
              <a:uFillTx/>
              <a:latin typeface="Hepta Slab ExtraBold" pitchFamily="2" charset="0"/>
              <a:ea typeface="+mj-ea"/>
              <a:cs typeface="Hepta Slab ExtraBold" pitchFamily="2" charset="0"/>
            </a:endParaRPr>
          </a:p>
        </p:txBody>
      </p:sp>
      <p:sp>
        <p:nvSpPr>
          <p:cNvPr id="7" name="TextBox 6">
            <a:extLst>
              <a:ext uri="{FF2B5EF4-FFF2-40B4-BE49-F238E27FC236}">
                <a16:creationId xmlns:a16="http://schemas.microsoft.com/office/drawing/2014/main" id="{CE0E5D64-2372-7507-03FE-04B683787CD5}"/>
              </a:ext>
            </a:extLst>
          </p:cNvPr>
          <p:cNvSpPr txBox="1"/>
          <p:nvPr/>
        </p:nvSpPr>
        <p:spPr>
          <a:xfrm>
            <a:off x="838200" y="1027906"/>
            <a:ext cx="81275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A1919"/>
                </a:solidFill>
                <a:effectLst/>
                <a:uLnTx/>
                <a:uFillTx/>
                <a:latin typeface="Montserrat SemiBold" panose="00000700000000000000" pitchFamily="2" charset="0"/>
                <a:ea typeface="+mn-ea"/>
                <a:cs typeface="+mn-cs"/>
              </a:rPr>
              <a:t>STEPPS: To drive virality of the Federal Premium Banking platform</a:t>
            </a:r>
            <a:endParaRPr kumimoji="0" lang="en-IN" sz="1800" b="0" i="0" u="none" strike="noStrike" kern="1200" cap="none" spc="0" normalizeH="0" baseline="0" noProof="0" dirty="0">
              <a:ln>
                <a:noFill/>
              </a:ln>
              <a:solidFill>
                <a:srgbClr val="AA1919"/>
              </a:solidFill>
              <a:effectLst/>
              <a:uLnTx/>
              <a:uFillTx/>
              <a:latin typeface="Montserrat SemiBold" panose="00000700000000000000" pitchFamily="2" charset="0"/>
              <a:ea typeface="+mn-ea"/>
              <a:cs typeface="+mn-cs"/>
            </a:endParaRPr>
          </a:p>
        </p:txBody>
      </p:sp>
      <p:sp>
        <p:nvSpPr>
          <p:cNvPr id="9" name="TextBox 8">
            <a:extLst>
              <a:ext uri="{FF2B5EF4-FFF2-40B4-BE49-F238E27FC236}">
                <a16:creationId xmlns:a16="http://schemas.microsoft.com/office/drawing/2014/main" id="{8FDE2B7C-AD76-4FF5-777F-9C638EA6A192}"/>
              </a:ext>
            </a:extLst>
          </p:cNvPr>
          <p:cNvSpPr txBox="1"/>
          <p:nvPr/>
        </p:nvSpPr>
        <p:spPr>
          <a:xfrm>
            <a:off x="2400451" y="2774324"/>
            <a:ext cx="8128002" cy="10618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t>1. Social Currency: make people feel special or in-the-know encourages sharing, as it enhances their social status.</a:t>
            </a:r>
            <a:b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br>
            <a: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t>2. Triggers: Specific cues or reminders for top-of-mind recall, prompting discussions and shares.</a:t>
            </a:r>
            <a:b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br>
            <a: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t>3. Emotion: evoke strong emotional responses—whether positive or negative.</a:t>
            </a:r>
            <a:b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br>
            <a: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t>4. Public: Visibility matters; easily observable and seen </a:t>
            </a:r>
            <a:b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br>
            <a: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t>5. Practical Value: Useful and informative , provides practical benefits.</a:t>
            </a:r>
            <a:b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br>
            <a:r>
              <a:rPr kumimoji="0" lang="en-US"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rPr>
              <a:t>6. Stories: Narratives that engage &amp; are easy to remember enhance shareability </a:t>
            </a:r>
            <a:endParaRPr kumimoji="0" lang="en-IN" sz="1050" b="0" i="0" u="none" strike="noStrike" kern="1200" cap="none" spc="0" normalizeH="0" baseline="0" noProof="0" dirty="0">
              <a:ln>
                <a:noFill/>
              </a:ln>
              <a:solidFill>
                <a:srgbClr val="156082"/>
              </a:solidFill>
              <a:effectLst/>
              <a:uLnTx/>
              <a:uFillTx/>
              <a:latin typeface="Montserrat Medium" panose="00000600000000000000" pitchFamily="2" charset="0"/>
              <a:ea typeface="+mn-ea"/>
              <a:cs typeface="+mn-cs"/>
            </a:endParaRPr>
          </a:p>
        </p:txBody>
      </p:sp>
      <p:sp>
        <p:nvSpPr>
          <p:cNvPr id="2" name="Slide Number Placeholder 3">
            <a:extLst>
              <a:ext uri="{FF2B5EF4-FFF2-40B4-BE49-F238E27FC236}">
                <a16:creationId xmlns:a16="http://schemas.microsoft.com/office/drawing/2014/main" id="{29D34D90-3171-26A0-5663-0FF8D7D991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F4E5A2-1BAB-4189-9F33-C7F9CA021385}" type="slidenum">
              <a:rPr kumimoji="0" lang="en-IN" sz="1050" b="0" i="0" u="none" strike="noStrike" kern="1200" cap="none" spc="0" normalizeH="0" baseline="0" noProof="0" smtClean="0">
                <a:ln>
                  <a:noFill/>
                </a:ln>
                <a:solidFill>
                  <a:srgbClr val="E8E8E8">
                    <a:lumMod val="50000"/>
                  </a:srgbClr>
                </a:solidFill>
                <a:effectLst/>
                <a:uLnTx/>
                <a:uFillTx/>
                <a:latin typeface="Montserrat SemiBold" panose="000007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IN" sz="1050" b="0" i="0" u="none" strike="noStrike" kern="1200" cap="none" spc="0" normalizeH="0" baseline="0" noProof="0" dirty="0">
              <a:ln>
                <a:noFill/>
              </a:ln>
              <a:solidFill>
                <a:srgbClr val="E8E8E8">
                  <a:lumMod val="50000"/>
                </a:srgbClr>
              </a:solidFill>
              <a:effectLst/>
              <a:uLnTx/>
              <a:uFillTx/>
              <a:latin typeface="Montserrat SemiBold" panose="00000700000000000000" pitchFamily="2" charset="0"/>
              <a:ea typeface="+mn-ea"/>
              <a:cs typeface="+mn-cs"/>
            </a:endParaRPr>
          </a:p>
        </p:txBody>
      </p:sp>
      <p:grpSp>
        <p:nvGrpSpPr>
          <p:cNvPr id="3" name="Group 2">
            <a:extLst>
              <a:ext uri="{FF2B5EF4-FFF2-40B4-BE49-F238E27FC236}">
                <a16:creationId xmlns:a16="http://schemas.microsoft.com/office/drawing/2014/main" id="{54102A63-8E86-6388-9DCF-C778872D565E}"/>
              </a:ext>
            </a:extLst>
          </p:cNvPr>
          <p:cNvGrpSpPr/>
          <p:nvPr/>
        </p:nvGrpSpPr>
        <p:grpSpPr>
          <a:xfrm>
            <a:off x="-61290" y="6053155"/>
            <a:ext cx="12253290" cy="971832"/>
            <a:chOff x="-187799" y="8336784"/>
            <a:chExt cx="18379935" cy="1457748"/>
          </a:xfrm>
        </p:grpSpPr>
        <p:pic>
          <p:nvPicPr>
            <p:cNvPr id="4" name="Picture 3">
              <a:extLst>
                <a:ext uri="{FF2B5EF4-FFF2-40B4-BE49-F238E27FC236}">
                  <a16:creationId xmlns:a16="http://schemas.microsoft.com/office/drawing/2014/main" id="{10AED60E-9ACD-0B06-60B6-EB48FE6BFD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8" name="Title 1">
              <a:extLst>
                <a:ext uri="{FF2B5EF4-FFF2-40B4-BE49-F238E27FC236}">
                  <a16:creationId xmlns:a16="http://schemas.microsoft.com/office/drawing/2014/main" id="{460230B9-9859-4EE8-E979-CEB6E808F78C}"/>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0" name="Picture 9">
              <a:extLst>
                <a:ext uri="{FF2B5EF4-FFF2-40B4-BE49-F238E27FC236}">
                  <a16:creationId xmlns:a16="http://schemas.microsoft.com/office/drawing/2014/main" id="{4638A4E1-5CC6-F19B-9596-706036E8F1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Tree>
    <p:extLst>
      <p:ext uri="{BB962C8B-B14F-4D97-AF65-F5344CB8AC3E}">
        <p14:creationId xmlns:p14="http://schemas.microsoft.com/office/powerpoint/2010/main" val="17456620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EEF8FC"/>
        </a:solidFill>
        <a:effectLst/>
      </p:bgPr>
    </p:bg>
    <p:spTree>
      <p:nvGrpSpPr>
        <p:cNvPr id="1" name="">
          <a:extLst>
            <a:ext uri="{FF2B5EF4-FFF2-40B4-BE49-F238E27FC236}">
              <a16:creationId xmlns:a16="http://schemas.microsoft.com/office/drawing/2014/main" id="{D2A14D7C-9550-55EE-6764-C2F6A9E8BA9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5BA36B3-7293-935D-0B9F-E220BD73DE70}"/>
              </a:ext>
            </a:extLst>
          </p:cNvPr>
          <p:cNvGraphicFramePr>
            <a:graphicFrameLocks noGrp="1"/>
          </p:cNvGraphicFramePr>
          <p:nvPr>
            <p:extLst>
              <p:ext uri="{D42A27DB-BD31-4B8C-83A1-F6EECF244321}">
                <p14:modId xmlns:p14="http://schemas.microsoft.com/office/powerpoint/2010/main" val="1083356633"/>
              </p:ext>
            </p:extLst>
          </p:nvPr>
        </p:nvGraphicFramePr>
        <p:xfrm>
          <a:off x="838200" y="1568374"/>
          <a:ext cx="10385490" cy="4537094"/>
        </p:xfrm>
        <a:graphic>
          <a:graphicData uri="http://schemas.openxmlformats.org/drawingml/2006/table">
            <a:tbl>
              <a:tblPr firstRow="1" bandRow="1">
                <a:tableStyleId>{5C22544A-7EE6-4342-B048-85BDC9FD1C3A}</a:tableStyleId>
              </a:tblPr>
              <a:tblGrid>
                <a:gridCol w="1730915">
                  <a:extLst>
                    <a:ext uri="{9D8B030D-6E8A-4147-A177-3AD203B41FA5}">
                      <a16:colId xmlns:a16="http://schemas.microsoft.com/office/drawing/2014/main" val="1468943080"/>
                    </a:ext>
                  </a:extLst>
                </a:gridCol>
                <a:gridCol w="1730915">
                  <a:extLst>
                    <a:ext uri="{9D8B030D-6E8A-4147-A177-3AD203B41FA5}">
                      <a16:colId xmlns:a16="http://schemas.microsoft.com/office/drawing/2014/main" val="3073271658"/>
                    </a:ext>
                  </a:extLst>
                </a:gridCol>
                <a:gridCol w="1730915">
                  <a:extLst>
                    <a:ext uri="{9D8B030D-6E8A-4147-A177-3AD203B41FA5}">
                      <a16:colId xmlns:a16="http://schemas.microsoft.com/office/drawing/2014/main" val="2846429912"/>
                    </a:ext>
                  </a:extLst>
                </a:gridCol>
                <a:gridCol w="1730915">
                  <a:extLst>
                    <a:ext uri="{9D8B030D-6E8A-4147-A177-3AD203B41FA5}">
                      <a16:colId xmlns:a16="http://schemas.microsoft.com/office/drawing/2014/main" val="3889052104"/>
                    </a:ext>
                  </a:extLst>
                </a:gridCol>
                <a:gridCol w="1730915">
                  <a:extLst>
                    <a:ext uri="{9D8B030D-6E8A-4147-A177-3AD203B41FA5}">
                      <a16:colId xmlns:a16="http://schemas.microsoft.com/office/drawing/2014/main" val="4053748505"/>
                    </a:ext>
                  </a:extLst>
                </a:gridCol>
                <a:gridCol w="1730915">
                  <a:extLst>
                    <a:ext uri="{9D8B030D-6E8A-4147-A177-3AD203B41FA5}">
                      <a16:colId xmlns:a16="http://schemas.microsoft.com/office/drawing/2014/main" val="1806729961"/>
                    </a:ext>
                  </a:extLst>
                </a:gridCol>
              </a:tblGrid>
              <a:tr h="726040">
                <a:tc>
                  <a:txBody>
                    <a:bodyPr/>
                    <a:lstStyle/>
                    <a:p>
                      <a:r>
                        <a:rPr lang="en-IN" dirty="0">
                          <a:latin typeface="Montserrat Medium" panose="00000600000000000000" pitchFamily="2" charset="0"/>
                        </a:rPr>
                        <a:t>Social Currency</a:t>
                      </a:r>
                    </a:p>
                  </a:txBody>
                  <a:tcPr/>
                </a:tc>
                <a:tc>
                  <a:txBody>
                    <a:bodyPr/>
                    <a:lstStyle/>
                    <a:p>
                      <a:r>
                        <a:rPr lang="en-US" dirty="0">
                          <a:latin typeface="Montserrat Medium" panose="00000600000000000000" pitchFamily="2" charset="0"/>
                        </a:rPr>
                        <a:t>Triggers</a:t>
                      </a:r>
                      <a:endParaRPr lang="en-IN" dirty="0">
                        <a:latin typeface="Montserrat Medium" panose="00000600000000000000" pitchFamily="2" charset="0"/>
                      </a:endParaRPr>
                    </a:p>
                  </a:txBody>
                  <a:tcPr/>
                </a:tc>
                <a:tc>
                  <a:txBody>
                    <a:bodyPr/>
                    <a:lstStyle/>
                    <a:p>
                      <a:r>
                        <a:rPr lang="en-US" dirty="0">
                          <a:latin typeface="Montserrat Medium" panose="00000600000000000000" pitchFamily="2" charset="0"/>
                        </a:rPr>
                        <a:t>Emotion</a:t>
                      </a:r>
                      <a:endParaRPr lang="en-IN" dirty="0">
                        <a:latin typeface="Montserrat Medium" panose="00000600000000000000" pitchFamily="2" charset="0"/>
                      </a:endParaRPr>
                    </a:p>
                  </a:txBody>
                  <a:tcPr/>
                </a:tc>
                <a:tc>
                  <a:txBody>
                    <a:bodyPr/>
                    <a:lstStyle/>
                    <a:p>
                      <a:r>
                        <a:rPr lang="en-US" dirty="0">
                          <a:latin typeface="Montserrat Medium" panose="00000600000000000000" pitchFamily="2" charset="0"/>
                        </a:rPr>
                        <a:t>Public</a:t>
                      </a:r>
                      <a:endParaRPr lang="en-IN" dirty="0">
                        <a:latin typeface="Montserrat Medium" panose="00000600000000000000" pitchFamily="2" charset="0"/>
                      </a:endParaRPr>
                    </a:p>
                  </a:txBody>
                  <a:tcPr/>
                </a:tc>
                <a:tc>
                  <a:txBody>
                    <a:bodyPr/>
                    <a:lstStyle/>
                    <a:p>
                      <a:r>
                        <a:rPr lang="en-US" dirty="0">
                          <a:latin typeface="Montserrat Medium" panose="00000600000000000000" pitchFamily="2" charset="0"/>
                        </a:rPr>
                        <a:t>Practical</a:t>
                      </a:r>
                      <a:endParaRPr lang="en-IN" dirty="0">
                        <a:latin typeface="Montserrat Medium" panose="00000600000000000000" pitchFamily="2" charset="0"/>
                      </a:endParaRPr>
                    </a:p>
                  </a:txBody>
                  <a:tcPr/>
                </a:tc>
                <a:tc>
                  <a:txBody>
                    <a:bodyPr/>
                    <a:lstStyle/>
                    <a:p>
                      <a:r>
                        <a:rPr lang="en-US" dirty="0">
                          <a:latin typeface="Montserrat Medium" panose="00000600000000000000" pitchFamily="2" charset="0"/>
                        </a:rPr>
                        <a:t>Stories</a:t>
                      </a:r>
                      <a:endParaRPr lang="en-IN" dirty="0">
                        <a:latin typeface="Montserrat Medium" panose="00000600000000000000" pitchFamily="2" charset="0"/>
                      </a:endParaRPr>
                    </a:p>
                  </a:txBody>
                  <a:tcPr/>
                </a:tc>
                <a:extLst>
                  <a:ext uri="{0D108BD9-81ED-4DB2-BD59-A6C34878D82A}">
                    <a16:rowId xmlns:a16="http://schemas.microsoft.com/office/drawing/2014/main" val="2582926745"/>
                  </a:ext>
                </a:extLst>
              </a:tr>
              <a:tr h="1372654">
                <a:tc>
                  <a:txBody>
                    <a:bodyPr/>
                    <a:lstStyle/>
                    <a:p>
                      <a:r>
                        <a:rPr lang="en-GB" sz="1200" dirty="0">
                          <a:solidFill>
                            <a:srgbClr val="264161"/>
                          </a:solidFill>
                          <a:latin typeface="Montserrat SemiBold" panose="00000700000000000000" pitchFamily="2" charset="0"/>
                        </a:rPr>
                        <a:t>Signals of Prestige</a:t>
                      </a:r>
                    </a:p>
                    <a:p>
                      <a:r>
                        <a:rPr lang="en-US" sz="1100" dirty="0">
                          <a:solidFill>
                            <a:schemeClr val="accent1"/>
                          </a:solidFill>
                          <a:latin typeface="Montserrat Medium" panose="00000600000000000000" pitchFamily="2" charset="0"/>
                        </a:rPr>
                        <a:t>Premium banking should feel like a status symbol—something clients want to “show off.”</a:t>
                      </a:r>
                      <a:endParaRPr lang="en-GB"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Top-of-Mind Awareness</a:t>
                      </a:r>
                    </a:p>
                    <a:p>
                      <a:r>
                        <a:rPr lang="en-US" sz="1100" dirty="0">
                          <a:solidFill>
                            <a:schemeClr val="accent1"/>
                          </a:solidFill>
                          <a:latin typeface="Montserrat Medium" panose="00000600000000000000" pitchFamily="2" charset="0"/>
                        </a:rPr>
                        <a:t>Clients should be regularly reminded of the bank’s value in their everyday life.</a:t>
                      </a:r>
                      <a:endParaRPr lang="en-IN"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High Emotional Impact</a:t>
                      </a:r>
                    </a:p>
                    <a:p>
                      <a:r>
                        <a:rPr lang="en-US" sz="1100" dirty="0">
                          <a:solidFill>
                            <a:schemeClr val="accent1"/>
                          </a:solidFill>
                          <a:latin typeface="Montserrat Medium" panose="00000600000000000000" pitchFamily="2" charset="0"/>
                        </a:rPr>
                        <a:t>Clients act when they feel an emotional connection to their wealth journey.</a:t>
                      </a:r>
                      <a:endParaRPr lang="en-IN"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Visibility &amp; Social Proof</a:t>
                      </a:r>
                    </a:p>
                    <a:p>
                      <a:r>
                        <a:rPr lang="en-US" sz="1100" dirty="0">
                          <a:solidFill>
                            <a:schemeClr val="accent1"/>
                          </a:solidFill>
                          <a:latin typeface="Montserrat Medium" panose="00000600000000000000" pitchFamily="2" charset="0"/>
                        </a:rPr>
                        <a:t>The bank’s elite positioning should be visible in social and professional circles</a:t>
                      </a:r>
                      <a:endParaRPr lang="en-IN"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Useful &amp; Actionable</a:t>
                      </a:r>
                    </a:p>
                    <a:p>
                      <a:r>
                        <a:rPr lang="en-US" sz="1100" dirty="0">
                          <a:solidFill>
                            <a:schemeClr val="accent1"/>
                          </a:solidFill>
                          <a:latin typeface="Montserrat Medium" panose="00000600000000000000" pitchFamily="2" charset="0"/>
                        </a:rPr>
                        <a:t>Clients should feel they are getting tangible, time-sensitive value.</a:t>
                      </a:r>
                      <a:endParaRPr lang="en-IN" sz="1100" dirty="0">
                        <a:solidFill>
                          <a:schemeClr val="accent1"/>
                        </a:solidFill>
                        <a:latin typeface="Montserrat Medium" panose="00000600000000000000" pitchFamily="2" charset="0"/>
                      </a:endParaRPr>
                    </a:p>
                  </a:txBody>
                  <a:tcPr>
                    <a:solidFill>
                      <a:srgbClr val="F8FCFE"/>
                    </a:solidFill>
                  </a:tcPr>
                </a:tc>
                <a:tc>
                  <a:txBody>
                    <a:bodyPr/>
                    <a:lstStyle/>
                    <a:p>
                      <a:pPr marL="0" algn="l" defTabSz="914446" rtl="0" eaLnBrk="1" latinLnBrk="0" hangingPunct="1"/>
                      <a:r>
                        <a:rPr lang="en-GB" sz="1200" kern="1200" dirty="0">
                          <a:solidFill>
                            <a:srgbClr val="264161"/>
                          </a:solidFill>
                          <a:latin typeface="Montserrat SemiBold" panose="00000700000000000000" pitchFamily="2" charset="0"/>
                          <a:ea typeface="+mn-ea"/>
                          <a:cs typeface="+mn-cs"/>
                        </a:rPr>
                        <a:t>Narrative-Driven Influence</a:t>
                      </a:r>
                    </a:p>
                    <a:p>
                      <a:r>
                        <a:rPr lang="en-US" sz="1100" dirty="0">
                          <a:solidFill>
                            <a:schemeClr val="accent1"/>
                          </a:solidFill>
                          <a:latin typeface="Montserrat Medium" panose="00000600000000000000" pitchFamily="2" charset="0"/>
                        </a:rPr>
                        <a:t>People remember stories more than stats. Banking should be a compelling narrative.</a:t>
                      </a:r>
                      <a:endParaRPr lang="en-IN" sz="1100" dirty="0">
                        <a:solidFill>
                          <a:schemeClr val="accent1"/>
                        </a:solidFill>
                        <a:latin typeface="Montserrat Medium" panose="00000600000000000000" pitchFamily="2" charset="0"/>
                      </a:endParaRPr>
                    </a:p>
                  </a:txBody>
                  <a:tcPr>
                    <a:solidFill>
                      <a:srgbClr val="F8FCFE"/>
                    </a:solidFill>
                  </a:tcPr>
                </a:tc>
                <a:extLst>
                  <a:ext uri="{0D108BD9-81ED-4DB2-BD59-A6C34878D82A}">
                    <a16:rowId xmlns:a16="http://schemas.microsoft.com/office/drawing/2014/main" val="3392798187"/>
                  </a:ext>
                </a:extLst>
              </a:tr>
              <a:tr h="1372654">
                <a:tc>
                  <a:txBody>
                    <a:bodyPr/>
                    <a:lstStyle/>
                    <a:p>
                      <a:r>
                        <a:rPr lang="en-GB" sz="1100" dirty="0">
                          <a:solidFill>
                            <a:schemeClr val="tx1">
                              <a:lumMod val="65000"/>
                              <a:lumOff val="35000"/>
                            </a:schemeClr>
                          </a:solidFill>
                          <a:latin typeface="Montserrat Bold" panose="00000800000000000000" pitchFamily="2" charset="0"/>
                        </a:rPr>
                        <a:t>Nudge Example: </a:t>
                      </a:r>
                      <a:r>
                        <a:rPr lang="en-US" sz="1100" dirty="0">
                          <a:solidFill>
                            <a:schemeClr val="tx1">
                              <a:lumMod val="65000"/>
                              <a:lumOff val="35000"/>
                            </a:schemeClr>
                          </a:solidFill>
                          <a:latin typeface="Montserrat Medium" panose="00000600000000000000" pitchFamily="2" charset="0"/>
                        </a:rPr>
                        <a:t>Insider Investment Access: Early or exclusive entry to high-yield assets.</a:t>
                      </a:r>
                    </a:p>
                    <a:p>
                      <a:r>
                        <a:rPr lang="en-US" sz="1100" dirty="0">
                          <a:solidFill>
                            <a:schemeClr val="tx1">
                              <a:lumMod val="65000"/>
                              <a:lumOff val="35000"/>
                            </a:schemeClr>
                          </a:solidFill>
                          <a:latin typeface="Montserrat Medium" panose="00000600000000000000" pitchFamily="2" charset="0"/>
                        </a:rPr>
                        <a:t>Social Signal-Driven Invitations: “Only 500 clients globally get access to this investment.”</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GB" sz="1100" dirty="0">
                          <a:solidFill>
                            <a:schemeClr val="tx1">
                              <a:lumMod val="65000"/>
                              <a:lumOff val="35000"/>
                            </a:schemeClr>
                          </a:solidFill>
                          <a:latin typeface="Montserrat Bold" panose="00000800000000000000" pitchFamily="2" charset="0"/>
                        </a:rPr>
                        <a:t>Nudge Example: </a:t>
                      </a:r>
                      <a:r>
                        <a:rPr lang="en-US" sz="1100" dirty="0">
                          <a:solidFill>
                            <a:schemeClr val="tx1">
                              <a:lumMod val="65000"/>
                              <a:lumOff val="35000"/>
                            </a:schemeClr>
                          </a:solidFill>
                          <a:latin typeface="Montserrat Medium" panose="00000600000000000000" pitchFamily="2" charset="0"/>
                        </a:rPr>
                        <a:t>Financial Wellness Nudges: Automated messages like “Your investment has outperformed by 3% this quarter.”</a:t>
                      </a:r>
                    </a:p>
                    <a:p>
                      <a:r>
                        <a:rPr lang="en-US" sz="1100" dirty="0">
                          <a:solidFill>
                            <a:schemeClr val="tx1">
                              <a:lumMod val="65000"/>
                              <a:lumOff val="35000"/>
                            </a:schemeClr>
                          </a:solidFill>
                          <a:latin typeface="Montserrat Medium" panose="00000600000000000000" pitchFamily="2" charset="0"/>
                        </a:rPr>
                        <a:t>Cultural Relevance: Linking offers to seasonal themes (e.g., “Diwali/Onam Wealth Unlock” or “New Year Portfolio Rebalancing”).</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GB" sz="1100" kern="1200" dirty="0">
                          <a:solidFill>
                            <a:schemeClr val="tx1">
                              <a:lumMod val="65000"/>
                              <a:lumOff val="35000"/>
                            </a:schemeClr>
                          </a:solidFill>
                          <a:latin typeface="Montserrat Bold" panose="00000800000000000000" pitchFamily="2" charset="0"/>
                          <a:ea typeface="+mn-ea"/>
                          <a:cs typeface="+mn-cs"/>
                        </a:rPr>
                        <a:t>Nudge Example: </a:t>
                      </a:r>
                      <a:r>
                        <a:rPr lang="en-US" sz="1100" dirty="0">
                          <a:solidFill>
                            <a:schemeClr val="tx1">
                              <a:lumMod val="65000"/>
                              <a:lumOff val="35000"/>
                            </a:schemeClr>
                          </a:solidFill>
                          <a:latin typeface="Montserrat Medium" panose="00000600000000000000" pitchFamily="2" charset="0"/>
                        </a:rPr>
                        <a:t>Legacy &amp; Purpose Messaging: Framing investments around generational wealth and philanthropy.</a:t>
                      </a:r>
                    </a:p>
                    <a:p>
                      <a:r>
                        <a:rPr lang="en-US" sz="1100" dirty="0">
                          <a:solidFill>
                            <a:schemeClr val="tx1">
                              <a:lumMod val="65000"/>
                              <a:lumOff val="35000"/>
                            </a:schemeClr>
                          </a:solidFill>
                          <a:latin typeface="Montserrat Medium" panose="00000600000000000000" pitchFamily="2" charset="0"/>
                        </a:rPr>
                        <a:t>Narrative-Based Investing: “This fund supports green energy innovations—invest with impact.”</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IN" sz="1100" kern="1200" dirty="0">
                          <a:solidFill>
                            <a:schemeClr val="tx1">
                              <a:lumMod val="65000"/>
                              <a:lumOff val="35000"/>
                            </a:schemeClr>
                          </a:solidFill>
                          <a:latin typeface="Montserrat Bold" panose="00000800000000000000" pitchFamily="2" charset="0"/>
                          <a:ea typeface="+mn-ea"/>
                          <a:cs typeface="+mn-cs"/>
                        </a:rPr>
                        <a:t>Nudge Example: </a:t>
                      </a:r>
                    </a:p>
                    <a:p>
                      <a:r>
                        <a:rPr lang="en-US" sz="1100" dirty="0">
                          <a:solidFill>
                            <a:schemeClr val="tx1">
                              <a:lumMod val="65000"/>
                              <a:lumOff val="35000"/>
                            </a:schemeClr>
                          </a:solidFill>
                          <a:latin typeface="Montserrat Medium" panose="00000600000000000000" pitchFamily="2" charset="0"/>
                        </a:rPr>
                        <a:t>Client Spotlights (Anonymous but Aspirational): “Meet a client who turned a 20 lakh  portfolio into 1 Crore.”</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GB" sz="1100" kern="1200" dirty="0">
                          <a:solidFill>
                            <a:schemeClr val="tx1">
                              <a:lumMod val="65000"/>
                              <a:lumOff val="35000"/>
                            </a:schemeClr>
                          </a:solidFill>
                          <a:latin typeface="Montserrat Bold" panose="00000800000000000000" pitchFamily="2" charset="0"/>
                          <a:ea typeface="+mn-ea"/>
                          <a:cs typeface="+mn-cs"/>
                        </a:rPr>
                        <a:t>Nudge Example: </a:t>
                      </a:r>
                    </a:p>
                    <a:p>
                      <a:r>
                        <a:rPr lang="en-US" sz="1100" dirty="0">
                          <a:solidFill>
                            <a:schemeClr val="tx1">
                              <a:lumMod val="65000"/>
                              <a:lumOff val="35000"/>
                            </a:schemeClr>
                          </a:solidFill>
                          <a:latin typeface="Montserrat Medium" panose="00000600000000000000" pitchFamily="2" charset="0"/>
                        </a:rPr>
                        <a:t>Concise Market Insights: 60-second wealth briefings tailored to their portfolio.</a:t>
                      </a:r>
                    </a:p>
                    <a:p>
                      <a:r>
                        <a:rPr lang="en-US" sz="1100" dirty="0">
                          <a:solidFill>
                            <a:schemeClr val="tx1">
                              <a:lumMod val="65000"/>
                              <a:lumOff val="35000"/>
                            </a:schemeClr>
                          </a:solidFill>
                          <a:latin typeface="Montserrat Medium" panose="00000600000000000000" pitchFamily="2" charset="0"/>
                        </a:rPr>
                        <a:t>Actionable Strategies: “Top 3 investments to hedge against inflation in 2025.”</a:t>
                      </a:r>
                      <a:endParaRPr lang="en-IN" sz="1100" dirty="0">
                        <a:solidFill>
                          <a:schemeClr val="tx1">
                            <a:lumMod val="65000"/>
                            <a:lumOff val="35000"/>
                          </a:schemeClr>
                        </a:solidFill>
                        <a:latin typeface="Montserrat Medium" panose="00000600000000000000" pitchFamily="2" charset="0"/>
                      </a:endParaRPr>
                    </a:p>
                  </a:txBody>
                  <a:tcPr/>
                </a:tc>
                <a:tc>
                  <a:txBody>
                    <a:bodyPr/>
                    <a:lstStyle/>
                    <a:p>
                      <a:r>
                        <a:rPr lang="en-GB" sz="1100" kern="1200" dirty="0">
                          <a:solidFill>
                            <a:schemeClr val="tx1">
                              <a:lumMod val="65000"/>
                              <a:lumOff val="35000"/>
                            </a:schemeClr>
                          </a:solidFill>
                          <a:latin typeface="Montserrat Bold" panose="00000800000000000000" pitchFamily="2" charset="0"/>
                          <a:ea typeface="+mn-ea"/>
                          <a:cs typeface="+mn-cs"/>
                        </a:rPr>
                        <a:t>Nudge Example: </a:t>
                      </a:r>
                    </a:p>
                    <a:p>
                      <a:r>
                        <a:rPr lang="en-US" sz="1100" dirty="0">
                          <a:solidFill>
                            <a:schemeClr val="tx1">
                              <a:lumMod val="65000"/>
                              <a:lumOff val="35000"/>
                            </a:schemeClr>
                          </a:solidFill>
                          <a:latin typeface="Montserrat Medium" panose="00000600000000000000" pitchFamily="2" charset="0"/>
                        </a:rPr>
                        <a:t>Heritage Banking Tales: “How we’ve helped families preserve their legacy for generations.”</a:t>
                      </a:r>
                    </a:p>
                    <a:p>
                      <a:r>
                        <a:rPr lang="en-US" sz="1100" dirty="0">
                          <a:solidFill>
                            <a:schemeClr val="tx1">
                              <a:lumMod val="65000"/>
                              <a:lumOff val="35000"/>
                            </a:schemeClr>
                          </a:solidFill>
                          <a:latin typeface="Montserrat Medium" panose="00000600000000000000" pitchFamily="2" charset="0"/>
                        </a:rPr>
                        <a:t>Gamified Wealth Planning: “Choose your investment adventure” interactive stories.</a:t>
                      </a:r>
                      <a:endParaRPr lang="en-IN" sz="1100" dirty="0">
                        <a:solidFill>
                          <a:schemeClr val="tx1">
                            <a:lumMod val="65000"/>
                            <a:lumOff val="35000"/>
                          </a:schemeClr>
                        </a:solidFill>
                        <a:latin typeface="Montserrat Medium" panose="00000600000000000000" pitchFamily="2" charset="0"/>
                      </a:endParaRPr>
                    </a:p>
                  </a:txBody>
                  <a:tcPr/>
                </a:tc>
                <a:extLst>
                  <a:ext uri="{0D108BD9-81ED-4DB2-BD59-A6C34878D82A}">
                    <a16:rowId xmlns:a16="http://schemas.microsoft.com/office/drawing/2014/main" val="1627436273"/>
                  </a:ext>
                </a:extLst>
              </a:tr>
            </a:tbl>
          </a:graphicData>
        </a:graphic>
      </p:graphicFrame>
      <p:sp>
        <p:nvSpPr>
          <p:cNvPr id="6" name="Title 1">
            <a:extLst>
              <a:ext uri="{FF2B5EF4-FFF2-40B4-BE49-F238E27FC236}">
                <a16:creationId xmlns:a16="http://schemas.microsoft.com/office/drawing/2014/main" id="{BD9A14FF-C2E4-9D40-E198-A7AB43878779}"/>
              </a:ext>
            </a:extLst>
          </p:cNvPr>
          <p:cNvSpPr txBox="1">
            <a:spLocks/>
          </p:cNvSpPr>
          <p:nvPr/>
        </p:nvSpPr>
        <p:spPr>
          <a:xfrm>
            <a:off x="838200" y="365125"/>
            <a:ext cx="10515600" cy="1325563"/>
          </a:xfrm>
          <a:prstGeom prst="rect">
            <a:avLst/>
          </a:prstGeom>
        </p:spPr>
        <p:txBody>
          <a:bodyPr vert="horz" lIns="91440" tIns="45720" rIns="91440" bIns="45720" rtlCol="0" anchor="t" anchorCtr="0">
            <a:normAutofit/>
          </a:bodyPr>
          <a:lstStyle>
            <a:lvl1pPr algn="ctr" defTabSz="914400" rtl="0" eaLnBrk="1" latinLnBrk="0" hangingPunct="1">
              <a:lnSpc>
                <a:spcPct val="90000"/>
              </a:lnSpc>
              <a:spcBef>
                <a:spcPct val="0"/>
              </a:spcBef>
              <a:buNone/>
              <a:defRPr sz="4500" kern="1200">
                <a:solidFill>
                  <a:schemeClr val="tx1">
                    <a:lumMod val="65000"/>
                    <a:lumOff val="35000"/>
                  </a:schemeClr>
                </a:solidFill>
                <a:latin typeface="Hepta Slab ExtraBold" pitchFamily="2" charset="0"/>
                <a:ea typeface="+mj-ea"/>
                <a:cs typeface="Hepta Slab ExtraBold"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500" b="0" i="0" u="none" strike="noStrike" kern="1200" cap="none" spc="0" normalizeH="0" baseline="0" noProof="0" dirty="0">
                <a:ln>
                  <a:noFill/>
                </a:ln>
                <a:solidFill>
                  <a:prstClr val="black">
                    <a:lumMod val="50000"/>
                    <a:lumOff val="50000"/>
                  </a:prstClr>
                </a:solidFill>
                <a:effectLst/>
                <a:uLnTx/>
                <a:uFillTx/>
                <a:latin typeface="Hepta Slab ExtraBold" pitchFamily="2" charset="0"/>
                <a:ea typeface="+mj-ea"/>
                <a:cs typeface="Hepta Slab ExtraBold" pitchFamily="2" charset="0"/>
              </a:rPr>
              <a:t>The Marketing Aircover</a:t>
            </a:r>
            <a:endParaRPr kumimoji="0" lang="en-IN" sz="4500" b="0" i="0" u="none" strike="noStrike" kern="1200" cap="none" spc="0" normalizeH="0" baseline="0" noProof="0" dirty="0">
              <a:ln>
                <a:noFill/>
              </a:ln>
              <a:solidFill>
                <a:prstClr val="black">
                  <a:lumMod val="50000"/>
                  <a:lumOff val="50000"/>
                </a:prstClr>
              </a:solidFill>
              <a:effectLst/>
              <a:uLnTx/>
              <a:uFillTx/>
              <a:latin typeface="Hepta Slab ExtraBold" pitchFamily="2" charset="0"/>
              <a:ea typeface="+mj-ea"/>
              <a:cs typeface="Hepta Slab ExtraBold" pitchFamily="2" charset="0"/>
            </a:endParaRPr>
          </a:p>
        </p:txBody>
      </p:sp>
      <p:sp>
        <p:nvSpPr>
          <p:cNvPr id="7" name="TextBox 6">
            <a:extLst>
              <a:ext uri="{FF2B5EF4-FFF2-40B4-BE49-F238E27FC236}">
                <a16:creationId xmlns:a16="http://schemas.microsoft.com/office/drawing/2014/main" id="{1F347C22-7611-3256-3AD1-7AEDF23E6BB7}"/>
              </a:ext>
            </a:extLst>
          </p:cNvPr>
          <p:cNvSpPr txBox="1"/>
          <p:nvPr/>
        </p:nvSpPr>
        <p:spPr>
          <a:xfrm>
            <a:off x="838200" y="1027906"/>
            <a:ext cx="98139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A1919"/>
                </a:solidFill>
                <a:effectLst/>
                <a:uLnTx/>
                <a:uFillTx/>
                <a:latin typeface="Montserrat SemiBold" panose="00000700000000000000" pitchFamily="2" charset="0"/>
                <a:ea typeface="+mn-ea"/>
                <a:cs typeface="+mn-cs"/>
              </a:rPr>
              <a:t>STEPPS: </a:t>
            </a:r>
            <a:r>
              <a:rPr lang="en-US" dirty="0">
                <a:solidFill>
                  <a:srgbClr val="AA1919"/>
                </a:solidFill>
                <a:latin typeface="Montserrat Bold" panose="00000800000000000000" pitchFamily="2" charset="0"/>
              </a:rPr>
              <a:t>why people share and engage</a:t>
            </a:r>
            <a:r>
              <a:rPr lang="en-US" dirty="0">
                <a:solidFill>
                  <a:srgbClr val="AA1919"/>
                </a:solidFill>
                <a:latin typeface="Montserrat SemiBold" panose="00000700000000000000" pitchFamily="2" charset="0"/>
              </a:rPr>
              <a:t>, which is crucial for referral-driven / </a:t>
            </a:r>
            <a:r>
              <a:rPr lang="en-US" dirty="0" err="1">
                <a:solidFill>
                  <a:srgbClr val="AA1919"/>
                </a:solidFill>
                <a:latin typeface="Montserrat SemiBold" panose="00000700000000000000" pitchFamily="2" charset="0"/>
              </a:rPr>
              <a:t>WoM</a:t>
            </a:r>
            <a:endParaRPr lang="en-IN" dirty="0">
              <a:solidFill>
                <a:srgbClr val="AA1919"/>
              </a:solidFill>
              <a:latin typeface="Montserrat SemiBold" panose="00000700000000000000" pitchFamily="2" charset="0"/>
            </a:endParaRPr>
          </a:p>
        </p:txBody>
      </p:sp>
      <p:sp>
        <p:nvSpPr>
          <p:cNvPr id="2" name="Slide Number Placeholder 3">
            <a:extLst>
              <a:ext uri="{FF2B5EF4-FFF2-40B4-BE49-F238E27FC236}">
                <a16:creationId xmlns:a16="http://schemas.microsoft.com/office/drawing/2014/main" id="{EBB1DC20-EB67-CCAB-703F-5779083949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F4E5A2-1BAB-4189-9F33-C7F9CA021385}" type="slidenum">
              <a:rPr kumimoji="0" lang="en-IN" sz="1050" b="0" i="0" u="none" strike="noStrike" kern="1200" cap="none" spc="0" normalizeH="0" baseline="0" noProof="0" smtClean="0">
                <a:ln>
                  <a:noFill/>
                </a:ln>
                <a:solidFill>
                  <a:srgbClr val="E8E8E8">
                    <a:lumMod val="50000"/>
                  </a:srgbClr>
                </a:solidFill>
                <a:effectLst/>
                <a:uLnTx/>
                <a:uFillTx/>
                <a:latin typeface="Montserrat SemiBold" panose="000007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IN" sz="1050" b="0" i="0" u="none" strike="noStrike" kern="1200" cap="none" spc="0" normalizeH="0" baseline="0" noProof="0" dirty="0">
              <a:ln>
                <a:noFill/>
              </a:ln>
              <a:solidFill>
                <a:srgbClr val="E8E8E8">
                  <a:lumMod val="50000"/>
                </a:srgbClr>
              </a:solidFill>
              <a:effectLst/>
              <a:uLnTx/>
              <a:uFillTx/>
              <a:latin typeface="Montserrat SemiBold" panose="00000700000000000000" pitchFamily="2" charset="0"/>
              <a:ea typeface="+mn-ea"/>
              <a:cs typeface="+mn-cs"/>
            </a:endParaRPr>
          </a:p>
        </p:txBody>
      </p:sp>
      <p:grpSp>
        <p:nvGrpSpPr>
          <p:cNvPr id="3" name="Group 2">
            <a:extLst>
              <a:ext uri="{FF2B5EF4-FFF2-40B4-BE49-F238E27FC236}">
                <a16:creationId xmlns:a16="http://schemas.microsoft.com/office/drawing/2014/main" id="{B207E3B8-1C89-1441-F5B8-7D51551DF829}"/>
              </a:ext>
            </a:extLst>
          </p:cNvPr>
          <p:cNvGrpSpPr/>
          <p:nvPr/>
        </p:nvGrpSpPr>
        <p:grpSpPr>
          <a:xfrm>
            <a:off x="-61290" y="6053155"/>
            <a:ext cx="12253290" cy="971832"/>
            <a:chOff x="-187799" y="8336784"/>
            <a:chExt cx="18379935" cy="1457748"/>
          </a:xfrm>
        </p:grpSpPr>
        <p:pic>
          <p:nvPicPr>
            <p:cNvPr id="4" name="Picture 3">
              <a:extLst>
                <a:ext uri="{FF2B5EF4-FFF2-40B4-BE49-F238E27FC236}">
                  <a16:creationId xmlns:a16="http://schemas.microsoft.com/office/drawing/2014/main" id="{E00F894C-7193-AFBC-0115-04658FA7DC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8" name="Title 1">
              <a:extLst>
                <a:ext uri="{FF2B5EF4-FFF2-40B4-BE49-F238E27FC236}">
                  <a16:creationId xmlns:a16="http://schemas.microsoft.com/office/drawing/2014/main" id="{268748D0-4324-FB1A-5C2F-A831CD79D3B5}"/>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9" name="Picture 8">
              <a:extLst>
                <a:ext uri="{FF2B5EF4-FFF2-40B4-BE49-F238E27FC236}">
                  <a16:creationId xmlns:a16="http://schemas.microsoft.com/office/drawing/2014/main" id="{6AACEA7C-0609-077A-4056-CC5DE1F5C8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Tree>
    <p:extLst>
      <p:ext uri="{BB962C8B-B14F-4D97-AF65-F5344CB8AC3E}">
        <p14:creationId xmlns:p14="http://schemas.microsoft.com/office/powerpoint/2010/main" val="12167965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E7C1099-3901-41F5-943E-794F8C1D2C53}"/>
              </a:ext>
            </a:extLst>
          </p:cNvPr>
          <p:cNvSpPr txBox="1"/>
          <p:nvPr/>
        </p:nvSpPr>
        <p:spPr>
          <a:xfrm>
            <a:off x="456000" y="2870579"/>
            <a:ext cx="4448654" cy="543675"/>
          </a:xfrm>
          <a:prstGeom prst="rect">
            <a:avLst/>
          </a:prstGeom>
          <a:noFill/>
        </p:spPr>
        <p:txBody>
          <a:bodyPr wrap="none" rtlCol="0">
            <a:spAutoFit/>
          </a:bodyPr>
          <a:lstStyle/>
          <a:p>
            <a:pPr defTabSz="304815">
              <a:defRPr/>
            </a:pPr>
            <a:r>
              <a:rPr lang="en-IN" sz="2933" b="1" dirty="0">
                <a:solidFill>
                  <a:srgbClr val="F5F3E4"/>
                </a:solidFill>
                <a:latin typeface="Hepta Slab SemiBold" pitchFamily="2" charset="0"/>
                <a:cs typeface="Hepta Slab SemiBold" pitchFamily="2" charset="0"/>
              </a:rPr>
              <a:t>The Behaviour Shift.</a:t>
            </a:r>
          </a:p>
        </p:txBody>
      </p:sp>
      <p:sp>
        <p:nvSpPr>
          <p:cNvPr id="9" name="TextBox 8">
            <a:extLst>
              <a:ext uri="{FF2B5EF4-FFF2-40B4-BE49-F238E27FC236}">
                <a16:creationId xmlns:a16="http://schemas.microsoft.com/office/drawing/2014/main" id="{D6F60D02-44E1-4519-A870-A21AE68577EC}"/>
              </a:ext>
            </a:extLst>
          </p:cNvPr>
          <p:cNvSpPr txBox="1"/>
          <p:nvPr/>
        </p:nvSpPr>
        <p:spPr>
          <a:xfrm>
            <a:off x="456000" y="3660376"/>
            <a:ext cx="5280000" cy="1446550"/>
          </a:xfrm>
          <a:prstGeom prst="rect">
            <a:avLst/>
          </a:prstGeom>
          <a:noFill/>
        </p:spPr>
        <p:txBody>
          <a:bodyPr wrap="square" rtlCol="0">
            <a:spAutoFit/>
          </a:bodyPr>
          <a:lstStyle/>
          <a:p>
            <a:pPr defTabSz="304815">
              <a:spcBef>
                <a:spcPts val="1200"/>
              </a:spcBef>
              <a:spcAft>
                <a:spcPts val="1200"/>
              </a:spcAft>
              <a:buClr>
                <a:srgbClr val="FFC000"/>
              </a:buClr>
              <a:defRPr/>
            </a:pPr>
            <a:r>
              <a:rPr lang="en-US" sz="1600" dirty="0">
                <a:solidFill>
                  <a:srgbClr val="F5F3E4"/>
                </a:solidFill>
                <a:latin typeface="Hepta Slab SemiBold" pitchFamily="2" charset="0"/>
                <a:cs typeface="Hepta Slab SemiBold" pitchFamily="2" charset="0"/>
              </a:rPr>
              <a:t>90 days</a:t>
            </a:r>
          </a:p>
          <a:p>
            <a:pPr defTabSz="304815">
              <a:spcBef>
                <a:spcPts val="1200"/>
              </a:spcBef>
              <a:spcAft>
                <a:spcPts val="1200"/>
              </a:spcAft>
              <a:buClr>
                <a:srgbClr val="FFC000"/>
              </a:buClr>
              <a:defRPr/>
            </a:pPr>
            <a:r>
              <a:rPr lang="en-US" sz="1600" dirty="0">
                <a:solidFill>
                  <a:srgbClr val="F5F3E4"/>
                </a:solidFill>
                <a:latin typeface="Hepta Slab SemiBold" pitchFamily="2" charset="0"/>
                <a:cs typeface="Hepta Slab SemiBold" pitchFamily="2" charset="0"/>
              </a:rPr>
              <a:t>120 days</a:t>
            </a:r>
          </a:p>
          <a:p>
            <a:pPr defTabSz="304815">
              <a:spcBef>
                <a:spcPts val="1200"/>
              </a:spcBef>
              <a:spcAft>
                <a:spcPts val="1200"/>
              </a:spcAft>
              <a:buClr>
                <a:srgbClr val="FFC000"/>
              </a:buClr>
              <a:defRPr/>
            </a:pPr>
            <a:r>
              <a:rPr lang="en-US" sz="1600" dirty="0">
                <a:solidFill>
                  <a:srgbClr val="F5F3E4"/>
                </a:solidFill>
                <a:latin typeface="Hepta Slab SemiBold" pitchFamily="2" charset="0"/>
                <a:cs typeface="Hepta Slab SemiBold" pitchFamily="2" charset="0"/>
              </a:rPr>
              <a:t>120 days+</a:t>
            </a:r>
          </a:p>
        </p:txBody>
      </p:sp>
      <p:grpSp>
        <p:nvGrpSpPr>
          <p:cNvPr id="10" name="Group 9">
            <a:extLst>
              <a:ext uri="{FF2B5EF4-FFF2-40B4-BE49-F238E27FC236}">
                <a16:creationId xmlns:a16="http://schemas.microsoft.com/office/drawing/2014/main" id="{1629B290-83A6-358C-83B0-6D2A2A96773D}"/>
              </a:ext>
            </a:extLst>
          </p:cNvPr>
          <p:cNvGrpSpPr/>
          <p:nvPr/>
        </p:nvGrpSpPr>
        <p:grpSpPr>
          <a:xfrm>
            <a:off x="1" y="6042107"/>
            <a:ext cx="11864037" cy="911852"/>
            <a:chOff x="579560" y="9184073"/>
            <a:chExt cx="18133625" cy="1393723"/>
          </a:xfrm>
        </p:grpSpPr>
        <p:sp>
          <p:nvSpPr>
            <p:cNvPr id="11" name="Title 1">
              <a:extLst>
                <a:ext uri="{FF2B5EF4-FFF2-40B4-BE49-F238E27FC236}">
                  <a16:creationId xmlns:a16="http://schemas.microsoft.com/office/drawing/2014/main" id="{663AA27E-7DE6-D78B-8CB1-B1D9A5151691}"/>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defRPr/>
              </a:pPr>
              <a:r>
                <a:rPr lang="en-IN" sz="800" dirty="0">
                  <a:solidFill>
                    <a:prstClr val="white"/>
                  </a:solidFill>
                  <a:latin typeface="Montserrat Medium" pitchFamily="2" charset="0"/>
                  <a:cs typeface="Hepta Slab" pitchFamily="2" charset="0"/>
                </a:rPr>
                <a:t>TERRAGNI CONSULTING (P) LTD PRIVATE AND CONFIDENTIAL</a:t>
              </a:r>
            </a:p>
          </p:txBody>
        </p:sp>
        <p:pic>
          <p:nvPicPr>
            <p:cNvPr id="16" name="Picture 15">
              <a:extLst>
                <a:ext uri="{FF2B5EF4-FFF2-40B4-BE49-F238E27FC236}">
                  <a16:creationId xmlns:a16="http://schemas.microsoft.com/office/drawing/2014/main" id="{0172BF14-7830-90D6-E583-F1CD7DFC4A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45D323A1-FD2E-E1B7-1C70-A15A6FB92B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4" name="TextBox 13">
            <a:extLst>
              <a:ext uri="{FF2B5EF4-FFF2-40B4-BE49-F238E27FC236}">
                <a16:creationId xmlns:a16="http://schemas.microsoft.com/office/drawing/2014/main" id="{5B5271B4-6D1C-4734-A58F-068420F2128D}"/>
              </a:ext>
            </a:extLst>
          </p:cNvPr>
          <p:cNvSpPr txBox="1"/>
          <p:nvPr/>
        </p:nvSpPr>
        <p:spPr>
          <a:xfrm>
            <a:off x="456000" y="789802"/>
            <a:ext cx="5517857" cy="707886"/>
          </a:xfrm>
          <a:prstGeom prst="rect">
            <a:avLst/>
          </a:prstGeom>
          <a:noFill/>
        </p:spPr>
        <p:txBody>
          <a:bodyPr wrap="none" rtlCol="0">
            <a:spAutoFit/>
          </a:bodyPr>
          <a:lstStyle/>
          <a:p>
            <a:pPr algn="ctr" defTabSz="304815">
              <a:defRPr/>
            </a:pPr>
            <a:r>
              <a:rPr lang="en-US" sz="4000" b="1" dirty="0">
                <a:solidFill>
                  <a:schemeClr val="accent4">
                    <a:lumMod val="75000"/>
                  </a:schemeClr>
                </a:solidFill>
                <a:latin typeface="Hepta Slab SemiBold" pitchFamily="2" charset="0"/>
              </a:rPr>
              <a:t>Uniquely Different</a:t>
            </a:r>
            <a:endParaRPr lang="en-IN" sz="4000" b="1" dirty="0">
              <a:solidFill>
                <a:schemeClr val="accent4">
                  <a:lumMod val="75000"/>
                </a:schemeClr>
              </a:solidFill>
              <a:latin typeface="Hepta Slab SemiBold" pitchFamily="2" charset="0"/>
            </a:endParaRPr>
          </a:p>
        </p:txBody>
      </p:sp>
      <p:sp>
        <p:nvSpPr>
          <p:cNvPr id="15" name="Object6">
            <a:extLst>
              <a:ext uri="{FF2B5EF4-FFF2-40B4-BE49-F238E27FC236}">
                <a16:creationId xmlns:a16="http://schemas.microsoft.com/office/drawing/2014/main" id="{0C450839-A8EB-E851-6EBF-01444ACB8944}"/>
              </a:ext>
            </a:extLst>
          </p:cNvPr>
          <p:cNvSpPr/>
          <p:nvPr/>
        </p:nvSpPr>
        <p:spPr>
          <a:xfrm>
            <a:off x="456000" y="2158724"/>
            <a:ext cx="3388568" cy="435018"/>
          </a:xfrm>
          <a:prstGeom prst="rect">
            <a:avLst/>
          </a:prstGeom>
          <a:noFill/>
          <a:ln/>
        </p:spPr>
        <p:txBody>
          <a:bodyPr wrap="square" lIns="0" tIns="0" rIns="0" bIns="0" rtlCol="0" anchor="t"/>
          <a:lstStyle/>
          <a:p>
            <a:pPr defTabSz="304815">
              <a:lnSpc>
                <a:spcPts val="2925"/>
              </a:lnSpc>
              <a:defRPr/>
            </a:pPr>
            <a:r>
              <a:rPr lang="en-US" sz="1600" cap="all" dirty="0">
                <a:solidFill>
                  <a:srgbClr val="F5F3E4"/>
                </a:solidFill>
                <a:latin typeface="Montserrat ExtraBold" pitchFamily="34" charset="0"/>
                <a:ea typeface="Montserrat ExtraBold" pitchFamily="34" charset="-122"/>
                <a:cs typeface="Montserrat ExtraBold" pitchFamily="34" charset="-120"/>
              </a:rPr>
              <a:t>IMPLEMENTATION ROADMAP</a:t>
            </a:r>
            <a:endParaRPr lang="en-US" sz="1600" cap="all" dirty="0">
              <a:solidFill>
                <a:srgbClr val="F5F3E4"/>
              </a:solidFill>
              <a:latin typeface="Calibri" panose="020F0502020204030204"/>
            </a:endParaRPr>
          </a:p>
        </p:txBody>
      </p:sp>
      <p:sp>
        <p:nvSpPr>
          <p:cNvPr id="18" name="TextBox 17">
            <a:extLst>
              <a:ext uri="{FF2B5EF4-FFF2-40B4-BE49-F238E27FC236}">
                <a16:creationId xmlns:a16="http://schemas.microsoft.com/office/drawing/2014/main" id="{E0FD6F68-F1E1-1313-C1DD-550079CC5522}"/>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defRP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defRPr/>
              </a:pPr>
              <a:t>86</a:t>
            </a:fld>
            <a:endParaRPr lang="en-US" sz="1333" dirty="0">
              <a:solidFill>
                <a:srgbClr val="0D0D0D"/>
              </a:solidFill>
              <a:latin typeface="Hepta Slab Medium" pitchFamily="2" charset="0"/>
              <a:cs typeface="Hepta Slab Medium" pitchFamily="2" charset="0"/>
            </a:endParaRPr>
          </a:p>
        </p:txBody>
      </p:sp>
    </p:spTree>
    <p:extLst>
      <p:ext uri="{BB962C8B-B14F-4D97-AF65-F5344CB8AC3E}">
        <p14:creationId xmlns:p14="http://schemas.microsoft.com/office/powerpoint/2010/main" val="11350310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EBFA"/>
        </a:solidFill>
        <a:effectLst/>
      </p:bgPr>
    </p:bg>
    <p:spTree>
      <p:nvGrpSpPr>
        <p:cNvPr id="1" name="">
          <a:extLst>
            <a:ext uri="{FF2B5EF4-FFF2-40B4-BE49-F238E27FC236}">
              <a16:creationId xmlns:a16="http://schemas.microsoft.com/office/drawing/2014/main" id="{1E31472D-4AF8-5502-1A77-379680208312}"/>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9D601551-35C1-6B31-37F9-09990DB826B1}"/>
              </a:ext>
            </a:extLst>
          </p:cNvPr>
          <p:cNvSpPr txBox="1"/>
          <p:nvPr/>
        </p:nvSpPr>
        <p:spPr>
          <a:xfrm>
            <a:off x="664153" y="625680"/>
            <a:ext cx="2374368" cy="707886"/>
          </a:xfrm>
          <a:prstGeom prst="rect">
            <a:avLst/>
          </a:prstGeom>
          <a:noFill/>
        </p:spPr>
        <p:txBody>
          <a:bodyPr wrap="none" rtlCol="0">
            <a:spAutoFit/>
          </a:bodyPr>
          <a:lstStyle/>
          <a:p>
            <a:pPr algn="ctr" defTabSz="304815">
              <a:defRPr/>
            </a:pPr>
            <a:r>
              <a:rPr lang="en-US" sz="4000" b="1" dirty="0">
                <a:solidFill>
                  <a:srgbClr val="FF0000"/>
                </a:solidFill>
                <a:latin typeface="Hepta Slab SemiBold" pitchFamily="2" charset="0"/>
              </a:rPr>
              <a:t>90 days</a:t>
            </a:r>
            <a:endParaRPr lang="en-IN" sz="4000" b="1" dirty="0">
              <a:solidFill>
                <a:srgbClr val="FF0000"/>
              </a:solidFill>
              <a:latin typeface="Hepta Slab SemiBold" pitchFamily="2" charset="0"/>
            </a:endParaRPr>
          </a:p>
        </p:txBody>
      </p:sp>
      <p:sp>
        <p:nvSpPr>
          <p:cNvPr id="18" name="TextBox 17">
            <a:extLst>
              <a:ext uri="{FF2B5EF4-FFF2-40B4-BE49-F238E27FC236}">
                <a16:creationId xmlns:a16="http://schemas.microsoft.com/office/drawing/2014/main" id="{51ACC9B9-D1F0-842D-4107-540B96C64358}"/>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defRP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defRPr/>
              </a:pPr>
              <a:t>87</a:t>
            </a:fld>
            <a:endParaRPr lang="en-US" sz="1333" dirty="0">
              <a:solidFill>
                <a:srgbClr val="0D0D0D"/>
              </a:solidFill>
              <a:latin typeface="Hepta Slab Medium" pitchFamily="2" charset="0"/>
              <a:cs typeface="Hepta Slab Medium" pitchFamily="2" charset="0"/>
            </a:endParaRPr>
          </a:p>
        </p:txBody>
      </p:sp>
      <p:graphicFrame>
        <p:nvGraphicFramePr>
          <p:cNvPr id="3" name="Table 2">
            <a:extLst>
              <a:ext uri="{FF2B5EF4-FFF2-40B4-BE49-F238E27FC236}">
                <a16:creationId xmlns:a16="http://schemas.microsoft.com/office/drawing/2014/main" id="{F6E7AB3C-C96A-2554-71A8-55FFD91C8ED7}"/>
              </a:ext>
            </a:extLst>
          </p:cNvPr>
          <p:cNvGraphicFramePr>
            <a:graphicFrameLocks noGrp="1"/>
          </p:cNvGraphicFramePr>
          <p:nvPr>
            <p:extLst>
              <p:ext uri="{D42A27DB-BD31-4B8C-83A1-F6EECF244321}">
                <p14:modId xmlns:p14="http://schemas.microsoft.com/office/powerpoint/2010/main" val="3033513293"/>
              </p:ext>
            </p:extLst>
          </p:nvPr>
        </p:nvGraphicFramePr>
        <p:xfrm>
          <a:off x="491960" y="1356231"/>
          <a:ext cx="11124040" cy="5062320"/>
        </p:xfrm>
        <a:graphic>
          <a:graphicData uri="http://schemas.openxmlformats.org/drawingml/2006/table">
            <a:tbl>
              <a:tblPr firstRow="1" bandRow="1">
                <a:tableStyleId>{5C22544A-7EE6-4342-B048-85BDC9FD1C3A}</a:tableStyleId>
              </a:tblPr>
              <a:tblGrid>
                <a:gridCol w="684040">
                  <a:extLst>
                    <a:ext uri="{9D8B030D-6E8A-4147-A177-3AD203B41FA5}">
                      <a16:colId xmlns:a16="http://schemas.microsoft.com/office/drawing/2014/main" val="2053559214"/>
                    </a:ext>
                  </a:extLst>
                </a:gridCol>
                <a:gridCol w="2610000">
                  <a:extLst>
                    <a:ext uri="{9D8B030D-6E8A-4147-A177-3AD203B41FA5}">
                      <a16:colId xmlns:a16="http://schemas.microsoft.com/office/drawing/2014/main" val="521063568"/>
                    </a:ext>
                  </a:extLst>
                </a:gridCol>
                <a:gridCol w="2610000">
                  <a:extLst>
                    <a:ext uri="{9D8B030D-6E8A-4147-A177-3AD203B41FA5}">
                      <a16:colId xmlns:a16="http://schemas.microsoft.com/office/drawing/2014/main" val="2750086098"/>
                    </a:ext>
                  </a:extLst>
                </a:gridCol>
                <a:gridCol w="2610000">
                  <a:extLst>
                    <a:ext uri="{9D8B030D-6E8A-4147-A177-3AD203B41FA5}">
                      <a16:colId xmlns:a16="http://schemas.microsoft.com/office/drawing/2014/main" val="3953187075"/>
                    </a:ext>
                  </a:extLst>
                </a:gridCol>
                <a:gridCol w="2610000">
                  <a:extLst>
                    <a:ext uri="{9D8B030D-6E8A-4147-A177-3AD203B41FA5}">
                      <a16:colId xmlns:a16="http://schemas.microsoft.com/office/drawing/2014/main" val="1695832114"/>
                    </a:ext>
                  </a:extLst>
                </a:gridCol>
              </a:tblGrid>
              <a:tr h="370840">
                <a:tc>
                  <a:txBody>
                    <a:bodyPr/>
                    <a:lstStyle/>
                    <a:p>
                      <a:endParaRPr lang="en-IN">
                        <a:latin typeface="Montserrat SemiBold" panose="00000700000000000000" pitchFamily="2" charset="0"/>
                      </a:endParaRPr>
                    </a:p>
                  </a:txBody>
                  <a:tcPr>
                    <a:lnL w="12700" cmpd="sng">
                      <a:noFill/>
                    </a:lnL>
                    <a:lnR w="28575" cap="flat" cmpd="sng" algn="ctr">
                      <a:solidFill>
                        <a:srgbClr val="FFE5F8"/>
                      </a:solidFill>
                      <a:prstDash val="solid"/>
                      <a:round/>
                      <a:headEnd type="none" w="med" len="med"/>
                      <a:tailEnd type="none" w="med" len="med"/>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600" b="0" dirty="0">
                          <a:solidFill>
                            <a:prstClr val="black">
                              <a:lumMod val="65000"/>
                              <a:lumOff val="35000"/>
                            </a:prstClr>
                          </a:solidFill>
                          <a:latin typeface="Montserrat ExtraBold" pitchFamily="2" charset="0"/>
                          <a:ea typeface="Hepta Slab Regular" pitchFamily="34" charset="-122"/>
                          <a:cs typeface="Hepta Slab Regular" pitchFamily="2" charset="0"/>
                        </a:rPr>
                        <a:t>EXPERIENTIAL SEGMENTS</a:t>
                      </a:r>
                      <a:endParaRPr lang="en-US" sz="1600" b="0" dirty="0">
                        <a:solidFill>
                          <a:prstClr val="black">
                            <a:lumMod val="65000"/>
                            <a:lumOff val="35000"/>
                          </a:prstClr>
                        </a:solidFill>
                        <a:latin typeface="Montserrat ExtraBold" pitchFamily="2" charset="0"/>
                        <a:cs typeface="Hepta Slab Regular" pitchFamily="2" charset="0"/>
                      </a:endParaRPr>
                    </a:p>
                  </a:txBody>
                  <a:tcPr>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600" b="0" dirty="0">
                          <a:solidFill>
                            <a:prstClr val="black">
                              <a:lumMod val="65000"/>
                              <a:lumOff val="35000"/>
                            </a:prstClr>
                          </a:solidFill>
                          <a:latin typeface="Montserrat ExtraBold" pitchFamily="2" charset="0"/>
                          <a:ea typeface="Hepta Slab Regular" pitchFamily="34" charset="-122"/>
                          <a:cs typeface="Hepta Slab Regular" pitchFamily="2" charset="0"/>
                        </a:rPr>
                        <a:t>ENGAGEMENT CUSTODIAN</a:t>
                      </a:r>
                      <a:endParaRPr lang="en-US" sz="1600" b="0" dirty="0">
                        <a:solidFill>
                          <a:prstClr val="black">
                            <a:lumMod val="65000"/>
                            <a:lumOff val="35000"/>
                          </a:prstClr>
                        </a:solidFill>
                        <a:latin typeface="Montserrat ExtraBold" pitchFamily="2" charset="0"/>
                        <a:cs typeface="Hepta Slab Regular" pitchFamily="2" charset="0"/>
                      </a:endParaRPr>
                    </a:p>
                  </a:txBody>
                  <a:tcPr>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600" b="0" dirty="0">
                          <a:solidFill>
                            <a:prstClr val="black">
                              <a:lumMod val="65000"/>
                              <a:lumOff val="35000"/>
                            </a:prstClr>
                          </a:solidFill>
                          <a:latin typeface="Montserrat ExtraBold" pitchFamily="2" charset="0"/>
                          <a:ea typeface="Hepta Slab Regular" pitchFamily="34" charset="-122"/>
                          <a:cs typeface="Hepta Slab Regular" pitchFamily="2" charset="0"/>
                        </a:rPr>
                        <a:t>THE WHITE GLOVE</a:t>
                      </a:r>
                      <a:endParaRPr lang="en-US" sz="1600" b="0" dirty="0">
                        <a:solidFill>
                          <a:prstClr val="black">
                            <a:lumMod val="65000"/>
                            <a:lumOff val="35000"/>
                          </a:prstClr>
                        </a:solidFill>
                        <a:latin typeface="Montserrat ExtraBold" pitchFamily="2" charset="0"/>
                        <a:cs typeface="Hepta Slab Regular" pitchFamily="2" charset="0"/>
                      </a:endParaRPr>
                    </a:p>
                  </a:txBody>
                  <a:tcPr>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600" b="0" dirty="0">
                          <a:solidFill>
                            <a:prstClr val="black">
                              <a:lumMod val="65000"/>
                              <a:lumOff val="35000"/>
                            </a:prstClr>
                          </a:solidFill>
                          <a:latin typeface="Montserrat ExtraBold" pitchFamily="2" charset="0"/>
                          <a:ea typeface="Hepta Slab Regular" pitchFamily="34" charset="-122"/>
                          <a:cs typeface="Hepta Slab Regular" pitchFamily="2" charset="0"/>
                        </a:rPr>
                        <a:t>SERVICE RECOVERY</a:t>
                      </a:r>
                      <a:endParaRPr lang="en-US" sz="1600" b="0" dirty="0">
                        <a:solidFill>
                          <a:prstClr val="black">
                            <a:lumMod val="65000"/>
                            <a:lumOff val="35000"/>
                          </a:prstClr>
                        </a:solidFill>
                        <a:latin typeface="Montserrat ExtraBold" pitchFamily="2" charset="0"/>
                        <a:cs typeface="Hepta Slab Regular" pitchFamily="2" charset="0"/>
                      </a:endParaRPr>
                    </a:p>
                  </a:txBody>
                  <a:tcPr>
                    <a:lnL w="28575" cap="flat" cmpd="sng" algn="ctr">
                      <a:solidFill>
                        <a:srgbClr val="FFE5F8"/>
                      </a:solidFill>
                      <a:prstDash val="solid"/>
                      <a:round/>
                      <a:headEnd type="none" w="med" len="med"/>
                      <a:tailEnd type="none" w="med" len="med"/>
                    </a:lnL>
                    <a:lnR w="12700" cmpd="sng">
                      <a:noFill/>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5803602"/>
                  </a:ext>
                </a:extLst>
              </a:tr>
              <a:tr h="370840">
                <a:tc>
                  <a:txBody>
                    <a:bodyPr/>
                    <a:lstStyle/>
                    <a:p>
                      <a:r>
                        <a:rPr lang="en-US" sz="1400" dirty="0">
                          <a:solidFill>
                            <a:schemeClr val="bg1"/>
                          </a:solidFill>
                          <a:latin typeface="Hepta Slab SemiBold" pitchFamily="2" charset="0"/>
                          <a:cs typeface="Hepta Slab SemiBold" pitchFamily="2" charset="0"/>
                        </a:rPr>
                        <a:t>30 days</a:t>
                      </a:r>
                      <a:endParaRPr lang="en-IN" sz="1400" dirty="0">
                        <a:solidFill>
                          <a:schemeClr val="bg1"/>
                        </a:solidFill>
                        <a:latin typeface="Hepta Slab SemiBold" pitchFamily="2" charset="0"/>
                        <a:cs typeface="Hepta Slab SemiBold" pitchFamily="2" charset="0"/>
                      </a:endParaRPr>
                    </a:p>
                  </a:txBody>
                  <a:tcPr>
                    <a:lnL w="12700" cmpd="sng">
                      <a:noFill/>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solidFill>
                      <a:srgbClr val="2E75B6"/>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5B9BD5">
                              <a:lumMod val="75000"/>
                            </a:srgbClr>
                          </a:solidFill>
                          <a:latin typeface="Montserrat" panose="00000500000000000000" pitchFamily="2" charset="0"/>
                        </a:rPr>
                        <a:t>Preliminary classification – Persona based</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5B9BD5">
                              <a:lumMod val="75000"/>
                            </a:srgbClr>
                          </a:solidFill>
                          <a:latin typeface="Montserrat" panose="00000500000000000000" pitchFamily="2" charset="0"/>
                        </a:rPr>
                        <a:t>Design &amp; implement awareness building program of relevant benefits across tiers</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5B9BD5">
                              <a:lumMod val="75000"/>
                            </a:srgbClr>
                          </a:solidFill>
                          <a:latin typeface="Montserrat" panose="00000500000000000000" pitchFamily="2" charset="0"/>
                        </a:rPr>
                        <a:t>Prioritizing “White Glove” areas</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5B9BD5">
                              <a:lumMod val="75000"/>
                            </a:srgbClr>
                          </a:solidFill>
                          <a:latin typeface="Montserrat" panose="00000500000000000000" pitchFamily="2" charset="0"/>
                          <a:ea typeface="Montserrat ExtraBold" pitchFamily="34" charset="-122"/>
                          <a:cs typeface="Montserrat ExtraBold" pitchFamily="34" charset="-120"/>
                        </a:rPr>
                        <a:t>Analysis of chronic issues – systemic resolution -  product/offering redesign; communication process</a:t>
                      </a:r>
                    </a:p>
                  </a:txBody>
                  <a:tcPr marL="18000" marR="18000" marT="36000" marB="36000">
                    <a:lnL w="28575" cap="flat" cmpd="sng" algn="ctr">
                      <a:solidFill>
                        <a:srgbClr val="FFE5F8"/>
                      </a:solidFill>
                      <a:prstDash val="solid"/>
                      <a:round/>
                      <a:headEnd type="none" w="med" len="med"/>
                      <a:tailEnd type="none" w="med" len="med"/>
                    </a:lnL>
                    <a:lnR w="12700" cmpd="sng">
                      <a:noFill/>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5676357"/>
                  </a:ext>
                </a:extLst>
              </a:tr>
              <a:tr h="370840">
                <a:tc>
                  <a:txBody>
                    <a:bodyPr/>
                    <a:lstStyle/>
                    <a:p>
                      <a:r>
                        <a:rPr lang="en-US" sz="1400" dirty="0">
                          <a:solidFill>
                            <a:schemeClr val="bg1"/>
                          </a:solidFill>
                          <a:latin typeface="Hepta Slab SemiBold" pitchFamily="2" charset="0"/>
                          <a:cs typeface="Hepta Slab SemiBold" pitchFamily="2" charset="0"/>
                        </a:rPr>
                        <a:t>60 days</a:t>
                      </a:r>
                      <a:endParaRPr lang="en-IN" sz="1400" dirty="0">
                        <a:solidFill>
                          <a:schemeClr val="bg1"/>
                        </a:solidFill>
                        <a:latin typeface="Hepta Slab SemiBold" pitchFamily="2" charset="0"/>
                        <a:cs typeface="Hepta Slab SemiBold" pitchFamily="2" charset="0"/>
                      </a:endParaRPr>
                    </a:p>
                  </a:txBody>
                  <a:tcPr>
                    <a:lnL w="12700" cmpd="sng">
                      <a:noFill/>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solidFill>
                      <a:srgbClr val="2B5780"/>
                    </a:solidFill>
                  </a:tcPr>
                </a:tc>
                <a:tc>
                  <a:txBody>
                    <a:bodyPr/>
                    <a:lstStyle/>
                    <a:p>
                      <a:pPr defTabSz="304815">
                        <a:spcAft>
                          <a:spcPts val="1200"/>
                        </a:spcAft>
                        <a:defRPr/>
                      </a:pPr>
                      <a:r>
                        <a:rPr lang="en-US" sz="1500" spc="50" baseline="0" dirty="0">
                          <a:solidFill>
                            <a:srgbClr val="5B9BD5">
                              <a:lumMod val="50000"/>
                            </a:srgbClr>
                          </a:solidFill>
                          <a:latin typeface="Montserrat" panose="00000500000000000000" pitchFamily="2" charset="0"/>
                        </a:rPr>
                        <a:t>Operational fixes guided by the Experience Grids</a:t>
                      </a:r>
                    </a:p>
                    <a:p>
                      <a:pPr defTabSz="304815">
                        <a:spcAft>
                          <a:spcPts val="1200"/>
                        </a:spcAft>
                        <a:defRPr/>
                      </a:pPr>
                      <a:r>
                        <a:rPr lang="en-US" sz="1500" spc="50" baseline="0" dirty="0">
                          <a:solidFill>
                            <a:srgbClr val="5B9BD5">
                              <a:lumMod val="50000"/>
                            </a:srgbClr>
                          </a:solidFill>
                          <a:latin typeface="Montserrat" panose="00000500000000000000" pitchFamily="2" charset="0"/>
                        </a:rPr>
                        <a:t>Friction as a KPI</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1200"/>
                        </a:spcAft>
                        <a:buClrTx/>
                        <a:buSzTx/>
                        <a:buFontTx/>
                        <a:buNone/>
                        <a:tabLst/>
                        <a:defRPr/>
                      </a:pPr>
                      <a:r>
                        <a:rPr lang="en-US" sz="1500" kern="1200" spc="50" baseline="0" dirty="0">
                          <a:solidFill>
                            <a:srgbClr val="5B9BD5">
                              <a:lumMod val="50000"/>
                            </a:srgbClr>
                          </a:solidFill>
                          <a:latin typeface="Montserrat" panose="00000500000000000000" pitchFamily="2" charset="0"/>
                          <a:ea typeface="+mn-ea"/>
                          <a:cs typeface="+mn-cs"/>
                        </a:rPr>
                        <a:t>RM Orientation Program – to align with segments &amp; their context</a:t>
                      </a:r>
                    </a:p>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5B9BD5">
                              <a:lumMod val="50000"/>
                            </a:srgbClr>
                          </a:solidFill>
                          <a:latin typeface="Montserrat" panose="00000500000000000000" pitchFamily="2" charset="0"/>
                        </a:rPr>
                        <a:t>Experience Orientation program for cross-functional team</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5B9BD5">
                              <a:lumMod val="50000"/>
                            </a:srgbClr>
                          </a:solidFill>
                          <a:latin typeface="Montserrat" panose="00000500000000000000" pitchFamily="2" charset="0"/>
                        </a:rPr>
                        <a:t>Identifying alliances and partnerships</a:t>
                      </a:r>
                    </a:p>
                    <a:p>
                      <a:endParaRPr lang="en-IN" sz="1500" spc="50" baseline="0" dirty="0">
                        <a:latin typeface="Montserrat SemiBold" panose="00000700000000000000" pitchFamily="2" charset="0"/>
                      </a:endParaRP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defTabSz="304815">
                        <a:defRPr/>
                      </a:pPr>
                      <a:r>
                        <a:rPr lang="en-US" sz="1500" spc="50" baseline="0" dirty="0">
                          <a:solidFill>
                            <a:srgbClr val="5B9BD5">
                              <a:lumMod val="50000"/>
                            </a:srgbClr>
                          </a:solidFill>
                          <a:latin typeface="Montserrat" panose="00000500000000000000" pitchFamily="2" charset="0"/>
                          <a:ea typeface="Montserrat ExtraBold" pitchFamily="34" charset="-122"/>
                          <a:cs typeface="Montserrat ExtraBold" pitchFamily="34" charset="-120"/>
                        </a:rPr>
                        <a:t>Escalation matrix – </a:t>
                      </a:r>
                    </a:p>
                    <a:p>
                      <a:pPr defTabSz="304815">
                        <a:spcAft>
                          <a:spcPts val="800"/>
                        </a:spcAft>
                        <a:defRPr/>
                      </a:pPr>
                      <a:r>
                        <a:rPr lang="en-US" sz="1500" spc="50" baseline="0" dirty="0">
                          <a:solidFill>
                            <a:srgbClr val="5B9BD5">
                              <a:lumMod val="50000"/>
                            </a:srgbClr>
                          </a:solidFill>
                          <a:latin typeface="Montserrat" panose="00000500000000000000" pitchFamily="2" charset="0"/>
                          <a:ea typeface="Montserrat ExtraBold" pitchFamily="34" charset="-122"/>
                          <a:cs typeface="Montserrat ExtraBold" pitchFamily="34" charset="-120"/>
                        </a:rPr>
                        <a:t>Create, publish, popularize &amp; demonstrate</a:t>
                      </a:r>
                    </a:p>
                  </a:txBody>
                  <a:tcPr marL="18000" marR="18000" marT="36000" marB="36000">
                    <a:lnL w="28575" cap="flat" cmpd="sng" algn="ctr">
                      <a:solidFill>
                        <a:srgbClr val="FFE5F8"/>
                      </a:solidFill>
                      <a:prstDash val="solid"/>
                      <a:round/>
                      <a:headEnd type="none" w="med" len="med"/>
                      <a:tailEnd type="none" w="med" len="med"/>
                    </a:lnL>
                    <a:lnR w="12700" cmpd="sng">
                      <a:noFill/>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832488"/>
                  </a:ext>
                </a:extLst>
              </a:tr>
              <a:tr h="370840">
                <a:tc>
                  <a:txBody>
                    <a:bodyPr/>
                    <a:lstStyle/>
                    <a:p>
                      <a:r>
                        <a:rPr lang="en-US" sz="1400" dirty="0">
                          <a:solidFill>
                            <a:schemeClr val="bg1"/>
                          </a:solidFill>
                          <a:latin typeface="Hepta Slab SemiBold" pitchFamily="2" charset="0"/>
                          <a:cs typeface="Hepta Slab SemiBold" pitchFamily="2" charset="0"/>
                        </a:rPr>
                        <a:t>90 days</a:t>
                      </a:r>
                      <a:endParaRPr lang="en-IN" sz="1400" dirty="0">
                        <a:solidFill>
                          <a:schemeClr val="bg1"/>
                        </a:solidFill>
                        <a:latin typeface="Hepta Slab SemiBold" pitchFamily="2" charset="0"/>
                        <a:cs typeface="Hepta Slab SemiBold" pitchFamily="2" charset="0"/>
                      </a:endParaRPr>
                    </a:p>
                  </a:txBody>
                  <a:tcPr>
                    <a:lnL w="12700" cmpd="sng">
                      <a:noFill/>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646464"/>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646464"/>
                          </a:solidFill>
                          <a:latin typeface="Montserrat" panose="00000500000000000000" pitchFamily="2" charset="0"/>
                        </a:rPr>
                        <a:t>Mapping key customer journeys , Identifying segment-wise differential engagement points for each key journey</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defTabSz="304815">
                        <a:spcAft>
                          <a:spcPts val="800"/>
                        </a:spcAft>
                        <a:defRPr/>
                      </a:pPr>
                      <a:r>
                        <a:rPr lang="en-US" sz="1500" spc="50" baseline="0" dirty="0">
                          <a:solidFill>
                            <a:srgbClr val="646464"/>
                          </a:solidFill>
                          <a:latin typeface="Montserrat" panose="00000500000000000000" pitchFamily="2" charset="0"/>
                        </a:rPr>
                        <a:t>Systemic insights program for utilization levels</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646464"/>
                          </a:solidFill>
                          <a:latin typeface="Montserrat" panose="00000500000000000000" pitchFamily="2" charset="0"/>
                        </a:rPr>
                        <a:t>Designing  differentiated communication &amp; messaging based on segments &amp; utilization insights</a:t>
                      </a:r>
                    </a:p>
                    <a:p>
                      <a:r>
                        <a:rPr lang="en-IN" sz="1500" spc="50" baseline="0" dirty="0">
                          <a:solidFill>
                            <a:srgbClr val="646464"/>
                          </a:solidFill>
                          <a:latin typeface="Montserrat SemiBold" panose="00000700000000000000" pitchFamily="2" charset="0"/>
                        </a:rPr>
                        <a:t>SCARF + STEPPS MODELS</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500" spc="50" baseline="0" dirty="0">
                          <a:solidFill>
                            <a:srgbClr val="646464"/>
                          </a:solidFill>
                          <a:latin typeface="Montserrat" panose="00000500000000000000" pitchFamily="2" charset="0"/>
                        </a:rPr>
                        <a:t>First friction assessment roll-out for  key service recovery journeys based on insights from past service &amp; support data</a:t>
                      </a:r>
                    </a:p>
                  </a:txBody>
                  <a:tcPr marL="18000" marR="18000" marT="36000" marB="36000">
                    <a:lnL w="28575" cap="flat" cmpd="sng" algn="ctr">
                      <a:solidFill>
                        <a:srgbClr val="FFE5F8"/>
                      </a:solidFill>
                      <a:prstDash val="solid"/>
                      <a:round/>
                      <a:headEnd type="none" w="med" len="med"/>
                      <a:tailEnd type="none" w="med" len="med"/>
                    </a:lnL>
                    <a:lnR w="12700" cmpd="sng">
                      <a:noFill/>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2870748"/>
                  </a:ext>
                </a:extLst>
              </a:tr>
            </a:tbl>
          </a:graphicData>
        </a:graphic>
      </p:graphicFrame>
      <p:grpSp>
        <p:nvGrpSpPr>
          <p:cNvPr id="4" name="Group 3">
            <a:extLst>
              <a:ext uri="{FF2B5EF4-FFF2-40B4-BE49-F238E27FC236}">
                <a16:creationId xmlns:a16="http://schemas.microsoft.com/office/drawing/2014/main" id="{F48F155E-ED47-92FE-5887-2CD52165830F}"/>
              </a:ext>
            </a:extLst>
          </p:cNvPr>
          <p:cNvGrpSpPr/>
          <p:nvPr/>
        </p:nvGrpSpPr>
        <p:grpSpPr>
          <a:xfrm>
            <a:off x="1" y="6042107"/>
            <a:ext cx="11864037" cy="911852"/>
            <a:chOff x="579560" y="9184073"/>
            <a:chExt cx="18133625" cy="1393723"/>
          </a:xfrm>
        </p:grpSpPr>
        <p:sp>
          <p:nvSpPr>
            <p:cNvPr id="5" name="Title 1">
              <a:extLst>
                <a:ext uri="{FF2B5EF4-FFF2-40B4-BE49-F238E27FC236}">
                  <a16:creationId xmlns:a16="http://schemas.microsoft.com/office/drawing/2014/main" id="{7FD6933D-E413-AF40-DCBF-9F94EB2854A3}"/>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defRPr/>
              </a:pPr>
              <a:r>
                <a:rPr lang="en-IN" sz="800" dirty="0">
                  <a:solidFill>
                    <a:schemeClr val="bg2">
                      <a:lumMod val="50000"/>
                    </a:schemeClr>
                  </a:solidFill>
                  <a:latin typeface="Montserrat Medium" pitchFamily="2" charset="0"/>
                  <a:cs typeface="Hepta Slab" pitchFamily="2" charset="0"/>
                </a:rPr>
                <a:t>© TERRAGNI CONSULTING (P) LTD PRIVATE AND CONFIDENTIAL</a:t>
              </a:r>
            </a:p>
          </p:txBody>
        </p:sp>
        <p:pic>
          <p:nvPicPr>
            <p:cNvPr id="6" name="Picture 5">
              <a:extLst>
                <a:ext uri="{FF2B5EF4-FFF2-40B4-BE49-F238E27FC236}">
                  <a16:creationId xmlns:a16="http://schemas.microsoft.com/office/drawing/2014/main" id="{4EB9D9EA-1F32-7B1B-EEDB-0C493225C242}"/>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7" name="Picture 6">
              <a:extLst>
                <a:ext uri="{FF2B5EF4-FFF2-40B4-BE49-F238E27FC236}">
                  <a16:creationId xmlns:a16="http://schemas.microsoft.com/office/drawing/2014/main" id="{B93FC42E-0EBE-80A2-3B17-AF0E44FEE166}"/>
                </a:ext>
              </a:extLst>
            </p:cNvPr>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Tree>
    <p:extLst>
      <p:ext uri="{BB962C8B-B14F-4D97-AF65-F5344CB8AC3E}">
        <p14:creationId xmlns:p14="http://schemas.microsoft.com/office/powerpoint/2010/main" val="29670962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EBFA"/>
        </a:solidFill>
        <a:effectLst/>
      </p:bgPr>
    </p:bg>
    <p:spTree>
      <p:nvGrpSpPr>
        <p:cNvPr id="1" name="">
          <a:extLst>
            <a:ext uri="{FF2B5EF4-FFF2-40B4-BE49-F238E27FC236}">
              <a16:creationId xmlns:a16="http://schemas.microsoft.com/office/drawing/2014/main" id="{FF22A3BE-CB8E-D114-57DE-41E746AE154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4F738E5D-020C-0EB3-04CB-318C7C96F7A6}"/>
              </a:ext>
            </a:extLst>
          </p:cNvPr>
          <p:cNvGrpSpPr/>
          <p:nvPr/>
        </p:nvGrpSpPr>
        <p:grpSpPr>
          <a:xfrm>
            <a:off x="1" y="6042107"/>
            <a:ext cx="11864037" cy="911852"/>
            <a:chOff x="579560" y="9184073"/>
            <a:chExt cx="18133625" cy="1393723"/>
          </a:xfrm>
        </p:grpSpPr>
        <p:sp>
          <p:nvSpPr>
            <p:cNvPr id="11" name="Title 1">
              <a:extLst>
                <a:ext uri="{FF2B5EF4-FFF2-40B4-BE49-F238E27FC236}">
                  <a16:creationId xmlns:a16="http://schemas.microsoft.com/office/drawing/2014/main" id="{5E4A98D2-430D-0746-E040-4D06D445B0D8}"/>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defRPr/>
              </a:pPr>
              <a:r>
                <a:rPr lang="en-IN" sz="800" dirty="0">
                  <a:solidFill>
                    <a:schemeClr val="bg2">
                      <a:lumMod val="50000"/>
                    </a:schemeClr>
                  </a:solidFill>
                  <a:latin typeface="Montserrat Medium" pitchFamily="2" charset="0"/>
                  <a:cs typeface="Hepta Slab" pitchFamily="2" charset="0"/>
                </a:rPr>
                <a:t>© TERRAGNI CONSULTING (P) LTD PRIVATE AND CONFIDENTIAL</a:t>
              </a:r>
            </a:p>
          </p:txBody>
        </p:sp>
        <p:pic>
          <p:nvPicPr>
            <p:cNvPr id="16" name="Picture 15">
              <a:extLst>
                <a:ext uri="{FF2B5EF4-FFF2-40B4-BE49-F238E27FC236}">
                  <a16:creationId xmlns:a16="http://schemas.microsoft.com/office/drawing/2014/main" id="{D3F627B3-0EEA-4782-91FA-8D6E3020447A}"/>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507A1EEC-3A46-F0E9-21AD-2A6E2284CD75}"/>
                </a:ext>
              </a:extLst>
            </p:cNvPr>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4" name="TextBox 13">
            <a:extLst>
              <a:ext uri="{FF2B5EF4-FFF2-40B4-BE49-F238E27FC236}">
                <a16:creationId xmlns:a16="http://schemas.microsoft.com/office/drawing/2014/main" id="{322A5B19-1F1A-902D-ECEA-263C3648F894}"/>
              </a:ext>
            </a:extLst>
          </p:cNvPr>
          <p:cNvSpPr txBox="1"/>
          <p:nvPr/>
        </p:nvSpPr>
        <p:spPr>
          <a:xfrm>
            <a:off x="491960" y="690993"/>
            <a:ext cx="3525325" cy="707886"/>
          </a:xfrm>
          <a:prstGeom prst="rect">
            <a:avLst/>
          </a:prstGeom>
          <a:noFill/>
        </p:spPr>
        <p:txBody>
          <a:bodyPr wrap="none" rtlCol="0">
            <a:spAutoFit/>
          </a:bodyPr>
          <a:lstStyle/>
          <a:p>
            <a:pPr algn="ctr" defTabSz="304815">
              <a:defRPr/>
            </a:pPr>
            <a:r>
              <a:rPr lang="en-US" sz="4000" b="1" dirty="0">
                <a:solidFill>
                  <a:srgbClr val="FF0000"/>
                </a:solidFill>
                <a:latin typeface="Hepta Slab SemiBold" pitchFamily="2" charset="0"/>
              </a:rPr>
              <a:t>90-120 days</a:t>
            </a:r>
            <a:endParaRPr lang="en-IN" sz="4000" b="1" dirty="0">
              <a:solidFill>
                <a:srgbClr val="FF0000"/>
              </a:solidFill>
              <a:latin typeface="Hepta Slab SemiBold" pitchFamily="2" charset="0"/>
            </a:endParaRPr>
          </a:p>
        </p:txBody>
      </p:sp>
      <p:sp>
        <p:nvSpPr>
          <p:cNvPr id="18" name="TextBox 17">
            <a:extLst>
              <a:ext uri="{FF2B5EF4-FFF2-40B4-BE49-F238E27FC236}">
                <a16:creationId xmlns:a16="http://schemas.microsoft.com/office/drawing/2014/main" id="{3CC13330-60FC-44D8-D83B-641975FABEE1}"/>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defRP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defRPr/>
              </a:pPr>
              <a:t>88</a:t>
            </a:fld>
            <a:endParaRPr lang="en-US" sz="1333" dirty="0">
              <a:solidFill>
                <a:srgbClr val="0D0D0D"/>
              </a:solidFill>
              <a:latin typeface="Hepta Slab Medium" pitchFamily="2" charset="0"/>
              <a:cs typeface="Hepta Slab Medium" pitchFamily="2" charset="0"/>
            </a:endParaRPr>
          </a:p>
        </p:txBody>
      </p:sp>
      <p:graphicFrame>
        <p:nvGraphicFramePr>
          <p:cNvPr id="3" name="Table 2">
            <a:extLst>
              <a:ext uri="{FF2B5EF4-FFF2-40B4-BE49-F238E27FC236}">
                <a16:creationId xmlns:a16="http://schemas.microsoft.com/office/drawing/2014/main" id="{0FF8B4CA-B38A-32E7-08AD-9FF4AF17AEDD}"/>
              </a:ext>
            </a:extLst>
          </p:cNvPr>
          <p:cNvGraphicFramePr>
            <a:graphicFrameLocks noGrp="1"/>
          </p:cNvGraphicFramePr>
          <p:nvPr>
            <p:extLst>
              <p:ext uri="{D42A27DB-BD31-4B8C-83A1-F6EECF244321}">
                <p14:modId xmlns:p14="http://schemas.microsoft.com/office/powerpoint/2010/main" val="2027093407"/>
              </p:ext>
            </p:extLst>
          </p:nvPr>
        </p:nvGraphicFramePr>
        <p:xfrm>
          <a:off x="491960" y="1477519"/>
          <a:ext cx="11124040" cy="3598400"/>
        </p:xfrm>
        <a:graphic>
          <a:graphicData uri="http://schemas.openxmlformats.org/drawingml/2006/table">
            <a:tbl>
              <a:tblPr firstRow="1" bandRow="1">
                <a:tableStyleId>{5C22544A-7EE6-4342-B048-85BDC9FD1C3A}</a:tableStyleId>
              </a:tblPr>
              <a:tblGrid>
                <a:gridCol w="684040">
                  <a:extLst>
                    <a:ext uri="{9D8B030D-6E8A-4147-A177-3AD203B41FA5}">
                      <a16:colId xmlns:a16="http://schemas.microsoft.com/office/drawing/2014/main" val="2053559214"/>
                    </a:ext>
                  </a:extLst>
                </a:gridCol>
                <a:gridCol w="2610000">
                  <a:extLst>
                    <a:ext uri="{9D8B030D-6E8A-4147-A177-3AD203B41FA5}">
                      <a16:colId xmlns:a16="http://schemas.microsoft.com/office/drawing/2014/main" val="521063568"/>
                    </a:ext>
                  </a:extLst>
                </a:gridCol>
                <a:gridCol w="2610000">
                  <a:extLst>
                    <a:ext uri="{9D8B030D-6E8A-4147-A177-3AD203B41FA5}">
                      <a16:colId xmlns:a16="http://schemas.microsoft.com/office/drawing/2014/main" val="2750086098"/>
                    </a:ext>
                  </a:extLst>
                </a:gridCol>
                <a:gridCol w="2610000">
                  <a:extLst>
                    <a:ext uri="{9D8B030D-6E8A-4147-A177-3AD203B41FA5}">
                      <a16:colId xmlns:a16="http://schemas.microsoft.com/office/drawing/2014/main" val="3953187075"/>
                    </a:ext>
                  </a:extLst>
                </a:gridCol>
                <a:gridCol w="2610000">
                  <a:extLst>
                    <a:ext uri="{9D8B030D-6E8A-4147-A177-3AD203B41FA5}">
                      <a16:colId xmlns:a16="http://schemas.microsoft.com/office/drawing/2014/main" val="1695832114"/>
                    </a:ext>
                  </a:extLst>
                </a:gridCol>
              </a:tblGrid>
              <a:tr h="370840">
                <a:tc>
                  <a:txBody>
                    <a:bodyPr/>
                    <a:lstStyle/>
                    <a:p>
                      <a:endParaRPr lang="en-IN">
                        <a:latin typeface="Montserrat SemiBold" panose="00000700000000000000" pitchFamily="2" charset="0"/>
                      </a:endParaRPr>
                    </a:p>
                  </a:txBody>
                  <a:tcPr>
                    <a:lnL w="12700" cmpd="sng">
                      <a:noFill/>
                    </a:lnL>
                    <a:lnR w="28575" cap="flat" cmpd="sng" algn="ctr">
                      <a:solidFill>
                        <a:srgbClr val="FFE5F8"/>
                      </a:solidFill>
                      <a:prstDash val="solid"/>
                      <a:round/>
                      <a:headEnd type="none" w="med" len="med"/>
                      <a:tailEnd type="none" w="med" len="med"/>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600" b="0" dirty="0">
                          <a:solidFill>
                            <a:prstClr val="black">
                              <a:lumMod val="65000"/>
                              <a:lumOff val="35000"/>
                            </a:prstClr>
                          </a:solidFill>
                          <a:latin typeface="Montserrat ExtraBold" pitchFamily="2" charset="0"/>
                          <a:ea typeface="Hepta Slab Regular" pitchFamily="34" charset="-122"/>
                          <a:cs typeface="Hepta Slab Regular" pitchFamily="2" charset="0"/>
                        </a:rPr>
                        <a:t>EXPERIENTIAL SEGMENTS</a:t>
                      </a:r>
                      <a:endParaRPr lang="en-US" sz="1600" b="0" dirty="0">
                        <a:solidFill>
                          <a:prstClr val="black">
                            <a:lumMod val="65000"/>
                            <a:lumOff val="35000"/>
                          </a:prstClr>
                        </a:solidFill>
                        <a:latin typeface="Montserrat ExtraBold" pitchFamily="2" charset="0"/>
                        <a:cs typeface="Hepta Slab Regular" pitchFamily="2" charset="0"/>
                      </a:endParaRPr>
                    </a:p>
                  </a:txBody>
                  <a:tcPr>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600" b="0" dirty="0">
                          <a:solidFill>
                            <a:prstClr val="black">
                              <a:lumMod val="65000"/>
                              <a:lumOff val="35000"/>
                            </a:prstClr>
                          </a:solidFill>
                          <a:latin typeface="Montserrat ExtraBold" pitchFamily="2" charset="0"/>
                          <a:ea typeface="Hepta Slab Regular" pitchFamily="34" charset="-122"/>
                          <a:cs typeface="Hepta Slab Regular" pitchFamily="2" charset="0"/>
                        </a:rPr>
                        <a:t>ENGAGEMENT CUSTODIAN</a:t>
                      </a:r>
                      <a:endParaRPr lang="en-US" sz="1600" b="0" dirty="0">
                        <a:solidFill>
                          <a:prstClr val="black">
                            <a:lumMod val="65000"/>
                            <a:lumOff val="35000"/>
                          </a:prstClr>
                        </a:solidFill>
                        <a:latin typeface="Montserrat ExtraBold" pitchFamily="2" charset="0"/>
                        <a:cs typeface="Hepta Slab Regular" pitchFamily="2" charset="0"/>
                      </a:endParaRPr>
                    </a:p>
                  </a:txBody>
                  <a:tcPr>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600" b="0" dirty="0">
                          <a:solidFill>
                            <a:prstClr val="black">
                              <a:lumMod val="65000"/>
                              <a:lumOff val="35000"/>
                            </a:prstClr>
                          </a:solidFill>
                          <a:latin typeface="Montserrat ExtraBold" pitchFamily="2" charset="0"/>
                          <a:ea typeface="Hepta Slab Regular" pitchFamily="34" charset="-122"/>
                          <a:cs typeface="Hepta Slab Regular" pitchFamily="2" charset="0"/>
                        </a:rPr>
                        <a:t>THE WHITE GLOVE</a:t>
                      </a:r>
                      <a:endParaRPr lang="en-US" sz="1600" b="0" dirty="0">
                        <a:solidFill>
                          <a:prstClr val="black">
                            <a:lumMod val="65000"/>
                            <a:lumOff val="35000"/>
                          </a:prstClr>
                        </a:solidFill>
                        <a:latin typeface="Montserrat ExtraBold" pitchFamily="2" charset="0"/>
                        <a:cs typeface="Hepta Slab Regular" pitchFamily="2" charset="0"/>
                      </a:endParaRPr>
                    </a:p>
                  </a:txBody>
                  <a:tcPr>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600" b="0" dirty="0">
                          <a:solidFill>
                            <a:prstClr val="black">
                              <a:lumMod val="65000"/>
                              <a:lumOff val="35000"/>
                            </a:prstClr>
                          </a:solidFill>
                          <a:latin typeface="Montserrat ExtraBold" pitchFamily="2" charset="0"/>
                          <a:ea typeface="Hepta Slab Regular" pitchFamily="34" charset="-122"/>
                          <a:cs typeface="Hepta Slab Regular" pitchFamily="2" charset="0"/>
                        </a:rPr>
                        <a:t>SERVICE RECOVERY</a:t>
                      </a:r>
                      <a:endParaRPr lang="en-US" sz="1600" b="0" dirty="0">
                        <a:solidFill>
                          <a:prstClr val="black">
                            <a:lumMod val="65000"/>
                            <a:lumOff val="35000"/>
                          </a:prstClr>
                        </a:solidFill>
                        <a:latin typeface="Montserrat ExtraBold" pitchFamily="2" charset="0"/>
                        <a:cs typeface="Hepta Slab Regular" pitchFamily="2" charset="0"/>
                      </a:endParaRPr>
                    </a:p>
                  </a:txBody>
                  <a:tcPr>
                    <a:lnL w="28575" cap="flat" cmpd="sng" algn="ctr">
                      <a:solidFill>
                        <a:srgbClr val="FFE5F8"/>
                      </a:solidFill>
                      <a:prstDash val="solid"/>
                      <a:round/>
                      <a:headEnd type="none" w="med" len="med"/>
                      <a:tailEnd type="none" w="med" len="med"/>
                    </a:lnL>
                    <a:lnR w="12700" cmpd="sng">
                      <a:noFill/>
                    </a:lnR>
                    <a:lnT w="12700" cmpd="sng">
                      <a:noFill/>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5803602"/>
                  </a:ext>
                </a:extLst>
              </a:tr>
              <a:tr h="370840">
                <a:tc>
                  <a:txBody>
                    <a:bodyPr/>
                    <a:lstStyle/>
                    <a:p>
                      <a:r>
                        <a:rPr lang="en-US" sz="1400" dirty="0">
                          <a:solidFill>
                            <a:schemeClr val="bg1"/>
                          </a:solidFill>
                          <a:latin typeface="Hepta Slab SemiBold" pitchFamily="2" charset="0"/>
                          <a:cs typeface="Hepta Slab SemiBold" pitchFamily="2" charset="0"/>
                        </a:rPr>
                        <a:t>90+ days</a:t>
                      </a:r>
                      <a:endParaRPr lang="en-IN" sz="1400" dirty="0">
                        <a:solidFill>
                          <a:schemeClr val="bg1"/>
                        </a:solidFill>
                        <a:latin typeface="Hepta Slab SemiBold" pitchFamily="2" charset="0"/>
                        <a:cs typeface="Hepta Slab SemiBold" pitchFamily="2" charset="0"/>
                      </a:endParaRPr>
                    </a:p>
                  </a:txBody>
                  <a:tcPr>
                    <a:lnL w="12700" cmpd="sng">
                      <a:noFill/>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a:txBody>
                    <a:bodyPr/>
                    <a:lstStyle/>
                    <a:p>
                      <a:pPr marL="0" marR="0" lvl="0" indent="0" algn="l" defTabSz="304815" rtl="0" eaLnBrk="1" fontAlgn="auto" latinLnBrk="0" hangingPunct="1">
                        <a:lnSpc>
                          <a:spcPct val="100000"/>
                        </a:lnSpc>
                        <a:spcBef>
                          <a:spcPts val="0"/>
                        </a:spcBef>
                        <a:spcAft>
                          <a:spcPts val="800"/>
                        </a:spcAft>
                        <a:buClrTx/>
                        <a:buSzTx/>
                        <a:buFontTx/>
                        <a:buNone/>
                        <a:tabLst/>
                        <a:defRPr/>
                      </a:pPr>
                      <a:r>
                        <a:rPr lang="en-US" sz="1400" dirty="0">
                          <a:solidFill>
                            <a:srgbClr val="7030A0"/>
                          </a:solidFill>
                          <a:latin typeface="Montserrat" panose="00000500000000000000" pitchFamily="2" charset="0"/>
                          <a:ea typeface="Montserrat ExtraBold" pitchFamily="34" charset="-122"/>
                          <a:cs typeface="Montserrat ExtraBold" pitchFamily="34" charset="-120"/>
                        </a:rPr>
                        <a:t>Identifying segment wise “Peaks” &amp; “Ends” for critical journeys</a:t>
                      </a:r>
                    </a:p>
                    <a:p>
                      <a:pPr defTabSz="304815">
                        <a:spcAft>
                          <a:spcPts val="800"/>
                        </a:spcAft>
                        <a:defRPr/>
                      </a:pPr>
                      <a:r>
                        <a:rPr lang="en-US" sz="1400" dirty="0">
                          <a:solidFill>
                            <a:srgbClr val="7030A0"/>
                          </a:solidFill>
                          <a:latin typeface="Montserrat" panose="00000500000000000000" pitchFamily="2" charset="0"/>
                        </a:rPr>
                        <a:t>Offering design : Imperio+ Tier</a:t>
                      </a:r>
                    </a:p>
                    <a:p>
                      <a:pPr defTabSz="304815">
                        <a:spcAft>
                          <a:spcPts val="800"/>
                        </a:spcAft>
                        <a:defRPr/>
                      </a:pPr>
                      <a:r>
                        <a:rPr lang="en-US" sz="1400" dirty="0">
                          <a:solidFill>
                            <a:srgbClr val="7030A0"/>
                          </a:solidFill>
                          <a:latin typeface="Montserrat" panose="00000500000000000000" pitchFamily="2" charset="0"/>
                        </a:rPr>
                        <a:t>“My Celesta” APP</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04815" rtl="0" eaLnBrk="1" fontAlgn="auto" latinLnBrk="0" hangingPunct="1">
                        <a:lnSpc>
                          <a:spcPct val="100000"/>
                        </a:lnSpc>
                        <a:spcBef>
                          <a:spcPts val="0"/>
                        </a:spcBef>
                        <a:spcAft>
                          <a:spcPts val="800"/>
                        </a:spcAft>
                        <a:buClrTx/>
                        <a:buSzTx/>
                        <a:buFontTx/>
                        <a:buNone/>
                        <a:tabLst/>
                        <a:defRPr/>
                      </a:pPr>
                      <a:r>
                        <a:rPr lang="en-US" sz="1400" kern="1200" dirty="0">
                          <a:solidFill>
                            <a:srgbClr val="7030A0"/>
                          </a:solidFill>
                          <a:latin typeface="Montserrat" panose="00000500000000000000" pitchFamily="2" charset="0"/>
                        </a:rPr>
                        <a:t>Designing the “EXPERTISE” centre – structure, people, processes</a:t>
                      </a:r>
                    </a:p>
                    <a:p>
                      <a:pPr defTabSz="304815">
                        <a:spcAft>
                          <a:spcPts val="800"/>
                        </a:spcAft>
                        <a:defRPr/>
                      </a:pPr>
                      <a:r>
                        <a:rPr lang="en-US" sz="1400" dirty="0">
                          <a:solidFill>
                            <a:srgbClr val="7030A0"/>
                          </a:solidFill>
                          <a:latin typeface="Montserrat" panose="00000500000000000000" pitchFamily="2" charset="0"/>
                          <a:ea typeface="Montserrat ExtraBold" pitchFamily="34" charset="-122"/>
                          <a:cs typeface="Montserrat ExtraBold" pitchFamily="34" charset="-120"/>
                        </a:rPr>
                        <a:t>Establishing “EXPERTISE” centre</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defTabSz="304815">
                        <a:spcAft>
                          <a:spcPts val="800"/>
                        </a:spcAft>
                        <a:defRPr/>
                      </a:pPr>
                      <a:r>
                        <a:rPr lang="en-US" sz="1400" dirty="0">
                          <a:solidFill>
                            <a:srgbClr val="7030A0"/>
                          </a:solidFill>
                          <a:latin typeface="Montserrat" panose="00000500000000000000" pitchFamily="2" charset="0"/>
                        </a:rPr>
                        <a:t>Implementing differentiated &amp; contextualized program</a:t>
                      </a:r>
                    </a:p>
                    <a:p>
                      <a:pPr defTabSz="304815">
                        <a:spcAft>
                          <a:spcPts val="800"/>
                        </a:spcAft>
                        <a:defRPr/>
                      </a:pPr>
                      <a:r>
                        <a:rPr lang="en-US" sz="1400" dirty="0">
                          <a:solidFill>
                            <a:srgbClr val="7030A0"/>
                          </a:solidFill>
                          <a:latin typeface="Montserrat" panose="00000500000000000000" pitchFamily="2" charset="0"/>
                        </a:rPr>
                        <a:t>Program Build</a:t>
                      </a:r>
                    </a:p>
                    <a:p>
                      <a:pPr defTabSz="304815">
                        <a:spcAft>
                          <a:spcPts val="800"/>
                        </a:spcAft>
                        <a:defRPr/>
                      </a:pPr>
                      <a:r>
                        <a:rPr lang="en-US" sz="1400" dirty="0">
                          <a:solidFill>
                            <a:srgbClr val="7030A0"/>
                          </a:solidFill>
                          <a:latin typeface="Montserrat" panose="00000500000000000000" pitchFamily="2" charset="0"/>
                        </a:rPr>
                        <a:t>Launch Plan</a:t>
                      </a:r>
                    </a:p>
                    <a:p>
                      <a:pPr marL="0" marR="0" lvl="0" indent="0" algn="l" defTabSz="914446" rtl="0" eaLnBrk="1" fontAlgn="auto" latinLnBrk="0" hangingPunct="1">
                        <a:lnSpc>
                          <a:spcPct val="100000"/>
                        </a:lnSpc>
                        <a:spcBef>
                          <a:spcPts val="0"/>
                        </a:spcBef>
                        <a:spcAft>
                          <a:spcPts val="0"/>
                        </a:spcAft>
                        <a:buClrTx/>
                        <a:buSzTx/>
                        <a:buFontTx/>
                        <a:buNone/>
                        <a:tabLst/>
                        <a:defRPr/>
                      </a:pPr>
                      <a:endParaRPr lang="en-US" sz="1500" spc="50" baseline="0" dirty="0">
                        <a:solidFill>
                          <a:srgbClr val="5B9BD5">
                            <a:lumMod val="75000"/>
                          </a:srgbClr>
                        </a:solidFill>
                        <a:latin typeface="Montserrat" panose="00000500000000000000" pitchFamily="2" charset="0"/>
                      </a:endParaRP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304815" rtl="0" eaLnBrk="1" fontAlgn="auto" latinLnBrk="0" hangingPunct="1">
                        <a:lnSpc>
                          <a:spcPct val="100000"/>
                        </a:lnSpc>
                        <a:spcBef>
                          <a:spcPts val="0"/>
                        </a:spcBef>
                        <a:spcAft>
                          <a:spcPts val="800"/>
                        </a:spcAft>
                        <a:buClrTx/>
                        <a:buSzTx/>
                        <a:buFontTx/>
                        <a:buNone/>
                        <a:tabLst/>
                        <a:defRPr/>
                      </a:pPr>
                      <a:r>
                        <a:rPr lang="en-US" sz="1400" dirty="0">
                          <a:solidFill>
                            <a:srgbClr val="660066"/>
                          </a:solidFill>
                          <a:latin typeface="Montserrat" panose="00000500000000000000" pitchFamily="2" charset="0"/>
                        </a:rPr>
                        <a:t>Blueprinting segment-wise behaviour service recovery process </a:t>
                      </a:r>
                    </a:p>
                  </a:txBody>
                  <a:tcPr marL="18000" marR="18000" marT="36000" marB="36000">
                    <a:lnL w="28575" cap="flat" cmpd="sng" algn="ctr">
                      <a:solidFill>
                        <a:srgbClr val="FFE5F8"/>
                      </a:solidFill>
                      <a:prstDash val="solid"/>
                      <a:round/>
                      <a:headEnd type="none" w="med" len="med"/>
                      <a:tailEnd type="none" w="med" len="med"/>
                    </a:lnL>
                    <a:lnR w="12700" cmpd="sng">
                      <a:noFill/>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5676357"/>
                  </a:ext>
                </a:extLst>
              </a:tr>
              <a:tr h="370840">
                <a:tc>
                  <a:txBody>
                    <a:bodyPr/>
                    <a:lstStyle/>
                    <a:p>
                      <a:r>
                        <a:rPr lang="en-US" sz="1400" dirty="0">
                          <a:solidFill>
                            <a:schemeClr val="bg1"/>
                          </a:solidFill>
                          <a:latin typeface="Hepta Slab SemiBold" pitchFamily="2" charset="0"/>
                          <a:cs typeface="Hepta Slab SemiBold" pitchFamily="2" charset="0"/>
                        </a:rPr>
                        <a:t>120 + days</a:t>
                      </a:r>
                      <a:endParaRPr lang="en-IN" sz="1400" dirty="0">
                        <a:solidFill>
                          <a:schemeClr val="bg1"/>
                        </a:solidFill>
                        <a:latin typeface="Hepta Slab SemiBold" pitchFamily="2" charset="0"/>
                        <a:cs typeface="Hepta Slab SemiBold" pitchFamily="2" charset="0"/>
                      </a:endParaRPr>
                    </a:p>
                  </a:txBody>
                  <a:tcPr>
                    <a:lnL w="12700" cmpd="sng">
                      <a:noFill/>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solidFill>
                      <a:srgbClr val="6F0E6F"/>
                    </a:solidFill>
                  </a:tcPr>
                </a:tc>
                <a:tc>
                  <a:txBody>
                    <a:bodyPr/>
                    <a:lstStyle/>
                    <a:p>
                      <a:pPr defTabSz="304815">
                        <a:spcAft>
                          <a:spcPts val="800"/>
                        </a:spcAft>
                        <a:defRPr/>
                      </a:pPr>
                      <a:r>
                        <a:rPr lang="en-US" sz="1600" dirty="0">
                          <a:solidFill>
                            <a:srgbClr val="660066"/>
                          </a:solidFill>
                          <a:latin typeface="Montserrat" panose="00000500000000000000" pitchFamily="2" charset="0"/>
                        </a:rPr>
                        <a:t>Designing &amp; implementing journeys </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400" dirty="0">
                          <a:solidFill>
                            <a:srgbClr val="660066"/>
                          </a:solidFill>
                          <a:latin typeface="Montserrat" panose="00000500000000000000" pitchFamily="2" charset="0"/>
                        </a:rPr>
                        <a:t>Aligning communication and delivery to experiential segments </a:t>
                      </a:r>
                    </a:p>
                    <a:p>
                      <a:pPr marL="0" marR="0" lvl="0" indent="0" algn="l" defTabSz="914446" rtl="0" eaLnBrk="1" fontAlgn="auto" latinLnBrk="0" hangingPunct="1">
                        <a:lnSpc>
                          <a:spcPct val="100000"/>
                        </a:lnSpc>
                        <a:spcBef>
                          <a:spcPts val="0"/>
                        </a:spcBef>
                        <a:spcAft>
                          <a:spcPts val="0"/>
                        </a:spcAft>
                        <a:buClrTx/>
                        <a:buSzTx/>
                        <a:buFontTx/>
                        <a:buNone/>
                        <a:tabLst/>
                        <a:defRPr/>
                      </a:pPr>
                      <a:r>
                        <a:rPr lang="en-US" sz="1500" kern="1200" spc="50" baseline="0" dirty="0">
                          <a:solidFill>
                            <a:schemeClr val="dk1"/>
                          </a:solidFill>
                          <a:latin typeface="Montserrat SemiBold" panose="00000700000000000000" pitchFamily="2" charset="0"/>
                          <a:ea typeface="+mn-ea"/>
                          <a:cs typeface="+mn-cs"/>
                        </a:rPr>
                        <a:t>SCARF MODEL</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defTabSz="304815">
                        <a:spcAft>
                          <a:spcPts val="800"/>
                        </a:spcAft>
                        <a:defRPr/>
                      </a:pPr>
                      <a:r>
                        <a:rPr lang="en-US" sz="1400" dirty="0">
                          <a:solidFill>
                            <a:srgbClr val="660066"/>
                          </a:solidFill>
                          <a:latin typeface="Montserrat" panose="00000500000000000000" pitchFamily="2" charset="0"/>
                        </a:rPr>
                        <a:t>Launch &amp; Roll-out</a:t>
                      </a:r>
                    </a:p>
                    <a:p>
                      <a:pPr defTabSz="304815">
                        <a:spcAft>
                          <a:spcPts val="400"/>
                        </a:spcAft>
                        <a:defRPr/>
                      </a:pPr>
                      <a:r>
                        <a:rPr lang="en-US" sz="1400" dirty="0">
                          <a:solidFill>
                            <a:srgbClr val="660066"/>
                          </a:solidFill>
                          <a:latin typeface="Montserrat" panose="00000500000000000000" pitchFamily="2" charset="0"/>
                        </a:rPr>
                        <a:t>Program to propagate “White Glove Stories”</a:t>
                      </a:r>
                    </a:p>
                    <a:p>
                      <a:r>
                        <a:rPr lang="en-IN" sz="1500" spc="50" baseline="0" dirty="0">
                          <a:latin typeface="Montserrat SemiBold" panose="00000700000000000000" pitchFamily="2" charset="0"/>
                        </a:rPr>
                        <a:t>STEPPS MODEL</a:t>
                      </a: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defTabSz="304815">
                        <a:defRPr/>
                      </a:pPr>
                      <a:endParaRPr lang="en-US" sz="1500" spc="50" baseline="0" dirty="0">
                        <a:solidFill>
                          <a:srgbClr val="5B9BD5">
                            <a:lumMod val="50000"/>
                          </a:srgbClr>
                        </a:solidFill>
                        <a:latin typeface="Montserrat" panose="00000500000000000000" pitchFamily="2" charset="0"/>
                        <a:ea typeface="Montserrat ExtraBold" pitchFamily="34" charset="-122"/>
                        <a:cs typeface="Montserrat ExtraBold" pitchFamily="34" charset="-120"/>
                      </a:endParaRPr>
                    </a:p>
                  </a:txBody>
                  <a:tcPr marL="18000" marR="18000" marT="36000" marB="36000">
                    <a:lnL w="28575" cap="flat" cmpd="sng" algn="ctr">
                      <a:solidFill>
                        <a:srgbClr val="FFE5F8"/>
                      </a:solidFill>
                      <a:prstDash val="solid"/>
                      <a:round/>
                      <a:headEnd type="none" w="med" len="med"/>
                      <a:tailEnd type="none" w="med" len="med"/>
                    </a:lnL>
                    <a:lnR w="12700" cmpd="sng">
                      <a:noFill/>
                    </a:lnR>
                    <a:lnT w="28575" cap="flat" cmpd="sng" algn="ctr">
                      <a:solidFill>
                        <a:srgbClr val="FFE5F8"/>
                      </a:solidFill>
                      <a:prstDash val="solid"/>
                      <a:round/>
                      <a:headEnd type="none" w="med" len="med"/>
                      <a:tailEnd type="none" w="med" len="med"/>
                    </a:lnT>
                    <a:lnB w="28575" cap="flat" cmpd="sng" algn="ctr">
                      <a:solidFill>
                        <a:srgbClr val="FFE5F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832488"/>
                  </a:ext>
                </a:extLst>
              </a:tr>
              <a:tr h="370840">
                <a:tc>
                  <a:txBody>
                    <a:bodyPr/>
                    <a:lstStyle/>
                    <a:p>
                      <a:endParaRPr lang="en-IN" sz="1400" dirty="0">
                        <a:solidFill>
                          <a:schemeClr val="bg1"/>
                        </a:solidFill>
                        <a:latin typeface="Hepta Slab SemiBold" pitchFamily="2" charset="0"/>
                        <a:cs typeface="Hepta Slab SemiBold" pitchFamily="2" charset="0"/>
                      </a:endParaRPr>
                    </a:p>
                  </a:txBody>
                  <a:tcPr>
                    <a:lnL w="12700" cmpd="sng">
                      <a:noFill/>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646464"/>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endParaRPr lang="en-US" sz="1500" spc="50" baseline="0" dirty="0">
                        <a:solidFill>
                          <a:srgbClr val="646464"/>
                        </a:solidFill>
                        <a:latin typeface="Montserrat" panose="00000500000000000000" pitchFamily="2" charset="0"/>
                      </a:endParaRP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defTabSz="304815">
                        <a:spcAft>
                          <a:spcPts val="800"/>
                        </a:spcAft>
                        <a:defRPr/>
                      </a:pPr>
                      <a:endParaRPr lang="en-US" sz="1500" spc="50" baseline="0" dirty="0">
                        <a:solidFill>
                          <a:srgbClr val="646464"/>
                        </a:solidFill>
                        <a:latin typeface="Montserrat" panose="00000500000000000000" pitchFamily="2" charset="0"/>
                      </a:endParaRP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sz="1500" spc="50" baseline="0" dirty="0">
                        <a:solidFill>
                          <a:srgbClr val="646464"/>
                        </a:solidFill>
                        <a:latin typeface="Montserrat SemiBold" panose="00000700000000000000" pitchFamily="2" charset="0"/>
                      </a:endParaRPr>
                    </a:p>
                  </a:txBody>
                  <a:tcPr marL="18000" marR="18000" marT="36000" marB="36000">
                    <a:lnL w="28575" cap="flat" cmpd="sng" algn="ctr">
                      <a:solidFill>
                        <a:srgbClr val="FFE5F8"/>
                      </a:solidFill>
                      <a:prstDash val="solid"/>
                      <a:round/>
                      <a:headEnd type="none" w="med" len="med"/>
                      <a:tailEnd type="none" w="med" len="med"/>
                    </a:lnL>
                    <a:lnR w="28575" cap="flat" cmpd="sng" algn="ctr">
                      <a:solidFill>
                        <a:srgbClr val="FFE5F8"/>
                      </a:solidFill>
                      <a:prstDash val="solid"/>
                      <a:round/>
                      <a:headEnd type="none" w="med" len="med"/>
                      <a:tailEnd type="none" w="med" len="med"/>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endParaRPr lang="en-US" sz="1500" spc="50" baseline="0" dirty="0">
                        <a:solidFill>
                          <a:srgbClr val="646464"/>
                        </a:solidFill>
                        <a:latin typeface="Montserrat" panose="00000500000000000000" pitchFamily="2" charset="0"/>
                      </a:endParaRPr>
                    </a:p>
                  </a:txBody>
                  <a:tcPr marL="18000" marR="18000" marT="36000" marB="36000">
                    <a:lnL w="28575" cap="flat" cmpd="sng" algn="ctr">
                      <a:solidFill>
                        <a:srgbClr val="FFE5F8"/>
                      </a:solidFill>
                      <a:prstDash val="solid"/>
                      <a:round/>
                      <a:headEnd type="none" w="med" len="med"/>
                      <a:tailEnd type="none" w="med" len="med"/>
                    </a:lnL>
                    <a:lnR w="12700" cmpd="sng">
                      <a:noFill/>
                    </a:lnR>
                    <a:lnT w="28575" cap="flat" cmpd="sng" algn="ctr">
                      <a:solidFill>
                        <a:srgbClr val="FFE5F8"/>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2870748"/>
                  </a:ext>
                </a:extLst>
              </a:tr>
            </a:tbl>
          </a:graphicData>
        </a:graphic>
      </p:graphicFrame>
    </p:spTree>
    <p:extLst>
      <p:ext uri="{BB962C8B-B14F-4D97-AF65-F5344CB8AC3E}">
        <p14:creationId xmlns:p14="http://schemas.microsoft.com/office/powerpoint/2010/main" val="31909345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B5EC9-C2C0-C07A-E5EA-CCE3C2D3746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B8D8091-50EB-47BA-8815-A4EA3D2C47D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rcRect l="15734" t="10334" r="16398" b="-10334"/>
          <a:stretch/>
        </p:blipFill>
        <p:spPr>
          <a:xfrm>
            <a:off x="0" y="0"/>
            <a:ext cx="12191999" cy="11982493"/>
          </a:xfrm>
          <a:prstGeom prst="rect">
            <a:avLst/>
          </a:prstGeom>
        </p:spPr>
      </p:pic>
      <p:grpSp>
        <p:nvGrpSpPr>
          <p:cNvPr id="12" name="Group 11">
            <a:extLst>
              <a:ext uri="{FF2B5EF4-FFF2-40B4-BE49-F238E27FC236}">
                <a16:creationId xmlns:a16="http://schemas.microsoft.com/office/drawing/2014/main" id="{C5A49052-F711-D099-255A-136C7FF6DAA7}"/>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C366DD4B-645E-6D3F-E65C-EC81F4624A0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89D31790-BFA2-911E-25D2-8385CDD3FA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AB1C6C89-8862-209F-684A-78EAF4CABA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78E15526-0B63-6F06-D627-F2CDDD7D4B48}"/>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89</a:t>
            </a:fld>
            <a:endParaRPr lang="en-US" sz="1333" dirty="0">
              <a:solidFill>
                <a:srgbClr val="0D0D0D"/>
              </a:solidFill>
              <a:latin typeface="Hepta Slab Medium" pitchFamily="2" charset="0"/>
              <a:cs typeface="Hepta Slab Medium" pitchFamily="2" charset="0"/>
            </a:endParaRPr>
          </a:p>
        </p:txBody>
      </p:sp>
      <p:pic>
        <p:nvPicPr>
          <p:cNvPr id="2" name="Picture 1">
            <a:extLst>
              <a:ext uri="{FF2B5EF4-FFF2-40B4-BE49-F238E27FC236}">
                <a16:creationId xmlns:a16="http://schemas.microsoft.com/office/drawing/2014/main" id="{5F03A75C-89BB-08AE-0025-6E9D68ABDAA6}"/>
              </a:ext>
            </a:extLst>
          </p:cNvPr>
          <p:cNvPicPr>
            <a:picLocks noChangeAspect="1"/>
          </p:cNvPicPr>
          <p:nvPr/>
        </p:nvPicPr>
        <p:blipFill>
          <a:blip r:embed="rId7">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5" name="Object6">
            <a:extLst>
              <a:ext uri="{FF2B5EF4-FFF2-40B4-BE49-F238E27FC236}">
                <a16:creationId xmlns:a16="http://schemas.microsoft.com/office/drawing/2014/main" id="{C900DFE4-AECC-451E-83EA-A5246134607C}"/>
              </a:ext>
            </a:extLst>
          </p:cNvPr>
          <p:cNvSpPr/>
          <p:nvPr/>
        </p:nvSpPr>
        <p:spPr>
          <a:xfrm>
            <a:off x="696000" y="3429000"/>
            <a:ext cx="8760000" cy="840000"/>
          </a:xfrm>
          <a:prstGeom prst="rect">
            <a:avLst/>
          </a:prstGeom>
          <a:noFill/>
          <a:ln/>
        </p:spPr>
        <p:txBody>
          <a:bodyPr wrap="square" lIns="0" tIns="0" rIns="0" bIns="0" rtlCol="0" anchor="b">
            <a:noAutofit/>
          </a:bodyPr>
          <a:lstStyle/>
          <a:p>
            <a:pPr defTabSz="304815">
              <a:lnSpc>
                <a:spcPts val="2925"/>
              </a:lnSpc>
              <a:defRPr/>
            </a:pPr>
            <a:r>
              <a:rPr lang="en-US" sz="6400" dirty="0">
                <a:solidFill>
                  <a:srgbClr val="FFC000">
                    <a:lumMod val="20000"/>
                    <a:lumOff val="80000"/>
                  </a:srgbClr>
                </a:solidFill>
                <a:latin typeface="Hepta Slab ExtraLight" pitchFamily="2" charset="0"/>
                <a:ea typeface="Montserrat ExtraBold" pitchFamily="34" charset="-122"/>
                <a:cs typeface="Hepta Slab ExtraLight" pitchFamily="2" charset="0"/>
              </a:rPr>
              <a:t>ANNEXURES</a:t>
            </a:r>
            <a:endParaRPr lang="en-US" sz="6400" dirty="0">
              <a:solidFill>
                <a:srgbClr val="FFC000">
                  <a:lumMod val="20000"/>
                  <a:lumOff val="80000"/>
                </a:srgbClr>
              </a:solidFill>
              <a:latin typeface="Hepta Slab ExtraLight" pitchFamily="2" charset="0"/>
              <a:cs typeface="Hepta Slab ExtraLight" pitchFamily="2" charset="0"/>
            </a:endParaRPr>
          </a:p>
        </p:txBody>
      </p:sp>
      <p:sp>
        <p:nvSpPr>
          <p:cNvPr id="7" name="Object5">
            <a:extLst>
              <a:ext uri="{FF2B5EF4-FFF2-40B4-BE49-F238E27FC236}">
                <a16:creationId xmlns:a16="http://schemas.microsoft.com/office/drawing/2014/main" id="{B70DEF62-89E4-5448-276B-D8C54816C272}"/>
              </a:ext>
            </a:extLst>
          </p:cNvPr>
          <p:cNvSpPr/>
          <p:nvPr/>
        </p:nvSpPr>
        <p:spPr>
          <a:xfrm>
            <a:off x="695999" y="4145086"/>
            <a:ext cx="11280000" cy="480000"/>
          </a:xfrm>
          <a:prstGeom prst="rect">
            <a:avLst/>
          </a:prstGeom>
          <a:noFill/>
          <a:ln/>
        </p:spPr>
        <p:txBody>
          <a:bodyPr wrap="square" lIns="0" tIns="0" rIns="0" bIns="0" rtlCol="0" anchor="t"/>
          <a:lstStyle/>
          <a:p>
            <a:pPr defTabSz="304815">
              <a:lnSpc>
                <a:spcPts val="4000"/>
              </a:lnSpc>
            </a:pPr>
            <a:r>
              <a:rPr lang="en-US" sz="1600" b="1" cap="small" dirty="0">
                <a:solidFill>
                  <a:srgbClr val="FFC000">
                    <a:lumMod val="20000"/>
                    <a:lumOff val="80000"/>
                  </a:srgbClr>
                </a:solidFill>
                <a:latin typeface="Hepta Slab SemiBold" pitchFamily="2" charset="0"/>
                <a:cs typeface="Hepta Slab SemiBold" pitchFamily="2" charset="0"/>
              </a:rPr>
              <a:t>ADDITIONAL DETAILS</a:t>
            </a:r>
            <a:endParaRPr lang="en-US" sz="1600" b="1" dirty="0">
              <a:solidFill>
                <a:srgbClr val="FFC000">
                  <a:lumMod val="20000"/>
                  <a:lumOff val="80000"/>
                </a:srgbClr>
              </a:solidFill>
              <a:latin typeface="Hepta Slab SemiBold" pitchFamily="2" charset="0"/>
              <a:cs typeface="Hepta Slab SemiBold" pitchFamily="2" charset="0"/>
            </a:endParaRPr>
          </a:p>
          <a:p>
            <a:pPr defTabSz="304815">
              <a:lnSpc>
                <a:spcPts val="4000"/>
              </a:lnSpc>
            </a:pPr>
            <a:endParaRPr lang="en-US" sz="1600" b="1" dirty="0">
              <a:solidFill>
                <a:srgbClr val="FFC000">
                  <a:lumMod val="20000"/>
                  <a:lumOff val="80000"/>
                </a:srgbClr>
              </a:solidFill>
              <a:latin typeface="Hepta Slab SemiBold" pitchFamily="2" charset="0"/>
              <a:cs typeface="Hepta Slab SemiBold" pitchFamily="2" charset="0"/>
            </a:endParaRPr>
          </a:p>
        </p:txBody>
      </p:sp>
    </p:spTree>
    <p:extLst>
      <p:ext uri="{BB962C8B-B14F-4D97-AF65-F5344CB8AC3E}">
        <p14:creationId xmlns:p14="http://schemas.microsoft.com/office/powerpoint/2010/main" val="353609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69E771-D157-7CD4-6082-2BF8D62D7C0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20000"/>
                    </a14:imgEffect>
                  </a14:imgLayer>
                </a14:imgProps>
              </a:ext>
            </a:extLst>
          </a:blip>
          <a:srcRect b="15028"/>
          <a:stretch/>
        </p:blipFill>
        <p:spPr>
          <a:xfrm>
            <a:off x="-1" y="0"/>
            <a:ext cx="12192001" cy="6906562"/>
          </a:xfrm>
          <a:prstGeom prst="rect">
            <a:avLst/>
          </a:prstGeom>
        </p:spPr>
      </p:pic>
      <p:sp>
        <p:nvSpPr>
          <p:cNvPr id="5" name="Object6">
            <a:extLst>
              <a:ext uri="{FF2B5EF4-FFF2-40B4-BE49-F238E27FC236}">
                <a16:creationId xmlns:a16="http://schemas.microsoft.com/office/drawing/2014/main" id="{EAD35AEA-0849-24BC-7CEA-904224D980EB}"/>
              </a:ext>
            </a:extLst>
          </p:cNvPr>
          <p:cNvSpPr/>
          <p:nvPr/>
        </p:nvSpPr>
        <p:spPr>
          <a:xfrm>
            <a:off x="695999" y="3429000"/>
            <a:ext cx="11975999" cy="840000"/>
          </a:xfrm>
          <a:prstGeom prst="rect">
            <a:avLst/>
          </a:prstGeom>
          <a:noFill/>
          <a:ln/>
        </p:spPr>
        <p:txBody>
          <a:bodyPr wrap="square" lIns="0" tIns="0" rIns="0" bIns="0" rtlCol="0" anchor="b">
            <a:noAutofit/>
          </a:bodyPr>
          <a:lstStyle/>
          <a:p>
            <a:pPr defTabSz="304815">
              <a:lnSpc>
                <a:spcPts val="2925"/>
              </a:lnSpc>
              <a:defRPr/>
            </a:pPr>
            <a:r>
              <a:rPr lang="en-US" sz="6400" dirty="0">
                <a:solidFill>
                  <a:srgbClr val="FFC000">
                    <a:lumMod val="20000"/>
                    <a:lumOff val="80000"/>
                  </a:srgbClr>
                </a:solidFill>
                <a:latin typeface="Hepta Slab ExtraLight" pitchFamily="2" charset="0"/>
                <a:ea typeface="Montserrat ExtraBold" pitchFamily="34" charset="-122"/>
                <a:cs typeface="Hepta Slab ExtraLight" pitchFamily="2" charset="0"/>
              </a:rPr>
              <a:t>IMPLICIT ASSOCIATIONS</a:t>
            </a:r>
            <a:endParaRPr lang="en-US" sz="6400" dirty="0">
              <a:solidFill>
                <a:srgbClr val="FFC000">
                  <a:lumMod val="20000"/>
                  <a:lumOff val="80000"/>
                </a:srgbClr>
              </a:solidFill>
              <a:latin typeface="Hepta Slab ExtraLight" pitchFamily="2" charset="0"/>
              <a:cs typeface="Hepta Slab ExtraLight" pitchFamily="2" charset="0"/>
            </a:endParaRPr>
          </a:p>
        </p:txBody>
      </p:sp>
      <p:sp>
        <p:nvSpPr>
          <p:cNvPr id="6" name="Object5">
            <a:extLst>
              <a:ext uri="{FF2B5EF4-FFF2-40B4-BE49-F238E27FC236}">
                <a16:creationId xmlns:a16="http://schemas.microsoft.com/office/drawing/2014/main" id="{D95F1993-896F-BAC8-4DA8-646E7AB0E9EE}"/>
              </a:ext>
            </a:extLst>
          </p:cNvPr>
          <p:cNvSpPr/>
          <p:nvPr/>
        </p:nvSpPr>
        <p:spPr>
          <a:xfrm>
            <a:off x="695999" y="4145086"/>
            <a:ext cx="11280000" cy="480000"/>
          </a:xfrm>
          <a:prstGeom prst="rect">
            <a:avLst/>
          </a:prstGeom>
          <a:noFill/>
          <a:ln/>
        </p:spPr>
        <p:txBody>
          <a:bodyPr wrap="square" lIns="0" tIns="0" rIns="0" bIns="0" rtlCol="0" anchor="t"/>
          <a:lstStyle/>
          <a:p>
            <a:pPr defTabSz="304815">
              <a:lnSpc>
                <a:spcPts val="4000"/>
              </a:lnSpc>
            </a:pPr>
            <a:r>
              <a:rPr lang="en-US" sz="1600" b="1" cap="small" dirty="0">
                <a:solidFill>
                  <a:srgbClr val="FFC000">
                    <a:lumMod val="20000"/>
                    <a:lumOff val="80000"/>
                  </a:srgbClr>
                </a:solidFill>
                <a:latin typeface="Hepta Slab SemiBold" pitchFamily="2" charset="0"/>
                <a:cs typeface="Hepta Slab SemiBold" pitchFamily="2" charset="0"/>
              </a:rPr>
              <a:t>EMOTIONS AND UNSTATED PERCEPTIONS, PREFERENCES THAT DRIVE BEHAVIOUR</a:t>
            </a:r>
            <a:endParaRPr lang="en-US" sz="1600" b="1" dirty="0">
              <a:solidFill>
                <a:srgbClr val="FFC000">
                  <a:lumMod val="20000"/>
                  <a:lumOff val="80000"/>
                </a:srgbClr>
              </a:solidFill>
              <a:latin typeface="Hepta Slab SemiBold" pitchFamily="2" charset="0"/>
              <a:cs typeface="Hepta Slab SemiBold" pitchFamily="2" charset="0"/>
            </a:endParaRPr>
          </a:p>
        </p:txBody>
      </p:sp>
    </p:spTree>
    <p:extLst>
      <p:ext uri="{BB962C8B-B14F-4D97-AF65-F5344CB8AC3E}">
        <p14:creationId xmlns:p14="http://schemas.microsoft.com/office/powerpoint/2010/main" val="33679508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D4E85458-33AA-48DE-FB22-2982E64130E2}"/>
            </a:ext>
          </a:extLst>
        </p:cNvPr>
        <p:cNvGrpSpPr/>
        <p:nvPr/>
      </p:nvGrpSpPr>
      <p:grpSpPr>
        <a:xfrm>
          <a:off x="0" y="0"/>
          <a:ext cx="0" cy="0"/>
          <a:chOff x="0" y="0"/>
          <a:chExt cx="0" cy="0"/>
        </a:xfrm>
      </p:grpSpPr>
      <p:sp>
        <p:nvSpPr>
          <p:cNvPr id="16" name="Object6">
            <a:extLst>
              <a:ext uri="{FF2B5EF4-FFF2-40B4-BE49-F238E27FC236}">
                <a16:creationId xmlns:a16="http://schemas.microsoft.com/office/drawing/2014/main" id="{D28A40E9-3956-B509-5832-0FC023BCB29E}"/>
              </a:ext>
            </a:extLst>
          </p:cNvPr>
          <p:cNvSpPr/>
          <p:nvPr/>
        </p:nvSpPr>
        <p:spPr>
          <a:xfrm>
            <a:off x="1762125" y="390690"/>
            <a:ext cx="9220200" cy="731307"/>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3975"/>
                </a:solidFill>
                <a:effectLst/>
                <a:uLnTx/>
                <a:uFillTx/>
                <a:latin typeface="Montserrat ExtraBold" pitchFamily="34" charset="0"/>
                <a:ea typeface="+mn-ea"/>
                <a:cs typeface="+mn-cs"/>
              </a:rPr>
              <a:t>EMOTIONAL VALENCE </a:t>
            </a:r>
          </a:p>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3975"/>
                </a:solidFill>
                <a:effectLst/>
                <a:uLnTx/>
                <a:uFillTx/>
                <a:latin typeface="Montserrat ExtraBold" pitchFamily="34" charset="0"/>
                <a:ea typeface="+mn-ea"/>
                <a:cs typeface="+mn-cs"/>
              </a:rPr>
              <a:t>Emotions that drive premium banking engagement – THE GOAL</a:t>
            </a:r>
            <a:endParaRPr kumimoji="0" lang="en-US" sz="1600" b="0" i="0" u="none" strike="noStrike" kern="1200" cap="all" spc="0" normalizeH="0" baseline="0" noProof="0" dirty="0">
              <a:ln>
                <a:noFill/>
              </a:ln>
              <a:solidFill>
                <a:srgbClr val="003975"/>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5809C500-22E1-372C-8727-67398FF33ADF}"/>
              </a:ext>
            </a:extLst>
          </p:cNvPr>
          <p:cNvGrpSpPr/>
          <p:nvPr/>
        </p:nvGrpSpPr>
        <p:grpSpPr>
          <a:xfrm>
            <a:off x="-61290" y="6053155"/>
            <a:ext cx="12253290" cy="971832"/>
            <a:chOff x="-187799" y="8336784"/>
            <a:chExt cx="18379935" cy="1457748"/>
          </a:xfrm>
        </p:grpSpPr>
        <p:pic>
          <p:nvPicPr>
            <p:cNvPr id="18" name="Picture 17">
              <a:extLst>
                <a:ext uri="{FF2B5EF4-FFF2-40B4-BE49-F238E27FC236}">
                  <a16:creationId xmlns:a16="http://schemas.microsoft.com/office/drawing/2014/main" id="{D830BA32-5E81-B53C-C781-A1E6D69B67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9" name="Title 1">
              <a:extLst>
                <a:ext uri="{FF2B5EF4-FFF2-40B4-BE49-F238E27FC236}">
                  <a16:creationId xmlns:a16="http://schemas.microsoft.com/office/drawing/2014/main" id="{CCEA2C8A-CF6F-7264-FC53-AA9DDC0D7E40}"/>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0" name="Picture 19">
              <a:extLst>
                <a:ext uri="{FF2B5EF4-FFF2-40B4-BE49-F238E27FC236}">
                  <a16:creationId xmlns:a16="http://schemas.microsoft.com/office/drawing/2014/main" id="{5EE683F5-BF53-E57F-985B-49C8F978D6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2" name="Picture 1">
            <a:extLst>
              <a:ext uri="{FF2B5EF4-FFF2-40B4-BE49-F238E27FC236}">
                <a16:creationId xmlns:a16="http://schemas.microsoft.com/office/drawing/2014/main" id="{DF82DE3A-8016-2EB3-A9E1-D6C8FDBB00C4}"/>
              </a:ext>
            </a:extLst>
          </p:cNvPr>
          <p:cNvPicPr>
            <a:picLocks noChangeAspect="1"/>
          </p:cNvPicPr>
          <p:nvPr/>
        </p:nvPicPr>
        <p:blipFill>
          <a:blip r:embed="rId5">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3" name="Slide Number Placeholder 4">
            <a:extLst>
              <a:ext uri="{FF2B5EF4-FFF2-40B4-BE49-F238E27FC236}">
                <a16:creationId xmlns:a16="http://schemas.microsoft.com/office/drawing/2014/main" id="{F15E797D-2827-F0DF-CC7F-3483272EF08E}"/>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91</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graphicFrame>
        <p:nvGraphicFramePr>
          <p:cNvPr id="9" name="Table 8">
            <a:extLst>
              <a:ext uri="{FF2B5EF4-FFF2-40B4-BE49-F238E27FC236}">
                <a16:creationId xmlns:a16="http://schemas.microsoft.com/office/drawing/2014/main" id="{EF75C438-4028-A79F-AE42-86ED1B7C85A6}"/>
              </a:ext>
            </a:extLst>
          </p:cNvPr>
          <p:cNvGraphicFramePr>
            <a:graphicFrameLocks noGrp="1"/>
          </p:cNvGraphicFramePr>
          <p:nvPr/>
        </p:nvGraphicFramePr>
        <p:xfrm>
          <a:off x="8097463" y="4668390"/>
          <a:ext cx="1740783" cy="1824442"/>
        </p:xfrm>
        <a:graphic>
          <a:graphicData uri="http://schemas.openxmlformats.org/drawingml/2006/table">
            <a:tbl>
              <a:tblPr/>
              <a:tblGrid>
                <a:gridCol w="1740783">
                  <a:extLst>
                    <a:ext uri="{9D8B030D-6E8A-4147-A177-3AD203B41FA5}">
                      <a16:colId xmlns:a16="http://schemas.microsoft.com/office/drawing/2014/main" val="2142427272"/>
                    </a:ext>
                  </a:extLst>
                </a:gridCol>
              </a:tblGrid>
              <a:tr h="269962">
                <a:tc>
                  <a:txBody>
                    <a:bodyPr/>
                    <a:lstStyle/>
                    <a:p>
                      <a:pPr algn="l" fontAlgn="b"/>
                      <a:r>
                        <a:rPr lang="en-IN" sz="1100" b="0" i="0" u="none" strike="noStrike" dirty="0">
                          <a:solidFill>
                            <a:srgbClr val="FFFFFF"/>
                          </a:solidFill>
                          <a:effectLst/>
                          <a:latin typeface="Hepta Slab SemiBold" pitchFamily="2" charset="0"/>
                          <a:cs typeface="Hepta Slab SemiBold" pitchFamily="2" charset="0"/>
                        </a:rPr>
                        <a:t>Strong Positive</a:t>
                      </a:r>
                    </a:p>
                  </a:txBody>
                  <a:tcPr>
                    <a:lnL>
                      <a:noFill/>
                    </a:lnL>
                    <a:lnR>
                      <a:noFill/>
                    </a:lnR>
                    <a:lnT>
                      <a:noFill/>
                    </a:lnT>
                    <a:lnB>
                      <a:noFill/>
                    </a:lnB>
                    <a:solidFill>
                      <a:srgbClr val="002060"/>
                    </a:solidFill>
                  </a:tcPr>
                </a:tc>
                <a:extLst>
                  <a:ext uri="{0D108BD9-81ED-4DB2-BD59-A6C34878D82A}">
                    <a16:rowId xmlns:a16="http://schemas.microsoft.com/office/drawing/2014/main" val="2063732288"/>
                  </a:ext>
                </a:extLst>
              </a:tr>
              <a:tr h="228600">
                <a:tc>
                  <a:txBody>
                    <a:bodyPr/>
                    <a:lstStyle/>
                    <a:p>
                      <a:pPr algn="l" fontAlgn="b"/>
                      <a:r>
                        <a:rPr lang="en-IN" sz="1100" b="0" i="0" u="none" strike="noStrike" dirty="0">
                          <a:solidFill>
                            <a:srgbClr val="FFFFFF"/>
                          </a:solidFill>
                          <a:effectLst/>
                          <a:latin typeface="Hepta Slab SemiBold" pitchFamily="2" charset="0"/>
                          <a:cs typeface="Hepta Slab SemiBold" pitchFamily="2" charset="0"/>
                        </a:rPr>
                        <a:t>Moderate Positive</a:t>
                      </a:r>
                    </a:p>
                  </a:txBody>
                  <a:tcPr>
                    <a:lnL>
                      <a:noFill/>
                    </a:lnL>
                    <a:lnR>
                      <a:noFill/>
                    </a:lnR>
                    <a:lnT>
                      <a:noFill/>
                    </a:lnT>
                    <a:lnB>
                      <a:noFill/>
                    </a:lnB>
                    <a:solidFill>
                      <a:srgbClr val="0070C0"/>
                    </a:solidFill>
                  </a:tcPr>
                </a:tc>
                <a:extLst>
                  <a:ext uri="{0D108BD9-81ED-4DB2-BD59-A6C34878D82A}">
                    <a16:rowId xmlns:a16="http://schemas.microsoft.com/office/drawing/2014/main" val="387213155"/>
                  </a:ext>
                </a:extLst>
              </a:tr>
              <a:tr h="190500">
                <a:tc>
                  <a:txBody>
                    <a:bodyPr/>
                    <a:lstStyle/>
                    <a:p>
                      <a:pPr algn="l" fontAlgn="b"/>
                      <a:r>
                        <a:rPr lang="en-IN" sz="1100" b="0" i="0" u="none" strike="noStrike" dirty="0">
                          <a:solidFill>
                            <a:srgbClr val="000000"/>
                          </a:solidFill>
                          <a:effectLst/>
                          <a:latin typeface="Hepta Slab SemiBold" pitchFamily="2" charset="0"/>
                          <a:cs typeface="Hepta Slab SemiBold" pitchFamily="2" charset="0"/>
                        </a:rPr>
                        <a:t>Weak Positive</a:t>
                      </a:r>
                    </a:p>
                  </a:txBody>
                  <a:tcPr>
                    <a:lnL>
                      <a:noFill/>
                    </a:lnL>
                    <a:lnR>
                      <a:noFill/>
                    </a:lnR>
                    <a:lnT>
                      <a:noFill/>
                    </a:lnT>
                    <a:lnB>
                      <a:noFill/>
                    </a:lnB>
                    <a:solidFill>
                      <a:srgbClr val="CAEDFB"/>
                    </a:solidFill>
                  </a:tcPr>
                </a:tc>
                <a:extLst>
                  <a:ext uri="{0D108BD9-81ED-4DB2-BD59-A6C34878D82A}">
                    <a16:rowId xmlns:a16="http://schemas.microsoft.com/office/drawing/2014/main" val="3749702565"/>
                  </a:ext>
                </a:extLst>
              </a:tr>
              <a:tr h="190500">
                <a:tc>
                  <a:txBody>
                    <a:bodyPr/>
                    <a:lstStyle/>
                    <a:p>
                      <a:pPr algn="l" fontAlgn="b"/>
                      <a:r>
                        <a:rPr lang="en-IN" sz="1100" b="0" i="0" u="none" strike="noStrike" dirty="0">
                          <a:solidFill>
                            <a:srgbClr val="000000"/>
                          </a:solidFill>
                          <a:effectLst/>
                          <a:latin typeface="Hepta Slab SemiBold" pitchFamily="2" charset="0"/>
                          <a:cs typeface="Hepta Slab SemiBold" pitchFamily="2" charset="0"/>
                        </a:rPr>
                        <a:t>No Association</a:t>
                      </a:r>
                    </a:p>
                  </a:txBody>
                  <a:tcPr>
                    <a:lnL>
                      <a:noFill/>
                    </a:lnL>
                    <a:lnR>
                      <a:noFill/>
                    </a:lnR>
                    <a:lnT>
                      <a:noFill/>
                    </a:lnT>
                    <a:lnB>
                      <a:noFill/>
                    </a:lnB>
                    <a:solidFill>
                      <a:schemeClr val="bg2">
                        <a:lumMod val="90000"/>
                      </a:schemeClr>
                    </a:solidFill>
                  </a:tcPr>
                </a:tc>
                <a:extLst>
                  <a:ext uri="{0D108BD9-81ED-4DB2-BD59-A6C34878D82A}">
                    <a16:rowId xmlns:a16="http://schemas.microsoft.com/office/drawing/2014/main" val="2622930114"/>
                  </a:ext>
                </a:extLst>
              </a:tr>
              <a:tr h="224790">
                <a:tc>
                  <a:txBody>
                    <a:bodyPr/>
                    <a:lstStyle/>
                    <a:p>
                      <a:pPr algn="l" fontAlgn="b"/>
                      <a:r>
                        <a:rPr lang="en-IN" sz="1100" b="0" i="0" u="none" strike="noStrike" dirty="0">
                          <a:solidFill>
                            <a:srgbClr val="F7A600"/>
                          </a:solidFill>
                          <a:effectLst/>
                          <a:latin typeface="Hepta Slab SemiBold" pitchFamily="2" charset="0"/>
                          <a:cs typeface="Hepta Slab SemiBold" pitchFamily="2" charset="0"/>
                        </a:rPr>
                        <a:t>Weak Negative</a:t>
                      </a:r>
                    </a:p>
                  </a:txBody>
                  <a:tcPr>
                    <a:lnL>
                      <a:noFill/>
                    </a:lnL>
                    <a:lnR>
                      <a:noFill/>
                    </a:lnR>
                    <a:lnT>
                      <a:noFill/>
                    </a:lnT>
                    <a:lnB>
                      <a:noFill/>
                    </a:lnB>
                    <a:solidFill>
                      <a:srgbClr val="CAEDFB"/>
                    </a:solidFill>
                  </a:tcPr>
                </a:tc>
                <a:extLst>
                  <a:ext uri="{0D108BD9-81ED-4DB2-BD59-A6C34878D82A}">
                    <a16:rowId xmlns:a16="http://schemas.microsoft.com/office/drawing/2014/main" val="3824722182"/>
                  </a:ext>
                </a:extLst>
              </a:tr>
              <a:tr h="228600">
                <a:tc>
                  <a:txBody>
                    <a:bodyPr/>
                    <a:lstStyle/>
                    <a:p>
                      <a:pPr algn="l" fontAlgn="b"/>
                      <a:r>
                        <a:rPr lang="en-IN" sz="1100" b="0" i="0" u="none" strike="noStrike" dirty="0">
                          <a:solidFill>
                            <a:srgbClr val="F7A600"/>
                          </a:solidFill>
                          <a:effectLst/>
                          <a:latin typeface="Hepta Slab SemiBold" pitchFamily="2" charset="0"/>
                          <a:cs typeface="Hepta Slab SemiBold" pitchFamily="2" charset="0"/>
                        </a:rPr>
                        <a:t>Moderate Negative</a:t>
                      </a:r>
                    </a:p>
                  </a:txBody>
                  <a:tcPr>
                    <a:lnL>
                      <a:noFill/>
                    </a:lnL>
                    <a:lnR>
                      <a:noFill/>
                    </a:lnR>
                    <a:lnT>
                      <a:noFill/>
                    </a:lnT>
                    <a:lnB>
                      <a:noFill/>
                    </a:lnB>
                    <a:solidFill>
                      <a:srgbClr val="0070C0"/>
                    </a:solidFill>
                  </a:tcPr>
                </a:tc>
                <a:extLst>
                  <a:ext uri="{0D108BD9-81ED-4DB2-BD59-A6C34878D82A}">
                    <a16:rowId xmlns:a16="http://schemas.microsoft.com/office/drawing/2014/main" val="2672725057"/>
                  </a:ext>
                </a:extLst>
              </a:tr>
              <a:tr h="190500">
                <a:tc>
                  <a:txBody>
                    <a:bodyPr/>
                    <a:lstStyle/>
                    <a:p>
                      <a:pPr algn="l" fontAlgn="b"/>
                      <a:r>
                        <a:rPr lang="en-IN" sz="1100" b="0" i="0" u="none" strike="noStrike" dirty="0">
                          <a:solidFill>
                            <a:srgbClr val="F7A600"/>
                          </a:solidFill>
                          <a:effectLst/>
                          <a:latin typeface="Hepta Slab SemiBold" pitchFamily="2" charset="0"/>
                          <a:cs typeface="Hepta Slab SemiBold" pitchFamily="2" charset="0"/>
                        </a:rPr>
                        <a:t>Strong Negative</a:t>
                      </a:r>
                    </a:p>
                  </a:txBody>
                  <a:tcPr>
                    <a:lnL>
                      <a:noFill/>
                    </a:lnL>
                    <a:lnR>
                      <a:noFill/>
                    </a:lnR>
                    <a:lnT>
                      <a:noFill/>
                    </a:lnT>
                    <a:lnB>
                      <a:noFill/>
                    </a:lnB>
                    <a:solidFill>
                      <a:srgbClr val="002060"/>
                    </a:solidFill>
                  </a:tcPr>
                </a:tc>
                <a:extLst>
                  <a:ext uri="{0D108BD9-81ED-4DB2-BD59-A6C34878D82A}">
                    <a16:rowId xmlns:a16="http://schemas.microsoft.com/office/drawing/2014/main" val="867421140"/>
                  </a:ext>
                </a:extLst>
              </a:tr>
            </a:tbl>
          </a:graphicData>
        </a:graphic>
      </p:graphicFrame>
      <p:pic>
        <p:nvPicPr>
          <p:cNvPr id="5" name="Picture 4" descr="A blue brain with a blue background&#10;&#10;Description automatically generated">
            <a:extLst>
              <a:ext uri="{FF2B5EF4-FFF2-40B4-BE49-F238E27FC236}">
                <a16:creationId xmlns:a16="http://schemas.microsoft.com/office/drawing/2014/main" id="{27187F87-B768-74F2-1B82-4AB7BDB2A305}"/>
              </a:ext>
            </a:extLst>
          </p:cNvPr>
          <p:cNvPicPr>
            <a:picLocks noChangeAspect="1"/>
          </p:cNvPicPr>
          <p:nvPr/>
        </p:nvPicPr>
        <p:blipFill>
          <a:blip r:embed="rId6" cstate="print">
            <a:extLst>
              <a:ext uri="{28A0092B-C50C-407E-A947-70E740481C1C}">
                <a14:useLocalDpi xmlns:a14="http://schemas.microsoft.com/office/drawing/2010/main" val="0"/>
              </a:ext>
            </a:extLst>
          </a:blip>
          <a:srcRect l="24683" r="24684"/>
          <a:stretch/>
        </p:blipFill>
        <p:spPr>
          <a:xfrm>
            <a:off x="457200" y="365124"/>
            <a:ext cx="914402" cy="8458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aphicFrame>
        <p:nvGraphicFramePr>
          <p:cNvPr id="6" name="Table 5">
            <a:extLst>
              <a:ext uri="{FF2B5EF4-FFF2-40B4-BE49-F238E27FC236}">
                <a16:creationId xmlns:a16="http://schemas.microsoft.com/office/drawing/2014/main" id="{FB8A6F21-7F00-9BE6-7A43-2E6B7CB78962}"/>
              </a:ext>
            </a:extLst>
          </p:cNvPr>
          <p:cNvGraphicFramePr>
            <a:graphicFrameLocks noGrp="1"/>
          </p:cNvGraphicFramePr>
          <p:nvPr/>
        </p:nvGraphicFramePr>
        <p:xfrm>
          <a:off x="3667633" y="2457450"/>
          <a:ext cx="1963999" cy="1114425"/>
        </p:xfrm>
        <a:graphic>
          <a:graphicData uri="http://schemas.openxmlformats.org/drawingml/2006/table">
            <a:tbl>
              <a:tblPr/>
              <a:tblGrid>
                <a:gridCol w="1963999">
                  <a:extLst>
                    <a:ext uri="{9D8B030D-6E8A-4147-A177-3AD203B41FA5}">
                      <a16:colId xmlns:a16="http://schemas.microsoft.com/office/drawing/2014/main" val="2142427272"/>
                    </a:ext>
                  </a:extLst>
                </a:gridCol>
              </a:tblGrid>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Life Goals Enabler</a:t>
                      </a:r>
                    </a:p>
                  </a:txBody>
                  <a:tcPr marL="9525" marR="9525" marT="9525" marB="0" anchor="b">
                    <a:lnL>
                      <a:noFill/>
                    </a:lnL>
                    <a:lnR>
                      <a:noFill/>
                    </a:lnR>
                    <a:lnT>
                      <a:noFill/>
                    </a:lnT>
                    <a:lnB>
                      <a:noFill/>
                    </a:lnB>
                    <a:solidFill>
                      <a:srgbClr val="002060"/>
                    </a:solidFill>
                  </a:tcPr>
                </a:tc>
                <a:extLst>
                  <a:ext uri="{0D108BD9-81ED-4DB2-BD59-A6C34878D82A}">
                    <a16:rowId xmlns:a16="http://schemas.microsoft.com/office/drawing/2014/main" val="1842730271"/>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Exclusive</a:t>
                      </a:r>
                    </a:p>
                  </a:txBody>
                  <a:tcPr marL="9525" marR="9525" marT="9525" marB="0" anchor="b">
                    <a:lnL>
                      <a:noFill/>
                    </a:lnL>
                    <a:lnR>
                      <a:noFill/>
                    </a:lnR>
                    <a:lnT>
                      <a:noFill/>
                    </a:lnT>
                    <a:lnB>
                      <a:noFill/>
                    </a:lnB>
                    <a:solidFill>
                      <a:srgbClr val="002060"/>
                    </a:solidFill>
                  </a:tcPr>
                </a:tc>
                <a:extLst>
                  <a:ext uri="{0D108BD9-81ED-4DB2-BD59-A6C34878D82A}">
                    <a16:rowId xmlns:a16="http://schemas.microsoft.com/office/drawing/2014/main" val="254617073"/>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Prestige</a:t>
                      </a:r>
                    </a:p>
                  </a:txBody>
                  <a:tcPr marL="9525" marR="9525" marT="9525" marB="0" anchor="b">
                    <a:lnL>
                      <a:noFill/>
                    </a:lnL>
                    <a:lnR>
                      <a:noFill/>
                    </a:lnR>
                    <a:lnT>
                      <a:noFill/>
                    </a:lnT>
                    <a:lnB>
                      <a:noFill/>
                    </a:lnB>
                    <a:solidFill>
                      <a:srgbClr val="002060"/>
                    </a:solidFill>
                  </a:tcPr>
                </a:tc>
                <a:extLst>
                  <a:ext uri="{0D108BD9-81ED-4DB2-BD59-A6C34878D82A}">
                    <a16:rowId xmlns:a16="http://schemas.microsoft.com/office/drawing/2014/main" val="2063732288"/>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Personalized</a:t>
                      </a:r>
                      <a:r>
                        <a:rPr lang="en-IN" sz="1400" b="0" i="0" u="none" strike="noStrike" dirty="0">
                          <a:solidFill>
                            <a:srgbClr val="F7A600"/>
                          </a:solidFill>
                          <a:effectLst/>
                          <a:latin typeface="Hepta Slab SemiBold" pitchFamily="2" charset="0"/>
                          <a:cs typeface="Hepta Slab SemiBold" pitchFamily="2" charset="0"/>
                        </a:rPr>
                        <a:t> </a:t>
                      </a:r>
                    </a:p>
                  </a:txBody>
                  <a:tcPr marL="9525" marR="9525" marT="9525" marB="0" anchor="b">
                    <a:lnL>
                      <a:noFill/>
                    </a:lnL>
                    <a:lnR>
                      <a:noFill/>
                    </a:lnR>
                    <a:lnT>
                      <a:noFill/>
                    </a:lnT>
                    <a:lnB>
                      <a:noFill/>
                    </a:lnB>
                    <a:solidFill>
                      <a:srgbClr val="002060"/>
                    </a:solidFill>
                  </a:tcPr>
                </a:tc>
                <a:extLst>
                  <a:ext uri="{0D108BD9-81ED-4DB2-BD59-A6C34878D82A}">
                    <a16:rowId xmlns:a16="http://schemas.microsoft.com/office/drawing/2014/main" val="2343891225"/>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Assurance </a:t>
                      </a:r>
                    </a:p>
                  </a:txBody>
                  <a:tcPr marL="9525" marR="9525" marT="9525" marB="0" anchor="b">
                    <a:lnL>
                      <a:noFill/>
                    </a:lnL>
                    <a:lnR>
                      <a:noFill/>
                    </a:lnR>
                    <a:lnT>
                      <a:noFill/>
                    </a:lnT>
                    <a:lnB>
                      <a:noFill/>
                    </a:lnB>
                    <a:solidFill>
                      <a:srgbClr val="002060"/>
                    </a:solidFill>
                  </a:tcPr>
                </a:tc>
                <a:extLst>
                  <a:ext uri="{0D108BD9-81ED-4DB2-BD59-A6C34878D82A}">
                    <a16:rowId xmlns:a16="http://schemas.microsoft.com/office/drawing/2014/main" val="1260858094"/>
                  </a:ext>
                </a:extLst>
              </a:tr>
            </a:tbl>
          </a:graphicData>
        </a:graphic>
      </p:graphicFrame>
      <p:sp>
        <p:nvSpPr>
          <p:cNvPr id="13" name="Object6">
            <a:extLst>
              <a:ext uri="{FF2B5EF4-FFF2-40B4-BE49-F238E27FC236}">
                <a16:creationId xmlns:a16="http://schemas.microsoft.com/office/drawing/2014/main" id="{9D2A9750-110C-B326-0F07-5DCC5C2F35C2}"/>
              </a:ext>
            </a:extLst>
          </p:cNvPr>
          <p:cNvSpPr/>
          <p:nvPr/>
        </p:nvSpPr>
        <p:spPr>
          <a:xfrm>
            <a:off x="8489223" y="4445505"/>
            <a:ext cx="957262" cy="222885"/>
          </a:xfrm>
          <a:prstGeom prst="rect">
            <a:avLst/>
          </a:prstGeom>
          <a:noFill/>
          <a:ln/>
        </p:spPr>
        <p:txBody>
          <a:bodyPr wrap="square" lIns="0" tIns="0" rIns="0" bIns="0" rtlCol="0" anchor="t"/>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1400" b="0" i="0" u="none" strike="noStrike" kern="1200" cap="all" spc="0" normalizeH="0" baseline="0" noProof="0" dirty="0">
                <a:ln>
                  <a:noFill/>
                </a:ln>
                <a:solidFill>
                  <a:prstClr val="white">
                    <a:lumMod val="50000"/>
                  </a:prstClr>
                </a:solidFill>
                <a:effectLst/>
                <a:uLnTx/>
                <a:uFillTx/>
                <a:latin typeface="Montserrat ExtraBold" pitchFamily="34" charset="0"/>
                <a:ea typeface="+mn-ea"/>
                <a:cs typeface="+mn-cs"/>
              </a:rPr>
              <a:t>KEY</a:t>
            </a:r>
            <a:endParaRPr kumimoji="0" lang="en-US" sz="1400" b="0" i="0" u="none" strike="noStrike" kern="1200" cap="all" spc="0" normalizeH="0" baseline="0" noProof="0" dirty="0">
              <a:ln>
                <a:noFill/>
              </a:ln>
              <a:solidFill>
                <a:prstClr val="white">
                  <a:lumMod val="50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FAE07896-C073-CABF-1467-4A7C4EABDE8B}"/>
              </a:ext>
            </a:extLst>
          </p:cNvPr>
          <p:cNvGraphicFramePr>
            <a:graphicFrameLocks noGrp="1"/>
          </p:cNvGraphicFramePr>
          <p:nvPr/>
        </p:nvGraphicFramePr>
        <p:xfrm>
          <a:off x="5944732" y="2457450"/>
          <a:ext cx="1790206" cy="891540"/>
        </p:xfrm>
        <a:graphic>
          <a:graphicData uri="http://schemas.openxmlformats.org/drawingml/2006/table">
            <a:tbl>
              <a:tblPr/>
              <a:tblGrid>
                <a:gridCol w="1790206">
                  <a:extLst>
                    <a:ext uri="{9D8B030D-6E8A-4147-A177-3AD203B41FA5}">
                      <a16:colId xmlns:a16="http://schemas.microsoft.com/office/drawing/2014/main" val="2142427272"/>
                    </a:ext>
                  </a:extLst>
                </a:gridCol>
              </a:tblGrid>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Innovative</a:t>
                      </a:r>
                    </a:p>
                  </a:txBody>
                  <a:tcPr marL="9525" marR="9525" marT="9525" marB="0" anchor="b">
                    <a:lnL>
                      <a:noFill/>
                    </a:lnL>
                    <a:lnR>
                      <a:noFill/>
                    </a:lnR>
                    <a:lnT>
                      <a:noFill/>
                    </a:lnT>
                    <a:lnB>
                      <a:noFill/>
                    </a:lnB>
                    <a:solidFill>
                      <a:srgbClr val="0070C0"/>
                    </a:solidFill>
                  </a:tcPr>
                </a:tc>
                <a:extLst>
                  <a:ext uri="{0D108BD9-81ED-4DB2-BD59-A6C34878D82A}">
                    <a16:rowId xmlns:a16="http://schemas.microsoft.com/office/drawing/2014/main" val="387213155"/>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Relevant </a:t>
                      </a:r>
                    </a:p>
                  </a:txBody>
                  <a:tcPr marL="9525" marR="9525" marT="9525" marB="0" anchor="b">
                    <a:lnL>
                      <a:noFill/>
                    </a:lnL>
                    <a:lnR>
                      <a:noFill/>
                    </a:lnR>
                    <a:lnT>
                      <a:noFill/>
                    </a:lnT>
                    <a:lnB>
                      <a:noFill/>
                    </a:lnB>
                    <a:solidFill>
                      <a:srgbClr val="0070C0"/>
                    </a:solidFill>
                  </a:tcPr>
                </a:tc>
                <a:extLst>
                  <a:ext uri="{0D108BD9-81ED-4DB2-BD59-A6C34878D82A}">
                    <a16:rowId xmlns:a16="http://schemas.microsoft.com/office/drawing/2014/main" val="2545737836"/>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Confidence</a:t>
                      </a:r>
                    </a:p>
                  </a:txBody>
                  <a:tcPr marL="9525" marR="9525" marT="9525" marB="0" anchor="b">
                    <a:lnL>
                      <a:noFill/>
                    </a:lnL>
                    <a:lnR>
                      <a:noFill/>
                    </a:lnR>
                    <a:lnT>
                      <a:noFill/>
                    </a:lnT>
                    <a:lnB>
                      <a:noFill/>
                    </a:lnB>
                    <a:solidFill>
                      <a:srgbClr val="0070C0"/>
                    </a:solidFill>
                  </a:tcPr>
                </a:tc>
                <a:extLst>
                  <a:ext uri="{0D108BD9-81ED-4DB2-BD59-A6C34878D82A}">
                    <a16:rowId xmlns:a16="http://schemas.microsoft.com/office/drawing/2014/main" val="2280485331"/>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Financial Growth </a:t>
                      </a:r>
                    </a:p>
                  </a:txBody>
                  <a:tcPr marL="9525" marR="9525" marT="9525" marB="0" anchor="b">
                    <a:lnL>
                      <a:noFill/>
                    </a:lnL>
                    <a:lnR>
                      <a:noFill/>
                    </a:lnR>
                    <a:lnT>
                      <a:noFill/>
                    </a:lnT>
                    <a:lnB>
                      <a:noFill/>
                    </a:lnB>
                    <a:solidFill>
                      <a:srgbClr val="0070C0"/>
                    </a:solidFill>
                  </a:tcPr>
                </a:tc>
                <a:extLst>
                  <a:ext uri="{0D108BD9-81ED-4DB2-BD59-A6C34878D82A}">
                    <a16:rowId xmlns:a16="http://schemas.microsoft.com/office/drawing/2014/main" val="3347202603"/>
                  </a:ext>
                </a:extLst>
              </a:tr>
            </a:tbl>
          </a:graphicData>
        </a:graphic>
      </p:graphicFrame>
      <p:graphicFrame>
        <p:nvGraphicFramePr>
          <p:cNvPr id="7" name="Table 6">
            <a:extLst>
              <a:ext uri="{FF2B5EF4-FFF2-40B4-BE49-F238E27FC236}">
                <a16:creationId xmlns:a16="http://schemas.microsoft.com/office/drawing/2014/main" id="{803CCC0E-C54D-D849-D08A-42D51A917D90}"/>
              </a:ext>
            </a:extLst>
          </p:cNvPr>
          <p:cNvGraphicFramePr>
            <a:graphicFrameLocks noGrp="1"/>
          </p:cNvGraphicFramePr>
          <p:nvPr/>
        </p:nvGraphicFramePr>
        <p:xfrm>
          <a:off x="8048040" y="2457450"/>
          <a:ext cx="1790206" cy="222885"/>
        </p:xfrm>
        <a:graphic>
          <a:graphicData uri="http://schemas.openxmlformats.org/drawingml/2006/table">
            <a:tbl>
              <a:tblPr/>
              <a:tblGrid>
                <a:gridCol w="1790206">
                  <a:extLst>
                    <a:ext uri="{9D8B030D-6E8A-4147-A177-3AD203B41FA5}">
                      <a16:colId xmlns:a16="http://schemas.microsoft.com/office/drawing/2014/main" val="2142427272"/>
                    </a:ext>
                  </a:extLst>
                </a:gridCol>
              </a:tblGrid>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tx1"/>
                          </a:solidFill>
                          <a:effectLst/>
                          <a:latin typeface="Hepta Slab SemiBold" pitchFamily="2" charset="0"/>
                          <a:cs typeface="Hepta Slab SemiBold" pitchFamily="2" charset="0"/>
                        </a:rPr>
                        <a:t>Convenience</a:t>
                      </a:r>
                      <a:r>
                        <a:rPr lang="en-IN" sz="1400" b="0" i="0" u="none" strike="noStrike" dirty="0">
                          <a:solidFill>
                            <a:srgbClr val="F7A600"/>
                          </a:solidFill>
                          <a:effectLst/>
                          <a:latin typeface="Hepta Slab SemiBold" pitchFamily="2" charset="0"/>
                          <a:cs typeface="Hepta Slab SemiBold" pitchFamily="2" charset="0"/>
                        </a:rPr>
                        <a:t> </a:t>
                      </a:r>
                    </a:p>
                  </a:txBody>
                  <a:tcPr marL="9525" marR="9525" marT="9525" marB="0" anchor="b">
                    <a:lnL>
                      <a:noFill/>
                    </a:lnL>
                    <a:lnR>
                      <a:noFill/>
                    </a:lnR>
                    <a:lnT>
                      <a:noFill/>
                    </a:lnT>
                    <a:lnB>
                      <a:noFill/>
                    </a:lnB>
                    <a:solidFill>
                      <a:srgbClr val="CAEDFB"/>
                    </a:solidFill>
                  </a:tcPr>
                </a:tc>
                <a:extLst>
                  <a:ext uri="{0D108BD9-81ED-4DB2-BD59-A6C34878D82A}">
                    <a16:rowId xmlns:a16="http://schemas.microsoft.com/office/drawing/2014/main" val="1400438263"/>
                  </a:ext>
                </a:extLst>
              </a:tr>
            </a:tbl>
          </a:graphicData>
        </a:graphic>
      </p:graphicFrame>
      <p:graphicFrame>
        <p:nvGraphicFramePr>
          <p:cNvPr id="14" name="Table 13">
            <a:extLst>
              <a:ext uri="{FF2B5EF4-FFF2-40B4-BE49-F238E27FC236}">
                <a16:creationId xmlns:a16="http://schemas.microsoft.com/office/drawing/2014/main" id="{00703B09-0805-3E21-4CD7-1DFBE1D0C218}"/>
              </a:ext>
            </a:extLst>
          </p:cNvPr>
          <p:cNvGraphicFramePr>
            <a:graphicFrameLocks noGrp="1"/>
          </p:cNvGraphicFramePr>
          <p:nvPr/>
        </p:nvGraphicFramePr>
        <p:xfrm>
          <a:off x="3667633" y="4834422"/>
          <a:ext cx="2028119" cy="445770"/>
        </p:xfrm>
        <a:graphic>
          <a:graphicData uri="http://schemas.openxmlformats.org/drawingml/2006/table">
            <a:tbl>
              <a:tblPr/>
              <a:tblGrid>
                <a:gridCol w="2028119">
                  <a:extLst>
                    <a:ext uri="{9D8B030D-6E8A-4147-A177-3AD203B41FA5}">
                      <a16:colId xmlns:a16="http://schemas.microsoft.com/office/drawing/2014/main" val="2142427272"/>
                    </a:ext>
                  </a:extLst>
                </a:gridCol>
              </a:tblGrid>
              <a:tr h="190500">
                <a:tc>
                  <a:txBody>
                    <a:bodyPr/>
                    <a:lstStyle/>
                    <a:p>
                      <a:pPr algn="l" fontAlgn="b"/>
                      <a:r>
                        <a:rPr lang="en-IN" sz="1400" b="0" i="0" u="none" strike="noStrike" dirty="0">
                          <a:solidFill>
                            <a:srgbClr val="D67E34"/>
                          </a:solidFill>
                          <a:effectLst/>
                          <a:latin typeface="Hepta Slab SemiBold" pitchFamily="2" charset="0"/>
                          <a:cs typeface="Hepta Slab SemiBold" pitchFamily="2" charset="0"/>
                        </a:rPr>
                        <a:t>Intrusive</a:t>
                      </a:r>
                    </a:p>
                  </a:txBody>
                  <a:tcPr marL="9525" marR="9525" marT="9525" marB="0" anchor="b">
                    <a:lnL>
                      <a:noFill/>
                    </a:lnL>
                    <a:lnR>
                      <a:noFill/>
                    </a:lnR>
                    <a:lnT>
                      <a:noFill/>
                    </a:lnT>
                    <a:lnB>
                      <a:noFill/>
                    </a:lnB>
                    <a:solidFill>
                      <a:srgbClr val="002060"/>
                    </a:solidFill>
                  </a:tcPr>
                </a:tc>
                <a:extLst>
                  <a:ext uri="{0D108BD9-81ED-4DB2-BD59-A6C34878D82A}">
                    <a16:rowId xmlns:a16="http://schemas.microsoft.com/office/drawing/2014/main" val="3749702565"/>
                  </a:ext>
                </a:extLst>
              </a:tr>
              <a:tr h="190500">
                <a:tc>
                  <a:txBody>
                    <a:bodyPr/>
                    <a:lstStyle/>
                    <a:p>
                      <a:pPr algn="l" fontAlgn="b"/>
                      <a:r>
                        <a:rPr lang="en-IN" sz="1400" b="0" i="0" u="none" strike="noStrike" dirty="0">
                          <a:solidFill>
                            <a:srgbClr val="D67E34"/>
                          </a:solidFill>
                          <a:effectLst/>
                          <a:latin typeface="Hepta Slab SemiBold" pitchFamily="2" charset="0"/>
                          <a:cs typeface="Hepta Slab SemiBold" pitchFamily="2" charset="0"/>
                        </a:rPr>
                        <a:t>Stressful</a:t>
                      </a:r>
                      <a:r>
                        <a:rPr lang="en-IN" sz="1400" b="0" i="0" u="none" strike="noStrike" dirty="0">
                          <a:solidFill>
                            <a:srgbClr val="F7A600"/>
                          </a:solidFill>
                          <a:effectLst/>
                          <a:latin typeface="Hepta Slab SemiBold" pitchFamily="2" charset="0"/>
                          <a:cs typeface="Hepta Slab SemiBold" pitchFamily="2" charset="0"/>
                        </a:rPr>
                        <a:t> </a:t>
                      </a:r>
                    </a:p>
                  </a:txBody>
                  <a:tcPr marL="9525" marR="9525" marT="9525" marB="0" anchor="b">
                    <a:lnL>
                      <a:noFill/>
                    </a:lnL>
                    <a:lnR>
                      <a:noFill/>
                    </a:lnR>
                    <a:lnT>
                      <a:noFill/>
                    </a:lnT>
                    <a:lnB>
                      <a:noFill/>
                    </a:lnB>
                    <a:solidFill>
                      <a:srgbClr val="002060"/>
                    </a:solidFill>
                  </a:tcPr>
                </a:tc>
                <a:extLst>
                  <a:ext uri="{0D108BD9-81ED-4DB2-BD59-A6C34878D82A}">
                    <a16:rowId xmlns:a16="http://schemas.microsoft.com/office/drawing/2014/main" val="867421140"/>
                  </a:ext>
                </a:extLst>
              </a:tr>
            </a:tbl>
          </a:graphicData>
        </a:graphic>
      </p:graphicFrame>
      <p:sp>
        <p:nvSpPr>
          <p:cNvPr id="10" name="TextBox 9">
            <a:extLst>
              <a:ext uri="{FF2B5EF4-FFF2-40B4-BE49-F238E27FC236}">
                <a16:creationId xmlns:a16="http://schemas.microsoft.com/office/drawing/2014/main" id="{5F5438D3-AECB-B945-E4C8-3822ABB51AD0}"/>
              </a:ext>
            </a:extLst>
          </p:cNvPr>
          <p:cNvSpPr txBox="1"/>
          <p:nvPr/>
        </p:nvSpPr>
        <p:spPr>
          <a:xfrm>
            <a:off x="3667633" y="2104826"/>
            <a:ext cx="1963999" cy="307777"/>
          </a:xfrm>
          <a:prstGeom prst="rect">
            <a:avLst/>
          </a:prstGeom>
          <a:solidFill>
            <a:srgbClr val="002060"/>
          </a:solid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rPr>
              <a:t>Strong</a:t>
            </a:r>
            <a:endParaRPr kumimoji="0" lang="en-IN" sz="14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sp>
        <p:nvSpPr>
          <p:cNvPr id="12" name="TextBox 11">
            <a:extLst>
              <a:ext uri="{FF2B5EF4-FFF2-40B4-BE49-F238E27FC236}">
                <a16:creationId xmlns:a16="http://schemas.microsoft.com/office/drawing/2014/main" id="{0B6F4304-8BF5-A8E7-DB1C-F723CE5E34F5}"/>
              </a:ext>
            </a:extLst>
          </p:cNvPr>
          <p:cNvSpPr txBox="1"/>
          <p:nvPr/>
        </p:nvSpPr>
        <p:spPr>
          <a:xfrm>
            <a:off x="5944732" y="2104826"/>
            <a:ext cx="1790206" cy="307777"/>
          </a:xfrm>
          <a:prstGeom prst="rect">
            <a:avLst/>
          </a:prstGeom>
          <a:solidFill>
            <a:srgbClr val="0070C0"/>
          </a:solid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rPr>
              <a:t>Moderate</a:t>
            </a:r>
            <a:endParaRPr kumimoji="0" lang="en-IN" sz="1400"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sp>
        <p:nvSpPr>
          <p:cNvPr id="15" name="TextBox 14">
            <a:extLst>
              <a:ext uri="{FF2B5EF4-FFF2-40B4-BE49-F238E27FC236}">
                <a16:creationId xmlns:a16="http://schemas.microsoft.com/office/drawing/2014/main" id="{D15E260D-D25B-F485-004E-4690F4623D9E}"/>
              </a:ext>
            </a:extLst>
          </p:cNvPr>
          <p:cNvSpPr txBox="1"/>
          <p:nvPr/>
        </p:nvSpPr>
        <p:spPr>
          <a:xfrm>
            <a:off x="8048040" y="2104826"/>
            <a:ext cx="1790206" cy="307777"/>
          </a:xfrm>
          <a:prstGeom prst="rect">
            <a:avLst/>
          </a:prstGeom>
          <a:solidFill>
            <a:srgbClr val="CAEDFB"/>
          </a:solid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Hepta Slab Bold" pitchFamily="2" charset="0"/>
                <a:ea typeface="+mn-ea"/>
                <a:cs typeface="Hepta Slab Bold" pitchFamily="2" charset="0"/>
              </a:rPr>
              <a:t>Weak</a:t>
            </a:r>
            <a:endParaRPr kumimoji="0" lang="en-IN" sz="1400" b="0" i="0" u="none" strike="noStrike" kern="1200" cap="none" spc="0" normalizeH="0" baseline="0" noProof="0" dirty="0">
              <a:ln>
                <a:noFill/>
              </a:ln>
              <a:solidFill>
                <a:prstClr val="black"/>
              </a:solidFill>
              <a:effectLst/>
              <a:uLnTx/>
              <a:uFillTx/>
              <a:latin typeface="Hepta Slab Bold" pitchFamily="2" charset="0"/>
              <a:ea typeface="+mn-ea"/>
              <a:cs typeface="Hepta Slab Bold" pitchFamily="2" charset="0"/>
            </a:endParaRPr>
          </a:p>
        </p:txBody>
      </p:sp>
      <p:sp>
        <p:nvSpPr>
          <p:cNvPr id="21" name="TextBox 20">
            <a:extLst>
              <a:ext uri="{FF2B5EF4-FFF2-40B4-BE49-F238E27FC236}">
                <a16:creationId xmlns:a16="http://schemas.microsoft.com/office/drawing/2014/main" id="{8F7BB594-E30B-680A-ABB8-C78B5322A18C}"/>
              </a:ext>
            </a:extLst>
          </p:cNvPr>
          <p:cNvSpPr txBox="1"/>
          <p:nvPr/>
        </p:nvSpPr>
        <p:spPr>
          <a:xfrm>
            <a:off x="3667633" y="4453053"/>
            <a:ext cx="2028119" cy="338554"/>
          </a:xfrm>
          <a:prstGeom prst="rect">
            <a:avLst/>
          </a:prstGeom>
          <a:solidFill>
            <a:srgbClr val="002060"/>
          </a:solidFill>
        </p:spPr>
        <p:txBody>
          <a:bodyPr wrap="square" lIns="0" rtlCol="0">
            <a:spAutoFit/>
          </a:bodyPr>
          <a:lstStyle>
            <a:defPPr>
              <a:defRPr lang="en-US"/>
            </a:defPPr>
            <a:lvl1pPr>
              <a:defRPr>
                <a:solidFill>
                  <a:schemeClr val="bg1"/>
                </a:solidFill>
                <a:latin typeface="Hepta Slab Bold" pitchFamily="2" charset="0"/>
                <a:cs typeface="Hepta Slab Bold"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67E34"/>
                </a:solidFill>
                <a:effectLst/>
                <a:uLnTx/>
                <a:uFillTx/>
                <a:latin typeface="Hepta Slab Bold" pitchFamily="2" charset="0"/>
                <a:ea typeface="+mn-ea"/>
                <a:cs typeface="Hepta Slab Bold" pitchFamily="2" charset="0"/>
              </a:rPr>
              <a:t>Strong</a:t>
            </a:r>
            <a:endParaRPr kumimoji="0" lang="en-IN" sz="1600" b="0" i="0" u="none" strike="noStrike" kern="1200" cap="none" spc="0" normalizeH="0" baseline="0" noProof="0" dirty="0">
              <a:ln>
                <a:noFill/>
              </a:ln>
              <a:solidFill>
                <a:srgbClr val="D67E34"/>
              </a:solidFill>
              <a:effectLst/>
              <a:uLnTx/>
              <a:uFillTx/>
              <a:latin typeface="Hepta Slab Bold" pitchFamily="2" charset="0"/>
              <a:ea typeface="+mn-ea"/>
              <a:cs typeface="Hepta Slab Bold" pitchFamily="2" charset="0"/>
            </a:endParaRPr>
          </a:p>
        </p:txBody>
      </p:sp>
      <p:sp>
        <p:nvSpPr>
          <p:cNvPr id="24" name="TextBox 23">
            <a:extLst>
              <a:ext uri="{FF2B5EF4-FFF2-40B4-BE49-F238E27FC236}">
                <a16:creationId xmlns:a16="http://schemas.microsoft.com/office/drawing/2014/main" id="{63C15683-C6E6-57DA-CFE6-1AD9E581F965}"/>
              </a:ext>
            </a:extLst>
          </p:cNvPr>
          <p:cNvSpPr txBox="1"/>
          <p:nvPr/>
        </p:nvSpPr>
        <p:spPr>
          <a:xfrm>
            <a:off x="3667633" y="1695076"/>
            <a:ext cx="2549096"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rPr>
              <a:t>POSITIVE VALENCE</a:t>
            </a:r>
            <a:endParaRPr kumimoji="0" lang="en-IN" sz="1600" b="0" i="0" u="none" strike="noStrike" kern="1200" cap="none" spc="0" normalizeH="0" baseline="0" noProof="0" dirty="0">
              <a:ln>
                <a:noFill/>
              </a:ln>
              <a:solidFill>
                <a:srgbClr val="002060"/>
              </a:solidFill>
              <a:effectLst/>
              <a:uLnTx/>
              <a:uFillTx/>
              <a:latin typeface="Hepta Slab Bold" pitchFamily="2" charset="0"/>
              <a:ea typeface="+mn-ea"/>
              <a:cs typeface="Hepta Slab Bold" pitchFamily="2" charset="0"/>
            </a:endParaRPr>
          </a:p>
        </p:txBody>
      </p:sp>
      <p:sp>
        <p:nvSpPr>
          <p:cNvPr id="25" name="TextBox 24">
            <a:extLst>
              <a:ext uri="{FF2B5EF4-FFF2-40B4-BE49-F238E27FC236}">
                <a16:creationId xmlns:a16="http://schemas.microsoft.com/office/drawing/2014/main" id="{A9E1FAF8-F759-E381-8AF8-C937332A501B}"/>
              </a:ext>
            </a:extLst>
          </p:cNvPr>
          <p:cNvSpPr txBox="1"/>
          <p:nvPr/>
        </p:nvSpPr>
        <p:spPr>
          <a:xfrm>
            <a:off x="3667633" y="4083632"/>
            <a:ext cx="2607445"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67E34"/>
                </a:solidFill>
                <a:effectLst/>
                <a:uLnTx/>
                <a:uFillTx/>
                <a:latin typeface="Hepta Slab Bold" pitchFamily="2" charset="0"/>
                <a:ea typeface="+mn-ea"/>
                <a:cs typeface="Hepta Slab Bold" pitchFamily="2" charset="0"/>
              </a:rPr>
              <a:t>NEGATIVE VALENCE</a:t>
            </a:r>
            <a:endParaRPr kumimoji="0" lang="en-IN" sz="1600" b="0" i="0" u="none" strike="noStrike" kern="1200" cap="none" spc="0" normalizeH="0" baseline="0" noProof="0" dirty="0">
              <a:ln>
                <a:noFill/>
              </a:ln>
              <a:solidFill>
                <a:srgbClr val="D67E34"/>
              </a:solidFill>
              <a:effectLst/>
              <a:uLnTx/>
              <a:uFillTx/>
              <a:latin typeface="Hepta Slab Bold" pitchFamily="2" charset="0"/>
              <a:ea typeface="+mn-ea"/>
              <a:cs typeface="Hepta Slab Bold" pitchFamily="2" charset="0"/>
            </a:endParaRPr>
          </a:p>
        </p:txBody>
      </p:sp>
      <p:sp>
        <p:nvSpPr>
          <p:cNvPr id="26" name="Object5">
            <a:extLst>
              <a:ext uri="{FF2B5EF4-FFF2-40B4-BE49-F238E27FC236}">
                <a16:creationId xmlns:a16="http://schemas.microsoft.com/office/drawing/2014/main" id="{428BA537-6657-C826-70D2-3D8960D8EB9B}"/>
              </a:ext>
            </a:extLst>
          </p:cNvPr>
          <p:cNvSpPr/>
          <p:nvPr/>
        </p:nvSpPr>
        <p:spPr>
          <a:xfrm>
            <a:off x="457199" y="2079829"/>
            <a:ext cx="2897331" cy="2462946"/>
          </a:xfrm>
          <a:prstGeom prst="rect">
            <a:avLst/>
          </a:prstGeom>
          <a:noFill/>
          <a:ln/>
        </p:spPr>
        <p:txBody>
          <a:bodyPr wrap="square" lIns="0" tIns="0" rIns="0" bIns="0" rtlCol="0" anchor="t"/>
          <a:lstStyle/>
          <a:p>
            <a:pPr marL="0" marR="0" lvl="0" indent="0" algn="l" defTabSz="914400" rtl="0" eaLnBrk="1" fontAlgn="auto" latinLnBrk="0" hangingPunct="1">
              <a:lnSpc>
                <a:spcPts val="28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Emotional associations exhibited by customers with a strong affinity to their Premium Banking Programs</a:t>
            </a:r>
            <a:endParaRPr kumimoji="0" lang="en-US" sz="2000" b="0" i="0" u="none" strike="noStrike" kern="1200" cap="none" spc="0" normalizeH="0" baseline="0" noProof="0" dirty="0">
              <a:ln>
                <a:noFill/>
              </a:ln>
              <a:solidFill>
                <a:srgbClr val="A9734C"/>
              </a:solidFill>
              <a:effectLst/>
              <a:uLnTx/>
              <a:uFillTx/>
              <a:latin typeface="Hepta Slab SemiBold" pitchFamily="2" charset="0"/>
              <a:ea typeface="Hepta Slab Regular" pitchFamily="34" charset="-122"/>
              <a:cs typeface="Hepta Slab SemiBold" pitchFamily="2" charset="0"/>
            </a:endParaRPr>
          </a:p>
        </p:txBody>
      </p:sp>
    </p:spTree>
    <p:extLst>
      <p:ext uri="{BB962C8B-B14F-4D97-AF65-F5344CB8AC3E}">
        <p14:creationId xmlns:p14="http://schemas.microsoft.com/office/powerpoint/2010/main" val="6849782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C741B4DC-8F1E-2665-45CB-86DE9ACB4645}"/>
            </a:ext>
          </a:extLst>
        </p:cNvPr>
        <p:cNvGrpSpPr/>
        <p:nvPr/>
      </p:nvGrpSpPr>
      <p:grpSpPr>
        <a:xfrm>
          <a:off x="0" y="0"/>
          <a:ext cx="0" cy="0"/>
          <a:chOff x="0" y="0"/>
          <a:chExt cx="0" cy="0"/>
        </a:xfrm>
      </p:grpSpPr>
      <p:sp>
        <p:nvSpPr>
          <p:cNvPr id="16" name="Object6">
            <a:extLst>
              <a:ext uri="{FF2B5EF4-FFF2-40B4-BE49-F238E27FC236}">
                <a16:creationId xmlns:a16="http://schemas.microsoft.com/office/drawing/2014/main" id="{CEFAC9E6-B759-ED83-79CE-918C48734F55}"/>
              </a:ext>
            </a:extLst>
          </p:cNvPr>
          <p:cNvSpPr/>
          <p:nvPr/>
        </p:nvSpPr>
        <p:spPr>
          <a:xfrm>
            <a:off x="1762125" y="390690"/>
            <a:ext cx="9220200" cy="731307"/>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3975"/>
                </a:solidFill>
                <a:effectLst/>
                <a:uLnTx/>
                <a:uFillTx/>
                <a:latin typeface="Montserrat ExtraBold" pitchFamily="34" charset="0"/>
                <a:ea typeface="+mn-ea"/>
                <a:cs typeface="+mn-cs"/>
              </a:rPr>
              <a:t>EMOTIONAL VALENCE </a:t>
            </a:r>
          </a:p>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3975"/>
                </a:solidFill>
                <a:effectLst/>
                <a:uLnTx/>
                <a:uFillTx/>
                <a:latin typeface="Montserrat ExtraBold" pitchFamily="34" charset="0"/>
                <a:ea typeface="+mn-ea"/>
                <a:cs typeface="+mn-cs"/>
              </a:rPr>
              <a:t>Emotions that drive engagement for CELESTA TODAY</a:t>
            </a:r>
            <a:endParaRPr kumimoji="0" lang="en-US" sz="1600" b="0" i="0" u="none" strike="noStrike" kern="1200" cap="all" spc="0" normalizeH="0" baseline="0" noProof="0" dirty="0">
              <a:ln>
                <a:noFill/>
              </a:ln>
              <a:solidFill>
                <a:srgbClr val="003975"/>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DBF11629-8665-1A2C-08C6-DD4A85F891C6}"/>
              </a:ext>
            </a:extLst>
          </p:cNvPr>
          <p:cNvGrpSpPr/>
          <p:nvPr/>
        </p:nvGrpSpPr>
        <p:grpSpPr>
          <a:xfrm>
            <a:off x="-61290" y="6053155"/>
            <a:ext cx="12253290" cy="971832"/>
            <a:chOff x="-187799" y="8336784"/>
            <a:chExt cx="18379935" cy="1457748"/>
          </a:xfrm>
        </p:grpSpPr>
        <p:pic>
          <p:nvPicPr>
            <p:cNvPr id="18" name="Picture 17">
              <a:extLst>
                <a:ext uri="{FF2B5EF4-FFF2-40B4-BE49-F238E27FC236}">
                  <a16:creationId xmlns:a16="http://schemas.microsoft.com/office/drawing/2014/main" id="{66C007FF-B8B5-264C-311E-3BE795EC2F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9" name="Title 1">
              <a:extLst>
                <a:ext uri="{FF2B5EF4-FFF2-40B4-BE49-F238E27FC236}">
                  <a16:creationId xmlns:a16="http://schemas.microsoft.com/office/drawing/2014/main" id="{70B4ED80-899A-8838-3CDD-02FD7EBCC9B5}"/>
                </a:ext>
              </a:extLst>
            </p:cNvPr>
            <p:cNvSpPr txBox="1">
              <a:spLocks/>
            </p:cNvSpPr>
            <p:nvPr/>
          </p:nvSpPr>
          <p:spPr>
            <a:xfrm>
              <a:off x="5585952" y="9222122"/>
              <a:ext cx="6924368" cy="295208"/>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0" name="Picture 19">
              <a:extLst>
                <a:ext uri="{FF2B5EF4-FFF2-40B4-BE49-F238E27FC236}">
                  <a16:creationId xmlns:a16="http://schemas.microsoft.com/office/drawing/2014/main" id="{7B02086A-B112-3439-F741-B7C35981FA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8" name="TextBox 7">
            <a:extLst>
              <a:ext uri="{FF2B5EF4-FFF2-40B4-BE49-F238E27FC236}">
                <a16:creationId xmlns:a16="http://schemas.microsoft.com/office/drawing/2014/main" id="{DCF674C2-8151-AE7C-1B1E-22A3C4376DEA}"/>
              </a:ext>
            </a:extLst>
          </p:cNvPr>
          <p:cNvSpPr txBox="1"/>
          <p:nvPr/>
        </p:nvSpPr>
        <p:spPr>
          <a:xfrm>
            <a:off x="9948987" y="6482271"/>
            <a:ext cx="1033338"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E7E6E6">
                    <a:lumMod val="75000"/>
                  </a:srgbClr>
                </a:solidFill>
                <a:effectLst/>
                <a:uLnTx/>
                <a:uFillTx/>
                <a:latin typeface="Montserrat Light" panose="00000400000000000000" pitchFamily="2" charset="0"/>
                <a:ea typeface="+mn-ea"/>
                <a:cs typeface="+mn-cs"/>
              </a:rPr>
              <a:t>n= 165</a:t>
            </a:r>
            <a:endParaRPr kumimoji="0" lang="en-IN" sz="1050" b="0" i="0" u="none" strike="noStrike" kern="1200" cap="none" spc="0" normalizeH="0" baseline="0" noProof="0" dirty="0">
              <a:ln>
                <a:noFill/>
              </a:ln>
              <a:solidFill>
                <a:srgbClr val="E7E6E6">
                  <a:lumMod val="75000"/>
                </a:srgbClr>
              </a:solidFill>
              <a:effectLst/>
              <a:uLnTx/>
              <a:uFillTx/>
              <a:latin typeface="Montserrat Light" panose="00000400000000000000" pitchFamily="2" charset="0"/>
              <a:ea typeface="+mn-ea"/>
              <a:cs typeface="+mn-cs"/>
            </a:endParaRPr>
          </a:p>
        </p:txBody>
      </p:sp>
      <p:sp>
        <p:nvSpPr>
          <p:cNvPr id="3" name="Slide Number Placeholder 4">
            <a:extLst>
              <a:ext uri="{FF2B5EF4-FFF2-40B4-BE49-F238E27FC236}">
                <a16:creationId xmlns:a16="http://schemas.microsoft.com/office/drawing/2014/main" id="{CC56C26C-2427-5CFE-F023-7EB234B0FAC8}"/>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pic>
        <p:nvPicPr>
          <p:cNvPr id="5" name="Picture 4" descr="A blue brain with a blue background&#10;&#10;Description automatically generated">
            <a:extLst>
              <a:ext uri="{FF2B5EF4-FFF2-40B4-BE49-F238E27FC236}">
                <a16:creationId xmlns:a16="http://schemas.microsoft.com/office/drawing/2014/main" id="{AACC7EDB-6FCD-E7A6-670B-8659D785C73C}"/>
              </a:ext>
            </a:extLst>
          </p:cNvPr>
          <p:cNvPicPr>
            <a:picLocks noChangeAspect="1"/>
          </p:cNvPicPr>
          <p:nvPr/>
        </p:nvPicPr>
        <p:blipFill>
          <a:blip r:embed="rId5" cstate="print">
            <a:extLst>
              <a:ext uri="{28A0092B-C50C-407E-A947-70E740481C1C}">
                <a14:useLocalDpi xmlns:a14="http://schemas.microsoft.com/office/drawing/2010/main" val="0"/>
              </a:ext>
            </a:extLst>
          </a:blip>
          <a:srcRect l="24683" r="24684"/>
          <a:stretch/>
        </p:blipFill>
        <p:spPr>
          <a:xfrm>
            <a:off x="457200" y="365124"/>
            <a:ext cx="914402" cy="8458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aphicFrame>
        <p:nvGraphicFramePr>
          <p:cNvPr id="6" name="Table 5">
            <a:extLst>
              <a:ext uri="{FF2B5EF4-FFF2-40B4-BE49-F238E27FC236}">
                <a16:creationId xmlns:a16="http://schemas.microsoft.com/office/drawing/2014/main" id="{219B3B33-31A2-CAEE-C890-3218D53D2396}"/>
              </a:ext>
            </a:extLst>
          </p:cNvPr>
          <p:cNvGraphicFramePr>
            <a:graphicFrameLocks noGrp="1"/>
          </p:cNvGraphicFramePr>
          <p:nvPr/>
        </p:nvGraphicFramePr>
        <p:xfrm>
          <a:off x="2319339" y="1944600"/>
          <a:ext cx="1954289" cy="3740400"/>
        </p:xfrm>
        <a:graphic>
          <a:graphicData uri="http://schemas.openxmlformats.org/drawingml/2006/table">
            <a:tbl>
              <a:tblPr/>
              <a:tblGrid>
                <a:gridCol w="1954289">
                  <a:extLst>
                    <a:ext uri="{9D8B030D-6E8A-4147-A177-3AD203B41FA5}">
                      <a16:colId xmlns:a16="http://schemas.microsoft.com/office/drawing/2014/main" val="2142427272"/>
                    </a:ext>
                  </a:extLst>
                </a:gridCol>
              </a:tblGrid>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Life Goals Enabler</a:t>
                      </a:r>
                    </a:p>
                  </a:txBody>
                  <a:tcPr marL="9525" marR="9525" marT="18000" marB="18000" anchor="b">
                    <a:lnL>
                      <a:noFill/>
                    </a:lnL>
                    <a:lnR>
                      <a:noFill/>
                    </a:lnR>
                    <a:lnT>
                      <a:noFill/>
                    </a:lnT>
                    <a:lnB>
                      <a:noFill/>
                    </a:lnB>
                    <a:solidFill>
                      <a:srgbClr val="002060"/>
                    </a:solidFill>
                  </a:tcPr>
                </a:tc>
                <a:extLst>
                  <a:ext uri="{0D108BD9-81ED-4DB2-BD59-A6C34878D82A}">
                    <a16:rowId xmlns:a16="http://schemas.microsoft.com/office/drawing/2014/main" val="1842730271"/>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Exclusive</a:t>
                      </a:r>
                    </a:p>
                  </a:txBody>
                  <a:tcPr marL="9525" marR="9525" marT="18000" marB="18000" anchor="b">
                    <a:lnL>
                      <a:noFill/>
                    </a:lnL>
                    <a:lnR>
                      <a:noFill/>
                    </a:lnR>
                    <a:lnT>
                      <a:noFill/>
                    </a:lnT>
                    <a:lnB>
                      <a:noFill/>
                    </a:lnB>
                    <a:solidFill>
                      <a:srgbClr val="002060"/>
                    </a:solidFill>
                  </a:tcPr>
                </a:tc>
                <a:extLst>
                  <a:ext uri="{0D108BD9-81ED-4DB2-BD59-A6C34878D82A}">
                    <a16:rowId xmlns:a16="http://schemas.microsoft.com/office/drawing/2014/main" val="254617073"/>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Prestige</a:t>
                      </a:r>
                    </a:p>
                  </a:txBody>
                  <a:tcPr marL="9525" marR="9525" marT="18000" marB="18000" anchor="b">
                    <a:lnL>
                      <a:noFill/>
                    </a:lnL>
                    <a:lnR>
                      <a:noFill/>
                    </a:lnR>
                    <a:lnT>
                      <a:noFill/>
                    </a:lnT>
                    <a:lnB>
                      <a:noFill/>
                    </a:lnB>
                    <a:solidFill>
                      <a:srgbClr val="002060"/>
                    </a:solidFill>
                  </a:tcPr>
                </a:tc>
                <a:extLst>
                  <a:ext uri="{0D108BD9-81ED-4DB2-BD59-A6C34878D82A}">
                    <a16:rowId xmlns:a16="http://schemas.microsoft.com/office/drawing/2014/main" val="2063732288"/>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Personalized</a:t>
                      </a:r>
                      <a:r>
                        <a:rPr lang="en-IN" sz="1400" b="0" i="0" u="none" strike="noStrike" dirty="0">
                          <a:solidFill>
                            <a:srgbClr val="F7A600"/>
                          </a:solidFill>
                          <a:effectLst/>
                          <a:latin typeface="Hepta Slab SemiBold" pitchFamily="2" charset="0"/>
                          <a:cs typeface="Hepta Slab SemiBold" pitchFamily="2" charset="0"/>
                        </a:rPr>
                        <a:t> </a:t>
                      </a:r>
                    </a:p>
                  </a:txBody>
                  <a:tcPr marL="9525" marR="9525" marT="18000" marB="18000" anchor="b">
                    <a:lnL>
                      <a:noFill/>
                    </a:lnL>
                    <a:lnR>
                      <a:noFill/>
                    </a:lnR>
                    <a:lnT>
                      <a:noFill/>
                    </a:lnT>
                    <a:lnB>
                      <a:noFill/>
                    </a:lnB>
                    <a:solidFill>
                      <a:srgbClr val="002060"/>
                    </a:solidFill>
                  </a:tcPr>
                </a:tc>
                <a:extLst>
                  <a:ext uri="{0D108BD9-81ED-4DB2-BD59-A6C34878D82A}">
                    <a16:rowId xmlns:a16="http://schemas.microsoft.com/office/drawing/2014/main" val="2343891225"/>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Assurance </a:t>
                      </a:r>
                    </a:p>
                  </a:txBody>
                  <a:tcPr marL="9525" marR="9525" marT="18000" marB="18000" anchor="b">
                    <a:lnL>
                      <a:noFill/>
                    </a:lnL>
                    <a:lnR>
                      <a:noFill/>
                    </a:lnR>
                    <a:lnT>
                      <a:noFill/>
                    </a:lnT>
                    <a:lnB>
                      <a:noFill/>
                    </a:lnB>
                    <a:solidFill>
                      <a:srgbClr val="002060"/>
                    </a:solidFill>
                  </a:tcPr>
                </a:tc>
                <a:extLst>
                  <a:ext uri="{0D108BD9-81ED-4DB2-BD59-A6C34878D82A}">
                    <a16:rowId xmlns:a16="http://schemas.microsoft.com/office/drawing/2014/main" val="1260858094"/>
                  </a:ext>
                </a:extLst>
              </a:tr>
              <a:tr h="190500">
                <a:tc>
                  <a:txBody>
                    <a:bodyPr/>
                    <a:lstStyle/>
                    <a:p>
                      <a:pPr algn="l" fontAlgn="b"/>
                      <a:endParaRPr lang="en-IN" sz="1400" b="0" i="0" u="none" strike="noStrike" dirty="0">
                        <a:solidFill>
                          <a:srgbClr val="FFFFFF"/>
                        </a:solidFill>
                        <a:effectLst/>
                        <a:latin typeface="Hepta Slab SemiBold" pitchFamily="2" charset="0"/>
                        <a:cs typeface="Hepta Slab SemiBold" pitchFamily="2" charset="0"/>
                      </a:endParaRPr>
                    </a:p>
                  </a:txBody>
                  <a:tcPr marL="9525" marR="9525" marT="18000" marB="18000" anchor="b">
                    <a:lnL>
                      <a:noFill/>
                    </a:lnL>
                    <a:lnR>
                      <a:noFill/>
                    </a:lnR>
                    <a:lnT>
                      <a:noFill/>
                    </a:lnT>
                    <a:lnB>
                      <a:noFill/>
                    </a:lnB>
                    <a:noFill/>
                  </a:tcPr>
                </a:tc>
                <a:extLst>
                  <a:ext uri="{0D108BD9-81ED-4DB2-BD59-A6C34878D82A}">
                    <a16:rowId xmlns:a16="http://schemas.microsoft.com/office/drawing/2014/main" val="466026279"/>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Innovative</a:t>
                      </a:r>
                    </a:p>
                  </a:txBody>
                  <a:tcPr marL="9525" marR="9525" marT="18000" marB="18000" anchor="b">
                    <a:lnL>
                      <a:noFill/>
                    </a:lnL>
                    <a:lnR>
                      <a:noFill/>
                    </a:lnR>
                    <a:lnT>
                      <a:noFill/>
                    </a:lnT>
                    <a:lnB>
                      <a:noFill/>
                    </a:lnB>
                    <a:solidFill>
                      <a:srgbClr val="0070C0"/>
                    </a:solidFill>
                  </a:tcPr>
                </a:tc>
                <a:extLst>
                  <a:ext uri="{0D108BD9-81ED-4DB2-BD59-A6C34878D82A}">
                    <a16:rowId xmlns:a16="http://schemas.microsoft.com/office/drawing/2014/main" val="387213155"/>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Relevant </a:t>
                      </a:r>
                    </a:p>
                  </a:txBody>
                  <a:tcPr marL="9525" marR="9525" marT="18000" marB="18000" anchor="b">
                    <a:lnL>
                      <a:noFill/>
                    </a:lnL>
                    <a:lnR>
                      <a:noFill/>
                    </a:lnR>
                    <a:lnT>
                      <a:noFill/>
                    </a:lnT>
                    <a:lnB>
                      <a:noFill/>
                    </a:lnB>
                    <a:solidFill>
                      <a:srgbClr val="0070C0"/>
                    </a:solidFill>
                  </a:tcPr>
                </a:tc>
                <a:extLst>
                  <a:ext uri="{0D108BD9-81ED-4DB2-BD59-A6C34878D82A}">
                    <a16:rowId xmlns:a16="http://schemas.microsoft.com/office/drawing/2014/main" val="2545737836"/>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Confidence</a:t>
                      </a:r>
                    </a:p>
                  </a:txBody>
                  <a:tcPr marL="9525" marR="9525" marT="18000" marB="18000" anchor="b">
                    <a:lnL>
                      <a:noFill/>
                    </a:lnL>
                    <a:lnR>
                      <a:noFill/>
                    </a:lnR>
                    <a:lnT>
                      <a:noFill/>
                    </a:lnT>
                    <a:lnB>
                      <a:noFill/>
                    </a:lnB>
                    <a:solidFill>
                      <a:srgbClr val="0070C0"/>
                    </a:solidFill>
                  </a:tcPr>
                </a:tc>
                <a:extLst>
                  <a:ext uri="{0D108BD9-81ED-4DB2-BD59-A6C34878D82A}">
                    <a16:rowId xmlns:a16="http://schemas.microsoft.com/office/drawing/2014/main" val="2280485331"/>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bg1"/>
                          </a:solidFill>
                          <a:effectLst/>
                          <a:latin typeface="Hepta Slab SemiBold" pitchFamily="2" charset="0"/>
                          <a:cs typeface="Hepta Slab SemiBold" pitchFamily="2" charset="0"/>
                        </a:rPr>
                        <a:t>Financial Growth </a:t>
                      </a:r>
                    </a:p>
                  </a:txBody>
                  <a:tcPr marL="9525" marR="9525" marT="18000" marB="18000" anchor="b">
                    <a:lnL>
                      <a:noFill/>
                    </a:lnL>
                    <a:lnR>
                      <a:noFill/>
                    </a:lnR>
                    <a:lnT>
                      <a:noFill/>
                    </a:lnT>
                    <a:lnB>
                      <a:noFill/>
                    </a:lnB>
                    <a:solidFill>
                      <a:srgbClr val="0070C0"/>
                    </a:solidFill>
                  </a:tcPr>
                </a:tc>
                <a:extLst>
                  <a:ext uri="{0D108BD9-81ED-4DB2-BD59-A6C34878D82A}">
                    <a16:rowId xmlns:a16="http://schemas.microsoft.com/office/drawing/2014/main" val="3347202603"/>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chemeClr val="bg1"/>
                        </a:solidFill>
                        <a:effectLst/>
                        <a:latin typeface="Hepta Slab SemiBold" pitchFamily="2" charset="0"/>
                        <a:cs typeface="Hepta Slab SemiBold" pitchFamily="2" charset="0"/>
                      </a:endParaRPr>
                    </a:p>
                  </a:txBody>
                  <a:tcPr marL="9525" marR="9525" marT="18000" marB="18000" anchor="b">
                    <a:lnL>
                      <a:noFill/>
                    </a:lnL>
                    <a:lnR>
                      <a:noFill/>
                    </a:lnR>
                    <a:lnT>
                      <a:noFill/>
                    </a:lnT>
                    <a:lnB>
                      <a:noFill/>
                    </a:lnB>
                    <a:noFill/>
                  </a:tcPr>
                </a:tc>
                <a:extLst>
                  <a:ext uri="{0D108BD9-81ED-4DB2-BD59-A6C34878D82A}">
                    <a16:rowId xmlns:a16="http://schemas.microsoft.com/office/drawing/2014/main" val="2416206427"/>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tx1"/>
                          </a:solidFill>
                          <a:effectLst/>
                          <a:latin typeface="Hepta Slab SemiBold" pitchFamily="2" charset="0"/>
                          <a:cs typeface="Hepta Slab SemiBold" pitchFamily="2" charset="0"/>
                        </a:rPr>
                        <a:t>Convenience</a:t>
                      </a:r>
                      <a:r>
                        <a:rPr lang="en-IN" sz="1400" b="0" i="0" u="none" strike="noStrike" dirty="0">
                          <a:solidFill>
                            <a:srgbClr val="F7A600"/>
                          </a:solidFill>
                          <a:effectLst/>
                          <a:latin typeface="Hepta Slab SemiBold" pitchFamily="2" charset="0"/>
                          <a:cs typeface="Hepta Slab SemiBold" pitchFamily="2" charset="0"/>
                        </a:rPr>
                        <a:t> </a:t>
                      </a:r>
                    </a:p>
                  </a:txBody>
                  <a:tcPr marL="9525" marR="9525" marT="18000" marB="18000" anchor="b">
                    <a:lnL>
                      <a:noFill/>
                    </a:lnL>
                    <a:lnR>
                      <a:noFill/>
                    </a:lnR>
                    <a:lnT>
                      <a:noFill/>
                    </a:lnT>
                    <a:lnB>
                      <a:noFill/>
                    </a:lnB>
                    <a:solidFill>
                      <a:srgbClr val="CAEDFB"/>
                    </a:solidFill>
                  </a:tcPr>
                </a:tc>
                <a:extLst>
                  <a:ext uri="{0D108BD9-81ED-4DB2-BD59-A6C34878D82A}">
                    <a16:rowId xmlns:a16="http://schemas.microsoft.com/office/drawing/2014/main" val="1400438263"/>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rgbClr val="F7A600"/>
                        </a:solidFill>
                        <a:effectLst/>
                        <a:latin typeface="Hepta Slab SemiBold" pitchFamily="2" charset="0"/>
                        <a:cs typeface="Hepta Slab SemiBold" pitchFamily="2" charset="0"/>
                      </a:endParaRPr>
                    </a:p>
                  </a:txBody>
                  <a:tcPr marL="9525" marR="9525" marT="18000" marB="18000" anchor="b">
                    <a:lnL>
                      <a:noFill/>
                    </a:lnL>
                    <a:lnR>
                      <a:noFill/>
                    </a:lnR>
                    <a:lnT>
                      <a:noFill/>
                    </a:lnT>
                    <a:lnB>
                      <a:noFill/>
                    </a:lnB>
                    <a:noFill/>
                  </a:tcPr>
                </a:tc>
                <a:extLst>
                  <a:ext uri="{0D108BD9-81ED-4DB2-BD59-A6C34878D82A}">
                    <a16:rowId xmlns:a16="http://schemas.microsoft.com/office/drawing/2014/main" val="1261204609"/>
                  </a:ext>
                </a:extLst>
              </a:tr>
              <a:tr h="190500">
                <a:tc>
                  <a:txBody>
                    <a:bodyPr/>
                    <a:lstStyle/>
                    <a:p>
                      <a:pPr algn="l" fontAlgn="b"/>
                      <a:r>
                        <a:rPr lang="en-IN" sz="1400" b="0" i="0" u="none" strike="noStrike" dirty="0">
                          <a:solidFill>
                            <a:srgbClr val="D67E34"/>
                          </a:solidFill>
                          <a:effectLst/>
                          <a:latin typeface="Hepta Slab SemiBold" pitchFamily="2" charset="0"/>
                          <a:cs typeface="Hepta Slab SemiBold" pitchFamily="2" charset="0"/>
                        </a:rPr>
                        <a:t>Intrusive</a:t>
                      </a:r>
                    </a:p>
                  </a:txBody>
                  <a:tcPr marL="9525" marR="9525" marT="18000" marB="18000" anchor="b">
                    <a:lnL>
                      <a:noFill/>
                    </a:lnL>
                    <a:lnR>
                      <a:noFill/>
                    </a:lnR>
                    <a:lnT>
                      <a:noFill/>
                    </a:lnT>
                    <a:lnB>
                      <a:noFill/>
                    </a:lnB>
                    <a:solidFill>
                      <a:srgbClr val="002060"/>
                    </a:solidFill>
                  </a:tcPr>
                </a:tc>
                <a:extLst>
                  <a:ext uri="{0D108BD9-81ED-4DB2-BD59-A6C34878D82A}">
                    <a16:rowId xmlns:a16="http://schemas.microsoft.com/office/drawing/2014/main" val="3749702565"/>
                  </a:ext>
                </a:extLst>
              </a:tr>
              <a:tr h="190500">
                <a:tc>
                  <a:txBody>
                    <a:bodyPr/>
                    <a:lstStyle/>
                    <a:p>
                      <a:pPr algn="l" fontAlgn="b"/>
                      <a:r>
                        <a:rPr lang="en-IN" sz="1400" b="0" i="0" u="none" strike="noStrike" dirty="0">
                          <a:solidFill>
                            <a:srgbClr val="F7A600"/>
                          </a:solidFill>
                          <a:effectLst/>
                          <a:latin typeface="Hepta Slab SemiBold" pitchFamily="2" charset="0"/>
                          <a:cs typeface="Hepta Slab SemiBold" pitchFamily="2" charset="0"/>
                        </a:rPr>
                        <a:t>Stressful </a:t>
                      </a:r>
                    </a:p>
                  </a:txBody>
                  <a:tcPr marL="9525" marR="9525" marT="18000" marB="18000" anchor="b">
                    <a:lnL>
                      <a:noFill/>
                    </a:lnL>
                    <a:lnR>
                      <a:noFill/>
                    </a:lnR>
                    <a:lnT>
                      <a:noFill/>
                    </a:lnT>
                    <a:lnB>
                      <a:noFill/>
                    </a:lnB>
                    <a:solidFill>
                      <a:srgbClr val="002060"/>
                    </a:solidFill>
                  </a:tcPr>
                </a:tc>
                <a:extLst>
                  <a:ext uri="{0D108BD9-81ED-4DB2-BD59-A6C34878D82A}">
                    <a16:rowId xmlns:a16="http://schemas.microsoft.com/office/drawing/2014/main" val="867421140"/>
                  </a:ext>
                </a:extLst>
              </a:tr>
            </a:tbl>
          </a:graphicData>
        </a:graphic>
      </p:graphicFrame>
      <p:sp>
        <p:nvSpPr>
          <p:cNvPr id="11" name="Object6">
            <a:extLst>
              <a:ext uri="{FF2B5EF4-FFF2-40B4-BE49-F238E27FC236}">
                <a16:creationId xmlns:a16="http://schemas.microsoft.com/office/drawing/2014/main" id="{292F5EA4-C106-E0A7-ECE8-639094FB884D}"/>
              </a:ext>
            </a:extLst>
          </p:cNvPr>
          <p:cNvSpPr/>
          <p:nvPr/>
        </p:nvSpPr>
        <p:spPr>
          <a:xfrm>
            <a:off x="2319339" y="1644924"/>
            <a:ext cx="2143125" cy="27312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3975"/>
                </a:solidFill>
                <a:effectLst/>
                <a:uLnTx/>
                <a:uFillTx/>
                <a:latin typeface="Montserrat ExtraBold" pitchFamily="34" charset="0"/>
                <a:ea typeface="+mn-ea"/>
                <a:cs typeface="+mn-cs"/>
              </a:rPr>
              <a:t>The goal</a:t>
            </a:r>
            <a:endParaRPr kumimoji="0" lang="en-US" sz="1600" b="0" i="0" u="none" strike="noStrike" kern="1200" cap="all" spc="0" normalizeH="0" baseline="0" noProof="0" dirty="0">
              <a:ln>
                <a:noFill/>
              </a:ln>
              <a:solidFill>
                <a:srgbClr val="003975"/>
              </a:solidFill>
              <a:effectLst/>
              <a:uLnTx/>
              <a:uFillTx/>
              <a:latin typeface="Calibri" panose="020F0502020204030204"/>
              <a:ea typeface="+mn-ea"/>
              <a:cs typeface="+mn-cs"/>
            </a:endParaRPr>
          </a:p>
        </p:txBody>
      </p:sp>
      <p:sp>
        <p:nvSpPr>
          <p:cNvPr id="12" name="Object6">
            <a:extLst>
              <a:ext uri="{FF2B5EF4-FFF2-40B4-BE49-F238E27FC236}">
                <a16:creationId xmlns:a16="http://schemas.microsoft.com/office/drawing/2014/main" id="{286AAA8A-1CC6-41B7-9453-A630E3A32347}"/>
              </a:ext>
            </a:extLst>
          </p:cNvPr>
          <p:cNvSpPr/>
          <p:nvPr/>
        </p:nvSpPr>
        <p:spPr>
          <a:xfrm>
            <a:off x="8229600" y="1480862"/>
            <a:ext cx="259080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endParaRPr kumimoji="0" lang="en-US" sz="1600" b="0" i="0" u="none" strike="noStrike" kern="1200" cap="all" spc="0" normalizeH="0" baseline="0" noProof="0" dirty="0">
              <a:ln>
                <a:noFill/>
              </a:ln>
              <a:solidFill>
                <a:srgbClr val="003975"/>
              </a:solidFill>
              <a:effectLst/>
              <a:uLnTx/>
              <a:uFillTx/>
              <a:latin typeface="Calibri" panose="020F0502020204030204"/>
              <a:ea typeface="+mn-ea"/>
              <a:cs typeface="+mn-cs"/>
            </a:endParaRPr>
          </a:p>
        </p:txBody>
      </p:sp>
      <p:graphicFrame>
        <p:nvGraphicFramePr>
          <p:cNvPr id="7" name="Table 6">
            <a:extLst>
              <a:ext uri="{FF2B5EF4-FFF2-40B4-BE49-F238E27FC236}">
                <a16:creationId xmlns:a16="http://schemas.microsoft.com/office/drawing/2014/main" id="{7904E32C-F1DD-03F8-3688-6FBC157B81C9}"/>
              </a:ext>
            </a:extLst>
          </p:cNvPr>
          <p:cNvGraphicFramePr>
            <a:graphicFrameLocks noGrp="1"/>
          </p:cNvGraphicFramePr>
          <p:nvPr/>
        </p:nvGraphicFramePr>
        <p:xfrm>
          <a:off x="4619624" y="1944600"/>
          <a:ext cx="2390775" cy="3740400"/>
        </p:xfrm>
        <a:graphic>
          <a:graphicData uri="http://schemas.openxmlformats.org/drawingml/2006/table">
            <a:tbl>
              <a:tblPr/>
              <a:tblGrid>
                <a:gridCol w="1884354">
                  <a:extLst>
                    <a:ext uri="{9D8B030D-6E8A-4147-A177-3AD203B41FA5}">
                      <a16:colId xmlns:a16="http://schemas.microsoft.com/office/drawing/2014/main" val="2142427272"/>
                    </a:ext>
                  </a:extLst>
                </a:gridCol>
                <a:gridCol w="506421">
                  <a:extLst>
                    <a:ext uri="{9D8B030D-6E8A-4147-A177-3AD203B41FA5}">
                      <a16:colId xmlns:a16="http://schemas.microsoft.com/office/drawing/2014/main" val="453570"/>
                    </a:ext>
                  </a:extLst>
                </a:gridCol>
              </a:tblGrid>
              <a:tr h="14859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chemeClr val="tx1"/>
                          </a:solidFill>
                          <a:effectLst/>
                          <a:latin typeface="Hepta Slab SemiBold" pitchFamily="2" charset="0"/>
                          <a:cs typeface="Hepta Slab SemiBold" pitchFamily="2" charset="0"/>
                        </a:rPr>
                        <a:t>Life Goals Enabler</a:t>
                      </a:r>
                    </a:p>
                  </a:txBody>
                  <a:tcPr marL="9525" marR="9525" marT="18000" marB="18000" anchor="b">
                    <a:lnL>
                      <a:noFill/>
                    </a:lnL>
                    <a:lnR>
                      <a:noFill/>
                    </a:lnR>
                    <a:lnT>
                      <a:noFill/>
                    </a:lnT>
                    <a:lnB>
                      <a:noFill/>
                    </a:lnB>
                    <a:solidFill>
                      <a:schemeClr val="bg2"/>
                    </a:solidFill>
                  </a:tcPr>
                </a:tc>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chemeClr val="tx1"/>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842730271"/>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rgbClr val="E8A30B"/>
                          </a:solidFill>
                          <a:effectLst/>
                          <a:latin typeface="Hepta Slab SemiBold" pitchFamily="2" charset="0"/>
                          <a:cs typeface="Hepta Slab SemiBold" pitchFamily="2" charset="0"/>
                        </a:rPr>
                        <a:t>Exclusive</a:t>
                      </a:r>
                    </a:p>
                  </a:txBody>
                  <a:tcPr marL="9525" marR="9525" marT="18000" marB="18000" anchor="b">
                    <a:lnL>
                      <a:noFill/>
                    </a:lnL>
                    <a:lnR>
                      <a:noFill/>
                    </a:lnR>
                    <a:lnT>
                      <a:noFill/>
                    </a:lnT>
                    <a:lnB>
                      <a:noFill/>
                    </a:lnB>
                    <a:solidFill>
                      <a:srgbClr val="0070C0"/>
                    </a:solidFill>
                  </a:tcPr>
                </a:tc>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rgbClr val="D67E34"/>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54617073"/>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Prestige</a:t>
                      </a:r>
                    </a:p>
                  </a:txBody>
                  <a:tcPr marL="9525" marR="9525" marT="18000" marB="18000" anchor="b">
                    <a:lnL>
                      <a:noFill/>
                    </a:lnL>
                    <a:lnR>
                      <a:noFill/>
                    </a:lnR>
                    <a:lnT>
                      <a:noFill/>
                    </a:lnT>
                    <a:lnB>
                      <a:noFill/>
                    </a:lnB>
                    <a:solidFill>
                      <a:srgbClr val="002060"/>
                    </a:solidFill>
                  </a:tcPr>
                </a:tc>
                <a:tc>
                  <a:txBody>
                    <a:bodyPr/>
                    <a:lstStyle/>
                    <a:p>
                      <a:pPr algn="l" fontAlgn="b"/>
                      <a:endParaRPr lang="en-IN" sz="1400" b="0" i="0" u="none" strike="noStrike" dirty="0">
                        <a:solidFill>
                          <a:srgbClr val="FFFFFF"/>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063732288"/>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rgbClr val="D67E34"/>
                          </a:solidFill>
                          <a:effectLst/>
                          <a:latin typeface="Hepta Slab SemiBold" pitchFamily="2" charset="0"/>
                          <a:cs typeface="Hepta Slab SemiBold" pitchFamily="2" charset="0"/>
                        </a:rPr>
                        <a:t>Personalized</a:t>
                      </a:r>
                      <a:r>
                        <a:rPr lang="en-IN" sz="1400" b="0" i="0" u="none" strike="noStrike" dirty="0">
                          <a:solidFill>
                            <a:srgbClr val="F7A600"/>
                          </a:solidFill>
                          <a:effectLst/>
                          <a:latin typeface="Hepta Slab SemiBold" pitchFamily="2" charset="0"/>
                          <a:cs typeface="Hepta Slab SemiBold" pitchFamily="2" charset="0"/>
                        </a:rPr>
                        <a:t> </a:t>
                      </a:r>
                    </a:p>
                  </a:txBody>
                  <a:tcPr marL="9525" marR="9525" marT="18000" marB="18000" anchor="b">
                    <a:lnL>
                      <a:noFill/>
                    </a:lnL>
                    <a:lnR>
                      <a:noFill/>
                    </a:lnR>
                    <a:lnT>
                      <a:noFill/>
                    </a:lnT>
                    <a:lnB>
                      <a:noFill/>
                    </a:lnB>
                    <a:solidFill>
                      <a:srgbClr val="CAEDFB"/>
                    </a:solidFill>
                  </a:tcPr>
                </a:tc>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rgbClr val="F7A600"/>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343891225"/>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Assurance </a:t>
                      </a:r>
                    </a:p>
                  </a:txBody>
                  <a:tcPr marL="9525" marR="9525" marT="18000" marB="18000" anchor="b">
                    <a:lnL>
                      <a:noFill/>
                    </a:lnL>
                    <a:lnR>
                      <a:noFill/>
                    </a:lnR>
                    <a:lnT>
                      <a:noFill/>
                    </a:lnT>
                    <a:lnB>
                      <a:noFill/>
                    </a:lnB>
                    <a:solidFill>
                      <a:srgbClr val="002060"/>
                    </a:solidFill>
                  </a:tcPr>
                </a:tc>
                <a:tc>
                  <a:txBody>
                    <a:bodyPr/>
                    <a:lstStyle/>
                    <a:p>
                      <a:pPr algn="l" fontAlgn="b"/>
                      <a:endParaRPr lang="en-IN" sz="1400" b="0" i="0" u="none" strike="noStrike" dirty="0">
                        <a:solidFill>
                          <a:srgbClr val="FFFFFF"/>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260858094"/>
                  </a:ext>
                </a:extLst>
              </a:tr>
              <a:tr h="190500">
                <a:tc>
                  <a:txBody>
                    <a:bodyPr/>
                    <a:lstStyle/>
                    <a:p>
                      <a:pPr algn="l" fontAlgn="b"/>
                      <a:endParaRPr lang="en-IN" sz="1400" b="0" i="0" u="none" strike="noStrike" dirty="0">
                        <a:solidFill>
                          <a:srgbClr val="FFFFFF"/>
                        </a:solidFill>
                        <a:effectLst/>
                        <a:latin typeface="Hepta Slab SemiBold" pitchFamily="2" charset="0"/>
                        <a:cs typeface="Hepta Slab SemiBold" pitchFamily="2" charset="0"/>
                      </a:endParaRPr>
                    </a:p>
                  </a:txBody>
                  <a:tcPr marL="9525" marR="9525" marT="18000" marB="18000" anchor="b">
                    <a:lnL>
                      <a:noFill/>
                    </a:lnL>
                    <a:lnR>
                      <a:noFill/>
                    </a:lnR>
                    <a:lnT>
                      <a:noFill/>
                    </a:lnT>
                    <a:lnB>
                      <a:noFill/>
                    </a:lnB>
                    <a:noFill/>
                  </a:tcPr>
                </a:tc>
                <a:tc>
                  <a:txBody>
                    <a:bodyPr/>
                    <a:lstStyle/>
                    <a:p>
                      <a:pPr algn="l" fontAlgn="b"/>
                      <a:endParaRPr lang="en-IN" sz="1400" b="0" i="0" u="none" strike="noStrike" dirty="0">
                        <a:solidFill>
                          <a:srgbClr val="FFFFFF"/>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466026279"/>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Innovative</a:t>
                      </a:r>
                    </a:p>
                  </a:txBody>
                  <a:tcPr marL="9525" marR="9525" marT="18000" marB="18000" anchor="b">
                    <a:lnL>
                      <a:noFill/>
                    </a:lnL>
                    <a:lnR>
                      <a:noFill/>
                    </a:lnR>
                    <a:lnT>
                      <a:noFill/>
                    </a:lnT>
                    <a:lnB>
                      <a:noFill/>
                    </a:lnB>
                    <a:solidFill>
                      <a:srgbClr val="0070C0"/>
                    </a:solidFill>
                  </a:tcPr>
                </a:tc>
                <a:tc>
                  <a:txBody>
                    <a:bodyPr/>
                    <a:lstStyle/>
                    <a:p>
                      <a:pPr algn="l" fontAlgn="b"/>
                      <a:endParaRPr lang="en-IN" sz="1400" b="0" i="0" u="none" strike="noStrike" dirty="0">
                        <a:solidFill>
                          <a:srgbClr val="FFFFFF"/>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87213155"/>
                  </a:ext>
                </a:extLst>
              </a:tr>
              <a:tr h="190500">
                <a:tc>
                  <a:txBody>
                    <a:bodyPr/>
                    <a:lstStyle/>
                    <a:p>
                      <a:pPr algn="l" fontAlgn="b"/>
                      <a:r>
                        <a:rPr lang="en-IN" sz="1400" b="0" i="0" u="none" strike="noStrike" dirty="0">
                          <a:solidFill>
                            <a:srgbClr val="FFFFFF"/>
                          </a:solidFill>
                          <a:effectLst/>
                          <a:latin typeface="Hepta Slab SemiBold" pitchFamily="2" charset="0"/>
                          <a:cs typeface="Hepta Slab SemiBold" pitchFamily="2" charset="0"/>
                        </a:rPr>
                        <a:t>Relevant </a:t>
                      </a:r>
                    </a:p>
                  </a:txBody>
                  <a:tcPr marL="9525" marR="9525" marT="18000" marB="18000" anchor="b">
                    <a:lnL>
                      <a:noFill/>
                    </a:lnL>
                    <a:lnR>
                      <a:noFill/>
                    </a:lnR>
                    <a:lnT>
                      <a:noFill/>
                    </a:lnT>
                    <a:lnB>
                      <a:noFill/>
                    </a:lnB>
                    <a:solidFill>
                      <a:srgbClr val="0070C0"/>
                    </a:solidFill>
                  </a:tcPr>
                </a:tc>
                <a:tc>
                  <a:txBody>
                    <a:bodyPr/>
                    <a:lstStyle/>
                    <a:p>
                      <a:pPr algn="l" fontAlgn="b"/>
                      <a:endParaRPr lang="en-IN" sz="1400" b="0" i="0" u="none" strike="noStrike" dirty="0">
                        <a:solidFill>
                          <a:srgbClr val="FFFFFF"/>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545737836"/>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rgbClr val="E8A30B"/>
                          </a:solidFill>
                          <a:effectLst/>
                          <a:latin typeface="Hepta Slab SemiBold" pitchFamily="2" charset="0"/>
                          <a:cs typeface="Hepta Slab SemiBold" pitchFamily="2" charset="0"/>
                        </a:rPr>
                        <a:t>Confidence</a:t>
                      </a:r>
                    </a:p>
                  </a:txBody>
                  <a:tcPr marL="9525" marR="9525" marT="18000" marB="18000" anchor="b">
                    <a:lnL>
                      <a:noFill/>
                    </a:lnL>
                    <a:lnR>
                      <a:noFill/>
                    </a:lnR>
                    <a:lnT>
                      <a:noFill/>
                    </a:lnT>
                    <a:lnB>
                      <a:noFill/>
                    </a:lnB>
                    <a:solidFill>
                      <a:srgbClr val="0070C0"/>
                    </a:solidFill>
                  </a:tcPr>
                </a:tc>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rgbClr val="D67E34"/>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280485331"/>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rgbClr val="E8A30B"/>
                          </a:solidFill>
                          <a:effectLst/>
                          <a:latin typeface="Hepta Slab SemiBold" pitchFamily="2" charset="0"/>
                          <a:cs typeface="Hepta Slab SemiBold" pitchFamily="2" charset="0"/>
                        </a:rPr>
                        <a:t>Financial Growth </a:t>
                      </a:r>
                    </a:p>
                  </a:txBody>
                  <a:tcPr marL="9525" marR="9525" marT="18000" marB="18000" anchor="b">
                    <a:lnL>
                      <a:noFill/>
                    </a:lnL>
                    <a:lnR>
                      <a:noFill/>
                    </a:lnR>
                    <a:lnT>
                      <a:noFill/>
                    </a:lnT>
                    <a:lnB>
                      <a:noFill/>
                    </a:lnB>
                    <a:solidFill>
                      <a:srgbClr val="CAEDFB"/>
                    </a:solidFill>
                  </a:tcPr>
                </a:tc>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rgbClr val="D67E34"/>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47202603"/>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chemeClr val="bg1"/>
                        </a:solidFill>
                        <a:effectLst/>
                        <a:latin typeface="Hepta Slab SemiBold" pitchFamily="2" charset="0"/>
                        <a:cs typeface="Hepta Slab SemiBold" pitchFamily="2" charset="0"/>
                      </a:endParaRPr>
                    </a:p>
                  </a:txBody>
                  <a:tcPr marL="9525" marR="9525" marT="18000" marB="18000" anchor="b">
                    <a:lnL>
                      <a:noFill/>
                    </a:lnL>
                    <a:lnR>
                      <a:noFill/>
                    </a:lnR>
                    <a:lnT>
                      <a:noFill/>
                    </a:lnT>
                    <a:lnB>
                      <a:noFill/>
                    </a:lnB>
                    <a:noFill/>
                  </a:tcPr>
                </a:tc>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chemeClr val="bg1"/>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416206427"/>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r>
                        <a:rPr lang="en-IN" sz="1400" b="0" i="0" u="none" strike="noStrike" dirty="0">
                          <a:solidFill>
                            <a:srgbClr val="E8A30B"/>
                          </a:solidFill>
                          <a:effectLst/>
                          <a:latin typeface="Hepta Slab SemiBold" pitchFamily="2" charset="0"/>
                          <a:cs typeface="Hepta Slab SemiBold" pitchFamily="2" charset="0"/>
                        </a:rPr>
                        <a:t>Convenience </a:t>
                      </a:r>
                    </a:p>
                  </a:txBody>
                  <a:tcPr marL="9525" marR="9525" marT="18000" marB="18000" anchor="b">
                    <a:lnL>
                      <a:noFill/>
                    </a:lnL>
                    <a:lnR>
                      <a:noFill/>
                    </a:lnR>
                    <a:lnT>
                      <a:noFill/>
                    </a:lnT>
                    <a:lnB>
                      <a:noFill/>
                    </a:lnB>
                    <a:solidFill>
                      <a:srgbClr val="CAEDFB"/>
                    </a:solidFill>
                  </a:tcPr>
                </a:tc>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rgbClr val="F7A600"/>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400438263"/>
                  </a:ext>
                </a:extLst>
              </a:tr>
              <a:tr h="190500">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rgbClr val="F7A600"/>
                        </a:solidFill>
                        <a:effectLst/>
                        <a:latin typeface="Hepta Slab SemiBold" pitchFamily="2" charset="0"/>
                        <a:cs typeface="Hepta Slab SemiBold" pitchFamily="2" charset="0"/>
                      </a:endParaRPr>
                    </a:p>
                  </a:txBody>
                  <a:tcPr marL="9525" marR="9525" marT="18000" marB="18000" anchor="b">
                    <a:lnL>
                      <a:noFill/>
                    </a:lnL>
                    <a:lnR>
                      <a:noFill/>
                    </a:lnR>
                    <a:lnT>
                      <a:noFill/>
                    </a:lnT>
                    <a:lnB>
                      <a:noFill/>
                    </a:lnB>
                    <a:noFill/>
                  </a:tcPr>
                </a:tc>
                <a:tc>
                  <a:txBody>
                    <a:bodyPr/>
                    <a:lstStyle/>
                    <a:p>
                      <a:pPr marL="0" marR="0" lvl="0" indent="0" algn="l" defTabSz="914446" rtl="0" eaLnBrk="1" fontAlgn="b" latinLnBrk="0" hangingPunct="1">
                        <a:lnSpc>
                          <a:spcPct val="100000"/>
                        </a:lnSpc>
                        <a:spcBef>
                          <a:spcPts val="0"/>
                        </a:spcBef>
                        <a:spcAft>
                          <a:spcPts val="0"/>
                        </a:spcAft>
                        <a:buClrTx/>
                        <a:buSzTx/>
                        <a:buFontTx/>
                        <a:buNone/>
                        <a:tabLst/>
                        <a:defRPr/>
                      </a:pPr>
                      <a:endParaRPr lang="en-IN" sz="1400" b="0" i="0" u="none" strike="noStrike" dirty="0">
                        <a:solidFill>
                          <a:srgbClr val="F7A600"/>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261204609"/>
                  </a:ext>
                </a:extLst>
              </a:tr>
              <a:tr h="190500">
                <a:tc>
                  <a:txBody>
                    <a:bodyPr/>
                    <a:lstStyle/>
                    <a:p>
                      <a:pPr algn="l" fontAlgn="b"/>
                      <a:r>
                        <a:rPr lang="en-IN" sz="1400" b="0" i="0" u="none" strike="noStrike" dirty="0">
                          <a:solidFill>
                            <a:schemeClr val="tx1"/>
                          </a:solidFill>
                          <a:effectLst/>
                          <a:latin typeface="Hepta Slab SemiBold" pitchFamily="2" charset="0"/>
                          <a:cs typeface="Hepta Slab SemiBold" pitchFamily="2" charset="0"/>
                        </a:rPr>
                        <a:t>Intrusive</a:t>
                      </a:r>
                    </a:p>
                  </a:txBody>
                  <a:tcPr marL="9525" marR="9525" marT="18000" marB="18000" anchor="b">
                    <a:lnL>
                      <a:noFill/>
                    </a:lnL>
                    <a:lnR>
                      <a:noFill/>
                    </a:lnR>
                    <a:lnT>
                      <a:noFill/>
                    </a:lnT>
                    <a:lnB>
                      <a:noFill/>
                    </a:lnB>
                    <a:solidFill>
                      <a:srgbClr val="CAEDFB"/>
                    </a:solidFill>
                  </a:tcPr>
                </a:tc>
                <a:tc>
                  <a:txBody>
                    <a:bodyPr/>
                    <a:lstStyle/>
                    <a:p>
                      <a:pPr algn="l" fontAlgn="b"/>
                      <a:endParaRPr lang="en-IN" sz="1400" b="0" i="0" u="none" strike="noStrike" dirty="0">
                        <a:solidFill>
                          <a:schemeClr val="tx1"/>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749702565"/>
                  </a:ext>
                </a:extLst>
              </a:tr>
              <a:tr h="190500">
                <a:tc>
                  <a:txBody>
                    <a:bodyPr/>
                    <a:lstStyle/>
                    <a:p>
                      <a:pPr algn="l" fontAlgn="b"/>
                      <a:r>
                        <a:rPr lang="en-IN" sz="1400" b="0" i="0" u="none" strike="noStrike" dirty="0">
                          <a:solidFill>
                            <a:srgbClr val="F7A600"/>
                          </a:solidFill>
                          <a:effectLst/>
                          <a:latin typeface="Hepta Slab SemiBold" pitchFamily="2" charset="0"/>
                          <a:cs typeface="Hepta Slab SemiBold" pitchFamily="2" charset="0"/>
                        </a:rPr>
                        <a:t>Stressful </a:t>
                      </a:r>
                    </a:p>
                  </a:txBody>
                  <a:tcPr marL="9525" marR="9525" marT="18000" marB="18000" anchor="b">
                    <a:lnL>
                      <a:noFill/>
                    </a:lnL>
                    <a:lnR>
                      <a:noFill/>
                    </a:lnR>
                    <a:lnT>
                      <a:noFill/>
                    </a:lnT>
                    <a:lnB>
                      <a:noFill/>
                    </a:lnB>
                    <a:solidFill>
                      <a:srgbClr val="002060"/>
                    </a:solidFill>
                  </a:tcPr>
                </a:tc>
                <a:tc>
                  <a:txBody>
                    <a:bodyPr/>
                    <a:lstStyle/>
                    <a:p>
                      <a:pPr algn="l" fontAlgn="b"/>
                      <a:endParaRPr lang="en-IN" sz="1400" b="0" i="0" u="none" strike="noStrike" dirty="0">
                        <a:solidFill>
                          <a:srgbClr val="F7A600"/>
                        </a:solidFill>
                        <a:effectLst/>
                        <a:latin typeface="Hepta Slab SemiBold" pitchFamily="2" charset="0"/>
                        <a:cs typeface="Hepta Slab SemiBold" pitchFamily="2"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867421140"/>
                  </a:ext>
                </a:extLst>
              </a:tr>
            </a:tbl>
          </a:graphicData>
        </a:graphic>
      </p:graphicFrame>
      <p:sp>
        <p:nvSpPr>
          <p:cNvPr id="9" name="Object6">
            <a:extLst>
              <a:ext uri="{FF2B5EF4-FFF2-40B4-BE49-F238E27FC236}">
                <a16:creationId xmlns:a16="http://schemas.microsoft.com/office/drawing/2014/main" id="{20D91D68-688E-BDA0-132F-F15697CFB59B}"/>
              </a:ext>
            </a:extLst>
          </p:cNvPr>
          <p:cNvSpPr/>
          <p:nvPr/>
        </p:nvSpPr>
        <p:spPr>
          <a:xfrm>
            <a:off x="4619625" y="1644924"/>
            <a:ext cx="1838325" cy="27312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03975"/>
                </a:solidFill>
                <a:effectLst/>
                <a:uLnTx/>
                <a:uFillTx/>
                <a:latin typeface="Montserrat ExtraBold" pitchFamily="34" charset="0"/>
                <a:ea typeface="+mn-ea"/>
                <a:cs typeface="+mn-cs"/>
              </a:rPr>
              <a:t>CELESTA</a:t>
            </a:r>
            <a:endParaRPr kumimoji="0" lang="en-US" sz="1600" b="0" i="0" u="none" strike="noStrike" kern="1200" cap="all" spc="0" normalizeH="0" baseline="0" noProof="0" dirty="0">
              <a:ln>
                <a:noFill/>
              </a:ln>
              <a:solidFill>
                <a:srgbClr val="003975"/>
              </a:solidFill>
              <a:effectLst/>
              <a:uLnTx/>
              <a:uFillTx/>
              <a:latin typeface="Calibri" panose="020F0502020204030204"/>
              <a:ea typeface="+mn-ea"/>
              <a:cs typeface="+mn-cs"/>
            </a:endParaRPr>
          </a:p>
        </p:txBody>
      </p:sp>
      <p:graphicFrame>
        <p:nvGraphicFramePr>
          <p:cNvPr id="14" name="Table 13">
            <a:extLst>
              <a:ext uri="{FF2B5EF4-FFF2-40B4-BE49-F238E27FC236}">
                <a16:creationId xmlns:a16="http://schemas.microsoft.com/office/drawing/2014/main" id="{C8346539-86C2-9EAF-C7AD-8B7C0FE86593}"/>
              </a:ext>
            </a:extLst>
          </p:cNvPr>
          <p:cNvGraphicFramePr>
            <a:graphicFrameLocks noGrp="1"/>
          </p:cNvGraphicFramePr>
          <p:nvPr/>
        </p:nvGraphicFramePr>
        <p:xfrm>
          <a:off x="457200" y="3878612"/>
          <a:ext cx="1740783" cy="1824442"/>
        </p:xfrm>
        <a:graphic>
          <a:graphicData uri="http://schemas.openxmlformats.org/drawingml/2006/table">
            <a:tbl>
              <a:tblPr/>
              <a:tblGrid>
                <a:gridCol w="1740783">
                  <a:extLst>
                    <a:ext uri="{9D8B030D-6E8A-4147-A177-3AD203B41FA5}">
                      <a16:colId xmlns:a16="http://schemas.microsoft.com/office/drawing/2014/main" val="2142427272"/>
                    </a:ext>
                  </a:extLst>
                </a:gridCol>
              </a:tblGrid>
              <a:tr h="269962">
                <a:tc>
                  <a:txBody>
                    <a:bodyPr/>
                    <a:lstStyle/>
                    <a:p>
                      <a:pPr algn="l" fontAlgn="b"/>
                      <a:r>
                        <a:rPr lang="en-IN" sz="1100" b="0" i="0" u="none" strike="noStrike" dirty="0">
                          <a:solidFill>
                            <a:srgbClr val="FFFFFF"/>
                          </a:solidFill>
                          <a:effectLst/>
                          <a:latin typeface="Hepta Slab SemiBold" pitchFamily="2" charset="0"/>
                          <a:cs typeface="Hepta Slab SemiBold" pitchFamily="2" charset="0"/>
                        </a:rPr>
                        <a:t>Strong Positive</a:t>
                      </a:r>
                    </a:p>
                  </a:txBody>
                  <a:tcPr>
                    <a:lnL>
                      <a:noFill/>
                    </a:lnL>
                    <a:lnR>
                      <a:noFill/>
                    </a:lnR>
                    <a:lnT>
                      <a:noFill/>
                    </a:lnT>
                    <a:lnB>
                      <a:noFill/>
                    </a:lnB>
                    <a:solidFill>
                      <a:srgbClr val="002060"/>
                    </a:solidFill>
                  </a:tcPr>
                </a:tc>
                <a:extLst>
                  <a:ext uri="{0D108BD9-81ED-4DB2-BD59-A6C34878D82A}">
                    <a16:rowId xmlns:a16="http://schemas.microsoft.com/office/drawing/2014/main" val="2063732288"/>
                  </a:ext>
                </a:extLst>
              </a:tr>
              <a:tr h="228600">
                <a:tc>
                  <a:txBody>
                    <a:bodyPr/>
                    <a:lstStyle/>
                    <a:p>
                      <a:pPr algn="l" fontAlgn="b"/>
                      <a:r>
                        <a:rPr lang="en-IN" sz="1100" b="0" i="0" u="none" strike="noStrike" dirty="0">
                          <a:solidFill>
                            <a:srgbClr val="FFFFFF"/>
                          </a:solidFill>
                          <a:effectLst/>
                          <a:latin typeface="Hepta Slab SemiBold" pitchFamily="2" charset="0"/>
                          <a:cs typeface="Hepta Slab SemiBold" pitchFamily="2" charset="0"/>
                        </a:rPr>
                        <a:t>Moderate Positive</a:t>
                      </a:r>
                    </a:p>
                  </a:txBody>
                  <a:tcPr>
                    <a:lnL>
                      <a:noFill/>
                    </a:lnL>
                    <a:lnR>
                      <a:noFill/>
                    </a:lnR>
                    <a:lnT>
                      <a:noFill/>
                    </a:lnT>
                    <a:lnB>
                      <a:noFill/>
                    </a:lnB>
                    <a:solidFill>
                      <a:srgbClr val="0070C0"/>
                    </a:solidFill>
                  </a:tcPr>
                </a:tc>
                <a:extLst>
                  <a:ext uri="{0D108BD9-81ED-4DB2-BD59-A6C34878D82A}">
                    <a16:rowId xmlns:a16="http://schemas.microsoft.com/office/drawing/2014/main" val="387213155"/>
                  </a:ext>
                </a:extLst>
              </a:tr>
              <a:tr h="190500">
                <a:tc>
                  <a:txBody>
                    <a:bodyPr/>
                    <a:lstStyle/>
                    <a:p>
                      <a:pPr algn="l" fontAlgn="b"/>
                      <a:r>
                        <a:rPr lang="en-IN" sz="1100" b="0" i="0" u="none" strike="noStrike" dirty="0">
                          <a:solidFill>
                            <a:srgbClr val="000000"/>
                          </a:solidFill>
                          <a:effectLst/>
                          <a:latin typeface="Hepta Slab SemiBold" pitchFamily="2" charset="0"/>
                          <a:cs typeface="Hepta Slab SemiBold" pitchFamily="2" charset="0"/>
                        </a:rPr>
                        <a:t>Weak Positive</a:t>
                      </a:r>
                    </a:p>
                  </a:txBody>
                  <a:tcPr>
                    <a:lnL>
                      <a:noFill/>
                    </a:lnL>
                    <a:lnR>
                      <a:noFill/>
                    </a:lnR>
                    <a:lnT>
                      <a:noFill/>
                    </a:lnT>
                    <a:lnB>
                      <a:noFill/>
                    </a:lnB>
                    <a:solidFill>
                      <a:srgbClr val="CAEDFB"/>
                    </a:solidFill>
                  </a:tcPr>
                </a:tc>
                <a:extLst>
                  <a:ext uri="{0D108BD9-81ED-4DB2-BD59-A6C34878D82A}">
                    <a16:rowId xmlns:a16="http://schemas.microsoft.com/office/drawing/2014/main" val="3749702565"/>
                  </a:ext>
                </a:extLst>
              </a:tr>
              <a:tr h="190500">
                <a:tc>
                  <a:txBody>
                    <a:bodyPr/>
                    <a:lstStyle/>
                    <a:p>
                      <a:pPr algn="l" fontAlgn="b"/>
                      <a:r>
                        <a:rPr lang="en-IN" sz="1100" b="0" i="0" u="none" strike="noStrike" dirty="0">
                          <a:solidFill>
                            <a:srgbClr val="000000"/>
                          </a:solidFill>
                          <a:effectLst/>
                          <a:latin typeface="Hepta Slab SemiBold" pitchFamily="2" charset="0"/>
                          <a:cs typeface="Hepta Slab SemiBold" pitchFamily="2" charset="0"/>
                        </a:rPr>
                        <a:t>No Association</a:t>
                      </a:r>
                    </a:p>
                  </a:txBody>
                  <a:tcPr>
                    <a:lnL>
                      <a:noFill/>
                    </a:lnL>
                    <a:lnR>
                      <a:noFill/>
                    </a:lnR>
                    <a:lnT>
                      <a:noFill/>
                    </a:lnT>
                    <a:lnB>
                      <a:noFill/>
                    </a:lnB>
                    <a:solidFill>
                      <a:schemeClr val="bg2">
                        <a:lumMod val="90000"/>
                      </a:schemeClr>
                    </a:solidFill>
                  </a:tcPr>
                </a:tc>
                <a:extLst>
                  <a:ext uri="{0D108BD9-81ED-4DB2-BD59-A6C34878D82A}">
                    <a16:rowId xmlns:a16="http://schemas.microsoft.com/office/drawing/2014/main" val="2622930114"/>
                  </a:ext>
                </a:extLst>
              </a:tr>
              <a:tr h="224790">
                <a:tc>
                  <a:txBody>
                    <a:bodyPr/>
                    <a:lstStyle/>
                    <a:p>
                      <a:pPr algn="l" fontAlgn="b"/>
                      <a:r>
                        <a:rPr lang="en-IN" sz="1100" b="0" i="0" u="none" strike="noStrike" dirty="0">
                          <a:solidFill>
                            <a:srgbClr val="F7A600"/>
                          </a:solidFill>
                          <a:effectLst/>
                          <a:latin typeface="Hepta Slab SemiBold" pitchFamily="2" charset="0"/>
                          <a:cs typeface="Hepta Slab SemiBold" pitchFamily="2" charset="0"/>
                        </a:rPr>
                        <a:t>Weak Negative</a:t>
                      </a:r>
                    </a:p>
                  </a:txBody>
                  <a:tcPr>
                    <a:lnL>
                      <a:noFill/>
                    </a:lnL>
                    <a:lnR>
                      <a:noFill/>
                    </a:lnR>
                    <a:lnT>
                      <a:noFill/>
                    </a:lnT>
                    <a:lnB>
                      <a:noFill/>
                    </a:lnB>
                    <a:solidFill>
                      <a:srgbClr val="CAEDFB"/>
                    </a:solidFill>
                  </a:tcPr>
                </a:tc>
                <a:extLst>
                  <a:ext uri="{0D108BD9-81ED-4DB2-BD59-A6C34878D82A}">
                    <a16:rowId xmlns:a16="http://schemas.microsoft.com/office/drawing/2014/main" val="3824722182"/>
                  </a:ext>
                </a:extLst>
              </a:tr>
              <a:tr h="228600">
                <a:tc>
                  <a:txBody>
                    <a:bodyPr/>
                    <a:lstStyle/>
                    <a:p>
                      <a:pPr algn="l" fontAlgn="b"/>
                      <a:r>
                        <a:rPr lang="en-IN" sz="1100" b="0" i="0" u="none" strike="noStrike" dirty="0">
                          <a:solidFill>
                            <a:srgbClr val="F7A600"/>
                          </a:solidFill>
                          <a:effectLst/>
                          <a:latin typeface="Hepta Slab SemiBold" pitchFamily="2" charset="0"/>
                          <a:cs typeface="Hepta Slab SemiBold" pitchFamily="2" charset="0"/>
                        </a:rPr>
                        <a:t>Moderate Negative</a:t>
                      </a:r>
                    </a:p>
                  </a:txBody>
                  <a:tcPr>
                    <a:lnL>
                      <a:noFill/>
                    </a:lnL>
                    <a:lnR>
                      <a:noFill/>
                    </a:lnR>
                    <a:lnT>
                      <a:noFill/>
                    </a:lnT>
                    <a:lnB>
                      <a:noFill/>
                    </a:lnB>
                    <a:solidFill>
                      <a:srgbClr val="0070C0"/>
                    </a:solidFill>
                  </a:tcPr>
                </a:tc>
                <a:extLst>
                  <a:ext uri="{0D108BD9-81ED-4DB2-BD59-A6C34878D82A}">
                    <a16:rowId xmlns:a16="http://schemas.microsoft.com/office/drawing/2014/main" val="2672725057"/>
                  </a:ext>
                </a:extLst>
              </a:tr>
              <a:tr h="190500">
                <a:tc>
                  <a:txBody>
                    <a:bodyPr/>
                    <a:lstStyle/>
                    <a:p>
                      <a:pPr algn="l" fontAlgn="b"/>
                      <a:r>
                        <a:rPr lang="en-IN" sz="1100" b="0" i="0" u="none" strike="noStrike" dirty="0">
                          <a:solidFill>
                            <a:srgbClr val="F7A600"/>
                          </a:solidFill>
                          <a:effectLst/>
                          <a:latin typeface="Hepta Slab SemiBold" pitchFamily="2" charset="0"/>
                          <a:cs typeface="Hepta Slab SemiBold" pitchFamily="2" charset="0"/>
                        </a:rPr>
                        <a:t>Strong Negative</a:t>
                      </a:r>
                    </a:p>
                  </a:txBody>
                  <a:tcPr>
                    <a:lnL>
                      <a:noFill/>
                    </a:lnL>
                    <a:lnR>
                      <a:noFill/>
                    </a:lnR>
                    <a:lnT>
                      <a:noFill/>
                    </a:lnT>
                    <a:lnB>
                      <a:noFill/>
                    </a:lnB>
                    <a:solidFill>
                      <a:srgbClr val="002060"/>
                    </a:solidFill>
                  </a:tcPr>
                </a:tc>
                <a:extLst>
                  <a:ext uri="{0D108BD9-81ED-4DB2-BD59-A6C34878D82A}">
                    <a16:rowId xmlns:a16="http://schemas.microsoft.com/office/drawing/2014/main" val="867421140"/>
                  </a:ext>
                </a:extLst>
              </a:tr>
            </a:tbl>
          </a:graphicData>
        </a:graphic>
      </p:graphicFrame>
      <p:sp>
        <p:nvSpPr>
          <p:cNvPr id="15" name="Object6">
            <a:extLst>
              <a:ext uri="{FF2B5EF4-FFF2-40B4-BE49-F238E27FC236}">
                <a16:creationId xmlns:a16="http://schemas.microsoft.com/office/drawing/2014/main" id="{75646B56-B4A0-AB51-2D20-7FEBEA1A1FAA}"/>
              </a:ext>
            </a:extLst>
          </p:cNvPr>
          <p:cNvSpPr/>
          <p:nvPr/>
        </p:nvSpPr>
        <p:spPr>
          <a:xfrm>
            <a:off x="704225" y="3671636"/>
            <a:ext cx="957262" cy="222885"/>
          </a:xfrm>
          <a:prstGeom prst="rect">
            <a:avLst/>
          </a:prstGeom>
          <a:noFill/>
          <a:ln/>
        </p:spPr>
        <p:txBody>
          <a:bodyPr wrap="square" lIns="0" tIns="0" rIns="0" bIns="0" rtlCol="0" anchor="t"/>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US" sz="1400" b="0" i="0" u="none" strike="noStrike" kern="1200" cap="all" spc="0" normalizeH="0" baseline="0" noProof="0" dirty="0">
                <a:ln>
                  <a:noFill/>
                </a:ln>
                <a:solidFill>
                  <a:prstClr val="white">
                    <a:lumMod val="50000"/>
                  </a:prstClr>
                </a:solidFill>
                <a:effectLst/>
                <a:uLnTx/>
                <a:uFillTx/>
                <a:latin typeface="Montserrat ExtraBold" pitchFamily="34" charset="0"/>
                <a:ea typeface="+mn-ea"/>
                <a:cs typeface="+mn-cs"/>
              </a:rPr>
              <a:t>KEY</a:t>
            </a:r>
            <a:endParaRPr kumimoji="0" lang="en-US" sz="1400" b="0" i="0" u="none" strike="noStrike" kern="1200" cap="all"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6367930F-442A-80A0-7059-4886E3C36F9F}"/>
              </a:ext>
            </a:extLst>
          </p:cNvPr>
          <p:cNvSpPr>
            <a:spLocks noChangeAspect="1"/>
          </p:cNvSpPr>
          <p:nvPr/>
        </p:nvSpPr>
        <p:spPr>
          <a:xfrm>
            <a:off x="6617139" y="2209518"/>
            <a:ext cx="144000" cy="144000"/>
          </a:xfrm>
          <a:prstGeom prst="ellipse">
            <a:avLst/>
          </a:prstGeom>
          <a:solidFill>
            <a:srgbClr val="D67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F46E2AF4-4406-B823-3AE3-2DA6807785D0}"/>
              </a:ext>
            </a:extLst>
          </p:cNvPr>
          <p:cNvSpPr>
            <a:spLocks noChangeAspect="1"/>
          </p:cNvSpPr>
          <p:nvPr/>
        </p:nvSpPr>
        <p:spPr>
          <a:xfrm>
            <a:off x="6617139" y="2743471"/>
            <a:ext cx="144000" cy="144000"/>
          </a:xfrm>
          <a:prstGeom prst="ellipse">
            <a:avLst/>
          </a:prstGeom>
          <a:solidFill>
            <a:srgbClr val="D67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B020956B-16CA-CC2F-155E-4BD91644C11B}"/>
              </a:ext>
            </a:extLst>
          </p:cNvPr>
          <p:cNvSpPr>
            <a:spLocks noChangeAspect="1"/>
          </p:cNvSpPr>
          <p:nvPr/>
        </p:nvSpPr>
        <p:spPr>
          <a:xfrm>
            <a:off x="6617139" y="4003747"/>
            <a:ext cx="144000" cy="144000"/>
          </a:xfrm>
          <a:prstGeom prst="ellipse">
            <a:avLst/>
          </a:prstGeom>
          <a:solidFill>
            <a:srgbClr val="D67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DFFB9103-1CCC-E8D0-F032-247C221AE102}"/>
              </a:ext>
            </a:extLst>
          </p:cNvPr>
          <p:cNvSpPr>
            <a:spLocks noChangeAspect="1"/>
          </p:cNvSpPr>
          <p:nvPr/>
        </p:nvSpPr>
        <p:spPr>
          <a:xfrm>
            <a:off x="6617139" y="4244214"/>
            <a:ext cx="144000" cy="144000"/>
          </a:xfrm>
          <a:prstGeom prst="ellipse">
            <a:avLst/>
          </a:prstGeom>
          <a:solidFill>
            <a:srgbClr val="D67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D3423551-F94A-F33E-DD92-198B635356CA}"/>
              </a:ext>
            </a:extLst>
          </p:cNvPr>
          <p:cNvSpPr>
            <a:spLocks noChangeAspect="1"/>
          </p:cNvSpPr>
          <p:nvPr/>
        </p:nvSpPr>
        <p:spPr>
          <a:xfrm>
            <a:off x="6617139" y="4749415"/>
            <a:ext cx="144000" cy="144000"/>
          </a:xfrm>
          <a:prstGeom prst="ellipse">
            <a:avLst/>
          </a:prstGeom>
          <a:solidFill>
            <a:srgbClr val="D67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226ECCE9-A350-B663-5F3B-A14220496056}"/>
              </a:ext>
            </a:extLst>
          </p:cNvPr>
          <p:cNvSpPr>
            <a:spLocks noChangeAspect="1"/>
          </p:cNvSpPr>
          <p:nvPr/>
        </p:nvSpPr>
        <p:spPr>
          <a:xfrm>
            <a:off x="6617139" y="5247017"/>
            <a:ext cx="144000" cy="144000"/>
          </a:xfrm>
          <a:prstGeom prst="ellipse">
            <a:avLst/>
          </a:prstGeom>
          <a:solidFill>
            <a:srgbClr val="D67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Star: 5 Points 26">
            <a:extLst>
              <a:ext uri="{FF2B5EF4-FFF2-40B4-BE49-F238E27FC236}">
                <a16:creationId xmlns:a16="http://schemas.microsoft.com/office/drawing/2014/main" id="{695E580A-FE56-8414-8860-0BB79055EE67}"/>
              </a:ext>
            </a:extLst>
          </p:cNvPr>
          <p:cNvSpPr>
            <a:spLocks noChangeAspect="1"/>
          </p:cNvSpPr>
          <p:nvPr/>
        </p:nvSpPr>
        <p:spPr>
          <a:xfrm>
            <a:off x="6563139" y="2412090"/>
            <a:ext cx="252000" cy="252000"/>
          </a:xfrm>
          <a:prstGeom prst="star5">
            <a:avLst/>
          </a:prstGeom>
          <a:solidFill>
            <a:schemeClr val="accent1">
              <a:lumMod val="50000"/>
            </a:schemeClr>
          </a:solidFill>
          <a:ln>
            <a:solidFill>
              <a:srgbClr val="F7A8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Star: 5 Points 28">
            <a:extLst>
              <a:ext uri="{FF2B5EF4-FFF2-40B4-BE49-F238E27FC236}">
                <a16:creationId xmlns:a16="http://schemas.microsoft.com/office/drawing/2014/main" id="{DFD0EB0D-661F-4878-EF7D-6CAC49923565}"/>
              </a:ext>
            </a:extLst>
          </p:cNvPr>
          <p:cNvSpPr>
            <a:spLocks noChangeAspect="1"/>
          </p:cNvSpPr>
          <p:nvPr/>
        </p:nvSpPr>
        <p:spPr>
          <a:xfrm>
            <a:off x="6563139" y="2916000"/>
            <a:ext cx="252000" cy="252000"/>
          </a:xfrm>
          <a:prstGeom prst="star5">
            <a:avLst/>
          </a:prstGeom>
          <a:solidFill>
            <a:schemeClr val="accent1">
              <a:lumMod val="50000"/>
            </a:schemeClr>
          </a:solidFill>
          <a:ln>
            <a:solidFill>
              <a:srgbClr val="F7A8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Star: 5 Points 29">
            <a:extLst>
              <a:ext uri="{FF2B5EF4-FFF2-40B4-BE49-F238E27FC236}">
                <a16:creationId xmlns:a16="http://schemas.microsoft.com/office/drawing/2014/main" id="{D644E31F-C0C1-0044-BD66-B0271447D8DA}"/>
              </a:ext>
            </a:extLst>
          </p:cNvPr>
          <p:cNvSpPr>
            <a:spLocks noChangeAspect="1"/>
          </p:cNvSpPr>
          <p:nvPr/>
        </p:nvSpPr>
        <p:spPr>
          <a:xfrm>
            <a:off x="6563139" y="3388386"/>
            <a:ext cx="252000" cy="252000"/>
          </a:xfrm>
          <a:prstGeom prst="star5">
            <a:avLst/>
          </a:prstGeom>
          <a:solidFill>
            <a:schemeClr val="accent1">
              <a:lumMod val="50000"/>
            </a:schemeClr>
          </a:solidFill>
          <a:ln>
            <a:solidFill>
              <a:srgbClr val="F7A8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Star: 5 Points 30">
            <a:extLst>
              <a:ext uri="{FF2B5EF4-FFF2-40B4-BE49-F238E27FC236}">
                <a16:creationId xmlns:a16="http://schemas.microsoft.com/office/drawing/2014/main" id="{BB4458A7-EB2B-7A8C-974B-9E32066F2A17}"/>
              </a:ext>
            </a:extLst>
          </p:cNvPr>
          <p:cNvSpPr>
            <a:spLocks noChangeAspect="1"/>
          </p:cNvSpPr>
          <p:nvPr/>
        </p:nvSpPr>
        <p:spPr>
          <a:xfrm>
            <a:off x="6563139" y="3656443"/>
            <a:ext cx="252000" cy="252000"/>
          </a:xfrm>
          <a:prstGeom prst="star5">
            <a:avLst/>
          </a:prstGeom>
          <a:solidFill>
            <a:schemeClr val="accent1">
              <a:lumMod val="50000"/>
            </a:schemeClr>
          </a:solidFill>
          <a:ln>
            <a:solidFill>
              <a:srgbClr val="F7A8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Star: 5 Points 31">
            <a:extLst>
              <a:ext uri="{FF2B5EF4-FFF2-40B4-BE49-F238E27FC236}">
                <a16:creationId xmlns:a16="http://schemas.microsoft.com/office/drawing/2014/main" id="{3D199216-4F74-8B8C-E8E1-443A4DB5E1E5}"/>
              </a:ext>
            </a:extLst>
          </p:cNvPr>
          <p:cNvSpPr>
            <a:spLocks noChangeAspect="1"/>
          </p:cNvSpPr>
          <p:nvPr/>
        </p:nvSpPr>
        <p:spPr>
          <a:xfrm>
            <a:off x="6563139" y="5426317"/>
            <a:ext cx="252000" cy="252000"/>
          </a:xfrm>
          <a:prstGeom prst="star5">
            <a:avLst/>
          </a:prstGeom>
          <a:solidFill>
            <a:schemeClr val="accent1">
              <a:lumMod val="50000"/>
            </a:schemeClr>
          </a:solidFill>
          <a:ln>
            <a:solidFill>
              <a:srgbClr val="F7A8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D077BE94-86F9-EC3E-B8D4-97D951BA0604}"/>
              </a:ext>
            </a:extLst>
          </p:cNvPr>
          <p:cNvSpPr>
            <a:spLocks noChangeAspect="1"/>
          </p:cNvSpPr>
          <p:nvPr/>
        </p:nvSpPr>
        <p:spPr>
          <a:xfrm>
            <a:off x="6617139" y="1973604"/>
            <a:ext cx="144000" cy="144000"/>
          </a:xfrm>
          <a:prstGeom prst="ellipse">
            <a:avLst/>
          </a:prstGeom>
          <a:solidFill>
            <a:srgbClr val="D67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bject5">
            <a:extLst>
              <a:ext uri="{FF2B5EF4-FFF2-40B4-BE49-F238E27FC236}">
                <a16:creationId xmlns:a16="http://schemas.microsoft.com/office/drawing/2014/main" id="{7320F640-4709-5354-4D8D-4A29E75F71E3}"/>
              </a:ext>
            </a:extLst>
          </p:cNvPr>
          <p:cNvSpPr/>
          <p:nvPr/>
        </p:nvSpPr>
        <p:spPr>
          <a:xfrm>
            <a:off x="1762125" y="1101021"/>
            <a:ext cx="7734300" cy="310225"/>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Emotional associations exhibited by current Celesta customers</a:t>
            </a:r>
            <a:endParaRPr kumimoji="0" lang="en-US" sz="1600" b="0" i="0" u="none" strike="noStrike" kern="1200" cap="none" spc="0" normalizeH="0" baseline="0" noProof="0" dirty="0">
              <a:ln>
                <a:noFill/>
              </a:ln>
              <a:solidFill>
                <a:srgbClr val="A9734C"/>
              </a:solidFill>
              <a:effectLst/>
              <a:uLnTx/>
              <a:uFillTx/>
              <a:latin typeface="Hepta Slab SemiBold" pitchFamily="2" charset="0"/>
              <a:ea typeface="Hepta Slab Regular" pitchFamily="34" charset="-122"/>
              <a:cs typeface="Hepta Slab SemiBold" pitchFamily="2" charset="0"/>
            </a:endParaRPr>
          </a:p>
        </p:txBody>
      </p:sp>
      <p:sp>
        <p:nvSpPr>
          <p:cNvPr id="35" name="Object5">
            <a:extLst>
              <a:ext uri="{FF2B5EF4-FFF2-40B4-BE49-F238E27FC236}">
                <a16:creationId xmlns:a16="http://schemas.microsoft.com/office/drawing/2014/main" id="{5555DEED-ECD1-F55A-BE38-C6AFD20EF6F2}"/>
              </a:ext>
            </a:extLst>
          </p:cNvPr>
          <p:cNvSpPr/>
          <p:nvPr/>
        </p:nvSpPr>
        <p:spPr>
          <a:xfrm>
            <a:off x="7167559" y="1624595"/>
            <a:ext cx="4405316" cy="4485883"/>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Customers see “</a:t>
            </a:r>
            <a:r>
              <a:rPr kumimoji="0" lang="en-US" sz="1400" b="0" i="0" u="none" strike="noStrike" kern="1200" cap="none" spc="0" normalizeH="0" baseline="0" noProof="0" dirty="0">
                <a:ln>
                  <a:noFill/>
                </a:ln>
                <a:solidFill>
                  <a:srgbClr val="002060"/>
                </a:solidFill>
                <a:effectLst/>
                <a:uLnTx/>
                <a:uFillTx/>
                <a:latin typeface="Hepta Slab SemiBold" pitchFamily="2" charset="0"/>
                <a:ea typeface="Hepta Slab Regular" pitchFamily="34" charset="-122"/>
                <a:cs typeface="Hepta Slab SemiBold" pitchFamily="2" charset="0"/>
              </a:rPr>
              <a:t>Prestige</a:t>
            </a:r>
            <a:r>
              <a:rPr kumimoji="0" lang="en-US" sz="14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 “</a:t>
            </a:r>
            <a:r>
              <a:rPr kumimoji="0" lang="en-US" sz="1400" b="0" i="0" u="none" strike="noStrike" kern="1200" cap="none" spc="0" normalizeH="0" baseline="0" noProof="0" dirty="0">
                <a:ln>
                  <a:noFill/>
                </a:ln>
                <a:solidFill>
                  <a:srgbClr val="002060"/>
                </a:solidFill>
                <a:effectLst/>
                <a:uLnTx/>
                <a:uFillTx/>
                <a:latin typeface="Hepta Slab SemiBold" pitchFamily="2" charset="0"/>
                <a:ea typeface="Hepta Slab Regular" pitchFamily="34" charset="-122"/>
                <a:cs typeface="Hepta Slab SemiBold" pitchFamily="2" charset="0"/>
              </a:rPr>
              <a:t>Assurance</a:t>
            </a:r>
            <a:r>
              <a:rPr kumimoji="0" lang="en-US" sz="14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 “</a:t>
            </a:r>
            <a:r>
              <a:rPr kumimoji="0" lang="en-US" sz="1400" b="0" i="0" u="none" strike="noStrike" kern="1200" cap="none" spc="0" normalizeH="0" baseline="0" noProof="0" dirty="0">
                <a:ln>
                  <a:noFill/>
                </a:ln>
                <a:solidFill>
                  <a:srgbClr val="002060"/>
                </a:solidFill>
                <a:effectLst/>
                <a:uLnTx/>
                <a:uFillTx/>
                <a:latin typeface="Hepta Slab SemiBold" pitchFamily="2" charset="0"/>
                <a:ea typeface="Hepta Slab Regular" pitchFamily="34" charset="-122"/>
                <a:cs typeface="Hepta Slab SemiBold" pitchFamily="2" charset="0"/>
              </a:rPr>
              <a:t>Innovative</a:t>
            </a:r>
            <a:r>
              <a:rPr kumimoji="0" lang="en-US" sz="14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 &amp; “</a:t>
            </a:r>
            <a:r>
              <a:rPr kumimoji="0" lang="en-US" sz="1400" b="0" i="0" u="none" strike="noStrike" kern="1200" cap="none" spc="0" normalizeH="0" baseline="0" noProof="0" dirty="0">
                <a:ln>
                  <a:noFill/>
                </a:ln>
                <a:solidFill>
                  <a:srgbClr val="002060"/>
                </a:solidFill>
                <a:effectLst/>
                <a:uLnTx/>
                <a:uFillTx/>
                <a:latin typeface="Hepta Slab SemiBold" pitchFamily="2" charset="0"/>
                <a:ea typeface="Hepta Slab Regular" pitchFamily="34" charset="-122"/>
                <a:cs typeface="Hepta Slab SemiBold" pitchFamily="2" charset="0"/>
              </a:rPr>
              <a:t>Relevant</a:t>
            </a:r>
            <a:r>
              <a:rPr kumimoji="0" lang="en-US" sz="14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 as the defining attributes for Celesta. Similarly, it is also not seen as “</a:t>
            </a:r>
            <a:r>
              <a:rPr kumimoji="0" lang="en-US" sz="1400" b="0" i="0" u="none" strike="noStrike" kern="1200" cap="none" spc="0" normalizeH="0" baseline="0" noProof="0" dirty="0">
                <a:ln>
                  <a:noFill/>
                </a:ln>
                <a:solidFill>
                  <a:srgbClr val="002060"/>
                </a:solidFill>
                <a:effectLst/>
                <a:uLnTx/>
                <a:uFillTx/>
                <a:latin typeface="Hepta Slab SemiBold" pitchFamily="2" charset="0"/>
                <a:ea typeface="Hepta Slab Regular" pitchFamily="34" charset="-122"/>
                <a:cs typeface="Hepta Slab SemiBold" pitchFamily="2" charset="0"/>
              </a:rPr>
              <a:t>Stressful</a:t>
            </a:r>
            <a:r>
              <a:rPr kumimoji="0" lang="en-US" sz="14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 </a:t>
            </a:r>
          </a:p>
          <a:p>
            <a:pPr marL="0" marR="0" lvl="0" indent="0" algn="l" defTabSz="914400" rtl="0" eaLnBrk="1" fontAlgn="auto" latinLnBrk="0" hangingPunct="1">
              <a:lnSpc>
                <a:spcPts val="24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However, customers do not see Exclusivity, Financial growth, Convenience as strong attributes for Celesta. </a:t>
            </a:r>
          </a:p>
          <a:p>
            <a:pPr marL="0" marR="0" lvl="0" indent="0" algn="l" defTabSz="914400" rtl="0" eaLnBrk="1" fontAlgn="auto" latinLnBrk="0" hangingPunct="1">
              <a:lnSpc>
                <a:spcPts val="24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As a result, they do not perceive Celesta to be playing a role in their “</a:t>
            </a:r>
            <a:r>
              <a:rPr kumimoji="0" lang="en-US" sz="1400" b="0" i="0" u="none" strike="noStrike" kern="1200" cap="none" spc="0" normalizeH="0" baseline="0" noProof="0" dirty="0">
                <a:ln>
                  <a:noFill/>
                </a:ln>
                <a:solidFill>
                  <a:srgbClr val="002060"/>
                </a:solidFill>
                <a:effectLst/>
                <a:uLnTx/>
                <a:uFillTx/>
                <a:latin typeface="Hepta Slab SemiBold" pitchFamily="2" charset="0"/>
                <a:ea typeface="Hepta Slab Regular" pitchFamily="34" charset="-122"/>
                <a:cs typeface="Hepta Slab SemiBold" pitchFamily="2" charset="0"/>
              </a:rPr>
              <a:t>Life Goals</a:t>
            </a:r>
            <a:r>
              <a:rPr kumimoji="0" lang="en-US" sz="1400" b="0" i="0" u="none" strike="noStrike" kern="1200" cap="none" spc="0" normalizeH="0" baseline="0" noProof="0" dirty="0">
                <a:ln>
                  <a:noFill/>
                </a:ln>
                <a:solidFill>
                  <a:srgbClr val="002060"/>
                </a:solidFill>
                <a:effectLst/>
                <a:uLnTx/>
                <a:uFillTx/>
                <a:latin typeface="Hepta Slab Medium" pitchFamily="2" charset="0"/>
                <a:ea typeface="Hepta Slab Regular" pitchFamily="34" charset="-122"/>
                <a:cs typeface="Hepta Slab Medium" pitchFamily="2" charset="0"/>
              </a:rPr>
              <a:t>”.</a:t>
            </a:r>
          </a:p>
          <a:p>
            <a:pPr marL="0" marR="0" lvl="0" indent="0" algn="l" defTabSz="914400" rtl="0" eaLnBrk="1" fontAlgn="auto" latinLnBrk="0" hangingPunct="1">
              <a:lnSpc>
                <a:spcPts val="24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This combined with a negative association with personalization also leads the customers to perceive Celesta as moderately “</a:t>
            </a:r>
            <a:r>
              <a:rPr kumimoji="0" lang="en-US" sz="1400" b="0" i="0" u="none" strike="noStrike" kern="1200" cap="none" spc="0" normalizeH="0" baseline="0" noProof="0" dirty="0">
                <a:ln>
                  <a:noFill/>
                </a:ln>
                <a:solidFill>
                  <a:srgbClr val="A9734C"/>
                </a:solidFill>
                <a:effectLst/>
                <a:uLnTx/>
                <a:uFillTx/>
                <a:latin typeface="Hepta Slab SemiBold" pitchFamily="2" charset="0"/>
                <a:ea typeface="Hepta Slab Regular" pitchFamily="34" charset="-122"/>
                <a:cs typeface="Hepta Slab SemiBold" pitchFamily="2" charset="0"/>
              </a:rPr>
              <a:t>Intrusive</a:t>
            </a:r>
            <a:r>
              <a:rPr kumimoji="0" lang="en-US" sz="1400" b="0" i="0" u="none" strike="noStrike" kern="1200" cap="none" spc="0" normalizeH="0" baseline="0" noProof="0" dirty="0">
                <a:ln>
                  <a:noFill/>
                </a:ln>
                <a:solidFill>
                  <a:srgbClr val="A9734C"/>
                </a:solidFill>
                <a:effectLst/>
                <a:uLnTx/>
                <a:uFillTx/>
                <a:latin typeface="Hepta Slab Medium" pitchFamily="2" charset="0"/>
                <a:ea typeface="Hepta Slab Regular" pitchFamily="34" charset="-122"/>
                <a:cs typeface="Hepta Slab Medium" pitchFamily="2" charset="0"/>
              </a:rPr>
              <a:t>”</a:t>
            </a:r>
          </a:p>
        </p:txBody>
      </p:sp>
      <p:sp>
        <p:nvSpPr>
          <p:cNvPr id="4" name="Oval 3">
            <a:extLst>
              <a:ext uri="{FF2B5EF4-FFF2-40B4-BE49-F238E27FC236}">
                <a16:creationId xmlns:a16="http://schemas.microsoft.com/office/drawing/2014/main" id="{C7193ACE-5B85-A6D2-D7A3-1146CE1EF147}"/>
              </a:ext>
            </a:extLst>
          </p:cNvPr>
          <p:cNvSpPr>
            <a:spLocks noChangeAspect="1"/>
          </p:cNvSpPr>
          <p:nvPr/>
        </p:nvSpPr>
        <p:spPr>
          <a:xfrm>
            <a:off x="4632245" y="6003198"/>
            <a:ext cx="144000" cy="144000"/>
          </a:xfrm>
          <a:prstGeom prst="ellipse">
            <a:avLst/>
          </a:prstGeom>
          <a:solidFill>
            <a:srgbClr val="D67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B6B9B09A-21BE-90A8-F7F4-90E6C17E63B5}"/>
              </a:ext>
            </a:extLst>
          </p:cNvPr>
          <p:cNvSpPr txBox="1"/>
          <p:nvPr/>
        </p:nvSpPr>
        <p:spPr>
          <a:xfrm>
            <a:off x="4890090" y="5936698"/>
            <a:ext cx="149111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67E34"/>
                </a:solidFill>
                <a:effectLst/>
                <a:uLnTx/>
                <a:uFillTx/>
                <a:latin typeface="Montserrat SemiBold" panose="00000700000000000000" pitchFamily="2" charset="0"/>
                <a:ea typeface="+mn-ea"/>
                <a:cs typeface="+mn-cs"/>
              </a:rPr>
              <a:t>CONCERN AREA</a:t>
            </a:r>
            <a:endParaRPr kumimoji="0" lang="en-IN" sz="1200" b="0" i="0" u="none" strike="noStrike" kern="1200" cap="none" spc="0" normalizeH="0" baseline="0" noProof="0" dirty="0">
              <a:ln>
                <a:noFill/>
              </a:ln>
              <a:solidFill>
                <a:srgbClr val="D67E34"/>
              </a:solidFill>
              <a:effectLst/>
              <a:uLnTx/>
              <a:uFillTx/>
              <a:latin typeface="Montserrat SemiBold" panose="00000700000000000000" pitchFamily="2" charset="0"/>
              <a:ea typeface="+mn-ea"/>
              <a:cs typeface="+mn-cs"/>
            </a:endParaRPr>
          </a:p>
        </p:txBody>
      </p:sp>
      <p:sp>
        <p:nvSpPr>
          <p:cNvPr id="13" name="Star: 5 Points 12">
            <a:extLst>
              <a:ext uri="{FF2B5EF4-FFF2-40B4-BE49-F238E27FC236}">
                <a16:creationId xmlns:a16="http://schemas.microsoft.com/office/drawing/2014/main" id="{9CA82D54-9F8B-147D-F140-FC769A12D075}"/>
              </a:ext>
            </a:extLst>
          </p:cNvPr>
          <p:cNvSpPr>
            <a:spLocks noChangeAspect="1"/>
          </p:cNvSpPr>
          <p:nvPr/>
        </p:nvSpPr>
        <p:spPr>
          <a:xfrm>
            <a:off x="4578245" y="6213396"/>
            <a:ext cx="252000" cy="252000"/>
          </a:xfrm>
          <a:prstGeom prst="star5">
            <a:avLst/>
          </a:prstGeom>
          <a:solidFill>
            <a:schemeClr val="accent1">
              <a:lumMod val="50000"/>
            </a:schemeClr>
          </a:solidFill>
          <a:ln>
            <a:solidFill>
              <a:srgbClr val="F7A8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5284FC50-BB60-2864-B7C0-FB23AF2AD024}"/>
              </a:ext>
            </a:extLst>
          </p:cNvPr>
          <p:cNvSpPr txBox="1"/>
          <p:nvPr/>
        </p:nvSpPr>
        <p:spPr>
          <a:xfrm>
            <a:off x="4901312" y="6233410"/>
            <a:ext cx="153760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03864"/>
                </a:solidFill>
                <a:effectLst/>
                <a:uLnTx/>
                <a:uFillTx/>
                <a:latin typeface="Montserrat SemiBold" panose="00000700000000000000" pitchFamily="2" charset="0"/>
                <a:ea typeface="+mn-ea"/>
                <a:cs typeface="+mn-cs"/>
              </a:rPr>
              <a:t>STRENGTH AREA</a:t>
            </a:r>
            <a:endParaRPr kumimoji="0" lang="en-IN" sz="1200" b="0" i="0" u="none" strike="noStrike" kern="1200" cap="none" spc="0" normalizeH="0" baseline="0" noProof="0" dirty="0">
              <a:ln>
                <a:noFill/>
              </a:ln>
              <a:solidFill>
                <a:srgbClr val="203864"/>
              </a:solidFill>
              <a:effectLst/>
              <a:uLnTx/>
              <a:uFillTx/>
              <a:latin typeface="Montserrat SemiBold" panose="00000700000000000000" pitchFamily="2" charset="0"/>
              <a:ea typeface="+mn-ea"/>
              <a:cs typeface="+mn-cs"/>
            </a:endParaRPr>
          </a:p>
        </p:txBody>
      </p:sp>
    </p:spTree>
    <p:extLst>
      <p:ext uri="{BB962C8B-B14F-4D97-AF65-F5344CB8AC3E}">
        <p14:creationId xmlns:p14="http://schemas.microsoft.com/office/powerpoint/2010/main" val="37816981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50D47B90-8447-589A-DE22-14AEDD29E24F}"/>
            </a:ext>
          </a:extLst>
        </p:cNvPr>
        <p:cNvGrpSpPr/>
        <p:nvPr/>
      </p:nvGrpSpPr>
      <p:grpSpPr>
        <a:xfrm>
          <a:off x="0" y="0"/>
          <a:ext cx="0" cy="0"/>
          <a:chOff x="0" y="0"/>
          <a:chExt cx="0" cy="0"/>
        </a:xfrm>
      </p:grpSpPr>
      <p:sp>
        <p:nvSpPr>
          <p:cNvPr id="11" name="Object5">
            <a:extLst>
              <a:ext uri="{FF2B5EF4-FFF2-40B4-BE49-F238E27FC236}">
                <a16:creationId xmlns:a16="http://schemas.microsoft.com/office/drawing/2014/main" id="{2ACA2E72-9CF1-C471-D226-CD1A6FED5E97}"/>
              </a:ext>
            </a:extLst>
          </p:cNvPr>
          <p:cNvSpPr/>
          <p:nvPr/>
        </p:nvSpPr>
        <p:spPr>
          <a:xfrm>
            <a:off x="1716214" y="757601"/>
            <a:ext cx="7408536" cy="371475"/>
          </a:xfrm>
          <a:prstGeom prst="rect">
            <a:avLst/>
          </a:prstGeom>
          <a:noFill/>
          <a:ln/>
        </p:spPr>
        <p:txBody>
          <a:bodyPr wrap="square" lIns="0" tIns="0" rIns="0" bIns="0" rtlCol="0" anchor="t"/>
          <a:lstStyle/>
          <a:p>
            <a:pPr marL="0" marR="0" lvl="0" indent="0" algn="l" defTabSz="914400" rtl="0" eaLnBrk="1" fontAlgn="auto" latinLnBrk="0" hangingPunct="1">
              <a:lnSpc>
                <a:spcPts val="2925"/>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A9734C"/>
                </a:solidFill>
                <a:effectLst/>
                <a:uLnTx/>
                <a:uFillTx/>
                <a:latin typeface="Montserrat ExtraBold" pitchFamily="34" charset="0"/>
                <a:ea typeface="+mn-ea"/>
                <a:cs typeface="+mn-cs"/>
              </a:rPr>
              <a:t>CONTEXTUAL</a:t>
            </a: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 . CONSISTENT . TRANSPARENT</a:t>
            </a:r>
          </a:p>
        </p:txBody>
      </p:sp>
      <p:sp>
        <p:nvSpPr>
          <p:cNvPr id="12" name="Object6">
            <a:extLst>
              <a:ext uri="{FF2B5EF4-FFF2-40B4-BE49-F238E27FC236}">
                <a16:creationId xmlns:a16="http://schemas.microsoft.com/office/drawing/2014/main" id="{9C98EF4D-58B2-C998-ECE1-DD6D4E0925B4}"/>
              </a:ext>
            </a:extLst>
          </p:cNvPr>
          <p:cNvSpPr/>
          <p:nvPr/>
        </p:nvSpPr>
        <p:spPr>
          <a:xfrm>
            <a:off x="1716213" y="436710"/>
            <a:ext cx="5156160" cy="320891"/>
          </a:xfrm>
          <a:prstGeom prst="rect">
            <a:avLst/>
          </a:prstGeom>
          <a:noFill/>
          <a:ln/>
        </p:spPr>
        <p:txBody>
          <a:bodyPr wrap="square" lIns="0" tIns="0" rIns="0" bIns="0" rtlCol="0" anchor="t"/>
          <a:lstStyle/>
          <a:p>
            <a:pPr marL="0" marR="0" lvl="0" indent="0" algn="l" defTabSz="457200" rtl="0" eaLnBrk="1" fontAlgn="auto" latinLnBrk="0" hangingPunct="1">
              <a:lnSpc>
                <a:spcPts val="2925"/>
              </a:lnSpc>
              <a:spcBef>
                <a:spcPts val="0"/>
              </a:spcBef>
              <a:spcAft>
                <a:spcPts val="0"/>
              </a:spcAft>
              <a:buClrTx/>
              <a:buSzTx/>
              <a:buFontTx/>
              <a:buNone/>
              <a:tabLst/>
              <a:defRPr/>
            </a:pPr>
            <a:r>
              <a:rPr kumimoji="0" lang="en-US" sz="2400" b="0" i="0" u="none" strike="noStrike" kern="1200" cap="all" spc="0" normalizeH="0" baseline="0" noProof="0" dirty="0">
                <a:ln>
                  <a:noFill/>
                </a:ln>
                <a:solidFill>
                  <a:srgbClr val="002060"/>
                </a:solidFill>
                <a:effectLst/>
                <a:uLnTx/>
                <a:uFillTx/>
                <a:latin typeface="Montserrat ExtraBold" pitchFamily="34" charset="0"/>
                <a:ea typeface="+mn-ea"/>
                <a:cs typeface="+mn-cs"/>
              </a:rPr>
              <a:t>HELP ME GROW MY MONEY</a:t>
            </a:r>
          </a:p>
        </p:txBody>
      </p:sp>
      <p:sp>
        <p:nvSpPr>
          <p:cNvPr id="14" name="Object6">
            <a:extLst>
              <a:ext uri="{FF2B5EF4-FFF2-40B4-BE49-F238E27FC236}">
                <a16:creationId xmlns:a16="http://schemas.microsoft.com/office/drawing/2014/main" id="{D5DF5D56-B67C-8FE0-F372-030FC6AC2225}"/>
              </a:ext>
            </a:extLst>
          </p:cNvPr>
          <p:cNvSpPr/>
          <p:nvPr/>
        </p:nvSpPr>
        <p:spPr>
          <a:xfrm>
            <a:off x="816000" y="1629001"/>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D0D0D"/>
                </a:solidFill>
                <a:effectLst/>
                <a:uLnTx/>
                <a:uFillTx/>
                <a:latin typeface="Montserrat ExtraBold" pitchFamily="34" charset="0"/>
                <a:ea typeface="+mn-ea"/>
                <a:cs typeface="+mn-cs"/>
              </a:rPr>
              <a:t>Salience of premium banking services</a:t>
            </a:r>
          </a:p>
        </p:txBody>
      </p:sp>
      <p:sp>
        <p:nvSpPr>
          <p:cNvPr id="15" name="Object6">
            <a:extLst>
              <a:ext uri="{FF2B5EF4-FFF2-40B4-BE49-F238E27FC236}">
                <a16:creationId xmlns:a16="http://schemas.microsoft.com/office/drawing/2014/main" id="{3E9CE0C7-F448-E1D7-623F-C21EE77793B8}"/>
              </a:ext>
            </a:extLst>
          </p:cNvPr>
          <p:cNvSpPr/>
          <p:nvPr/>
        </p:nvSpPr>
        <p:spPr>
          <a:xfrm>
            <a:off x="2319575" y="5322845"/>
            <a:ext cx="471142"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500" b="0" i="0" u="none" strike="noStrike" kern="1200" cap="all" spc="0" normalizeH="0" baseline="0" noProof="0" dirty="0">
                <a:ln>
                  <a:noFill/>
                </a:ln>
                <a:solidFill>
                  <a:prstClr val="white">
                    <a:lumMod val="50000"/>
                  </a:prstClr>
                </a:solidFill>
                <a:effectLst/>
                <a:uLnTx/>
                <a:uFillTx/>
                <a:latin typeface="Montserrat ExtraBold" pitchFamily="34" charset="0"/>
                <a:ea typeface="+mn-ea"/>
                <a:cs typeface="+mn-cs"/>
              </a:rPr>
              <a:t>KEY</a:t>
            </a:r>
          </a:p>
        </p:txBody>
      </p:sp>
      <p:graphicFrame>
        <p:nvGraphicFramePr>
          <p:cNvPr id="17" name="Table 3">
            <a:extLst>
              <a:ext uri="{FF2B5EF4-FFF2-40B4-BE49-F238E27FC236}">
                <a16:creationId xmlns:a16="http://schemas.microsoft.com/office/drawing/2014/main" id="{AE8F828B-6547-2109-A585-349C9BC00BA7}"/>
              </a:ext>
            </a:extLst>
          </p:cNvPr>
          <p:cNvGraphicFramePr>
            <a:graphicFrameLocks noGrp="1"/>
          </p:cNvGraphicFramePr>
          <p:nvPr/>
        </p:nvGraphicFramePr>
        <p:xfrm>
          <a:off x="816000" y="4603839"/>
          <a:ext cx="3478292" cy="690880"/>
        </p:xfrm>
        <a:graphic>
          <a:graphicData uri="http://schemas.openxmlformats.org/drawingml/2006/table">
            <a:tbl>
              <a:tblPr firstRow="1" bandRow="1">
                <a:tableStyleId>{5C22544A-7EE6-4342-B048-85BDC9FD1C3A}</a:tableStyleId>
              </a:tblPr>
              <a:tblGrid>
                <a:gridCol w="869573">
                  <a:extLst>
                    <a:ext uri="{9D8B030D-6E8A-4147-A177-3AD203B41FA5}">
                      <a16:colId xmlns:a16="http://schemas.microsoft.com/office/drawing/2014/main" val="3544323815"/>
                    </a:ext>
                  </a:extLst>
                </a:gridCol>
                <a:gridCol w="869573">
                  <a:extLst>
                    <a:ext uri="{9D8B030D-6E8A-4147-A177-3AD203B41FA5}">
                      <a16:colId xmlns:a16="http://schemas.microsoft.com/office/drawing/2014/main" val="2300798888"/>
                    </a:ext>
                  </a:extLst>
                </a:gridCol>
                <a:gridCol w="854804">
                  <a:extLst>
                    <a:ext uri="{9D8B030D-6E8A-4147-A177-3AD203B41FA5}">
                      <a16:colId xmlns:a16="http://schemas.microsoft.com/office/drawing/2014/main" val="3292172797"/>
                    </a:ext>
                  </a:extLst>
                </a:gridCol>
                <a:gridCol w="884342">
                  <a:extLst>
                    <a:ext uri="{9D8B030D-6E8A-4147-A177-3AD203B41FA5}">
                      <a16:colId xmlns:a16="http://schemas.microsoft.com/office/drawing/2014/main" val="2909209508"/>
                    </a:ext>
                  </a:extLst>
                </a:gridCol>
              </a:tblGrid>
              <a:tr h="345440">
                <a:tc>
                  <a:txBody>
                    <a:bodyPr/>
                    <a:lstStyle/>
                    <a:p>
                      <a:r>
                        <a:rPr lang="en-IN" sz="900" b="0" dirty="0">
                          <a:latin typeface="Hepta Slab Medium" pitchFamily="2" charset="0"/>
                          <a:cs typeface="Hepta Slab Medium" pitchFamily="2" charset="0"/>
                        </a:rPr>
                        <a:t>Strong Positive</a:t>
                      </a:r>
                    </a:p>
                  </a:txBody>
                  <a:tcPr marL="60960" marR="60960" marT="30480" marB="30480">
                    <a:lnL w="12700" cmpd="sng">
                      <a:noFill/>
                    </a:lnL>
                    <a:lnR w="12700" cmpd="sng">
                      <a:noFill/>
                    </a:lnR>
                    <a:lnT w="12700" cmpd="sng">
                      <a:noFill/>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203864"/>
                    </a:solidFill>
                  </a:tcPr>
                </a:tc>
                <a:tc>
                  <a:txBody>
                    <a:bodyPr/>
                    <a:lstStyle/>
                    <a:p>
                      <a:r>
                        <a:rPr kumimoji="0" lang="en-IN" sz="900" b="0" i="0" u="none" strike="noStrike" kern="1200" cap="none" spc="0" normalizeH="0" baseline="0" noProof="0" dirty="0">
                          <a:ln>
                            <a:noFill/>
                          </a:ln>
                          <a:solidFill>
                            <a:schemeClr val="bg1"/>
                          </a:solidFill>
                          <a:effectLst/>
                          <a:uLnTx/>
                          <a:uFillTx/>
                          <a:latin typeface="Hepta Slab Medium" pitchFamily="2" charset="0"/>
                          <a:ea typeface="+mn-ea"/>
                          <a:cs typeface="Hepta Slab Medium" pitchFamily="2" charset="0"/>
                        </a:rPr>
                        <a:t>Moderate Positive</a:t>
                      </a:r>
                      <a:endParaRPr lang="en-IN" sz="900" b="0" dirty="0">
                        <a:solidFill>
                          <a:schemeClr val="bg1"/>
                        </a:solidFill>
                        <a:latin typeface="Hepta Slab Medium" pitchFamily="2" charset="0"/>
                        <a:cs typeface="Hepta Slab Medium" pitchFamily="2" charset="0"/>
                      </a:endParaRPr>
                    </a:p>
                  </a:txBody>
                  <a:tcPr marL="60960" marR="60960" marT="30480" marB="30480">
                    <a:lnL w="12700" cmpd="sng">
                      <a:noFill/>
                    </a:lnL>
                    <a:lnR w="12700" cmpd="sng">
                      <a:noFill/>
                    </a:lnR>
                    <a:lnT w="12700" cmpd="sng">
                      <a:noFill/>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IN" sz="900" b="0" dirty="0">
                          <a:solidFill>
                            <a:schemeClr val="tx1"/>
                          </a:solidFill>
                          <a:latin typeface="Hepta Slab Medium" pitchFamily="2" charset="0"/>
                          <a:cs typeface="Hepta Slab Medium" pitchFamily="2" charset="0"/>
                        </a:rPr>
                        <a:t>Weak Positive</a:t>
                      </a:r>
                    </a:p>
                  </a:txBody>
                  <a:tcPr marL="60960" marR="60960" marT="30480" marB="30480">
                    <a:lnL w="12700" cmpd="sng">
                      <a:noFill/>
                    </a:lnL>
                    <a:lnR w="12700" cmpd="sng">
                      <a:noFill/>
                    </a:lnR>
                    <a:lnT w="12700" cmpd="sng">
                      <a:noFill/>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r>
                        <a:rPr lang="en-IN" sz="900" b="0" i="0" u="none" strike="noStrike" dirty="0">
                          <a:solidFill>
                            <a:schemeClr val="bg1"/>
                          </a:solidFill>
                          <a:effectLst/>
                          <a:latin typeface="Hepta Slab Medium" pitchFamily="2" charset="0"/>
                          <a:cs typeface="Hepta Slab Medium" pitchFamily="2" charset="0"/>
                        </a:rPr>
                        <a:t>No association</a:t>
                      </a:r>
                      <a:endParaRPr lang="en-IN" sz="900" dirty="0">
                        <a:solidFill>
                          <a:schemeClr val="bg1"/>
                        </a:solidFill>
                        <a:latin typeface="Hepta Slab Medium" pitchFamily="2" charset="0"/>
                        <a:cs typeface="Hepta Slab Medium" pitchFamily="2" charset="0"/>
                      </a:endParaRPr>
                    </a:p>
                  </a:txBody>
                  <a:tcPr marL="60960" marR="60960" marT="30480" marB="30480">
                    <a:lnL w="12700" cmpd="sng">
                      <a:noFill/>
                    </a:lnL>
                    <a:lnR w="12700" cmpd="sng">
                      <a:noFill/>
                    </a:lnR>
                    <a:lnT w="12700" cmpd="sng">
                      <a:noFill/>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2881408306"/>
                  </a:ext>
                </a:extLst>
              </a:tr>
              <a:tr h="345440">
                <a:tc>
                  <a:txBody>
                    <a:bodyPr/>
                    <a:lstStyle/>
                    <a:p>
                      <a:r>
                        <a:rPr lang="en-IN" sz="900" b="0" dirty="0">
                          <a:solidFill>
                            <a:srgbClr val="CCAD9E"/>
                          </a:solidFill>
                          <a:latin typeface="Hepta Slab Medium" pitchFamily="2" charset="0"/>
                          <a:cs typeface="Hepta Slab Medium" pitchFamily="2" charset="0"/>
                        </a:rPr>
                        <a:t>Strong Negative</a:t>
                      </a:r>
                    </a:p>
                  </a:txBody>
                  <a:tcPr marL="60960" marR="60960" marT="30480" marB="30480">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03864"/>
                    </a:solidFill>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CCAD9E"/>
                          </a:solidFill>
                          <a:effectLst/>
                          <a:uLnTx/>
                          <a:uFillTx/>
                          <a:latin typeface="Hepta Slab Medium" pitchFamily="2" charset="0"/>
                          <a:ea typeface="+mn-ea"/>
                          <a:cs typeface="Hepta Slab Medium" pitchFamily="2" charset="0"/>
                        </a:rPr>
                        <a:t>Moderate Negative</a:t>
                      </a:r>
                    </a:p>
                  </a:txBody>
                  <a:tcPr marL="60960" marR="60960" marT="30480" marB="30480">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chemeClr val="accent2">
                              <a:lumMod val="75000"/>
                            </a:schemeClr>
                          </a:solidFill>
                          <a:effectLst/>
                          <a:uLnTx/>
                          <a:uFillTx/>
                          <a:latin typeface="Hepta Slab Medium" pitchFamily="2" charset="0"/>
                          <a:ea typeface="+mn-ea"/>
                          <a:cs typeface="Hepta Slab Medium" pitchFamily="2" charset="0"/>
                        </a:rPr>
                        <a:t>Weak Negative</a:t>
                      </a:r>
                    </a:p>
                  </a:txBody>
                  <a:tcPr marL="60960" marR="60960" marT="30480" marB="30480">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ADB9CA"/>
                    </a:solidFill>
                  </a:tcPr>
                </a:tc>
                <a:tc>
                  <a:txBody>
                    <a:bodyPr/>
                    <a:lstStyle/>
                    <a:p>
                      <a:endParaRPr lang="en-IN" sz="900" dirty="0">
                        <a:latin typeface="Hepta Slab Medium" pitchFamily="2" charset="0"/>
                        <a:cs typeface="Hepta Slab Medium" pitchFamily="2" charset="0"/>
                      </a:endParaRPr>
                    </a:p>
                  </a:txBody>
                  <a:tcPr marL="60960" marR="60960" marT="30480" marB="30480">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1498037344"/>
                  </a:ext>
                </a:extLst>
              </a:tr>
            </a:tbl>
          </a:graphicData>
        </a:graphic>
      </p:graphicFrame>
      <p:grpSp>
        <p:nvGrpSpPr>
          <p:cNvPr id="18" name="Group 17">
            <a:extLst>
              <a:ext uri="{FF2B5EF4-FFF2-40B4-BE49-F238E27FC236}">
                <a16:creationId xmlns:a16="http://schemas.microsoft.com/office/drawing/2014/main" id="{386F9B60-8E24-8F74-1845-3FEBA6AB45C8}"/>
              </a:ext>
            </a:extLst>
          </p:cNvPr>
          <p:cNvGrpSpPr/>
          <p:nvPr/>
        </p:nvGrpSpPr>
        <p:grpSpPr>
          <a:xfrm>
            <a:off x="-61290" y="6053155"/>
            <a:ext cx="12253290" cy="971832"/>
            <a:chOff x="-187799" y="8336784"/>
            <a:chExt cx="18379935" cy="1457748"/>
          </a:xfrm>
        </p:grpSpPr>
        <p:pic>
          <p:nvPicPr>
            <p:cNvPr id="19" name="Picture 18">
              <a:extLst>
                <a:ext uri="{FF2B5EF4-FFF2-40B4-BE49-F238E27FC236}">
                  <a16:creationId xmlns:a16="http://schemas.microsoft.com/office/drawing/2014/main" id="{02241B75-8C85-B4D9-6E4C-1C11FC4531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0" name="Title 1">
              <a:extLst>
                <a:ext uri="{FF2B5EF4-FFF2-40B4-BE49-F238E27FC236}">
                  <a16:creationId xmlns:a16="http://schemas.microsoft.com/office/drawing/2014/main" id="{FDFF8F48-51D3-054F-4723-42F563612ED4}"/>
                </a:ext>
              </a:extLst>
            </p:cNvPr>
            <p:cNvSpPr txBox="1">
              <a:spLocks/>
            </p:cNvSpPr>
            <p:nvPr/>
          </p:nvSpPr>
          <p:spPr>
            <a:xfrm>
              <a:off x="5585952" y="9102749"/>
              <a:ext cx="6924368" cy="295208"/>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1" name="Picture 20">
              <a:extLst>
                <a:ext uri="{FF2B5EF4-FFF2-40B4-BE49-F238E27FC236}">
                  <a16:creationId xmlns:a16="http://schemas.microsoft.com/office/drawing/2014/main" id="{8049634D-904A-58E9-3EA2-B68B241B4A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9" name="TextBox 28">
            <a:extLst>
              <a:ext uri="{FF2B5EF4-FFF2-40B4-BE49-F238E27FC236}">
                <a16:creationId xmlns:a16="http://schemas.microsoft.com/office/drawing/2014/main" id="{366F8A19-5FDC-7770-703A-12CB74C83FA1}"/>
              </a:ext>
            </a:extLst>
          </p:cNvPr>
          <p:cNvSpPr txBox="1"/>
          <p:nvPr/>
        </p:nvSpPr>
        <p:spPr>
          <a:xfrm>
            <a:off x="7845798" y="6529771"/>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graphicFrame>
        <p:nvGraphicFramePr>
          <p:cNvPr id="7" name="Table 6">
            <a:extLst>
              <a:ext uri="{FF2B5EF4-FFF2-40B4-BE49-F238E27FC236}">
                <a16:creationId xmlns:a16="http://schemas.microsoft.com/office/drawing/2014/main" id="{B64D2465-83F9-92E9-5E8B-6AE7416B094F}"/>
              </a:ext>
            </a:extLst>
          </p:cNvPr>
          <p:cNvGraphicFramePr>
            <a:graphicFrameLocks noGrp="1"/>
          </p:cNvGraphicFramePr>
          <p:nvPr/>
        </p:nvGraphicFramePr>
        <p:xfrm>
          <a:off x="816000" y="2124002"/>
          <a:ext cx="3478293" cy="2133641"/>
        </p:xfrm>
        <a:graphic>
          <a:graphicData uri="http://schemas.openxmlformats.org/drawingml/2006/table">
            <a:tbl>
              <a:tblPr/>
              <a:tblGrid>
                <a:gridCol w="3478293">
                  <a:extLst>
                    <a:ext uri="{9D8B030D-6E8A-4147-A177-3AD203B41FA5}">
                      <a16:colId xmlns:a16="http://schemas.microsoft.com/office/drawing/2014/main" val="2084651617"/>
                    </a:ext>
                  </a:extLst>
                </a:gridCol>
              </a:tblGrid>
              <a:tr h="304841">
                <a:tc>
                  <a:txBody>
                    <a:bodyPr/>
                    <a:lstStyle/>
                    <a:p>
                      <a:pPr algn="l" fontAlgn="b"/>
                      <a:r>
                        <a:rPr lang="en-IN" sz="1400" b="0" kern="1200" dirty="0">
                          <a:solidFill>
                            <a:schemeClr val="tx1"/>
                          </a:solidFill>
                          <a:latin typeface="Hepta Slab SemiBold" pitchFamily="2" charset="0"/>
                          <a:ea typeface="+mn-ea"/>
                          <a:cs typeface="Hepta Slab SemiBold" pitchFamily="2" charset="0"/>
                        </a:rPr>
                        <a:t>Investment wealth advisory</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583035811"/>
                  </a:ext>
                </a:extLst>
              </a:tr>
              <a:tr h="219507">
                <a:tc>
                  <a:txBody>
                    <a:bodyPr/>
                    <a:lstStyle/>
                    <a:p>
                      <a:pPr marL="0" algn="l" defTabSz="914446" rtl="0" eaLnBrk="1" fontAlgn="b" latinLnBrk="0" hangingPunct="1"/>
                      <a:r>
                        <a:rPr lang="en-IN" sz="1400" b="0" kern="1200" dirty="0">
                          <a:solidFill>
                            <a:schemeClr val="bg1"/>
                          </a:solidFill>
                          <a:latin typeface="Hepta Slab Medium" pitchFamily="2" charset="0"/>
                          <a:ea typeface="+mn-ea"/>
                          <a:cs typeface="Hepta Slab Medium" pitchFamily="2" charset="0"/>
                        </a:rPr>
                        <a:t>Reduced transaction fees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F5597"/>
                    </a:solidFill>
                  </a:tcPr>
                </a:tc>
                <a:extLst>
                  <a:ext uri="{0D108BD9-81ED-4DB2-BD59-A6C34878D82A}">
                    <a16:rowId xmlns:a16="http://schemas.microsoft.com/office/drawing/2014/main" val="1005686748"/>
                  </a:ext>
                </a:extLst>
              </a:tr>
              <a:tr h="292676">
                <a:tc>
                  <a:txBody>
                    <a:bodyPr/>
                    <a:lstStyle/>
                    <a:p>
                      <a:pPr algn="l" fontAlgn="b"/>
                      <a:r>
                        <a:rPr kumimoji="0" lang="en-IN" sz="1400" b="0" i="0" u="none" strike="noStrike" kern="1200" cap="none" spc="0" normalizeH="0" baseline="0" dirty="0">
                          <a:ln>
                            <a:noFill/>
                          </a:ln>
                          <a:solidFill>
                            <a:schemeClr val="accent2">
                              <a:lumMod val="75000"/>
                            </a:schemeClr>
                          </a:solidFill>
                          <a:effectLst/>
                          <a:uLnTx/>
                          <a:uFillTx/>
                          <a:latin typeface="Hepta Slab Medium" pitchFamily="2" charset="0"/>
                          <a:ea typeface="+mn-ea"/>
                          <a:cs typeface="Hepta Slab Medium" pitchFamily="2" charset="0"/>
                        </a:rPr>
                        <a:t>Foreign exchange</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838246624"/>
                  </a:ext>
                </a:extLst>
              </a:tr>
              <a:tr h="292676">
                <a:tc>
                  <a:txBody>
                    <a:bodyPr/>
                    <a:lstStyle/>
                    <a:p>
                      <a:pPr algn="l" fontAlgn="b"/>
                      <a:r>
                        <a:rPr lang="en-IN" sz="1400" b="0" i="0" u="none" strike="noStrike" dirty="0">
                          <a:solidFill>
                            <a:srgbClr val="000000"/>
                          </a:solidFill>
                          <a:effectLst/>
                          <a:latin typeface="Hepta Slab SemiBold" pitchFamily="2" charset="0"/>
                          <a:cs typeface="Hepta Slab SemiBold" pitchFamily="2" charset="0"/>
                        </a:rPr>
                        <a:t>Taxation advisory and services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247292539"/>
                  </a:ext>
                </a:extLst>
              </a:tr>
              <a:tr h="292676">
                <a:tc>
                  <a:txBody>
                    <a:bodyPr/>
                    <a:lstStyle/>
                    <a:p>
                      <a:pPr marL="0" algn="l" defTabSz="914446" rtl="0" eaLnBrk="1" fontAlgn="b" latinLnBrk="0" hangingPunct="1"/>
                      <a:r>
                        <a:rPr lang="en-IN" sz="1400" b="0" kern="1200" dirty="0">
                          <a:solidFill>
                            <a:srgbClr val="CCAD9E"/>
                          </a:solidFill>
                          <a:latin typeface="Hepta Slab SemiBold" pitchFamily="2" charset="0"/>
                          <a:ea typeface="+mn-ea"/>
                          <a:cs typeface="Hepta Slab SemiBold" pitchFamily="2" charset="0"/>
                        </a:rPr>
                        <a:t>Current account servicing</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312634624"/>
                  </a:ext>
                </a:extLst>
              </a:tr>
              <a:tr h="292676">
                <a:tc>
                  <a:txBody>
                    <a:bodyPr/>
                    <a:lstStyle/>
                    <a:p>
                      <a:pPr algn="l" fontAlgn="b"/>
                      <a:r>
                        <a:rPr lang="en-IN" sz="1400" b="0" kern="1200" dirty="0">
                          <a:solidFill>
                            <a:srgbClr val="CCAD9E"/>
                          </a:solidFill>
                          <a:latin typeface="Hepta Slab SemiBold" pitchFamily="2" charset="0"/>
                          <a:ea typeface="+mn-ea"/>
                          <a:cs typeface="Hepta Slab SemiBold" pitchFamily="2" charset="0"/>
                        </a:rPr>
                        <a:t>Doorstep banking</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F5597"/>
                    </a:solidFill>
                  </a:tcPr>
                </a:tc>
                <a:extLst>
                  <a:ext uri="{0D108BD9-81ED-4DB2-BD59-A6C34878D82A}">
                    <a16:rowId xmlns:a16="http://schemas.microsoft.com/office/drawing/2014/main" val="1475796243"/>
                  </a:ext>
                </a:extLst>
              </a:tr>
              <a:tr h="292676">
                <a:tc>
                  <a:txBody>
                    <a:bodyPr/>
                    <a:lstStyle/>
                    <a:p>
                      <a:pPr algn="l" fontAlgn="b"/>
                      <a:r>
                        <a:rPr lang="en-IN" sz="1400" b="0" i="0" u="none" strike="noStrike" dirty="0">
                          <a:solidFill>
                            <a:srgbClr val="000000"/>
                          </a:solidFill>
                          <a:effectLst/>
                          <a:latin typeface="Hepta Slab SemiBold" pitchFamily="2" charset="0"/>
                          <a:cs typeface="Hepta Slab SemiBold" pitchFamily="2" charset="0"/>
                        </a:rPr>
                        <a:t>Multi currency card</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692570432"/>
                  </a:ext>
                </a:extLst>
              </a:tr>
            </a:tbl>
          </a:graphicData>
        </a:graphic>
      </p:graphicFrame>
      <p:sp>
        <p:nvSpPr>
          <p:cNvPr id="8" name="TextBox 7">
            <a:extLst>
              <a:ext uri="{FF2B5EF4-FFF2-40B4-BE49-F238E27FC236}">
                <a16:creationId xmlns:a16="http://schemas.microsoft.com/office/drawing/2014/main" id="{D43DE9A3-234D-1B3E-59B1-545C6CB0F923}"/>
              </a:ext>
            </a:extLst>
          </p:cNvPr>
          <p:cNvSpPr txBox="1"/>
          <p:nvPr/>
        </p:nvSpPr>
        <p:spPr>
          <a:xfrm>
            <a:off x="4996206" y="2094282"/>
            <a:ext cx="3129383" cy="153888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Hepta Slab SemiBold" pitchFamily="2" charset="0"/>
                <a:ea typeface="+mn-ea"/>
                <a:cs typeface="Hepta Slab SemiBold" pitchFamily="2" charset="0"/>
              </a:rPr>
              <a:t>Most Salient Features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600" b="0" i="0" u="none" strike="noStrike" kern="1200" cap="none" spc="0" normalizeH="0" baseline="0" noProof="0" dirty="0">
                <a:ln>
                  <a:noFill/>
                </a:ln>
                <a:solidFill>
                  <a:srgbClr val="002060"/>
                </a:solidFill>
                <a:effectLst/>
                <a:uLnTx/>
                <a:uFillTx/>
                <a:latin typeface="Montserrat Medium" panose="00000600000000000000" pitchFamily="2" charset="0"/>
                <a:ea typeface="+mn-ea"/>
                <a:cs typeface="+mn-cs"/>
              </a:rPr>
              <a:t>Reduced transaction fees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600" b="0" i="0" u="none" strike="noStrike" kern="1200" cap="none" spc="0" normalizeH="0" baseline="0" noProof="0" dirty="0">
                <a:ln>
                  <a:noFill/>
                </a:ln>
                <a:solidFill>
                  <a:srgbClr val="002060"/>
                </a:solidFill>
                <a:effectLst/>
                <a:uLnTx/>
                <a:uFillTx/>
                <a:latin typeface="Montserrat Medium" panose="00000600000000000000" pitchFamily="2" charset="0"/>
                <a:ea typeface="+mn-ea"/>
                <a:cs typeface="+mn-cs"/>
              </a:rPr>
              <a:t>Investment wealth advisory</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600" b="0" i="0" u="none" strike="noStrike" kern="1200" cap="none" spc="0" normalizeH="0" baseline="0" noProof="0" dirty="0">
                <a:ln>
                  <a:noFill/>
                </a:ln>
                <a:solidFill>
                  <a:srgbClr val="002060"/>
                </a:solidFill>
                <a:effectLst/>
                <a:uLnTx/>
                <a:uFillTx/>
                <a:latin typeface="Montserrat Medium" panose="00000600000000000000" pitchFamily="2" charset="0"/>
                <a:ea typeface="+mn-ea"/>
                <a:cs typeface="+mn-cs"/>
              </a:rPr>
              <a:t>Taxation Advisory &amp; Services</a:t>
            </a:r>
          </a:p>
        </p:txBody>
      </p:sp>
      <p:sp>
        <p:nvSpPr>
          <p:cNvPr id="9" name="TextBox 8">
            <a:extLst>
              <a:ext uri="{FF2B5EF4-FFF2-40B4-BE49-F238E27FC236}">
                <a16:creationId xmlns:a16="http://schemas.microsoft.com/office/drawing/2014/main" id="{30C4E5E5-3DA6-59B9-7360-FAACC2DA6EA1}"/>
              </a:ext>
            </a:extLst>
          </p:cNvPr>
          <p:cNvSpPr txBox="1"/>
          <p:nvPr/>
        </p:nvSpPr>
        <p:spPr>
          <a:xfrm>
            <a:off x="8651692" y="2094282"/>
            <a:ext cx="2888932" cy="153888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ED7D31"/>
                </a:solidFill>
                <a:effectLst/>
                <a:uLnTx/>
                <a:uFillTx/>
                <a:latin typeface="Hepta Slab SemiBold" pitchFamily="2" charset="0"/>
                <a:ea typeface="+mn-ea"/>
                <a:cs typeface="Hepta Slab SemiBold" pitchFamily="2" charset="0"/>
              </a:rPr>
              <a:t>Non-Salient Features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600" b="0" i="0" u="none" strike="noStrike" kern="1200" cap="none" spc="0" normalizeH="0" baseline="0" noProof="0" dirty="0">
                <a:ln>
                  <a:noFill/>
                </a:ln>
                <a:solidFill>
                  <a:srgbClr val="A9734C"/>
                </a:solidFill>
                <a:effectLst/>
                <a:uLnTx/>
                <a:uFillTx/>
                <a:latin typeface="Montserrat Medium" panose="00000600000000000000" pitchFamily="2" charset="0"/>
                <a:ea typeface="+mn-ea"/>
                <a:cs typeface="+mn-cs"/>
              </a:rPr>
              <a:t>Current account servicing</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600" b="0" i="0" u="none" strike="noStrike" kern="1200" cap="none" spc="0" normalizeH="0" baseline="0" noProof="0" dirty="0">
                <a:ln>
                  <a:noFill/>
                </a:ln>
                <a:solidFill>
                  <a:srgbClr val="A9734C"/>
                </a:solidFill>
                <a:effectLst/>
                <a:uLnTx/>
                <a:uFillTx/>
                <a:latin typeface="Montserrat Medium" panose="00000600000000000000" pitchFamily="2" charset="0"/>
                <a:ea typeface="+mn-ea"/>
                <a:cs typeface="+mn-cs"/>
              </a:rPr>
              <a:t>Doorstep banking</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600" b="0" i="0" u="none" strike="noStrike" kern="1200" cap="none" spc="0" normalizeH="0" baseline="0" noProof="0" dirty="0">
                <a:ln>
                  <a:noFill/>
                </a:ln>
                <a:solidFill>
                  <a:srgbClr val="A9734C"/>
                </a:solidFill>
                <a:effectLst/>
                <a:uLnTx/>
                <a:uFillTx/>
                <a:latin typeface="Montserrat Medium" panose="00000600000000000000" pitchFamily="2" charset="0"/>
                <a:ea typeface="+mn-ea"/>
                <a:cs typeface="+mn-cs"/>
              </a:rPr>
              <a:t>Foreign Exchange</a:t>
            </a:r>
          </a:p>
        </p:txBody>
      </p:sp>
      <p:pic>
        <p:nvPicPr>
          <p:cNvPr id="16" name="Picture 15" descr="A blue brain with a blue background&#10;&#10;Description automatically generated">
            <a:extLst>
              <a:ext uri="{FF2B5EF4-FFF2-40B4-BE49-F238E27FC236}">
                <a16:creationId xmlns:a16="http://schemas.microsoft.com/office/drawing/2014/main" id="{ED8AEAD1-154E-332C-D0C9-6F7A4B65C204}"/>
              </a:ext>
            </a:extLst>
          </p:cNvPr>
          <p:cNvPicPr>
            <a:picLocks noChangeAspect="1"/>
          </p:cNvPicPr>
          <p:nvPr/>
        </p:nvPicPr>
        <p:blipFill>
          <a:blip r:embed="rId5" cstate="print">
            <a:extLst>
              <a:ext uri="{28A0092B-C50C-407E-A947-70E740481C1C}">
                <a14:useLocalDpi xmlns:a14="http://schemas.microsoft.com/office/drawing/2010/main" val="0"/>
              </a:ext>
            </a:extLst>
          </a:blip>
          <a:srcRect l="24683" r="24684"/>
          <a:stretch/>
        </p:blipFill>
        <p:spPr>
          <a:xfrm>
            <a:off x="457200" y="365124"/>
            <a:ext cx="914402" cy="8458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Slide Number Placeholder 4">
            <a:extLst>
              <a:ext uri="{FF2B5EF4-FFF2-40B4-BE49-F238E27FC236}">
                <a16:creationId xmlns:a16="http://schemas.microsoft.com/office/drawing/2014/main" id="{9F24065C-40EE-94CD-9792-4CD774F4C651}"/>
              </a:ext>
            </a:extLst>
          </p:cNvPr>
          <p:cNvSpPr txBox="1">
            <a:spLocks/>
          </p:cNvSpPr>
          <p:nvPr/>
        </p:nvSpPr>
        <p:spPr>
          <a:xfrm>
            <a:off x="11485649" y="182562"/>
            <a:ext cx="45393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065EC30-9185-4A95-ADD8-6385FABF13C0}" type="slidenum">
              <a:rPr kumimoji="0" lang="en-IN" sz="1000" b="0" i="0" u="none" strike="noStrike" kern="1200" cap="none" spc="0" normalizeH="0" baseline="0" noProof="0" smtClean="0">
                <a:ln>
                  <a:noFill/>
                </a:ln>
                <a:solidFill>
                  <a:prstClr val="black">
                    <a:lumMod val="50000"/>
                    <a:lumOff val="50000"/>
                  </a:prstClr>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a:t>
            </a:fld>
            <a:endParaRPr kumimoji="0" lang="en-IN" sz="1000" b="0" i="0" u="none" strike="noStrike" kern="1200" cap="none" spc="0" normalizeH="0" baseline="0" noProof="0" dirty="0">
              <a:ln>
                <a:noFill/>
              </a:ln>
              <a:solidFill>
                <a:prstClr val="black">
                  <a:lumMod val="50000"/>
                  <a:lumOff val="50000"/>
                </a:prstClr>
              </a:solidFill>
              <a:effectLst/>
              <a:uLnTx/>
              <a:uFillTx/>
              <a:latin typeface="Montserrat" panose="00000500000000000000" pitchFamily="2" charset="0"/>
              <a:ea typeface="+mn-ea"/>
              <a:cs typeface="+mn-cs"/>
            </a:endParaRPr>
          </a:p>
        </p:txBody>
      </p:sp>
      <p:sp>
        <p:nvSpPr>
          <p:cNvPr id="3" name="TextBox 2">
            <a:extLst>
              <a:ext uri="{FF2B5EF4-FFF2-40B4-BE49-F238E27FC236}">
                <a16:creationId xmlns:a16="http://schemas.microsoft.com/office/drawing/2014/main" id="{A81590A5-491D-52A4-64E8-549EE290BB7F}"/>
              </a:ext>
            </a:extLst>
          </p:cNvPr>
          <p:cNvSpPr txBox="1"/>
          <p:nvPr/>
        </p:nvSpPr>
        <p:spPr>
          <a:xfrm>
            <a:off x="6905625" y="310798"/>
            <a:ext cx="429636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9734C"/>
                </a:solidFill>
                <a:effectLst/>
                <a:uLnTx/>
                <a:uFillTx/>
                <a:latin typeface="Montserrat SemiBold" panose="00000700000000000000" pitchFamily="2" charset="0"/>
                <a:ea typeface="+mn-ea"/>
                <a:cs typeface="+mn-cs"/>
              </a:rPr>
              <a:t>Contextual alignment is an opportunity area</a:t>
            </a:r>
            <a:endParaRPr kumimoji="0" lang="en-IN" sz="1400" b="0" i="0" u="none" strike="noStrike" kern="1200" cap="none" spc="0" normalizeH="0" baseline="0" noProof="0" dirty="0">
              <a:ln>
                <a:noFill/>
              </a:ln>
              <a:solidFill>
                <a:srgbClr val="A9734C"/>
              </a:solidFill>
              <a:effectLst/>
              <a:uLnTx/>
              <a:uFillTx/>
              <a:latin typeface="Montserrat SemiBold" panose="00000700000000000000" pitchFamily="2" charset="0"/>
              <a:ea typeface="+mn-ea"/>
              <a:cs typeface="+mn-cs"/>
            </a:endParaRPr>
          </a:p>
        </p:txBody>
      </p:sp>
    </p:spTree>
    <p:extLst>
      <p:ext uri="{BB962C8B-B14F-4D97-AF65-F5344CB8AC3E}">
        <p14:creationId xmlns:p14="http://schemas.microsoft.com/office/powerpoint/2010/main" val="38747957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a:extLst>
            <a:ext uri="{FF2B5EF4-FFF2-40B4-BE49-F238E27FC236}">
              <a16:creationId xmlns:a16="http://schemas.microsoft.com/office/drawing/2014/main" id="{8BCFE782-93FF-97FC-5EA8-46836977875F}"/>
            </a:ext>
          </a:extLst>
        </p:cNvPr>
        <p:cNvGrpSpPr/>
        <p:nvPr/>
      </p:nvGrpSpPr>
      <p:grpSpPr>
        <a:xfrm>
          <a:off x="0" y="0"/>
          <a:ext cx="0" cy="0"/>
          <a:chOff x="0" y="0"/>
          <a:chExt cx="0" cy="0"/>
        </a:xfrm>
      </p:grpSpPr>
      <p:sp>
        <p:nvSpPr>
          <p:cNvPr id="14" name="Object6">
            <a:extLst>
              <a:ext uri="{FF2B5EF4-FFF2-40B4-BE49-F238E27FC236}">
                <a16:creationId xmlns:a16="http://schemas.microsoft.com/office/drawing/2014/main" id="{17FDD65C-E82C-F05A-86C2-1199846A7EF9}"/>
              </a:ext>
            </a:extLst>
          </p:cNvPr>
          <p:cNvSpPr/>
          <p:nvPr/>
        </p:nvSpPr>
        <p:spPr>
          <a:xfrm>
            <a:off x="816000" y="1629001"/>
            <a:ext cx="5156160"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D0D0D"/>
                </a:solidFill>
                <a:effectLst/>
                <a:uLnTx/>
                <a:uFillTx/>
                <a:latin typeface="Montserrat ExtraBold" pitchFamily="34" charset="0"/>
                <a:ea typeface="+mn-ea"/>
                <a:cs typeface="+mn-cs"/>
              </a:rPr>
              <a:t>Salience of Lifestyle benefits</a:t>
            </a:r>
          </a:p>
        </p:txBody>
      </p:sp>
      <p:sp>
        <p:nvSpPr>
          <p:cNvPr id="15" name="Object6">
            <a:extLst>
              <a:ext uri="{FF2B5EF4-FFF2-40B4-BE49-F238E27FC236}">
                <a16:creationId xmlns:a16="http://schemas.microsoft.com/office/drawing/2014/main" id="{CD46F8E4-1FC7-EF11-C9C4-E547E67B991C}"/>
              </a:ext>
            </a:extLst>
          </p:cNvPr>
          <p:cNvSpPr/>
          <p:nvPr/>
        </p:nvSpPr>
        <p:spPr>
          <a:xfrm>
            <a:off x="2319575" y="4963490"/>
            <a:ext cx="471142"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500" b="0" i="0" u="none" strike="noStrike" kern="1200" cap="all" spc="0" normalizeH="0" baseline="0" noProof="0" dirty="0">
                <a:ln>
                  <a:noFill/>
                </a:ln>
                <a:solidFill>
                  <a:prstClr val="white">
                    <a:lumMod val="50000"/>
                  </a:prstClr>
                </a:solidFill>
                <a:effectLst/>
                <a:uLnTx/>
                <a:uFillTx/>
                <a:latin typeface="Montserrat ExtraBold" pitchFamily="34" charset="0"/>
                <a:ea typeface="+mn-ea"/>
                <a:cs typeface="+mn-cs"/>
              </a:rPr>
              <a:t>KEY</a:t>
            </a:r>
          </a:p>
        </p:txBody>
      </p:sp>
      <p:graphicFrame>
        <p:nvGraphicFramePr>
          <p:cNvPr id="17" name="Table 3">
            <a:extLst>
              <a:ext uri="{FF2B5EF4-FFF2-40B4-BE49-F238E27FC236}">
                <a16:creationId xmlns:a16="http://schemas.microsoft.com/office/drawing/2014/main" id="{9C5EE7D9-1CF9-9312-8C2D-8795B8D28D01}"/>
              </a:ext>
            </a:extLst>
          </p:cNvPr>
          <p:cNvGraphicFramePr>
            <a:graphicFrameLocks noGrp="1"/>
          </p:cNvGraphicFramePr>
          <p:nvPr/>
        </p:nvGraphicFramePr>
        <p:xfrm>
          <a:off x="816000" y="4272610"/>
          <a:ext cx="3478292" cy="690880"/>
        </p:xfrm>
        <a:graphic>
          <a:graphicData uri="http://schemas.openxmlformats.org/drawingml/2006/table">
            <a:tbl>
              <a:tblPr firstRow="1" bandRow="1">
                <a:tableStyleId>{5C22544A-7EE6-4342-B048-85BDC9FD1C3A}</a:tableStyleId>
              </a:tblPr>
              <a:tblGrid>
                <a:gridCol w="869573">
                  <a:extLst>
                    <a:ext uri="{9D8B030D-6E8A-4147-A177-3AD203B41FA5}">
                      <a16:colId xmlns:a16="http://schemas.microsoft.com/office/drawing/2014/main" val="3544323815"/>
                    </a:ext>
                  </a:extLst>
                </a:gridCol>
                <a:gridCol w="869573">
                  <a:extLst>
                    <a:ext uri="{9D8B030D-6E8A-4147-A177-3AD203B41FA5}">
                      <a16:colId xmlns:a16="http://schemas.microsoft.com/office/drawing/2014/main" val="2300798888"/>
                    </a:ext>
                  </a:extLst>
                </a:gridCol>
                <a:gridCol w="869573">
                  <a:extLst>
                    <a:ext uri="{9D8B030D-6E8A-4147-A177-3AD203B41FA5}">
                      <a16:colId xmlns:a16="http://schemas.microsoft.com/office/drawing/2014/main" val="3292172797"/>
                    </a:ext>
                  </a:extLst>
                </a:gridCol>
                <a:gridCol w="869573">
                  <a:extLst>
                    <a:ext uri="{9D8B030D-6E8A-4147-A177-3AD203B41FA5}">
                      <a16:colId xmlns:a16="http://schemas.microsoft.com/office/drawing/2014/main" val="2909209508"/>
                    </a:ext>
                  </a:extLst>
                </a:gridCol>
              </a:tblGrid>
              <a:tr h="345440">
                <a:tc>
                  <a:txBody>
                    <a:bodyPr/>
                    <a:lstStyle/>
                    <a:p>
                      <a:r>
                        <a:rPr lang="en-IN" sz="900" b="0" dirty="0">
                          <a:latin typeface="Hepta Slab Medium" pitchFamily="2" charset="0"/>
                          <a:cs typeface="Hepta Slab Medium" pitchFamily="2" charset="0"/>
                        </a:rPr>
                        <a:t>Strong Positive</a:t>
                      </a:r>
                    </a:p>
                  </a:txBody>
                  <a:tcPr marL="60960" marR="60960" marT="30480" marB="30480">
                    <a:lnL w="12700" cmpd="sng">
                      <a:noFill/>
                    </a:lnL>
                    <a:lnR w="12700" cmpd="sng">
                      <a:noFill/>
                    </a:lnR>
                    <a:lnT w="12700" cmpd="sng">
                      <a:noFill/>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203864"/>
                    </a:solidFill>
                  </a:tcPr>
                </a:tc>
                <a:tc>
                  <a:txBody>
                    <a:bodyPr/>
                    <a:lstStyle/>
                    <a:p>
                      <a:r>
                        <a:rPr kumimoji="0" lang="en-IN" sz="900" b="0" i="0" u="none" strike="noStrike" kern="1200" cap="none" spc="0" normalizeH="0" baseline="0" noProof="0" dirty="0">
                          <a:ln>
                            <a:noFill/>
                          </a:ln>
                          <a:solidFill>
                            <a:schemeClr val="bg1"/>
                          </a:solidFill>
                          <a:effectLst/>
                          <a:uLnTx/>
                          <a:uFillTx/>
                          <a:latin typeface="Hepta Slab Medium" pitchFamily="2" charset="0"/>
                          <a:ea typeface="+mn-ea"/>
                          <a:cs typeface="Hepta Slab Medium" pitchFamily="2" charset="0"/>
                        </a:rPr>
                        <a:t>Moderate Positive</a:t>
                      </a:r>
                      <a:endParaRPr lang="en-IN" sz="900" b="0" dirty="0">
                        <a:solidFill>
                          <a:schemeClr val="bg1"/>
                        </a:solidFill>
                        <a:latin typeface="Hepta Slab Medium" pitchFamily="2" charset="0"/>
                        <a:cs typeface="Hepta Slab Medium" pitchFamily="2" charset="0"/>
                      </a:endParaRPr>
                    </a:p>
                  </a:txBody>
                  <a:tcPr marL="60960" marR="60960" marT="30480" marB="30480">
                    <a:lnL w="12700" cmpd="sng">
                      <a:noFill/>
                    </a:lnL>
                    <a:lnR w="12700" cmpd="sng">
                      <a:noFill/>
                    </a:lnR>
                    <a:lnT w="12700" cmpd="sng">
                      <a:noFill/>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IN" sz="900" b="0" dirty="0">
                          <a:solidFill>
                            <a:schemeClr val="tx1"/>
                          </a:solidFill>
                          <a:latin typeface="Hepta Slab Medium" pitchFamily="2" charset="0"/>
                          <a:cs typeface="Hepta Slab Medium" pitchFamily="2" charset="0"/>
                        </a:rPr>
                        <a:t>Weak Positive</a:t>
                      </a:r>
                    </a:p>
                  </a:txBody>
                  <a:tcPr marL="60960" marR="60960" marT="30480" marB="30480">
                    <a:lnL w="12700" cmpd="sng">
                      <a:noFill/>
                    </a:lnL>
                    <a:lnR w="12700" cmpd="sng">
                      <a:noFill/>
                    </a:lnR>
                    <a:lnT w="12700" cmpd="sng">
                      <a:noFill/>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rowSpan="2">
                  <a:txBody>
                    <a:bodyPr/>
                    <a:lstStyle/>
                    <a:p>
                      <a:r>
                        <a:rPr lang="en-IN" sz="900" b="0" i="0" u="none" strike="noStrike" dirty="0">
                          <a:solidFill>
                            <a:schemeClr val="tx1"/>
                          </a:solidFill>
                          <a:effectLst/>
                          <a:latin typeface="Hepta Slab Medium" pitchFamily="2" charset="0"/>
                          <a:cs typeface="Hepta Slab Medium" pitchFamily="2" charset="0"/>
                        </a:rPr>
                        <a:t>No association</a:t>
                      </a:r>
                      <a:endParaRPr lang="en-IN" sz="900" dirty="0">
                        <a:solidFill>
                          <a:schemeClr val="tx1"/>
                        </a:solidFill>
                        <a:latin typeface="Hepta Slab Medium" pitchFamily="2" charset="0"/>
                        <a:cs typeface="Hepta Slab Medium" pitchFamily="2" charset="0"/>
                      </a:endParaRPr>
                    </a:p>
                  </a:txBody>
                  <a:tcPr marL="60960" marR="60960" marT="30480" marB="3048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2881408306"/>
                  </a:ext>
                </a:extLst>
              </a:tr>
              <a:tr h="345440">
                <a:tc>
                  <a:txBody>
                    <a:bodyPr/>
                    <a:lstStyle/>
                    <a:p>
                      <a:r>
                        <a:rPr lang="en-IN" sz="900" b="0" dirty="0">
                          <a:solidFill>
                            <a:srgbClr val="CCAD9E"/>
                          </a:solidFill>
                          <a:latin typeface="Hepta Slab Medium" pitchFamily="2" charset="0"/>
                          <a:cs typeface="Hepta Slab Medium" pitchFamily="2" charset="0"/>
                        </a:rPr>
                        <a:t>Strong Negative</a:t>
                      </a:r>
                    </a:p>
                  </a:txBody>
                  <a:tcPr marL="60960" marR="60960" marT="30480" marB="30480">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03864"/>
                    </a:solidFill>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CCAD9E"/>
                          </a:solidFill>
                          <a:effectLst/>
                          <a:uLnTx/>
                          <a:uFillTx/>
                          <a:latin typeface="Hepta Slab Medium" pitchFamily="2" charset="0"/>
                          <a:ea typeface="+mn-ea"/>
                          <a:cs typeface="Hepta Slab Medium" pitchFamily="2" charset="0"/>
                        </a:rPr>
                        <a:t>Moderate Negative</a:t>
                      </a:r>
                    </a:p>
                  </a:txBody>
                  <a:tcPr marL="60960" marR="60960" marT="30480" marB="30480">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chemeClr val="accent2"/>
                          </a:solidFill>
                          <a:effectLst/>
                          <a:uLnTx/>
                          <a:uFillTx/>
                          <a:latin typeface="Hepta Slab Medium" pitchFamily="2" charset="0"/>
                          <a:ea typeface="+mn-ea"/>
                          <a:cs typeface="Hepta Slab Medium" pitchFamily="2" charset="0"/>
                        </a:rPr>
                        <a:t>Weak Negative</a:t>
                      </a:r>
                    </a:p>
                  </a:txBody>
                  <a:tcPr marL="60960" marR="60960" marT="30480" marB="30480">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ADB9CA"/>
                    </a:solidFill>
                  </a:tcPr>
                </a:tc>
                <a:tc vMerge="1">
                  <a:txBody>
                    <a:bodyPr/>
                    <a:lstStyle/>
                    <a:p>
                      <a:endParaRPr lang="en-IN" sz="900" dirty="0">
                        <a:latin typeface="Hepta Slab Medium" pitchFamily="2" charset="0"/>
                        <a:cs typeface="Hepta Slab Medium" pitchFamily="2" charset="0"/>
                      </a:endParaRPr>
                    </a:p>
                  </a:txBody>
                  <a:tcPr marL="60960" marR="60960" marT="30480" marB="30480">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1498037344"/>
                  </a:ext>
                </a:extLst>
              </a:tr>
            </a:tbl>
          </a:graphicData>
        </a:graphic>
      </p:graphicFrame>
      <p:grpSp>
        <p:nvGrpSpPr>
          <p:cNvPr id="18" name="Group 17">
            <a:extLst>
              <a:ext uri="{FF2B5EF4-FFF2-40B4-BE49-F238E27FC236}">
                <a16:creationId xmlns:a16="http://schemas.microsoft.com/office/drawing/2014/main" id="{D966AAAE-5C0A-8D8C-51AE-378A5FCD0AA0}"/>
              </a:ext>
            </a:extLst>
          </p:cNvPr>
          <p:cNvGrpSpPr/>
          <p:nvPr/>
        </p:nvGrpSpPr>
        <p:grpSpPr>
          <a:xfrm>
            <a:off x="-61290" y="6053155"/>
            <a:ext cx="12253290" cy="971832"/>
            <a:chOff x="-187799" y="8336784"/>
            <a:chExt cx="18379935" cy="1457748"/>
          </a:xfrm>
        </p:grpSpPr>
        <p:pic>
          <p:nvPicPr>
            <p:cNvPr id="19" name="Picture 18">
              <a:extLst>
                <a:ext uri="{FF2B5EF4-FFF2-40B4-BE49-F238E27FC236}">
                  <a16:creationId xmlns:a16="http://schemas.microsoft.com/office/drawing/2014/main" id="{87BB19F2-6564-0CB2-2D67-2C504E3677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20" name="Title 1">
              <a:extLst>
                <a:ext uri="{FF2B5EF4-FFF2-40B4-BE49-F238E27FC236}">
                  <a16:creationId xmlns:a16="http://schemas.microsoft.com/office/drawing/2014/main" id="{19BE83CE-26C0-3736-1EAB-F6E1E81635F6}"/>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21" name="Picture 20">
              <a:extLst>
                <a:ext uri="{FF2B5EF4-FFF2-40B4-BE49-F238E27FC236}">
                  <a16:creationId xmlns:a16="http://schemas.microsoft.com/office/drawing/2014/main" id="{8BDA8A1A-6EF5-CC98-94AC-7A733184C6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9" name="TextBox 28">
            <a:extLst>
              <a:ext uri="{FF2B5EF4-FFF2-40B4-BE49-F238E27FC236}">
                <a16:creationId xmlns:a16="http://schemas.microsoft.com/office/drawing/2014/main" id="{DEA4783B-A9BA-F0E8-B5A6-DA045C0F0A7E}"/>
              </a:ext>
            </a:extLst>
          </p:cNvPr>
          <p:cNvSpPr txBox="1"/>
          <p:nvPr/>
        </p:nvSpPr>
        <p:spPr>
          <a:xfrm>
            <a:off x="7845799" y="6448382"/>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graphicFrame>
        <p:nvGraphicFramePr>
          <p:cNvPr id="7" name="Table 6">
            <a:extLst>
              <a:ext uri="{FF2B5EF4-FFF2-40B4-BE49-F238E27FC236}">
                <a16:creationId xmlns:a16="http://schemas.microsoft.com/office/drawing/2014/main" id="{9173F7C4-80F8-1D59-956E-C8674B2B2AC8}"/>
              </a:ext>
            </a:extLst>
          </p:cNvPr>
          <p:cNvGraphicFramePr>
            <a:graphicFrameLocks noGrp="1"/>
          </p:cNvGraphicFramePr>
          <p:nvPr/>
        </p:nvGraphicFramePr>
        <p:xfrm>
          <a:off x="816000" y="2124002"/>
          <a:ext cx="3478293" cy="1828800"/>
        </p:xfrm>
        <a:graphic>
          <a:graphicData uri="http://schemas.openxmlformats.org/drawingml/2006/table">
            <a:tbl>
              <a:tblPr/>
              <a:tblGrid>
                <a:gridCol w="3478293">
                  <a:extLst>
                    <a:ext uri="{9D8B030D-6E8A-4147-A177-3AD203B41FA5}">
                      <a16:colId xmlns:a16="http://schemas.microsoft.com/office/drawing/2014/main" val="2084651617"/>
                    </a:ext>
                  </a:extLst>
                </a:gridCol>
              </a:tblGrid>
              <a:tr h="219507">
                <a:tc>
                  <a:txBody>
                    <a:bodyPr/>
                    <a:lstStyle/>
                    <a:p>
                      <a:pPr marL="0" algn="l" defTabSz="914446" rtl="0" eaLnBrk="1" fontAlgn="b" latinLnBrk="0" hangingPunct="1"/>
                      <a:r>
                        <a:rPr lang="en-IN" sz="1400" b="0" kern="1200" dirty="0">
                          <a:solidFill>
                            <a:schemeClr val="accent2"/>
                          </a:solidFill>
                          <a:latin typeface="Hepta Slab Medium" pitchFamily="2" charset="0"/>
                          <a:ea typeface="+mn-ea"/>
                          <a:cs typeface="Hepta Slab Medium" pitchFamily="2" charset="0"/>
                        </a:rPr>
                        <a:t>Exclusive digital content</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958343368"/>
                  </a:ext>
                </a:extLst>
              </a:tr>
              <a:tr h="219507">
                <a:tc>
                  <a:txBody>
                    <a:bodyPr/>
                    <a:lstStyle/>
                    <a:p>
                      <a:pPr marL="0" algn="l" defTabSz="914446" rtl="0" eaLnBrk="1" fontAlgn="b" latinLnBrk="0" hangingPunct="1"/>
                      <a:r>
                        <a:rPr kumimoji="0" lang="en-IN" sz="1400" b="0" i="0" u="none" strike="noStrike" kern="1200" cap="none" spc="0" normalizeH="0" baseline="0" dirty="0">
                          <a:ln>
                            <a:noFill/>
                          </a:ln>
                          <a:solidFill>
                            <a:schemeClr val="tx1"/>
                          </a:solidFill>
                          <a:effectLst/>
                          <a:uLnTx/>
                          <a:uFillTx/>
                          <a:latin typeface="Hepta Slab Medium" pitchFamily="2" charset="0"/>
                          <a:ea typeface="+mn-ea"/>
                          <a:cs typeface="Hepta Slab Medium" pitchFamily="2" charset="0"/>
                        </a:rPr>
                        <a:t>Exclusive events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145301401"/>
                  </a:ext>
                </a:extLst>
              </a:tr>
              <a:tr h="219507">
                <a:tc>
                  <a:txBody>
                    <a:bodyPr/>
                    <a:lstStyle/>
                    <a:p>
                      <a:pPr marL="0" algn="l" defTabSz="914446" rtl="0" eaLnBrk="1" fontAlgn="b" latinLnBrk="0" hangingPunct="1"/>
                      <a:r>
                        <a:rPr kumimoji="0" lang="en-IN" sz="1400" b="0" i="0" u="none" strike="noStrike" kern="1200" cap="none" spc="0" normalizeH="0" baseline="0" dirty="0">
                          <a:ln>
                            <a:noFill/>
                          </a:ln>
                          <a:solidFill>
                            <a:schemeClr val="bg1"/>
                          </a:solidFill>
                          <a:effectLst/>
                          <a:uLnTx/>
                          <a:uFillTx/>
                          <a:latin typeface="Hepta Slab Medium" pitchFamily="2" charset="0"/>
                          <a:ea typeface="+mn-ea"/>
                          <a:cs typeface="Hepta Slab Medium" pitchFamily="2" charset="0"/>
                        </a:rPr>
                        <a:t>Personalized luxury experiences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F5597"/>
                    </a:solidFill>
                  </a:tcPr>
                </a:tc>
                <a:extLst>
                  <a:ext uri="{0D108BD9-81ED-4DB2-BD59-A6C34878D82A}">
                    <a16:rowId xmlns:a16="http://schemas.microsoft.com/office/drawing/2014/main" val="67929659"/>
                  </a:ext>
                </a:extLst>
              </a:tr>
              <a:tr h="219507">
                <a:tc>
                  <a:txBody>
                    <a:bodyPr/>
                    <a:lstStyle/>
                    <a:p>
                      <a:pPr algn="l" fontAlgn="b"/>
                      <a:r>
                        <a:rPr kumimoji="0" lang="en-IN" sz="1400" b="0" i="0" u="none" strike="noStrike" kern="1200" cap="none" spc="0" normalizeH="0" baseline="0" dirty="0">
                          <a:ln>
                            <a:noFill/>
                          </a:ln>
                          <a:solidFill>
                            <a:srgbClr val="CCAD9E"/>
                          </a:solidFill>
                          <a:effectLst/>
                          <a:uLnTx/>
                          <a:uFillTx/>
                          <a:latin typeface="Hepta Slab Medium" pitchFamily="2" charset="0"/>
                          <a:ea typeface="+mn-ea"/>
                          <a:cs typeface="Hepta Slab Medium" pitchFamily="2" charset="0"/>
                        </a:rPr>
                        <a:t>Philanthropy</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F5597"/>
                    </a:solidFill>
                  </a:tcPr>
                </a:tc>
                <a:extLst>
                  <a:ext uri="{0D108BD9-81ED-4DB2-BD59-A6C34878D82A}">
                    <a16:rowId xmlns:a16="http://schemas.microsoft.com/office/drawing/2014/main" val="1924144098"/>
                  </a:ext>
                </a:extLst>
              </a:tr>
              <a:tr h="292676">
                <a:tc>
                  <a:txBody>
                    <a:bodyPr/>
                    <a:lstStyle/>
                    <a:p>
                      <a:pPr marL="0" algn="l" defTabSz="914446" rtl="0" eaLnBrk="1" fontAlgn="b" latinLnBrk="0" hangingPunct="1"/>
                      <a:r>
                        <a:rPr lang="en-IN" sz="1400" b="0" kern="1200" dirty="0">
                          <a:solidFill>
                            <a:srgbClr val="CCAD9E"/>
                          </a:solidFill>
                          <a:latin typeface="Hepta Slab SemiBold" pitchFamily="2" charset="0"/>
                          <a:ea typeface="+mn-ea"/>
                          <a:cs typeface="Hepta Slab SemiBold" pitchFamily="2" charset="0"/>
                        </a:rPr>
                        <a:t>Concierge services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016071781"/>
                  </a:ext>
                </a:extLst>
              </a:tr>
              <a:tr h="292676">
                <a:tc>
                  <a:txBody>
                    <a:bodyPr/>
                    <a:lstStyle/>
                    <a:p>
                      <a:pPr algn="l" fontAlgn="b"/>
                      <a:r>
                        <a:rPr lang="en-IN" sz="1400" b="0" i="0" u="none" strike="noStrike" dirty="0">
                          <a:solidFill>
                            <a:srgbClr val="000000"/>
                          </a:solidFill>
                          <a:effectLst/>
                          <a:latin typeface="Hepta Slab SemiBold" pitchFamily="2" charset="0"/>
                          <a:cs typeface="Hepta Slab SemiBold" pitchFamily="2" charset="0"/>
                        </a:rPr>
                        <a:t>Multi currency card</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692570432"/>
                  </a:ext>
                </a:extLst>
              </a:tr>
            </a:tbl>
          </a:graphicData>
        </a:graphic>
      </p:graphicFrame>
      <p:sp>
        <p:nvSpPr>
          <p:cNvPr id="8" name="TextBox 7">
            <a:extLst>
              <a:ext uri="{FF2B5EF4-FFF2-40B4-BE49-F238E27FC236}">
                <a16:creationId xmlns:a16="http://schemas.microsoft.com/office/drawing/2014/main" id="{F28C77BA-2D3C-3996-3459-258AC083CEF6}"/>
              </a:ext>
            </a:extLst>
          </p:cNvPr>
          <p:cNvSpPr txBox="1"/>
          <p:nvPr/>
        </p:nvSpPr>
        <p:spPr>
          <a:xfrm>
            <a:off x="4996206" y="2094282"/>
            <a:ext cx="2186817" cy="104644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SemiBold" panose="00000700000000000000" pitchFamily="2" charset="0"/>
                <a:ea typeface="+mn-ea"/>
                <a:cs typeface="+mn-cs"/>
              </a:rPr>
              <a:t>Most Salient Features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Montserrat Medium" panose="00000600000000000000" pitchFamily="2" charset="0"/>
                <a:ea typeface="+mn-ea"/>
                <a:cs typeface="+mn-cs"/>
              </a:rPr>
              <a:t>Personalized luxury</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Montserrat Medium" panose="00000600000000000000" pitchFamily="2" charset="0"/>
                <a:ea typeface="+mn-ea"/>
                <a:cs typeface="+mn-cs"/>
              </a:rPr>
              <a:t>Exclusive events</a:t>
            </a:r>
          </a:p>
        </p:txBody>
      </p:sp>
      <p:sp>
        <p:nvSpPr>
          <p:cNvPr id="9" name="TextBox 8">
            <a:extLst>
              <a:ext uri="{FF2B5EF4-FFF2-40B4-BE49-F238E27FC236}">
                <a16:creationId xmlns:a16="http://schemas.microsoft.com/office/drawing/2014/main" id="{4006A001-3DAD-92EF-A0E1-2B03515F0EDE}"/>
              </a:ext>
            </a:extLst>
          </p:cNvPr>
          <p:cNvSpPr txBox="1"/>
          <p:nvPr/>
        </p:nvSpPr>
        <p:spPr>
          <a:xfrm>
            <a:off x="8651692" y="2094282"/>
            <a:ext cx="2419252" cy="141577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ED7D31"/>
                </a:solidFill>
                <a:effectLst/>
                <a:uLnTx/>
                <a:uFillTx/>
                <a:latin typeface="Montserrat SemiBold" panose="00000700000000000000" pitchFamily="2" charset="0"/>
                <a:ea typeface="+mn-ea"/>
                <a:cs typeface="+mn-cs"/>
              </a:rPr>
              <a:t>Non-Salient Features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Montserrat Medium" panose="00000600000000000000" pitchFamily="2" charset="0"/>
                <a:ea typeface="+mn-ea"/>
                <a:cs typeface="+mn-cs"/>
              </a:rPr>
              <a:t>Concierge</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Montserrat Medium" panose="00000600000000000000" pitchFamily="2" charset="0"/>
                <a:ea typeface="+mn-ea"/>
                <a:cs typeface="+mn-cs"/>
              </a:rPr>
              <a:t>Philanthropy</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Montserrat Medium" panose="00000600000000000000" pitchFamily="2" charset="0"/>
                <a:ea typeface="+mn-ea"/>
                <a:cs typeface="+mn-cs"/>
              </a:rPr>
              <a:t>Exclusive digital content</a:t>
            </a:r>
          </a:p>
        </p:txBody>
      </p:sp>
      <p:pic>
        <p:nvPicPr>
          <p:cNvPr id="2" name="Picture 1" descr="A blue brain with a blue background&#10;&#10;Description automatically generated">
            <a:extLst>
              <a:ext uri="{FF2B5EF4-FFF2-40B4-BE49-F238E27FC236}">
                <a16:creationId xmlns:a16="http://schemas.microsoft.com/office/drawing/2014/main" id="{0794B221-971B-4993-FA97-951FE1248A04}"/>
              </a:ext>
            </a:extLst>
          </p:cNvPr>
          <p:cNvPicPr>
            <a:picLocks noChangeAspect="1"/>
          </p:cNvPicPr>
          <p:nvPr/>
        </p:nvPicPr>
        <p:blipFill>
          <a:blip r:embed="rId5" cstate="print">
            <a:extLst>
              <a:ext uri="{28A0092B-C50C-407E-A947-70E740481C1C}">
                <a14:useLocalDpi xmlns:a14="http://schemas.microsoft.com/office/drawing/2010/main" val="0"/>
              </a:ext>
            </a:extLst>
          </a:blip>
          <a:srcRect l="24683" r="24684"/>
          <a:stretch/>
        </p:blipFill>
        <p:spPr>
          <a:xfrm>
            <a:off x="457200" y="365124"/>
            <a:ext cx="914402" cy="8458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Object5">
            <a:extLst>
              <a:ext uri="{FF2B5EF4-FFF2-40B4-BE49-F238E27FC236}">
                <a16:creationId xmlns:a16="http://schemas.microsoft.com/office/drawing/2014/main" id="{22824741-DE32-2558-41AC-8B803F5FACE7}"/>
              </a:ext>
            </a:extLst>
          </p:cNvPr>
          <p:cNvSpPr/>
          <p:nvPr/>
        </p:nvSpPr>
        <p:spPr>
          <a:xfrm>
            <a:off x="1645733" y="712646"/>
            <a:ext cx="7080000" cy="370658"/>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A9734C"/>
                </a:solidFill>
                <a:effectLst/>
                <a:uLnTx/>
                <a:uFillTx/>
                <a:latin typeface="Montserrat ExtraBold" pitchFamily="34" charset="0"/>
                <a:ea typeface="+mn-ea"/>
                <a:cs typeface="+mn-cs"/>
              </a:rPr>
              <a:t>PERSONALIZED CONVENIENCE. PERSONALIZED PRESTIGE</a:t>
            </a:r>
          </a:p>
        </p:txBody>
      </p:sp>
      <p:sp>
        <p:nvSpPr>
          <p:cNvPr id="4" name="Object6">
            <a:extLst>
              <a:ext uri="{FF2B5EF4-FFF2-40B4-BE49-F238E27FC236}">
                <a16:creationId xmlns:a16="http://schemas.microsoft.com/office/drawing/2014/main" id="{E45BD1A4-FE0D-3FDC-9E1C-CB5C96866082}"/>
              </a:ext>
            </a:extLst>
          </p:cNvPr>
          <p:cNvSpPr/>
          <p:nvPr/>
        </p:nvSpPr>
        <p:spPr>
          <a:xfrm>
            <a:off x="1649573" y="472648"/>
            <a:ext cx="5156160" cy="370658"/>
          </a:xfrm>
          <a:prstGeom prst="rect">
            <a:avLst/>
          </a:prstGeom>
          <a:noFill/>
          <a:ln/>
        </p:spPr>
        <p:txBody>
          <a:bodyPr wrap="square" lIns="0" tIns="0" rIns="0" bIns="0" rtlCol="0" anchor="t"/>
          <a:lstStyle/>
          <a:p>
            <a:pPr marL="0" marR="0" lvl="0" indent="0" algn="l" defTabSz="304815" rtl="0" eaLnBrk="1" fontAlgn="auto" latinLnBrk="0" hangingPunct="1">
              <a:lnSpc>
                <a:spcPts val="2400"/>
              </a:lnSpc>
              <a:spcBef>
                <a:spcPts val="0"/>
              </a:spcBef>
              <a:spcAft>
                <a:spcPts val="0"/>
              </a:spcAft>
              <a:buClrTx/>
              <a:buSzTx/>
              <a:buFontTx/>
              <a:buNone/>
              <a:tabLst/>
              <a:defRPr/>
            </a:pPr>
            <a:r>
              <a:rPr kumimoji="0" lang="en-US" sz="1600" b="0" i="0" u="none" strike="noStrike" kern="1200" cap="all" spc="0" normalizeH="0" baseline="0" noProof="0" dirty="0">
                <a:ln>
                  <a:noFill/>
                </a:ln>
                <a:solidFill>
                  <a:srgbClr val="0D0D0D"/>
                </a:solidFill>
                <a:effectLst/>
                <a:uLnTx/>
                <a:uFillTx/>
                <a:latin typeface="Montserrat ExtraBold" pitchFamily="34" charset="0"/>
                <a:ea typeface="Montserrat ExtraBold" pitchFamily="34" charset="-122"/>
                <a:cs typeface="Montserrat ExtraBold" pitchFamily="34" charset="-120"/>
              </a:rPr>
              <a:t>ENHANCE MY LIFESTYLE</a:t>
            </a:r>
            <a:endParaRPr kumimoji="0" lang="en-US" sz="1600" b="0" i="0" u="none" strike="noStrike" kern="1200" cap="all" spc="0" normalizeH="0" baseline="0" noProof="0" dirty="0">
              <a:ln>
                <a:noFill/>
              </a:ln>
              <a:solidFill>
                <a:srgbClr val="0D0D0D"/>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3673A21-05D5-ADFA-3CB3-F50C2318A83F}"/>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94</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6" name="TextBox 5">
            <a:extLst>
              <a:ext uri="{FF2B5EF4-FFF2-40B4-BE49-F238E27FC236}">
                <a16:creationId xmlns:a16="http://schemas.microsoft.com/office/drawing/2014/main" id="{08DA2C5E-7F25-3C95-DAAD-019176FF16BF}"/>
              </a:ext>
            </a:extLst>
          </p:cNvPr>
          <p:cNvSpPr txBox="1"/>
          <p:nvPr/>
        </p:nvSpPr>
        <p:spPr>
          <a:xfrm>
            <a:off x="6905625" y="310798"/>
            <a:ext cx="370165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9734C"/>
                </a:solidFill>
                <a:effectLst/>
                <a:uLnTx/>
                <a:uFillTx/>
                <a:latin typeface="Montserrat SemiBold" panose="00000700000000000000" pitchFamily="2" charset="0"/>
                <a:ea typeface="+mn-ea"/>
                <a:cs typeface="+mn-cs"/>
              </a:rPr>
              <a:t>Personalization is an opportunity area</a:t>
            </a:r>
            <a:endParaRPr kumimoji="0" lang="en-IN" sz="1400" b="0" i="0" u="none" strike="noStrike" kern="1200" cap="none" spc="0" normalizeH="0" baseline="0" noProof="0" dirty="0">
              <a:ln>
                <a:noFill/>
              </a:ln>
              <a:solidFill>
                <a:srgbClr val="A9734C"/>
              </a:solidFill>
              <a:effectLst/>
              <a:uLnTx/>
              <a:uFillTx/>
              <a:latin typeface="Montserrat SemiBold" panose="00000700000000000000" pitchFamily="2" charset="0"/>
              <a:ea typeface="+mn-ea"/>
              <a:cs typeface="+mn-cs"/>
            </a:endParaRPr>
          </a:p>
        </p:txBody>
      </p:sp>
    </p:spTree>
    <p:extLst>
      <p:ext uri="{BB962C8B-B14F-4D97-AF65-F5344CB8AC3E}">
        <p14:creationId xmlns:p14="http://schemas.microsoft.com/office/powerpoint/2010/main" val="36312964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D02ED-9DD5-290E-F576-8E1BA97E3BC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1664F81-C813-FBDD-BAAF-BF2AB198E1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Object6">
            <a:extLst>
              <a:ext uri="{FF2B5EF4-FFF2-40B4-BE49-F238E27FC236}">
                <a16:creationId xmlns:a16="http://schemas.microsoft.com/office/drawing/2014/main" id="{8D7465C3-257D-B68C-B215-B001567BC7F1}"/>
              </a:ext>
            </a:extLst>
          </p:cNvPr>
          <p:cNvSpPr/>
          <p:nvPr/>
        </p:nvSpPr>
        <p:spPr>
          <a:xfrm>
            <a:off x="696000" y="3429000"/>
            <a:ext cx="8760000" cy="840000"/>
          </a:xfrm>
          <a:prstGeom prst="rect">
            <a:avLst/>
          </a:prstGeom>
          <a:noFill/>
          <a:ln/>
        </p:spPr>
        <p:txBody>
          <a:bodyPr wrap="square" lIns="0" tIns="0" rIns="0" bIns="0" rtlCol="0" anchor="b">
            <a:noAutofit/>
          </a:bodyPr>
          <a:lstStyle/>
          <a:p>
            <a:pPr defTabSz="304815">
              <a:lnSpc>
                <a:spcPts val="2925"/>
              </a:lnSpc>
              <a:defRPr/>
            </a:pPr>
            <a:r>
              <a:rPr lang="en-US" sz="6400" dirty="0">
                <a:solidFill>
                  <a:srgbClr val="FFC000">
                    <a:lumMod val="20000"/>
                    <a:lumOff val="80000"/>
                  </a:srgbClr>
                </a:solidFill>
                <a:latin typeface="Hepta Slab ExtraLight" pitchFamily="2" charset="0"/>
                <a:ea typeface="Montserrat ExtraBold" pitchFamily="34" charset="-122"/>
                <a:cs typeface="Hepta Slab ExtraLight" pitchFamily="2" charset="0"/>
              </a:rPr>
              <a:t>The Competition</a:t>
            </a:r>
            <a:endParaRPr lang="en-US" sz="6400" dirty="0">
              <a:solidFill>
                <a:srgbClr val="FFC000">
                  <a:lumMod val="20000"/>
                  <a:lumOff val="80000"/>
                </a:srgbClr>
              </a:solidFill>
              <a:latin typeface="Hepta Slab ExtraLight" pitchFamily="2" charset="0"/>
              <a:cs typeface="Hepta Slab ExtraLight" pitchFamily="2" charset="0"/>
            </a:endParaRPr>
          </a:p>
        </p:txBody>
      </p:sp>
      <p:sp>
        <p:nvSpPr>
          <p:cNvPr id="11" name="Object5">
            <a:extLst>
              <a:ext uri="{FF2B5EF4-FFF2-40B4-BE49-F238E27FC236}">
                <a16:creationId xmlns:a16="http://schemas.microsoft.com/office/drawing/2014/main" id="{5DDDED14-4AD3-BC47-4607-CCA5926F9249}"/>
              </a:ext>
            </a:extLst>
          </p:cNvPr>
          <p:cNvSpPr/>
          <p:nvPr/>
        </p:nvSpPr>
        <p:spPr>
          <a:xfrm>
            <a:off x="851040" y="4944852"/>
            <a:ext cx="11280000" cy="480000"/>
          </a:xfrm>
          <a:prstGeom prst="rect">
            <a:avLst/>
          </a:prstGeom>
          <a:noFill/>
          <a:ln/>
        </p:spPr>
        <p:txBody>
          <a:bodyPr wrap="square" lIns="0" tIns="0" rIns="0" bIns="0" rtlCol="0" anchor="t"/>
          <a:lstStyle/>
          <a:p>
            <a:pPr defTabSz="304815">
              <a:lnSpc>
                <a:spcPts val="4000"/>
              </a:lnSpc>
            </a:pPr>
            <a:r>
              <a:rPr kumimoji="0" lang="en-US" sz="4000" b="1" i="0" u="none" strike="noStrike" kern="1200" cap="none" spc="0" normalizeH="0" baseline="0" noProof="0" dirty="0">
                <a:ln>
                  <a:noFill/>
                </a:ln>
                <a:solidFill>
                  <a:srgbClr val="FFC000"/>
                </a:solidFill>
                <a:effectLst/>
                <a:uLnTx/>
                <a:uFillTx/>
                <a:latin typeface="Hepta Slab SemiBold" pitchFamily="2" charset="0"/>
                <a:ea typeface="+mn-ea"/>
                <a:cs typeface="Hepta Slab SemiBold" pitchFamily="2" charset="0"/>
              </a:rPr>
              <a:t>. </a:t>
            </a:r>
            <a:r>
              <a:rPr lang="en-US" sz="1600" b="1" cap="small" dirty="0">
                <a:solidFill>
                  <a:srgbClr val="FFC000">
                    <a:lumMod val="20000"/>
                    <a:lumOff val="80000"/>
                  </a:srgbClr>
                </a:solidFill>
                <a:latin typeface="Hepta Slab SemiBold" pitchFamily="2" charset="0"/>
                <a:cs typeface="Hepta Slab SemiBold" pitchFamily="2" charset="0"/>
              </a:rPr>
              <a:t>CELESTA</a:t>
            </a:r>
            <a:r>
              <a:rPr kumimoji="0" lang="en-US" sz="4000" b="1" i="0" u="none" strike="noStrike" kern="1200" cap="none" spc="0" normalizeH="0" baseline="0" noProof="0" dirty="0">
                <a:ln>
                  <a:noFill/>
                </a:ln>
                <a:solidFill>
                  <a:srgbClr val="FFC000"/>
                </a:solidFill>
                <a:effectLst/>
                <a:uLnTx/>
                <a:uFillTx/>
                <a:latin typeface="Hepta Slab SemiBold" pitchFamily="2" charset="0"/>
                <a:ea typeface="+mn-ea"/>
                <a:cs typeface="Hepta Slab SemiBold" pitchFamily="2" charset="0"/>
              </a:rPr>
              <a:t> . </a:t>
            </a:r>
            <a:r>
              <a:rPr lang="en-US" sz="1600" b="1" cap="small" dirty="0">
                <a:solidFill>
                  <a:srgbClr val="FFC000">
                    <a:lumMod val="20000"/>
                    <a:lumOff val="80000"/>
                  </a:srgbClr>
                </a:solidFill>
                <a:latin typeface="Hepta Slab SemiBold" pitchFamily="2" charset="0"/>
                <a:cs typeface="Hepta Slab SemiBold" pitchFamily="2" charset="0"/>
              </a:rPr>
              <a:t>PRIVY LEAGUE </a:t>
            </a:r>
            <a:r>
              <a:rPr lang="en-US" sz="4000" b="1" dirty="0">
                <a:solidFill>
                  <a:srgbClr val="FFC000"/>
                </a:solidFill>
                <a:latin typeface="Hepta Slab SemiBold" pitchFamily="2" charset="0"/>
                <a:cs typeface="Hepta Slab SemiBold" pitchFamily="2" charset="0"/>
              </a:rPr>
              <a:t>.</a:t>
            </a:r>
            <a:r>
              <a:rPr lang="en-US" sz="1600" b="1" dirty="0">
                <a:solidFill>
                  <a:srgbClr val="FFC000"/>
                </a:solidFill>
                <a:latin typeface="Hepta Slab SemiBold" pitchFamily="2" charset="0"/>
                <a:cs typeface="Hepta Slab SemiBold" pitchFamily="2" charset="0"/>
              </a:rPr>
              <a:t> </a:t>
            </a:r>
            <a:r>
              <a:rPr lang="en-US" sz="1600" b="1" dirty="0">
                <a:solidFill>
                  <a:srgbClr val="FFC000">
                    <a:lumMod val="20000"/>
                    <a:lumOff val="80000"/>
                  </a:srgbClr>
                </a:solidFill>
                <a:latin typeface="Hepta Slab SemiBold" pitchFamily="2" charset="0"/>
                <a:cs typeface="Hepta Slab SemiBold" pitchFamily="2" charset="0"/>
              </a:rPr>
              <a:t>IMPERIA </a:t>
            </a:r>
            <a:r>
              <a:rPr lang="en-US" sz="4000" b="1" dirty="0">
                <a:solidFill>
                  <a:srgbClr val="FFC000"/>
                </a:solidFill>
                <a:latin typeface="Hepta Slab SemiBold" pitchFamily="2" charset="0"/>
                <a:cs typeface="Hepta Slab SemiBold" pitchFamily="2" charset="0"/>
              </a:rPr>
              <a:t>.</a:t>
            </a:r>
            <a:r>
              <a:rPr lang="en-US" sz="1600" b="1" dirty="0">
                <a:solidFill>
                  <a:srgbClr val="FFC000">
                    <a:lumMod val="20000"/>
                    <a:lumOff val="80000"/>
                  </a:srgbClr>
                </a:solidFill>
                <a:latin typeface="Hepta Slab SemiBold" pitchFamily="2" charset="0"/>
                <a:cs typeface="Hepta Slab SemiBold" pitchFamily="2" charset="0"/>
              </a:rPr>
              <a:t> </a:t>
            </a:r>
            <a:r>
              <a:rPr lang="en-US" sz="1600" b="1" dirty="0">
                <a:solidFill>
                  <a:srgbClr val="FFC000">
                    <a:lumMod val="20000"/>
                    <a:lumOff val="80000"/>
                  </a:srgbClr>
                </a:solidFill>
                <a:latin typeface="Hepta Slab SemiBold" pitchFamily="2" charset="0"/>
                <a:ea typeface="Hepta Slab Regular" pitchFamily="34" charset="-122"/>
                <a:cs typeface="Hepta Slab SemiBold" pitchFamily="2" charset="0"/>
              </a:rPr>
              <a:t>BURGUNDY</a:t>
            </a:r>
            <a:endParaRPr lang="en-US" sz="1600" b="1" dirty="0">
              <a:solidFill>
                <a:srgbClr val="FFC000">
                  <a:lumMod val="20000"/>
                  <a:lumOff val="80000"/>
                </a:srgbClr>
              </a:solidFill>
              <a:latin typeface="Hepta Slab SemiBold" pitchFamily="2" charset="0"/>
              <a:cs typeface="Hepta Slab SemiBold" pitchFamily="2" charset="0"/>
            </a:endParaRPr>
          </a:p>
          <a:p>
            <a:pPr defTabSz="304815">
              <a:lnSpc>
                <a:spcPts val="4000"/>
              </a:lnSpc>
            </a:pPr>
            <a:endParaRPr lang="en-US" sz="1600" b="1" dirty="0">
              <a:solidFill>
                <a:srgbClr val="FFC000">
                  <a:lumMod val="20000"/>
                  <a:lumOff val="80000"/>
                </a:srgbClr>
              </a:solidFill>
              <a:latin typeface="Hepta Slab SemiBold" pitchFamily="2" charset="0"/>
              <a:cs typeface="Hepta Slab SemiBold" pitchFamily="2" charset="0"/>
            </a:endParaRPr>
          </a:p>
        </p:txBody>
      </p:sp>
      <p:grpSp>
        <p:nvGrpSpPr>
          <p:cNvPr id="12" name="Group 11">
            <a:extLst>
              <a:ext uri="{FF2B5EF4-FFF2-40B4-BE49-F238E27FC236}">
                <a16:creationId xmlns:a16="http://schemas.microsoft.com/office/drawing/2014/main" id="{D24EF48C-6D44-FEA5-E566-08D6A89FC606}"/>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A2FE5CC8-1E13-00D0-A936-E4CEE7CB711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6"/>
              <a:r>
                <a:rPr lang="en-IN" sz="800" dirty="0">
                  <a:solidFill>
                    <a:prstClr val="white"/>
                  </a:solidFill>
                  <a:latin typeface="Montserrat Medium" pitchFamily="2" charset="0"/>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F0858BD7-B4A8-A6F7-69D8-E5F2E3CAF1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E2480225-5A19-419E-423A-6CF2FD4BDD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5695ED49-732D-7FA4-2A70-686CBDF0BECD}"/>
              </a:ext>
            </a:extLst>
          </p:cNvPr>
          <p:cNvSpPr txBox="1"/>
          <p:nvPr/>
        </p:nvSpPr>
        <p:spPr>
          <a:xfrm>
            <a:off x="11376000" y="6110479"/>
            <a:ext cx="480000" cy="276999"/>
          </a:xfrm>
          <a:prstGeom prst="rect">
            <a:avLst/>
          </a:prstGeom>
          <a:noFill/>
        </p:spPr>
        <p:txBody>
          <a:bodyPr wrap="square" rtlCol="0">
            <a:spAutoFit/>
          </a:bodyPr>
          <a:lstStyle/>
          <a:p>
            <a:pPr algn="r" defTabSz="304815">
              <a:spcBef>
                <a:spcPts val="1200"/>
              </a:spcBef>
              <a:spcAft>
                <a:spcPts val="1200"/>
              </a:spcAft>
              <a:buClr>
                <a:srgbClr val="FFC000"/>
              </a:buClr>
            </a:pPr>
            <a:fld id="{D361C30A-14D1-4BA4-A81C-2E0AE262D2B3}" type="slidenum">
              <a:rPr lang="en-US" sz="1200">
                <a:solidFill>
                  <a:srgbClr val="0D0D0D"/>
                </a:solidFill>
                <a:latin typeface="Hepta Slab Medium" pitchFamily="2" charset="0"/>
                <a:cs typeface="Hepta Slab Medium" pitchFamily="2" charset="0"/>
              </a:rPr>
              <a:pPr algn="r" defTabSz="304815">
                <a:spcBef>
                  <a:spcPts val="1200"/>
                </a:spcBef>
                <a:spcAft>
                  <a:spcPts val="1200"/>
                </a:spcAft>
                <a:buClr>
                  <a:srgbClr val="FFC000"/>
                </a:buClr>
              </a:pPr>
              <a:t>95</a:t>
            </a:fld>
            <a:endParaRPr lang="en-US" sz="1333" dirty="0">
              <a:solidFill>
                <a:srgbClr val="0D0D0D"/>
              </a:solidFill>
              <a:latin typeface="Hepta Slab Medium" pitchFamily="2" charset="0"/>
              <a:cs typeface="Hepta Slab Medium" pitchFamily="2" charset="0"/>
            </a:endParaRPr>
          </a:p>
        </p:txBody>
      </p:sp>
      <p:pic>
        <p:nvPicPr>
          <p:cNvPr id="2" name="Picture 1">
            <a:extLst>
              <a:ext uri="{FF2B5EF4-FFF2-40B4-BE49-F238E27FC236}">
                <a16:creationId xmlns:a16="http://schemas.microsoft.com/office/drawing/2014/main" id="{759CBABA-9075-9348-D706-8F0DAF4DB80F}"/>
              </a:ext>
            </a:extLst>
          </p:cNvPr>
          <p:cNvPicPr>
            <a:picLocks noChangeAspect="1"/>
          </p:cNvPicPr>
          <p:nvPr/>
        </p:nvPicPr>
        <p:blipFill>
          <a:blip r:embed="rId6">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3" name="Object5">
            <a:extLst>
              <a:ext uri="{FF2B5EF4-FFF2-40B4-BE49-F238E27FC236}">
                <a16:creationId xmlns:a16="http://schemas.microsoft.com/office/drawing/2014/main" id="{C202B9C8-C3CA-9719-10B2-A06BE9FF96D6}"/>
              </a:ext>
            </a:extLst>
          </p:cNvPr>
          <p:cNvSpPr/>
          <p:nvPr/>
        </p:nvSpPr>
        <p:spPr>
          <a:xfrm>
            <a:off x="695999" y="4145086"/>
            <a:ext cx="11280000" cy="480000"/>
          </a:xfrm>
          <a:prstGeom prst="rect">
            <a:avLst/>
          </a:prstGeom>
          <a:noFill/>
          <a:ln/>
        </p:spPr>
        <p:txBody>
          <a:bodyPr wrap="square" lIns="0" tIns="0" rIns="0" bIns="0" rtlCol="0" anchor="t"/>
          <a:lstStyle/>
          <a:p>
            <a:pPr defTabSz="304815">
              <a:lnSpc>
                <a:spcPts val="4000"/>
              </a:lnSpc>
            </a:pPr>
            <a:r>
              <a:rPr lang="en-US" sz="1600" b="1" cap="small" dirty="0">
                <a:solidFill>
                  <a:srgbClr val="FFC000">
                    <a:lumMod val="20000"/>
                    <a:lumOff val="80000"/>
                  </a:srgbClr>
                </a:solidFill>
                <a:latin typeface="Hepta Slab SemiBold" pitchFamily="2" charset="0"/>
                <a:cs typeface="Hepta Slab SemiBold" pitchFamily="2" charset="0"/>
              </a:rPr>
              <a:t>SPECIFICS</a:t>
            </a:r>
            <a:endParaRPr lang="en-US" sz="1600" b="1" dirty="0">
              <a:solidFill>
                <a:srgbClr val="FFC000">
                  <a:lumMod val="20000"/>
                  <a:lumOff val="80000"/>
                </a:srgbClr>
              </a:solidFill>
              <a:latin typeface="Hepta Slab SemiBold" pitchFamily="2" charset="0"/>
              <a:cs typeface="Hepta Slab SemiBold" pitchFamily="2" charset="0"/>
            </a:endParaRPr>
          </a:p>
          <a:p>
            <a:pPr defTabSz="304815">
              <a:lnSpc>
                <a:spcPts val="4000"/>
              </a:lnSpc>
            </a:pPr>
            <a:endParaRPr lang="en-US" sz="1600" b="1" dirty="0">
              <a:solidFill>
                <a:srgbClr val="FFC000">
                  <a:lumMod val="20000"/>
                  <a:lumOff val="80000"/>
                </a:srgbClr>
              </a:solidFill>
              <a:latin typeface="Hepta Slab SemiBold" pitchFamily="2" charset="0"/>
              <a:cs typeface="Hepta Slab SemiBold" pitchFamily="2" charset="0"/>
            </a:endParaRPr>
          </a:p>
        </p:txBody>
      </p:sp>
    </p:spTree>
    <p:extLst>
      <p:ext uri="{BB962C8B-B14F-4D97-AF65-F5344CB8AC3E}">
        <p14:creationId xmlns:p14="http://schemas.microsoft.com/office/powerpoint/2010/main" val="10493238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16DF7-144E-8C74-035F-BD2FF4A8DF2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FEE7EBE-4B73-4813-22D3-5BC986D73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00" y="0"/>
            <a:ext cx="12192000" cy="6858000"/>
          </a:xfrm>
          <a:prstGeom prst="rect">
            <a:avLst/>
          </a:prstGeom>
        </p:spPr>
      </p:pic>
      <p:grpSp>
        <p:nvGrpSpPr>
          <p:cNvPr id="12" name="Group 11">
            <a:extLst>
              <a:ext uri="{FF2B5EF4-FFF2-40B4-BE49-F238E27FC236}">
                <a16:creationId xmlns:a16="http://schemas.microsoft.com/office/drawing/2014/main" id="{5DD23A69-C2A4-22FE-351D-4294D7F4B544}"/>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FCB37148-1CB3-63CA-AB39-BB5B37ADCDDA}"/>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B4CC4151-BAAD-467F-C378-1C00DDEA4A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FC8B08C9-0716-CB1B-98AC-A54A015B02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2908BD70-3B92-3700-4D5C-B2ABF42C300E}"/>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96</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pic>
        <p:nvPicPr>
          <p:cNvPr id="15" name="Picture 14">
            <a:extLst>
              <a:ext uri="{FF2B5EF4-FFF2-40B4-BE49-F238E27FC236}">
                <a16:creationId xmlns:a16="http://schemas.microsoft.com/office/drawing/2014/main" id="{9EC34120-36B2-265F-0B76-3FBB8FC49A24}"/>
              </a:ext>
            </a:extLst>
          </p:cNvPr>
          <p:cNvPicPr>
            <a:picLocks noChangeAspect="1"/>
          </p:cNvPicPr>
          <p:nvPr/>
        </p:nvPicPr>
        <p:blipFill rotWithShape="1">
          <a:blip r:embed="rId6">
            <a:extLst>
              <a:ext uri="{28A0092B-C50C-407E-A947-70E740481C1C}">
                <a14:useLocalDpi xmlns:a14="http://schemas.microsoft.com/office/drawing/2010/main" val="0"/>
              </a:ext>
            </a:extLst>
          </a:blip>
          <a:srcRect l="5697" r="72644"/>
          <a:stretch/>
        </p:blipFill>
        <p:spPr>
          <a:xfrm>
            <a:off x="-49400" y="0"/>
            <a:ext cx="2640000" cy="6858000"/>
          </a:xfrm>
          <a:prstGeom prst="rect">
            <a:avLst/>
          </a:prstGeom>
        </p:spPr>
      </p:pic>
      <p:sp>
        <p:nvSpPr>
          <p:cNvPr id="18" name="Object5">
            <a:extLst>
              <a:ext uri="{FF2B5EF4-FFF2-40B4-BE49-F238E27FC236}">
                <a16:creationId xmlns:a16="http://schemas.microsoft.com/office/drawing/2014/main" id="{A475B133-85DA-6DC3-C87B-D71B414E2D14}"/>
              </a:ext>
            </a:extLst>
          </p:cNvPr>
          <p:cNvSpPr/>
          <p:nvPr/>
        </p:nvSpPr>
        <p:spPr>
          <a:xfrm>
            <a:off x="3438071" y="789000"/>
            <a:ext cx="4584000" cy="432000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400"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TRANSACTION</a:t>
            </a:r>
            <a:r>
              <a:rPr kumimoji="0" lang="en-US" sz="2667"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EASE</a:t>
            </a:r>
          </a:p>
          <a:p>
            <a:pPr marL="0" marR="0" lvl="0" indent="0" algn="l" defTabSz="304815" rtl="0" eaLnBrk="1" fontAlgn="auto" latinLnBrk="0" hangingPunct="1">
              <a:lnSpc>
                <a:spcPct val="250000"/>
              </a:lnSpc>
              <a:spcBef>
                <a:spcPts val="0"/>
              </a:spcBef>
              <a:spcAft>
                <a:spcPts val="0"/>
              </a:spcAft>
              <a:buClrTx/>
              <a:buSzTx/>
              <a:buFontTx/>
              <a:buNone/>
              <a:tabLst/>
              <a:defRPr/>
            </a:pPr>
            <a:r>
              <a:rPr kumimoji="0" lang="en-US" sz="2667"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PREMIUM BANKING </a:t>
            </a:r>
          </a:p>
          <a:p>
            <a:pPr marL="0" marR="0" lvl="0" indent="0" algn="l" defTabSz="304815" rtl="0" eaLnBrk="1" fontAlgn="auto" latinLnBrk="0" hangingPunct="1">
              <a:lnSpc>
                <a:spcPct val="250000"/>
              </a:lnSpc>
              <a:spcBef>
                <a:spcPts val="0"/>
              </a:spcBef>
              <a:spcAft>
                <a:spcPts val="0"/>
              </a:spcAft>
              <a:buClrTx/>
              <a:buSzTx/>
              <a:buFontTx/>
              <a:buNone/>
              <a:tabLst/>
              <a:defRPr/>
            </a:pPr>
            <a:r>
              <a:rPr kumimoji="0" lang="en-US" sz="2667"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LIFESTYLE BENEFITS </a:t>
            </a:r>
          </a:p>
          <a:p>
            <a:pPr marL="0" marR="0" lvl="0" indent="0" algn="l" defTabSz="304815" rtl="0" eaLnBrk="1" fontAlgn="auto" latinLnBrk="0" hangingPunct="1">
              <a:lnSpc>
                <a:spcPct val="250000"/>
              </a:lnSpc>
              <a:spcBef>
                <a:spcPts val="0"/>
              </a:spcBef>
              <a:spcAft>
                <a:spcPts val="0"/>
              </a:spcAft>
              <a:buClrTx/>
              <a:buSzTx/>
              <a:buFontTx/>
              <a:buNone/>
              <a:tabLst/>
              <a:defRPr/>
            </a:pPr>
            <a:r>
              <a:rPr kumimoji="0" lang="en-US" sz="2667"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THE RM</a:t>
            </a:r>
          </a:p>
          <a:p>
            <a:pPr marL="0" marR="0" lvl="0" indent="0" algn="l" defTabSz="304815" rtl="0" eaLnBrk="1" fontAlgn="auto" latinLnBrk="0" hangingPunct="1">
              <a:lnSpc>
                <a:spcPct val="250000"/>
              </a:lnSpc>
              <a:spcBef>
                <a:spcPts val="0"/>
              </a:spcBef>
              <a:spcAft>
                <a:spcPts val="0"/>
              </a:spcAft>
              <a:buClrTx/>
              <a:buSzTx/>
              <a:buFontTx/>
              <a:buNone/>
              <a:tabLst/>
              <a:defRPr/>
            </a:pPr>
            <a:r>
              <a:rPr kumimoji="0" lang="en-US" sz="2667"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SUPPORT &amp; SERVICE</a:t>
            </a:r>
            <a:endParaRPr kumimoji="0" lang="en-US" sz="2667" b="1"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ts val="4000"/>
              </a:lnSpc>
              <a:spcBef>
                <a:spcPts val="0"/>
              </a:spcBef>
              <a:spcAft>
                <a:spcPts val="0"/>
              </a:spcAft>
              <a:buClrTx/>
              <a:buSzTx/>
              <a:buFontTx/>
              <a:buNone/>
              <a:tabLst/>
              <a:defRPr/>
            </a:pPr>
            <a:endParaRPr kumimoji="0" lang="en-US" sz="2667" b="1"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sp>
        <p:nvSpPr>
          <p:cNvPr id="20" name="Object5">
            <a:extLst>
              <a:ext uri="{FF2B5EF4-FFF2-40B4-BE49-F238E27FC236}">
                <a16:creationId xmlns:a16="http://schemas.microsoft.com/office/drawing/2014/main" id="{FF4874E7-DA34-5FF0-6839-73F7F2AF852A}"/>
              </a:ext>
            </a:extLst>
          </p:cNvPr>
          <p:cNvSpPr/>
          <p:nvPr/>
        </p:nvSpPr>
        <p:spPr>
          <a:xfrm>
            <a:off x="8126029" y="1073940"/>
            <a:ext cx="3841967" cy="437653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Exclusively </a:t>
            </a: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p>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imperia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burgundy customers</a:t>
            </a: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a:t>
            </a:r>
            <a:r>
              <a:rPr kumimoji="0" lang="en-US" sz="24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Privy</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pic>
        <p:nvPicPr>
          <p:cNvPr id="21" name="Graphic 20" descr="Lock with solid fill">
            <a:extLst>
              <a:ext uri="{FF2B5EF4-FFF2-40B4-BE49-F238E27FC236}">
                <a16:creationId xmlns:a16="http://schemas.microsoft.com/office/drawing/2014/main" id="{2E7E14FF-8EC7-21D2-A72B-98AD9CB413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755713" y="669000"/>
            <a:ext cx="600000" cy="600000"/>
          </a:xfrm>
          <a:prstGeom prst="rect">
            <a:avLst/>
          </a:prstGeom>
        </p:spPr>
      </p:pic>
      <p:pic>
        <p:nvPicPr>
          <p:cNvPr id="22" name="Graphic 21" descr="Money with solid fill">
            <a:extLst>
              <a:ext uri="{FF2B5EF4-FFF2-40B4-BE49-F238E27FC236}">
                <a16:creationId xmlns:a16="http://schemas.microsoft.com/office/drawing/2014/main" id="{416AAFD2-F6C2-90A0-1831-640549FAC77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755713" y="1502282"/>
            <a:ext cx="600000" cy="600000"/>
          </a:xfrm>
          <a:prstGeom prst="rect">
            <a:avLst/>
          </a:prstGeom>
        </p:spPr>
      </p:pic>
      <p:pic>
        <p:nvPicPr>
          <p:cNvPr id="23" name="Graphic 22" descr="Diamond with solid fill">
            <a:extLst>
              <a:ext uri="{FF2B5EF4-FFF2-40B4-BE49-F238E27FC236}">
                <a16:creationId xmlns:a16="http://schemas.microsoft.com/office/drawing/2014/main" id="{A0BE856F-A2BA-1B31-7D12-010374DB4E4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55713" y="2589000"/>
            <a:ext cx="600000" cy="600000"/>
          </a:xfrm>
          <a:prstGeom prst="rect">
            <a:avLst/>
          </a:prstGeom>
        </p:spPr>
      </p:pic>
      <p:pic>
        <p:nvPicPr>
          <p:cNvPr id="24" name="Graphic 23" descr="Fairy male with solid fill">
            <a:extLst>
              <a:ext uri="{FF2B5EF4-FFF2-40B4-BE49-F238E27FC236}">
                <a16:creationId xmlns:a16="http://schemas.microsoft.com/office/drawing/2014/main" id="{834F5525-CE2B-708E-E121-239DA383280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755713" y="3588867"/>
            <a:ext cx="600000" cy="600000"/>
          </a:xfrm>
          <a:prstGeom prst="rect">
            <a:avLst/>
          </a:prstGeom>
        </p:spPr>
      </p:pic>
      <p:pic>
        <p:nvPicPr>
          <p:cNvPr id="25" name="Graphic 24" descr="Care with solid fill">
            <a:extLst>
              <a:ext uri="{FF2B5EF4-FFF2-40B4-BE49-F238E27FC236}">
                <a16:creationId xmlns:a16="http://schemas.microsoft.com/office/drawing/2014/main" id="{FBC1B713-00F1-CA86-78E4-C82BB4E975CB}"/>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755713" y="4526108"/>
            <a:ext cx="600000" cy="600000"/>
          </a:xfrm>
          <a:prstGeom prst="rect">
            <a:avLst/>
          </a:prstGeom>
        </p:spPr>
      </p:pic>
      <p:pic>
        <p:nvPicPr>
          <p:cNvPr id="2" name="Picture 1">
            <a:extLst>
              <a:ext uri="{FF2B5EF4-FFF2-40B4-BE49-F238E27FC236}">
                <a16:creationId xmlns:a16="http://schemas.microsoft.com/office/drawing/2014/main" id="{2295DC2C-0B7A-120E-E362-22006F38B721}"/>
              </a:ext>
            </a:extLst>
          </p:cNvPr>
          <p:cNvPicPr>
            <a:picLocks noChangeAspect="1"/>
          </p:cNvPicPr>
          <p:nvPr/>
        </p:nvPicPr>
        <p:blipFill>
          <a:blip r:embed="rId17">
            <a:extLst>
              <a:ext uri="{28A0092B-C50C-407E-A947-70E740481C1C}">
                <a14:useLocalDpi xmlns:a14="http://schemas.microsoft.com/office/drawing/2010/main" val="0"/>
              </a:ext>
            </a:extLst>
          </a:blip>
          <a:srcRect l="86867" b="37023"/>
          <a:stretch/>
        </p:blipFill>
        <p:spPr>
          <a:xfrm>
            <a:off x="2651769" y="6424427"/>
            <a:ext cx="373693" cy="383995"/>
          </a:xfrm>
          <a:prstGeom prst="rect">
            <a:avLst/>
          </a:prstGeom>
        </p:spPr>
      </p:pic>
    </p:spTree>
    <p:extLst>
      <p:ext uri="{BB962C8B-B14F-4D97-AF65-F5344CB8AC3E}">
        <p14:creationId xmlns:p14="http://schemas.microsoft.com/office/powerpoint/2010/main" val="28880855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BEA4A5-120F-BB0D-499D-42D094C6F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00" y="0"/>
            <a:ext cx="12192000" cy="6858000"/>
          </a:xfrm>
          <a:prstGeom prst="rect">
            <a:avLst/>
          </a:prstGeom>
        </p:spPr>
      </p:pic>
      <p:grpSp>
        <p:nvGrpSpPr>
          <p:cNvPr id="12" name="Group 11">
            <a:extLst>
              <a:ext uri="{FF2B5EF4-FFF2-40B4-BE49-F238E27FC236}">
                <a16:creationId xmlns:a16="http://schemas.microsoft.com/office/drawing/2014/main" id="{22CDB6C3-6DD9-100D-7F19-500802B4C9A5}"/>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7C95BFCA-07A1-2CE1-94DD-902B3BB2CB1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D3FE01CB-E6AA-D3A3-34AF-BB11B8E152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496CDE05-6842-F510-D74F-ABC27571C5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503F9316-E922-3CE4-C627-0EF761B3BFDA}"/>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97</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8" name="Object5">
            <a:extLst>
              <a:ext uri="{FF2B5EF4-FFF2-40B4-BE49-F238E27FC236}">
                <a16:creationId xmlns:a16="http://schemas.microsoft.com/office/drawing/2014/main" id="{4D00F801-EE00-2D63-75A3-6076064ABBCA}"/>
              </a:ext>
            </a:extLst>
          </p:cNvPr>
          <p:cNvSpPr/>
          <p:nvPr/>
        </p:nvSpPr>
        <p:spPr>
          <a:xfrm>
            <a:off x="4566598" y="1673309"/>
            <a:ext cx="4665155" cy="40685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400"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TRANSACTION</a:t>
            </a:r>
            <a:r>
              <a:rPr kumimoji="0" lang="en-US" sz="2667"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EASE</a:t>
            </a:r>
          </a:p>
          <a:p>
            <a:pPr marL="0" marR="0" lvl="0" indent="0" algn="l" defTabSz="304815" rtl="0" eaLnBrk="1" fontAlgn="auto" latinLnBrk="0" hangingPunct="1">
              <a:lnSpc>
                <a:spcPts val="4000"/>
              </a:lnSpc>
              <a:spcBef>
                <a:spcPts val="0"/>
              </a:spcBef>
              <a:spcAft>
                <a:spcPts val="0"/>
              </a:spcAft>
              <a:buClrTx/>
              <a:buSzTx/>
              <a:buFontTx/>
              <a:buNone/>
              <a:tabLst/>
              <a:defRPr/>
            </a:pPr>
            <a:endParaRPr kumimoji="0" lang="en-US" sz="2667" b="1"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sp>
        <p:nvSpPr>
          <p:cNvPr id="20" name="Object5">
            <a:extLst>
              <a:ext uri="{FF2B5EF4-FFF2-40B4-BE49-F238E27FC236}">
                <a16:creationId xmlns:a16="http://schemas.microsoft.com/office/drawing/2014/main" id="{057041A4-FECF-D7CA-3531-BF952E1DE901}"/>
              </a:ext>
            </a:extLst>
          </p:cNvPr>
          <p:cNvSpPr/>
          <p:nvPr/>
        </p:nvSpPr>
        <p:spPr>
          <a:xfrm>
            <a:off x="3208342" y="3295141"/>
            <a:ext cx="7093898" cy="246558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Exclusively </a:t>
            </a: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p>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imperia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burgundy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a:t>
            </a:r>
            <a:r>
              <a:rPr kumimoji="0" lang="en-US" sz="24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Privy</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pic>
        <p:nvPicPr>
          <p:cNvPr id="21" name="Graphic 20" descr="Lock with solid fill">
            <a:extLst>
              <a:ext uri="{FF2B5EF4-FFF2-40B4-BE49-F238E27FC236}">
                <a16:creationId xmlns:a16="http://schemas.microsoft.com/office/drawing/2014/main" id="{CE7C9019-0EBC-9D78-4DB3-AA98AC2B4AE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0845" y="1576738"/>
            <a:ext cx="600000" cy="600000"/>
          </a:xfrm>
          <a:prstGeom prst="rect">
            <a:avLst/>
          </a:prstGeom>
        </p:spPr>
      </p:pic>
      <p:pic>
        <p:nvPicPr>
          <p:cNvPr id="2" name="Picture 1">
            <a:extLst>
              <a:ext uri="{FF2B5EF4-FFF2-40B4-BE49-F238E27FC236}">
                <a16:creationId xmlns:a16="http://schemas.microsoft.com/office/drawing/2014/main" id="{7B1D7737-0BD0-1638-8DF4-C8E89E56C2EA}"/>
              </a:ext>
            </a:extLst>
          </p:cNvPr>
          <p:cNvPicPr>
            <a:picLocks noChangeAspect="1"/>
          </p:cNvPicPr>
          <p:nvPr/>
        </p:nvPicPr>
        <p:blipFill>
          <a:blip r:embed="rId8">
            <a:extLst>
              <a:ext uri="{28A0092B-C50C-407E-A947-70E740481C1C}">
                <a14:useLocalDpi xmlns:a14="http://schemas.microsoft.com/office/drawing/2010/main" val="0"/>
              </a:ext>
            </a:extLst>
          </a:blip>
          <a:srcRect l="86867" b="37023"/>
          <a:stretch/>
        </p:blipFill>
        <p:spPr>
          <a:xfrm>
            <a:off x="2651769" y="6424427"/>
            <a:ext cx="373693" cy="383995"/>
          </a:xfrm>
          <a:prstGeom prst="rect">
            <a:avLst/>
          </a:prstGeom>
        </p:spPr>
      </p:pic>
    </p:spTree>
    <p:extLst>
      <p:ext uri="{BB962C8B-B14F-4D97-AF65-F5344CB8AC3E}">
        <p14:creationId xmlns:p14="http://schemas.microsoft.com/office/powerpoint/2010/main" val="30799494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31" name="Object6">
            <a:extLst>
              <a:ext uri="{FF2B5EF4-FFF2-40B4-BE49-F238E27FC236}">
                <a16:creationId xmlns:a16="http://schemas.microsoft.com/office/drawing/2014/main" id="{6BACC3C2-BB31-DA69-594F-CCA1E5C825D2}"/>
              </a:ext>
            </a:extLst>
          </p:cNvPr>
          <p:cNvSpPr/>
          <p:nvPr/>
        </p:nvSpPr>
        <p:spPr>
          <a:xfrm>
            <a:off x="95005" y="1159183"/>
            <a:ext cx="947942" cy="698192"/>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only </a:t>
            </a:r>
          </a:p>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a:t>
            </a:r>
          </a:p>
        </p:txBody>
      </p:sp>
      <p:sp>
        <p:nvSpPr>
          <p:cNvPr id="32" name="Object6">
            <a:extLst>
              <a:ext uri="{FF2B5EF4-FFF2-40B4-BE49-F238E27FC236}">
                <a16:creationId xmlns:a16="http://schemas.microsoft.com/office/drawing/2014/main" id="{486E8CBD-EDE1-7627-AB28-437A6240F60D}"/>
              </a:ext>
            </a:extLst>
          </p:cNvPr>
          <p:cNvSpPr/>
          <p:nvPr/>
        </p:nvSpPr>
        <p:spPr>
          <a:xfrm>
            <a:off x="11166146" y="1159183"/>
            <a:ext cx="848638" cy="1080088"/>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+PRIVY </a:t>
            </a:r>
          </a:p>
        </p:txBody>
      </p:sp>
      <p:grpSp>
        <p:nvGrpSpPr>
          <p:cNvPr id="13" name="Group 12">
            <a:extLst>
              <a:ext uri="{FF2B5EF4-FFF2-40B4-BE49-F238E27FC236}">
                <a16:creationId xmlns:a16="http://schemas.microsoft.com/office/drawing/2014/main" id="{E208EC62-961A-97B4-7236-58BB9AF2E78F}"/>
              </a:ext>
            </a:extLst>
          </p:cNvPr>
          <p:cNvGrpSpPr/>
          <p:nvPr/>
        </p:nvGrpSpPr>
        <p:grpSpPr>
          <a:xfrm>
            <a:off x="-196598" y="6175797"/>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1" name="Object6">
            <a:extLst>
              <a:ext uri="{FF2B5EF4-FFF2-40B4-BE49-F238E27FC236}">
                <a16:creationId xmlns:a16="http://schemas.microsoft.com/office/drawing/2014/main" id="{FEC3C54D-1435-D89E-BBA4-F512539DF721}"/>
              </a:ext>
            </a:extLst>
          </p:cNvPr>
          <p:cNvSpPr/>
          <p:nvPr/>
        </p:nvSpPr>
        <p:spPr>
          <a:xfrm>
            <a:off x="95004" y="4434849"/>
            <a:ext cx="860398" cy="914507"/>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IMPERIA</a:t>
            </a:r>
          </a:p>
        </p:txBody>
      </p:sp>
      <p:pic>
        <p:nvPicPr>
          <p:cNvPr id="26" name="Graphic 25" descr="Lock with solid fill">
            <a:extLst>
              <a:ext uri="{FF2B5EF4-FFF2-40B4-BE49-F238E27FC236}">
                <a16:creationId xmlns:a16="http://schemas.microsoft.com/office/drawing/2014/main" id="{A0EB20DE-21AA-1654-0A77-72E5CE066E9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70541" y="38361"/>
            <a:ext cx="486151" cy="486151"/>
          </a:xfrm>
          <a:prstGeom prst="rect">
            <a:avLst/>
          </a:prstGeom>
        </p:spPr>
      </p:pic>
      <p:sp>
        <p:nvSpPr>
          <p:cNvPr id="23" name="TextBox 22">
            <a:extLst>
              <a:ext uri="{FF2B5EF4-FFF2-40B4-BE49-F238E27FC236}">
                <a16:creationId xmlns:a16="http://schemas.microsoft.com/office/drawing/2014/main" id="{F0F86BFF-8757-B4B5-FF99-98192C6E3126}"/>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98</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7" name="Object6">
            <a:extLst>
              <a:ext uri="{FF2B5EF4-FFF2-40B4-BE49-F238E27FC236}">
                <a16:creationId xmlns:a16="http://schemas.microsoft.com/office/drawing/2014/main" id="{C859ABF8-7190-786F-76E1-6AD1868F5178}"/>
              </a:ext>
            </a:extLst>
          </p:cNvPr>
          <p:cNvSpPr/>
          <p:nvPr/>
        </p:nvSpPr>
        <p:spPr>
          <a:xfrm>
            <a:off x="11171059" y="4411542"/>
            <a:ext cx="983945" cy="914508"/>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BURGUNDY</a:t>
            </a:r>
          </a:p>
        </p:txBody>
      </p:sp>
      <p:graphicFrame>
        <p:nvGraphicFramePr>
          <p:cNvPr id="9" name="Chart 8">
            <a:extLst>
              <a:ext uri="{FF2B5EF4-FFF2-40B4-BE49-F238E27FC236}">
                <a16:creationId xmlns:a16="http://schemas.microsoft.com/office/drawing/2014/main" id="{4250C6E5-C3B9-4108-8A22-4C1C20B078E6}"/>
              </a:ext>
            </a:extLst>
          </p:cNvPr>
          <p:cNvGraphicFramePr>
            <a:graphicFrameLocks/>
          </p:cNvGraphicFramePr>
          <p:nvPr/>
        </p:nvGraphicFramePr>
        <p:xfrm>
          <a:off x="1042946" y="386431"/>
          <a:ext cx="3798417" cy="3107348"/>
        </p:xfrm>
        <a:graphic>
          <a:graphicData uri="http://schemas.openxmlformats.org/drawingml/2006/chart">
            <c:chart xmlns:c="http://schemas.openxmlformats.org/drawingml/2006/chart" xmlns:r="http://schemas.openxmlformats.org/officeDocument/2006/relationships" r:id="rId7"/>
          </a:graphicData>
        </a:graphic>
      </p:graphicFrame>
      <p:sp>
        <p:nvSpPr>
          <p:cNvPr id="11" name="TextBox 10">
            <a:extLst>
              <a:ext uri="{FF2B5EF4-FFF2-40B4-BE49-F238E27FC236}">
                <a16:creationId xmlns:a16="http://schemas.microsoft.com/office/drawing/2014/main" id="{911A8EA8-6BCD-E763-5AE5-71A63C0B8722}"/>
              </a:ext>
            </a:extLst>
          </p:cNvPr>
          <p:cNvSpPr txBox="1"/>
          <p:nvPr/>
        </p:nvSpPr>
        <p:spPr>
          <a:xfrm>
            <a:off x="4855320" y="2074783"/>
            <a:ext cx="2283942" cy="2795124"/>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panose="00000500000000000000" pitchFamily="2" charset="0"/>
                <a:ea typeface="Hepta Slab Regular" pitchFamily="34" charset="-122"/>
                <a:cs typeface="Hepta Slab Medium" pitchFamily="2" charset="0"/>
              </a:rPr>
              <a:t>Federal is perceived to provide higher transaction ease than HDFC, Axis, Kotak</a:t>
            </a:r>
          </a:p>
          <a:p>
            <a:pPr marL="0" marR="0" lvl="0" indent="0" algn="l" defTabSz="457200" rtl="0" eaLnBrk="1" fontAlgn="auto" latinLnBrk="0" hangingPunct="1">
              <a:lnSpc>
                <a:spcPct val="15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panose="00000500000000000000" pitchFamily="2" charset="0"/>
                <a:ea typeface="Hepta Slab Regular" pitchFamily="34" charset="-122"/>
                <a:cs typeface="Hepta Slab Medium" pitchFamily="2" charset="0"/>
              </a:rPr>
              <a:t>Federal mobile app is also perceived to be easier to use than HDFC , Axis &amp; Kotak</a:t>
            </a:r>
          </a:p>
        </p:txBody>
      </p:sp>
      <p:graphicFrame>
        <p:nvGraphicFramePr>
          <p:cNvPr id="5" name="Chart 4">
            <a:extLst>
              <a:ext uri="{FF2B5EF4-FFF2-40B4-BE49-F238E27FC236}">
                <a16:creationId xmlns:a16="http://schemas.microsoft.com/office/drawing/2014/main" id="{23B25AB2-7BD3-4720-966A-AB77499C65D3}"/>
              </a:ext>
            </a:extLst>
          </p:cNvPr>
          <p:cNvGraphicFramePr>
            <a:graphicFrameLocks/>
          </p:cNvGraphicFramePr>
          <p:nvPr>
            <p:extLst>
              <p:ext uri="{D42A27DB-BD31-4B8C-83A1-F6EECF244321}">
                <p14:modId xmlns:p14="http://schemas.microsoft.com/office/powerpoint/2010/main" val="3370757913"/>
              </p:ext>
            </p:extLst>
          </p:nvPr>
        </p:nvGraphicFramePr>
        <p:xfrm>
          <a:off x="7304487" y="350038"/>
          <a:ext cx="3844567" cy="3180134"/>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6" name="Chart 5">
            <a:extLst>
              <a:ext uri="{FF2B5EF4-FFF2-40B4-BE49-F238E27FC236}">
                <a16:creationId xmlns:a16="http://schemas.microsoft.com/office/drawing/2014/main" id="{89287C7C-107B-44D3-B1FF-2E543DA948EF}"/>
              </a:ext>
            </a:extLst>
          </p:cNvPr>
          <p:cNvGraphicFramePr>
            <a:graphicFrameLocks/>
          </p:cNvGraphicFramePr>
          <p:nvPr/>
        </p:nvGraphicFramePr>
        <p:xfrm>
          <a:off x="1010495" y="3678708"/>
          <a:ext cx="3789732" cy="310639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0" name="Chart 9">
            <a:extLst>
              <a:ext uri="{FF2B5EF4-FFF2-40B4-BE49-F238E27FC236}">
                <a16:creationId xmlns:a16="http://schemas.microsoft.com/office/drawing/2014/main" id="{72B83982-5CDA-44AE-BA13-2D30E5311B93}"/>
              </a:ext>
            </a:extLst>
          </p:cNvPr>
          <p:cNvGraphicFramePr>
            <a:graphicFrameLocks/>
          </p:cNvGraphicFramePr>
          <p:nvPr/>
        </p:nvGraphicFramePr>
        <p:xfrm>
          <a:off x="7333776" y="3481839"/>
          <a:ext cx="3845506" cy="3273575"/>
        </p:xfrm>
        <a:graphic>
          <a:graphicData uri="http://schemas.openxmlformats.org/drawingml/2006/chart">
            <c:chart xmlns:c="http://schemas.openxmlformats.org/drawingml/2006/chart" xmlns:r="http://schemas.openxmlformats.org/officeDocument/2006/relationships" r:id="rId10"/>
          </a:graphicData>
        </a:graphic>
      </p:graphicFrame>
      <p:sp>
        <p:nvSpPr>
          <p:cNvPr id="12" name="TextBox 11">
            <a:extLst>
              <a:ext uri="{FF2B5EF4-FFF2-40B4-BE49-F238E27FC236}">
                <a16:creationId xmlns:a16="http://schemas.microsoft.com/office/drawing/2014/main" id="{B3980571-AFFA-1B4B-F7CE-F6278D31B68E}"/>
              </a:ext>
            </a:extLst>
          </p:cNvPr>
          <p:cNvSpPr txBox="1"/>
          <p:nvPr/>
        </p:nvSpPr>
        <p:spPr>
          <a:xfrm>
            <a:off x="1542865" y="6569113"/>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2" name="Picture 1">
            <a:extLst>
              <a:ext uri="{FF2B5EF4-FFF2-40B4-BE49-F238E27FC236}">
                <a16:creationId xmlns:a16="http://schemas.microsoft.com/office/drawing/2014/main" id="{AAD227C2-CB10-1208-82C7-C5E32F0FFC83}"/>
              </a:ext>
            </a:extLst>
          </p:cNvPr>
          <p:cNvPicPr>
            <a:picLocks noChangeAspect="1"/>
          </p:cNvPicPr>
          <p:nvPr/>
        </p:nvPicPr>
        <p:blipFill>
          <a:blip r:embed="rId11">
            <a:extLst>
              <a:ext uri="{28A0092B-C50C-407E-A947-70E740481C1C}">
                <a14:useLocalDpi xmlns:a14="http://schemas.microsoft.com/office/drawing/2010/main" val="0"/>
              </a:ext>
            </a:extLst>
          </a:blip>
          <a:srcRect l="86867" b="37023"/>
          <a:stretch/>
        </p:blipFill>
        <p:spPr>
          <a:xfrm>
            <a:off x="2585509" y="6502046"/>
            <a:ext cx="373693" cy="383995"/>
          </a:xfrm>
          <a:prstGeom prst="rect">
            <a:avLst/>
          </a:prstGeom>
        </p:spPr>
      </p:pic>
      <p:pic>
        <p:nvPicPr>
          <p:cNvPr id="4" name="Picture 3">
            <a:extLst>
              <a:ext uri="{FF2B5EF4-FFF2-40B4-BE49-F238E27FC236}">
                <a16:creationId xmlns:a16="http://schemas.microsoft.com/office/drawing/2014/main" id="{C37B8CE0-C13D-28DA-4A7B-BE2438EFE3BA}"/>
              </a:ext>
            </a:extLst>
          </p:cNvPr>
          <p:cNvPicPr>
            <a:picLocks noChangeAspect="1"/>
          </p:cNvPicPr>
          <p:nvPr/>
        </p:nvPicPr>
        <p:blipFill>
          <a:blip r:embed="rId12"/>
          <a:stretch>
            <a:fillRect/>
          </a:stretch>
        </p:blipFill>
        <p:spPr>
          <a:xfrm>
            <a:off x="3919287" y="17625"/>
            <a:ext cx="3591426" cy="304843"/>
          </a:xfrm>
          <a:prstGeom prst="rect">
            <a:avLst/>
          </a:prstGeom>
        </p:spPr>
      </p:pic>
    </p:spTree>
    <p:extLst>
      <p:ext uri="{BB962C8B-B14F-4D97-AF65-F5344CB8AC3E}">
        <p14:creationId xmlns:p14="http://schemas.microsoft.com/office/powerpoint/2010/main" val="1705998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sp>
        <p:nvSpPr>
          <p:cNvPr id="31" name="Object6">
            <a:extLst>
              <a:ext uri="{FF2B5EF4-FFF2-40B4-BE49-F238E27FC236}">
                <a16:creationId xmlns:a16="http://schemas.microsoft.com/office/drawing/2014/main" id="{6BACC3C2-BB31-DA69-594F-CCA1E5C825D2}"/>
              </a:ext>
            </a:extLst>
          </p:cNvPr>
          <p:cNvSpPr/>
          <p:nvPr/>
        </p:nvSpPr>
        <p:spPr>
          <a:xfrm>
            <a:off x="133892" y="1415924"/>
            <a:ext cx="925995" cy="297720"/>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PRIVY</a:t>
            </a:r>
          </a:p>
        </p:txBody>
      </p:sp>
      <p:sp>
        <p:nvSpPr>
          <p:cNvPr id="32" name="Object6">
            <a:extLst>
              <a:ext uri="{FF2B5EF4-FFF2-40B4-BE49-F238E27FC236}">
                <a16:creationId xmlns:a16="http://schemas.microsoft.com/office/drawing/2014/main" id="{486E8CBD-EDE1-7627-AB28-437A6240F60D}"/>
              </a:ext>
            </a:extLst>
          </p:cNvPr>
          <p:cNvSpPr/>
          <p:nvPr/>
        </p:nvSpPr>
        <p:spPr>
          <a:xfrm>
            <a:off x="11277948" y="1234627"/>
            <a:ext cx="914052" cy="276999"/>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BURGUNDY</a:t>
            </a:r>
          </a:p>
        </p:txBody>
      </p:sp>
      <p:grpSp>
        <p:nvGrpSpPr>
          <p:cNvPr id="13" name="Group 12">
            <a:extLst>
              <a:ext uri="{FF2B5EF4-FFF2-40B4-BE49-F238E27FC236}">
                <a16:creationId xmlns:a16="http://schemas.microsoft.com/office/drawing/2014/main" id="{E208EC62-961A-97B4-7236-58BB9AF2E78F}"/>
              </a:ext>
            </a:extLst>
          </p:cNvPr>
          <p:cNvGrpSpPr/>
          <p:nvPr/>
        </p:nvGrpSpPr>
        <p:grpSpPr>
          <a:xfrm>
            <a:off x="-61290" y="6158100"/>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26" name="Graphic 25" descr="Lock with solid fill">
            <a:extLst>
              <a:ext uri="{FF2B5EF4-FFF2-40B4-BE49-F238E27FC236}">
                <a16:creationId xmlns:a16="http://schemas.microsoft.com/office/drawing/2014/main" id="{A0EB20DE-21AA-1654-0A77-72E5CE066E9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70540" y="38360"/>
            <a:ext cx="514295" cy="514295"/>
          </a:xfrm>
          <a:prstGeom prst="rect">
            <a:avLst/>
          </a:prstGeom>
        </p:spPr>
      </p:pic>
      <p:sp>
        <p:nvSpPr>
          <p:cNvPr id="23" name="TextBox 22">
            <a:extLst>
              <a:ext uri="{FF2B5EF4-FFF2-40B4-BE49-F238E27FC236}">
                <a16:creationId xmlns:a16="http://schemas.microsoft.com/office/drawing/2014/main" id="{F0F86BFF-8757-B4B5-FF99-98192C6E3126}"/>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99</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5" name="Object6">
            <a:extLst>
              <a:ext uri="{FF2B5EF4-FFF2-40B4-BE49-F238E27FC236}">
                <a16:creationId xmlns:a16="http://schemas.microsoft.com/office/drawing/2014/main" id="{258FFFC5-C0F4-4E81-7C45-CDABC73A24AA}"/>
              </a:ext>
            </a:extLst>
          </p:cNvPr>
          <p:cNvSpPr/>
          <p:nvPr/>
        </p:nvSpPr>
        <p:spPr>
          <a:xfrm>
            <a:off x="75536" y="4359895"/>
            <a:ext cx="916621"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IMPERIA</a:t>
            </a:r>
          </a:p>
        </p:txBody>
      </p:sp>
      <p:sp>
        <p:nvSpPr>
          <p:cNvPr id="7" name="Object6">
            <a:extLst>
              <a:ext uri="{FF2B5EF4-FFF2-40B4-BE49-F238E27FC236}">
                <a16:creationId xmlns:a16="http://schemas.microsoft.com/office/drawing/2014/main" id="{872810EA-74D3-588A-3F50-69AEDECB8FFA}"/>
              </a:ext>
            </a:extLst>
          </p:cNvPr>
          <p:cNvSpPr/>
          <p:nvPr/>
        </p:nvSpPr>
        <p:spPr>
          <a:xfrm>
            <a:off x="11508835" y="4345741"/>
            <a:ext cx="576000" cy="338610"/>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ICICI</a:t>
            </a:r>
          </a:p>
        </p:txBody>
      </p:sp>
      <p:graphicFrame>
        <p:nvGraphicFramePr>
          <p:cNvPr id="20" name="Chart 19">
            <a:extLst>
              <a:ext uri="{FF2B5EF4-FFF2-40B4-BE49-F238E27FC236}">
                <a16:creationId xmlns:a16="http://schemas.microsoft.com/office/drawing/2014/main" id="{16C5E0AD-3618-4DD5-AC32-35C4294E160C}"/>
              </a:ext>
            </a:extLst>
          </p:cNvPr>
          <p:cNvGraphicFramePr>
            <a:graphicFrameLocks/>
          </p:cNvGraphicFramePr>
          <p:nvPr>
            <p:extLst>
              <p:ext uri="{D42A27DB-BD31-4B8C-83A1-F6EECF244321}">
                <p14:modId xmlns:p14="http://schemas.microsoft.com/office/powerpoint/2010/main" val="3349434915"/>
              </p:ext>
            </p:extLst>
          </p:nvPr>
        </p:nvGraphicFramePr>
        <p:xfrm>
          <a:off x="847281" y="76594"/>
          <a:ext cx="4065264" cy="3312778"/>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8" name="Chart 27">
            <a:extLst>
              <a:ext uri="{FF2B5EF4-FFF2-40B4-BE49-F238E27FC236}">
                <a16:creationId xmlns:a16="http://schemas.microsoft.com/office/drawing/2014/main" id="{96C3C6EA-80F3-4460-89B9-C1133AEE7C15}"/>
              </a:ext>
            </a:extLst>
          </p:cNvPr>
          <p:cNvGraphicFramePr>
            <a:graphicFrameLocks/>
          </p:cNvGraphicFramePr>
          <p:nvPr>
            <p:extLst>
              <p:ext uri="{D42A27DB-BD31-4B8C-83A1-F6EECF244321}">
                <p14:modId xmlns:p14="http://schemas.microsoft.com/office/powerpoint/2010/main" val="1484391720"/>
              </p:ext>
            </p:extLst>
          </p:nvPr>
        </p:nvGraphicFramePr>
        <p:xfrm>
          <a:off x="871678" y="3376714"/>
          <a:ext cx="4131827" cy="3153114"/>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9" name="Chart 28">
            <a:extLst>
              <a:ext uri="{FF2B5EF4-FFF2-40B4-BE49-F238E27FC236}">
                <a16:creationId xmlns:a16="http://schemas.microsoft.com/office/drawing/2014/main" id="{69C559EA-A184-4D29-8519-5F4421C07E3B}"/>
              </a:ext>
            </a:extLst>
          </p:cNvPr>
          <p:cNvGraphicFramePr>
            <a:graphicFrameLocks/>
          </p:cNvGraphicFramePr>
          <p:nvPr>
            <p:extLst>
              <p:ext uri="{D42A27DB-BD31-4B8C-83A1-F6EECF244321}">
                <p14:modId xmlns:p14="http://schemas.microsoft.com/office/powerpoint/2010/main" val="1713411072"/>
              </p:ext>
            </p:extLst>
          </p:nvPr>
        </p:nvGraphicFramePr>
        <p:xfrm>
          <a:off x="7583193" y="48769"/>
          <a:ext cx="3925642" cy="3329749"/>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0" name="Chart 29">
            <a:extLst>
              <a:ext uri="{FF2B5EF4-FFF2-40B4-BE49-F238E27FC236}">
                <a16:creationId xmlns:a16="http://schemas.microsoft.com/office/drawing/2014/main" id="{1A01C633-FC33-42EF-8B71-DB884AB081DF}"/>
              </a:ext>
            </a:extLst>
          </p:cNvPr>
          <p:cNvGraphicFramePr>
            <a:graphicFrameLocks/>
          </p:cNvGraphicFramePr>
          <p:nvPr/>
        </p:nvGraphicFramePr>
        <p:xfrm>
          <a:off x="7687132" y="3337469"/>
          <a:ext cx="3925641" cy="3248462"/>
        </p:xfrm>
        <a:graphic>
          <a:graphicData uri="http://schemas.openxmlformats.org/drawingml/2006/chart">
            <c:chart xmlns:c="http://schemas.openxmlformats.org/drawingml/2006/chart" xmlns:r="http://schemas.openxmlformats.org/officeDocument/2006/relationships" r:id="rId10"/>
          </a:graphicData>
        </a:graphic>
      </p:graphicFrame>
      <p:sp>
        <p:nvSpPr>
          <p:cNvPr id="2" name="TextBox 1">
            <a:extLst>
              <a:ext uri="{FF2B5EF4-FFF2-40B4-BE49-F238E27FC236}">
                <a16:creationId xmlns:a16="http://schemas.microsoft.com/office/drawing/2014/main" id="{34272F8A-DEF2-3A20-F587-EDA6F710B9CF}"/>
              </a:ext>
            </a:extLst>
          </p:cNvPr>
          <p:cNvSpPr txBox="1"/>
          <p:nvPr/>
        </p:nvSpPr>
        <p:spPr>
          <a:xfrm>
            <a:off x="1790700" y="6517169"/>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622</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3" name="Picture 2">
            <a:extLst>
              <a:ext uri="{FF2B5EF4-FFF2-40B4-BE49-F238E27FC236}">
                <a16:creationId xmlns:a16="http://schemas.microsoft.com/office/drawing/2014/main" id="{F014E563-66C8-895F-AA0B-0CEDC00361EB}"/>
              </a:ext>
            </a:extLst>
          </p:cNvPr>
          <p:cNvPicPr>
            <a:picLocks noChangeAspect="1"/>
          </p:cNvPicPr>
          <p:nvPr/>
        </p:nvPicPr>
        <p:blipFill>
          <a:blip r:embed="rId11">
            <a:extLst>
              <a:ext uri="{28A0092B-C50C-407E-A947-70E740481C1C}">
                <a14:useLocalDpi xmlns:a14="http://schemas.microsoft.com/office/drawing/2010/main" val="0"/>
              </a:ext>
            </a:extLst>
          </a:blip>
          <a:srcRect l="86867" b="37023"/>
          <a:stretch/>
        </p:blipFill>
        <p:spPr>
          <a:xfrm>
            <a:off x="2585509" y="6442727"/>
            <a:ext cx="373693" cy="383995"/>
          </a:xfrm>
          <a:prstGeom prst="rect">
            <a:avLst/>
          </a:prstGeom>
        </p:spPr>
      </p:pic>
      <p:pic>
        <p:nvPicPr>
          <p:cNvPr id="8" name="Picture 7">
            <a:extLst>
              <a:ext uri="{FF2B5EF4-FFF2-40B4-BE49-F238E27FC236}">
                <a16:creationId xmlns:a16="http://schemas.microsoft.com/office/drawing/2014/main" id="{9D61A3E9-74ED-C677-0FD9-E8CB326D07CE}"/>
              </a:ext>
            </a:extLst>
          </p:cNvPr>
          <p:cNvPicPr>
            <a:picLocks noChangeAspect="1"/>
          </p:cNvPicPr>
          <p:nvPr/>
        </p:nvPicPr>
        <p:blipFill>
          <a:blip r:embed="rId12"/>
          <a:stretch>
            <a:fillRect/>
          </a:stretch>
        </p:blipFill>
        <p:spPr>
          <a:xfrm>
            <a:off x="4105478" y="36926"/>
            <a:ext cx="4382691" cy="220976"/>
          </a:xfrm>
          <a:prstGeom prst="rect">
            <a:avLst/>
          </a:prstGeom>
        </p:spPr>
      </p:pic>
      <p:sp>
        <p:nvSpPr>
          <p:cNvPr id="6" name="TextBox 5">
            <a:extLst>
              <a:ext uri="{FF2B5EF4-FFF2-40B4-BE49-F238E27FC236}">
                <a16:creationId xmlns:a16="http://schemas.microsoft.com/office/drawing/2014/main" id="{B4311FFB-BFFC-759B-B08F-7291F7C73D92}"/>
              </a:ext>
            </a:extLst>
          </p:cNvPr>
          <p:cNvSpPr txBox="1"/>
          <p:nvPr/>
        </p:nvSpPr>
        <p:spPr>
          <a:xfrm>
            <a:off x="5084474" y="2289115"/>
            <a:ext cx="2283942" cy="1994905"/>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Montserrat" panose="00000500000000000000" pitchFamily="2" charset="0"/>
                <a:ea typeface="Hepta Slab Regular" pitchFamily="34" charset="-122"/>
                <a:cs typeface="Hepta Slab Medium" pitchFamily="2" charset="0"/>
              </a:rPr>
              <a:t>An average ~30% of competition customers are dissatisfied with their primary bank on  “Transaction experience”</a:t>
            </a:r>
          </a:p>
        </p:txBody>
      </p:sp>
      <p:graphicFrame>
        <p:nvGraphicFramePr>
          <p:cNvPr id="4" name="Chart 3">
            <a:extLst>
              <a:ext uri="{FF2B5EF4-FFF2-40B4-BE49-F238E27FC236}">
                <a16:creationId xmlns:a16="http://schemas.microsoft.com/office/drawing/2014/main" id="{F8688F1D-E191-E2C4-DF59-4BBE1DF0C396}"/>
              </a:ext>
            </a:extLst>
          </p:cNvPr>
          <p:cNvGraphicFramePr>
            <a:graphicFrameLocks/>
          </p:cNvGraphicFramePr>
          <p:nvPr>
            <p:extLst>
              <p:ext uri="{D42A27DB-BD31-4B8C-83A1-F6EECF244321}">
                <p14:modId xmlns:p14="http://schemas.microsoft.com/office/powerpoint/2010/main" val="1713411072"/>
              </p:ext>
            </p:extLst>
          </p:nvPr>
        </p:nvGraphicFramePr>
        <p:xfrm>
          <a:off x="7583193" y="58095"/>
          <a:ext cx="3925642" cy="3329749"/>
        </p:xfrm>
        <a:graphic>
          <a:graphicData uri="http://schemas.openxmlformats.org/drawingml/2006/chart">
            <c:chart xmlns:c="http://schemas.openxmlformats.org/drawingml/2006/chart" xmlns:r="http://schemas.openxmlformats.org/officeDocument/2006/relationships" r:id="rId13"/>
          </a:graphicData>
        </a:graphic>
      </p:graphicFrame>
    </p:spTree>
    <p:extLst>
      <p:ext uri="{BB962C8B-B14F-4D97-AF65-F5344CB8AC3E}">
        <p14:creationId xmlns:p14="http://schemas.microsoft.com/office/powerpoint/2010/main" val="10130184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BEA4A5-120F-BB0D-499D-42D094C6F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00" y="0"/>
            <a:ext cx="12192000" cy="6858000"/>
          </a:xfrm>
          <a:prstGeom prst="rect">
            <a:avLst/>
          </a:prstGeom>
        </p:spPr>
      </p:pic>
      <p:grpSp>
        <p:nvGrpSpPr>
          <p:cNvPr id="12" name="Group 11">
            <a:extLst>
              <a:ext uri="{FF2B5EF4-FFF2-40B4-BE49-F238E27FC236}">
                <a16:creationId xmlns:a16="http://schemas.microsoft.com/office/drawing/2014/main" id="{22CDB6C3-6DD9-100D-7F19-500802B4C9A5}"/>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7C95BFCA-07A1-2CE1-94DD-902B3BB2CB1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D3FE01CB-E6AA-D3A3-34AF-BB11B8E152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496CDE05-6842-F510-D74F-ABC27571C5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503F9316-E922-3CE4-C627-0EF761B3BFDA}"/>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100</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8" name="Object5">
            <a:extLst>
              <a:ext uri="{FF2B5EF4-FFF2-40B4-BE49-F238E27FC236}">
                <a16:creationId xmlns:a16="http://schemas.microsoft.com/office/drawing/2014/main" id="{4D00F801-EE00-2D63-75A3-6076064ABBCA}"/>
              </a:ext>
            </a:extLst>
          </p:cNvPr>
          <p:cNvSpPr/>
          <p:nvPr/>
        </p:nvSpPr>
        <p:spPr>
          <a:xfrm>
            <a:off x="4078918" y="1769880"/>
            <a:ext cx="4958402" cy="50342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400"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PREMIUM BANKING </a:t>
            </a:r>
          </a:p>
          <a:p>
            <a:pPr marL="0" marR="0" lvl="0" indent="0" algn="l" defTabSz="304815" rtl="0" eaLnBrk="1" fontAlgn="auto" latinLnBrk="0" hangingPunct="1">
              <a:lnSpc>
                <a:spcPts val="4000"/>
              </a:lnSpc>
              <a:spcBef>
                <a:spcPts val="0"/>
              </a:spcBef>
              <a:spcAft>
                <a:spcPts val="0"/>
              </a:spcAft>
              <a:buClrTx/>
              <a:buSzTx/>
              <a:buFontTx/>
              <a:buNone/>
              <a:tabLst/>
              <a:defRPr/>
            </a:pPr>
            <a:endParaRPr kumimoji="0" lang="en-US" sz="2667" b="1"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sp>
        <p:nvSpPr>
          <p:cNvPr id="20" name="Object5">
            <a:extLst>
              <a:ext uri="{FF2B5EF4-FFF2-40B4-BE49-F238E27FC236}">
                <a16:creationId xmlns:a16="http://schemas.microsoft.com/office/drawing/2014/main" id="{057041A4-FECF-D7CA-3531-BF952E1DE901}"/>
              </a:ext>
            </a:extLst>
          </p:cNvPr>
          <p:cNvSpPr/>
          <p:nvPr/>
        </p:nvSpPr>
        <p:spPr>
          <a:xfrm>
            <a:off x="3208342" y="3295141"/>
            <a:ext cx="7093898" cy="246558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Exclusively </a:t>
            </a: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p>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imperia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burgundy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a:t>
            </a:r>
            <a:r>
              <a:rPr kumimoji="0" lang="en-US" sz="24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Privy</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pic>
        <p:nvPicPr>
          <p:cNvPr id="2" name="Picture 1">
            <a:extLst>
              <a:ext uri="{FF2B5EF4-FFF2-40B4-BE49-F238E27FC236}">
                <a16:creationId xmlns:a16="http://schemas.microsoft.com/office/drawing/2014/main" id="{7B1D7737-0BD0-1638-8DF4-C8E89E56C2EA}"/>
              </a:ext>
            </a:extLst>
          </p:cNvPr>
          <p:cNvPicPr>
            <a:picLocks noChangeAspect="1"/>
          </p:cNvPicPr>
          <p:nvPr/>
        </p:nvPicPr>
        <p:blipFill>
          <a:blip r:embed="rId6">
            <a:extLst>
              <a:ext uri="{28A0092B-C50C-407E-A947-70E740481C1C}">
                <a14:useLocalDpi xmlns:a14="http://schemas.microsoft.com/office/drawing/2010/main" val="0"/>
              </a:ext>
            </a:extLst>
          </a:blip>
          <a:srcRect l="86867" b="37023"/>
          <a:stretch/>
        </p:blipFill>
        <p:spPr>
          <a:xfrm>
            <a:off x="2651769" y="6424427"/>
            <a:ext cx="373693" cy="383995"/>
          </a:xfrm>
          <a:prstGeom prst="rect">
            <a:avLst/>
          </a:prstGeom>
        </p:spPr>
      </p:pic>
      <p:pic>
        <p:nvPicPr>
          <p:cNvPr id="3" name="Graphic 2" descr="Money with solid fill">
            <a:extLst>
              <a:ext uri="{FF2B5EF4-FFF2-40B4-BE49-F238E27FC236}">
                <a16:creationId xmlns:a16="http://schemas.microsoft.com/office/drawing/2014/main" id="{72E4B471-E784-87AE-AD87-206211CD7A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30845" y="1576738"/>
            <a:ext cx="600000" cy="600000"/>
          </a:xfrm>
          <a:prstGeom prst="rect">
            <a:avLst/>
          </a:prstGeom>
        </p:spPr>
      </p:pic>
    </p:spTree>
    <p:extLst>
      <p:ext uri="{BB962C8B-B14F-4D97-AF65-F5344CB8AC3E}">
        <p14:creationId xmlns:p14="http://schemas.microsoft.com/office/powerpoint/2010/main" val="25156786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58056" y="6043098"/>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15" name="Graphic 14" descr="Money with solid fill">
            <a:extLst>
              <a:ext uri="{FF2B5EF4-FFF2-40B4-BE49-F238E27FC236}">
                <a16:creationId xmlns:a16="http://schemas.microsoft.com/office/drawing/2014/main" id="{98E9A59B-B2BD-4A72-8371-0BDF258ECCB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9261" y="47326"/>
            <a:ext cx="560990" cy="560990"/>
          </a:xfrm>
          <a:prstGeom prst="rect">
            <a:avLst/>
          </a:prstGeom>
        </p:spPr>
      </p:pic>
      <p:sp>
        <p:nvSpPr>
          <p:cNvPr id="23" name="Object6">
            <a:extLst>
              <a:ext uri="{FF2B5EF4-FFF2-40B4-BE49-F238E27FC236}">
                <a16:creationId xmlns:a16="http://schemas.microsoft.com/office/drawing/2014/main" id="{966B247C-7591-9E49-A972-6E12E9B0BE4B}"/>
              </a:ext>
            </a:extLst>
          </p:cNvPr>
          <p:cNvSpPr/>
          <p:nvPr/>
        </p:nvSpPr>
        <p:spPr>
          <a:xfrm>
            <a:off x="11236988" y="1183887"/>
            <a:ext cx="824560" cy="673488"/>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CELESTA+PRIVY</a:t>
            </a:r>
          </a:p>
        </p:txBody>
      </p:sp>
      <p:sp>
        <p:nvSpPr>
          <p:cNvPr id="24" name="Object6">
            <a:extLst>
              <a:ext uri="{FF2B5EF4-FFF2-40B4-BE49-F238E27FC236}">
                <a16:creationId xmlns:a16="http://schemas.microsoft.com/office/drawing/2014/main" id="{85A99DB0-04AE-6662-925E-8C67C8DD5B27}"/>
              </a:ext>
            </a:extLst>
          </p:cNvPr>
          <p:cNvSpPr/>
          <p:nvPr/>
        </p:nvSpPr>
        <p:spPr>
          <a:xfrm>
            <a:off x="11177024" y="4215610"/>
            <a:ext cx="944488" cy="826043"/>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BURGUNDY</a:t>
            </a:r>
          </a:p>
        </p:txBody>
      </p:sp>
      <p:sp>
        <p:nvSpPr>
          <p:cNvPr id="20" name="TextBox 19">
            <a:extLst>
              <a:ext uri="{FF2B5EF4-FFF2-40B4-BE49-F238E27FC236}">
                <a16:creationId xmlns:a16="http://schemas.microsoft.com/office/drawing/2014/main" id="{0309556C-1E78-564E-446D-27A8A1C35D96}"/>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101</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6" name="Object6">
            <a:extLst>
              <a:ext uri="{FF2B5EF4-FFF2-40B4-BE49-F238E27FC236}">
                <a16:creationId xmlns:a16="http://schemas.microsoft.com/office/drawing/2014/main" id="{2791A1A4-EBC6-8E7C-12EC-29F577CC42AE}"/>
              </a:ext>
            </a:extLst>
          </p:cNvPr>
          <p:cNvSpPr/>
          <p:nvPr/>
        </p:nvSpPr>
        <p:spPr>
          <a:xfrm>
            <a:off x="149627" y="3682319"/>
            <a:ext cx="1024258" cy="756880"/>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IMPERIA</a:t>
            </a:r>
          </a:p>
        </p:txBody>
      </p:sp>
      <p:graphicFrame>
        <p:nvGraphicFramePr>
          <p:cNvPr id="8" name="Chart 7">
            <a:extLst>
              <a:ext uri="{FF2B5EF4-FFF2-40B4-BE49-F238E27FC236}">
                <a16:creationId xmlns:a16="http://schemas.microsoft.com/office/drawing/2014/main" id="{1EC73052-788D-4094-96B9-A05C89529F5F}"/>
              </a:ext>
            </a:extLst>
          </p:cNvPr>
          <p:cNvGraphicFramePr>
            <a:graphicFrameLocks/>
          </p:cNvGraphicFramePr>
          <p:nvPr>
            <p:extLst>
              <p:ext uri="{D42A27DB-BD31-4B8C-83A1-F6EECF244321}">
                <p14:modId xmlns:p14="http://schemas.microsoft.com/office/powerpoint/2010/main" val="808953048"/>
              </p:ext>
            </p:extLst>
          </p:nvPr>
        </p:nvGraphicFramePr>
        <p:xfrm>
          <a:off x="937143" y="297412"/>
          <a:ext cx="4300863" cy="305945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5" name="Chart 4">
            <a:extLst>
              <a:ext uri="{FF2B5EF4-FFF2-40B4-BE49-F238E27FC236}">
                <a16:creationId xmlns:a16="http://schemas.microsoft.com/office/drawing/2014/main" id="{7B82AC40-57AF-42DE-B3E2-691624887247}"/>
              </a:ext>
            </a:extLst>
          </p:cNvPr>
          <p:cNvGraphicFramePr>
            <a:graphicFrameLocks/>
          </p:cNvGraphicFramePr>
          <p:nvPr>
            <p:extLst>
              <p:ext uri="{D42A27DB-BD31-4B8C-83A1-F6EECF244321}">
                <p14:modId xmlns:p14="http://schemas.microsoft.com/office/powerpoint/2010/main" val="305285263"/>
              </p:ext>
            </p:extLst>
          </p:nvPr>
        </p:nvGraphicFramePr>
        <p:xfrm>
          <a:off x="6863364" y="359868"/>
          <a:ext cx="4316410" cy="271636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7" name="Chart 6">
            <a:extLst>
              <a:ext uri="{FF2B5EF4-FFF2-40B4-BE49-F238E27FC236}">
                <a16:creationId xmlns:a16="http://schemas.microsoft.com/office/drawing/2014/main" id="{C5786B15-C46F-4A16-9B0B-45FAF5E25EC6}"/>
              </a:ext>
            </a:extLst>
          </p:cNvPr>
          <p:cNvGraphicFramePr>
            <a:graphicFrameLocks/>
          </p:cNvGraphicFramePr>
          <p:nvPr>
            <p:extLst>
              <p:ext uri="{D42A27DB-BD31-4B8C-83A1-F6EECF244321}">
                <p14:modId xmlns:p14="http://schemas.microsoft.com/office/powerpoint/2010/main" val="1371355840"/>
              </p:ext>
            </p:extLst>
          </p:nvPr>
        </p:nvGraphicFramePr>
        <p:xfrm>
          <a:off x="6936125" y="3367492"/>
          <a:ext cx="4300863" cy="3011315"/>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8" name="Chart 17">
            <a:extLst>
              <a:ext uri="{FF2B5EF4-FFF2-40B4-BE49-F238E27FC236}">
                <a16:creationId xmlns:a16="http://schemas.microsoft.com/office/drawing/2014/main" id="{530B7979-3094-4855-8CC0-E3E5870443D7}"/>
              </a:ext>
            </a:extLst>
          </p:cNvPr>
          <p:cNvGraphicFramePr>
            <a:graphicFrameLocks/>
          </p:cNvGraphicFramePr>
          <p:nvPr>
            <p:extLst>
              <p:ext uri="{D42A27DB-BD31-4B8C-83A1-F6EECF244321}">
                <p14:modId xmlns:p14="http://schemas.microsoft.com/office/powerpoint/2010/main" val="3724235462"/>
              </p:ext>
            </p:extLst>
          </p:nvPr>
        </p:nvGraphicFramePr>
        <p:xfrm>
          <a:off x="955012" y="3440576"/>
          <a:ext cx="4300863" cy="2865148"/>
        </p:xfrm>
        <a:graphic>
          <a:graphicData uri="http://schemas.openxmlformats.org/drawingml/2006/chart">
            <c:chart xmlns:c="http://schemas.openxmlformats.org/drawingml/2006/chart" xmlns:r="http://schemas.openxmlformats.org/officeDocument/2006/relationships" r:id="rId10"/>
          </a:graphicData>
        </a:graphic>
      </p:graphicFrame>
      <p:sp>
        <p:nvSpPr>
          <p:cNvPr id="2" name="TextBox 1">
            <a:extLst>
              <a:ext uri="{FF2B5EF4-FFF2-40B4-BE49-F238E27FC236}">
                <a16:creationId xmlns:a16="http://schemas.microsoft.com/office/drawing/2014/main" id="{01D655EC-B4F0-566D-2A83-ED79B729E550}"/>
              </a:ext>
            </a:extLst>
          </p:cNvPr>
          <p:cNvSpPr txBox="1"/>
          <p:nvPr/>
        </p:nvSpPr>
        <p:spPr>
          <a:xfrm>
            <a:off x="1910046" y="6465037"/>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3" name="Picture 2">
            <a:extLst>
              <a:ext uri="{FF2B5EF4-FFF2-40B4-BE49-F238E27FC236}">
                <a16:creationId xmlns:a16="http://schemas.microsoft.com/office/drawing/2014/main" id="{4A0CC1F1-8DED-2A88-347E-DB3E8C2B1D18}"/>
              </a:ext>
            </a:extLst>
          </p:cNvPr>
          <p:cNvPicPr>
            <a:picLocks noChangeAspect="1"/>
          </p:cNvPicPr>
          <p:nvPr/>
        </p:nvPicPr>
        <p:blipFill>
          <a:blip r:embed="rId11">
            <a:extLst>
              <a:ext uri="{28A0092B-C50C-407E-A947-70E740481C1C}">
                <a14:useLocalDpi xmlns:a14="http://schemas.microsoft.com/office/drawing/2010/main" val="0"/>
              </a:ext>
            </a:extLst>
          </a:blip>
          <a:srcRect l="86867" b="37023"/>
          <a:stretch/>
        </p:blipFill>
        <p:spPr>
          <a:xfrm>
            <a:off x="2585509" y="6424427"/>
            <a:ext cx="373693" cy="383995"/>
          </a:xfrm>
          <a:prstGeom prst="rect">
            <a:avLst/>
          </a:prstGeom>
        </p:spPr>
      </p:pic>
      <p:sp>
        <p:nvSpPr>
          <p:cNvPr id="11" name="TextBox 10">
            <a:extLst>
              <a:ext uri="{FF2B5EF4-FFF2-40B4-BE49-F238E27FC236}">
                <a16:creationId xmlns:a16="http://schemas.microsoft.com/office/drawing/2014/main" id="{91F5E2EB-D6EF-4BB9-5ED8-2C3AED3AFC4B}"/>
              </a:ext>
            </a:extLst>
          </p:cNvPr>
          <p:cNvSpPr txBox="1"/>
          <p:nvPr/>
        </p:nvSpPr>
        <p:spPr>
          <a:xfrm>
            <a:off x="5325753" y="2038137"/>
            <a:ext cx="1733837" cy="296440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Customers have familiarity with competition premium banking offerings rate Celesta lower than those who don’t</a:t>
            </a:r>
          </a:p>
        </p:txBody>
      </p:sp>
      <p:pic>
        <p:nvPicPr>
          <p:cNvPr id="4" name="Picture 3">
            <a:extLst>
              <a:ext uri="{FF2B5EF4-FFF2-40B4-BE49-F238E27FC236}">
                <a16:creationId xmlns:a16="http://schemas.microsoft.com/office/drawing/2014/main" id="{313F2D6B-02C6-120C-0AF9-D68A769DDAAA}"/>
              </a:ext>
            </a:extLst>
          </p:cNvPr>
          <p:cNvPicPr>
            <a:picLocks noChangeAspect="1"/>
          </p:cNvPicPr>
          <p:nvPr/>
        </p:nvPicPr>
        <p:blipFill>
          <a:blip r:embed="rId12"/>
          <a:stretch>
            <a:fillRect/>
          </a:stretch>
        </p:blipFill>
        <p:spPr>
          <a:xfrm>
            <a:off x="4396958" y="-7431"/>
            <a:ext cx="3591426" cy="304843"/>
          </a:xfrm>
          <a:prstGeom prst="rect">
            <a:avLst/>
          </a:prstGeom>
        </p:spPr>
      </p:pic>
      <p:sp>
        <p:nvSpPr>
          <p:cNvPr id="9" name="Object6">
            <a:extLst>
              <a:ext uri="{FF2B5EF4-FFF2-40B4-BE49-F238E27FC236}">
                <a16:creationId xmlns:a16="http://schemas.microsoft.com/office/drawing/2014/main" id="{876A0623-549B-5FC7-D8A6-D4A2AF9C5555}"/>
              </a:ext>
            </a:extLst>
          </p:cNvPr>
          <p:cNvSpPr/>
          <p:nvPr/>
        </p:nvSpPr>
        <p:spPr>
          <a:xfrm>
            <a:off x="95005" y="1159183"/>
            <a:ext cx="947942" cy="698192"/>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only </a:t>
            </a:r>
          </a:p>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a:t>
            </a:r>
          </a:p>
        </p:txBody>
      </p:sp>
    </p:spTree>
    <p:extLst>
      <p:ext uri="{BB962C8B-B14F-4D97-AF65-F5344CB8AC3E}">
        <p14:creationId xmlns:p14="http://schemas.microsoft.com/office/powerpoint/2010/main" val="33622717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206859" y="6142706"/>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15" name="Graphic 14" descr="Money with solid fill">
            <a:extLst>
              <a:ext uri="{FF2B5EF4-FFF2-40B4-BE49-F238E27FC236}">
                <a16:creationId xmlns:a16="http://schemas.microsoft.com/office/drawing/2014/main" id="{98E9A59B-B2BD-4A72-8371-0BDF258ECCB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9261" y="47326"/>
            <a:ext cx="497170" cy="497170"/>
          </a:xfrm>
          <a:prstGeom prst="rect">
            <a:avLst/>
          </a:prstGeom>
        </p:spPr>
      </p:pic>
      <p:sp>
        <p:nvSpPr>
          <p:cNvPr id="22" name="Object6">
            <a:extLst>
              <a:ext uri="{FF2B5EF4-FFF2-40B4-BE49-F238E27FC236}">
                <a16:creationId xmlns:a16="http://schemas.microsoft.com/office/drawing/2014/main" id="{835E5A9B-C98D-107B-9BD3-0D22AA3488F0}"/>
              </a:ext>
            </a:extLst>
          </p:cNvPr>
          <p:cNvSpPr/>
          <p:nvPr/>
        </p:nvSpPr>
        <p:spPr>
          <a:xfrm>
            <a:off x="204014" y="1417711"/>
            <a:ext cx="719136"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PRIVY</a:t>
            </a:r>
          </a:p>
        </p:txBody>
      </p:sp>
      <p:sp>
        <p:nvSpPr>
          <p:cNvPr id="23" name="Object6">
            <a:extLst>
              <a:ext uri="{FF2B5EF4-FFF2-40B4-BE49-F238E27FC236}">
                <a16:creationId xmlns:a16="http://schemas.microsoft.com/office/drawing/2014/main" id="{966B247C-7591-9E49-A972-6E12E9B0BE4B}"/>
              </a:ext>
            </a:extLst>
          </p:cNvPr>
          <p:cNvSpPr/>
          <p:nvPr/>
        </p:nvSpPr>
        <p:spPr>
          <a:xfrm>
            <a:off x="11237086" y="1573404"/>
            <a:ext cx="921775" cy="431563"/>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BURGUNDY</a:t>
            </a:r>
          </a:p>
        </p:txBody>
      </p:sp>
      <p:sp>
        <p:nvSpPr>
          <p:cNvPr id="24" name="Object6">
            <a:extLst>
              <a:ext uri="{FF2B5EF4-FFF2-40B4-BE49-F238E27FC236}">
                <a16:creationId xmlns:a16="http://schemas.microsoft.com/office/drawing/2014/main" id="{85A99DB0-04AE-6662-925E-8C67C8DD5B27}"/>
              </a:ext>
            </a:extLst>
          </p:cNvPr>
          <p:cNvSpPr/>
          <p:nvPr/>
        </p:nvSpPr>
        <p:spPr>
          <a:xfrm>
            <a:off x="11391023" y="4260420"/>
            <a:ext cx="941611" cy="431563"/>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ICICI</a:t>
            </a:r>
          </a:p>
        </p:txBody>
      </p:sp>
      <p:sp>
        <p:nvSpPr>
          <p:cNvPr id="20" name="TextBox 19">
            <a:extLst>
              <a:ext uri="{FF2B5EF4-FFF2-40B4-BE49-F238E27FC236}">
                <a16:creationId xmlns:a16="http://schemas.microsoft.com/office/drawing/2014/main" id="{0309556C-1E78-564E-446D-27A8A1C35D96}"/>
              </a:ext>
            </a:extLst>
          </p:cNvPr>
          <p:cNvSpPr txBox="1"/>
          <p:nvPr/>
        </p:nvSpPr>
        <p:spPr>
          <a:xfrm>
            <a:off x="11666280" y="632818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102</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3" name="Object6">
            <a:extLst>
              <a:ext uri="{FF2B5EF4-FFF2-40B4-BE49-F238E27FC236}">
                <a16:creationId xmlns:a16="http://schemas.microsoft.com/office/drawing/2014/main" id="{C2D964B1-C793-AC85-EB5C-6B2214C0E728}"/>
              </a:ext>
            </a:extLst>
          </p:cNvPr>
          <p:cNvSpPr/>
          <p:nvPr/>
        </p:nvSpPr>
        <p:spPr>
          <a:xfrm>
            <a:off x="120500" y="4215376"/>
            <a:ext cx="766049" cy="521653"/>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IMPERIA</a:t>
            </a:r>
          </a:p>
        </p:txBody>
      </p:sp>
      <p:graphicFrame>
        <p:nvGraphicFramePr>
          <p:cNvPr id="11" name="Chart 10">
            <a:extLst>
              <a:ext uri="{FF2B5EF4-FFF2-40B4-BE49-F238E27FC236}">
                <a16:creationId xmlns:a16="http://schemas.microsoft.com/office/drawing/2014/main" id="{DA40C42B-8164-49A6-B9AD-27D41FA7B22F}"/>
              </a:ext>
            </a:extLst>
          </p:cNvPr>
          <p:cNvGraphicFramePr>
            <a:graphicFrameLocks/>
          </p:cNvGraphicFramePr>
          <p:nvPr>
            <p:extLst>
              <p:ext uri="{D42A27DB-BD31-4B8C-83A1-F6EECF244321}">
                <p14:modId xmlns:p14="http://schemas.microsoft.com/office/powerpoint/2010/main" val="2438259604"/>
              </p:ext>
            </p:extLst>
          </p:nvPr>
        </p:nvGraphicFramePr>
        <p:xfrm>
          <a:off x="812520" y="335002"/>
          <a:ext cx="4315959" cy="300415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2" name="Chart 11">
            <a:extLst>
              <a:ext uri="{FF2B5EF4-FFF2-40B4-BE49-F238E27FC236}">
                <a16:creationId xmlns:a16="http://schemas.microsoft.com/office/drawing/2014/main" id="{DFFA8B52-82B6-4CDF-AF93-690711DBD19A}"/>
              </a:ext>
            </a:extLst>
          </p:cNvPr>
          <p:cNvGraphicFramePr>
            <a:graphicFrameLocks/>
          </p:cNvGraphicFramePr>
          <p:nvPr/>
        </p:nvGraphicFramePr>
        <p:xfrm>
          <a:off x="759097" y="3140739"/>
          <a:ext cx="4369382" cy="3068714"/>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9" name="Chart 18">
            <a:extLst>
              <a:ext uri="{FF2B5EF4-FFF2-40B4-BE49-F238E27FC236}">
                <a16:creationId xmlns:a16="http://schemas.microsoft.com/office/drawing/2014/main" id="{C7931756-83ED-4F10-9EDB-E7DBEE79AF53}"/>
              </a:ext>
            </a:extLst>
          </p:cNvPr>
          <p:cNvGraphicFramePr>
            <a:graphicFrameLocks/>
          </p:cNvGraphicFramePr>
          <p:nvPr/>
        </p:nvGraphicFramePr>
        <p:xfrm>
          <a:off x="6972725" y="3228643"/>
          <a:ext cx="4432511" cy="3068714"/>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6" name="Chart 25">
            <a:extLst>
              <a:ext uri="{FF2B5EF4-FFF2-40B4-BE49-F238E27FC236}">
                <a16:creationId xmlns:a16="http://schemas.microsoft.com/office/drawing/2014/main" id="{E028B749-2456-4418-891F-E8F5E447EF7A}"/>
              </a:ext>
            </a:extLst>
          </p:cNvPr>
          <p:cNvGraphicFramePr>
            <a:graphicFrameLocks/>
          </p:cNvGraphicFramePr>
          <p:nvPr/>
        </p:nvGraphicFramePr>
        <p:xfrm>
          <a:off x="6872642" y="321812"/>
          <a:ext cx="4506838" cy="3004157"/>
        </p:xfrm>
        <a:graphic>
          <a:graphicData uri="http://schemas.openxmlformats.org/drawingml/2006/chart">
            <c:chart xmlns:c="http://schemas.openxmlformats.org/drawingml/2006/chart" xmlns:r="http://schemas.openxmlformats.org/officeDocument/2006/relationships" r:id="rId10"/>
          </a:graphicData>
        </a:graphic>
      </p:graphicFrame>
      <p:pic>
        <p:nvPicPr>
          <p:cNvPr id="2" name="Picture 1">
            <a:extLst>
              <a:ext uri="{FF2B5EF4-FFF2-40B4-BE49-F238E27FC236}">
                <a16:creationId xmlns:a16="http://schemas.microsoft.com/office/drawing/2014/main" id="{681AA999-F47D-9064-C71F-FF17EDF1F3CB}"/>
              </a:ext>
            </a:extLst>
          </p:cNvPr>
          <p:cNvPicPr>
            <a:picLocks noChangeAspect="1"/>
          </p:cNvPicPr>
          <p:nvPr/>
        </p:nvPicPr>
        <p:blipFill>
          <a:blip r:embed="rId11">
            <a:extLst>
              <a:ext uri="{28A0092B-C50C-407E-A947-70E740481C1C}">
                <a14:useLocalDpi xmlns:a14="http://schemas.microsoft.com/office/drawing/2010/main" val="0"/>
              </a:ext>
            </a:extLst>
          </a:blip>
          <a:srcRect l="86867" b="37023"/>
          <a:stretch/>
        </p:blipFill>
        <p:spPr>
          <a:xfrm>
            <a:off x="2585509" y="6384671"/>
            <a:ext cx="373693" cy="383995"/>
          </a:xfrm>
          <a:prstGeom prst="rect">
            <a:avLst/>
          </a:prstGeom>
        </p:spPr>
      </p:pic>
      <p:sp>
        <p:nvSpPr>
          <p:cNvPr id="5" name="TextBox 4">
            <a:extLst>
              <a:ext uri="{FF2B5EF4-FFF2-40B4-BE49-F238E27FC236}">
                <a16:creationId xmlns:a16="http://schemas.microsoft.com/office/drawing/2014/main" id="{145A3F5C-973D-22E5-6AEC-78165ED417C8}"/>
              </a:ext>
            </a:extLst>
          </p:cNvPr>
          <p:cNvSpPr txBox="1"/>
          <p:nvPr/>
        </p:nvSpPr>
        <p:spPr>
          <a:xfrm>
            <a:off x="1680071" y="6473517"/>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622</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6" name="Picture 5">
            <a:extLst>
              <a:ext uri="{FF2B5EF4-FFF2-40B4-BE49-F238E27FC236}">
                <a16:creationId xmlns:a16="http://schemas.microsoft.com/office/drawing/2014/main" id="{D0CDECDE-DCE9-25E3-4825-7485CBC1552D}"/>
              </a:ext>
            </a:extLst>
          </p:cNvPr>
          <p:cNvPicPr>
            <a:picLocks noChangeAspect="1"/>
          </p:cNvPicPr>
          <p:nvPr/>
        </p:nvPicPr>
        <p:blipFill>
          <a:blip r:embed="rId12"/>
          <a:stretch>
            <a:fillRect/>
          </a:stretch>
        </p:blipFill>
        <p:spPr>
          <a:xfrm>
            <a:off x="4105478" y="100836"/>
            <a:ext cx="4382691" cy="220976"/>
          </a:xfrm>
          <a:prstGeom prst="rect">
            <a:avLst/>
          </a:prstGeom>
        </p:spPr>
      </p:pic>
      <p:sp>
        <p:nvSpPr>
          <p:cNvPr id="7" name="TextBox 6">
            <a:extLst>
              <a:ext uri="{FF2B5EF4-FFF2-40B4-BE49-F238E27FC236}">
                <a16:creationId xmlns:a16="http://schemas.microsoft.com/office/drawing/2014/main" id="{BA51B217-35D4-8A96-7A51-C793E32B4A0F}"/>
              </a:ext>
            </a:extLst>
          </p:cNvPr>
          <p:cNvSpPr txBox="1"/>
          <p:nvPr/>
        </p:nvSpPr>
        <p:spPr>
          <a:xfrm>
            <a:off x="5240626" y="2385013"/>
            <a:ext cx="1519868" cy="134857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HDFC leads the pack </a:t>
            </a:r>
            <a:r>
              <a:rPr lang="en-GB" sz="1400" dirty="0">
                <a:solidFill>
                  <a:srgbClr val="002060"/>
                </a:solidFill>
                <a:latin typeface="Montserrat" panose="00000500000000000000" pitchFamily="2" charset="0"/>
                <a:cs typeface="Hepta Slab Medium" pitchFamily="2"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ICICI and Axis trail the others</a:t>
            </a:r>
          </a:p>
        </p:txBody>
      </p:sp>
    </p:spTree>
    <p:extLst>
      <p:ext uri="{BB962C8B-B14F-4D97-AF65-F5344CB8AC3E}">
        <p14:creationId xmlns:p14="http://schemas.microsoft.com/office/powerpoint/2010/main" val="14550312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BEA4A5-120F-BB0D-499D-42D094C6F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00" y="0"/>
            <a:ext cx="12192000" cy="6858000"/>
          </a:xfrm>
          <a:prstGeom prst="rect">
            <a:avLst/>
          </a:prstGeom>
        </p:spPr>
      </p:pic>
      <p:grpSp>
        <p:nvGrpSpPr>
          <p:cNvPr id="12" name="Group 11">
            <a:extLst>
              <a:ext uri="{FF2B5EF4-FFF2-40B4-BE49-F238E27FC236}">
                <a16:creationId xmlns:a16="http://schemas.microsoft.com/office/drawing/2014/main" id="{22CDB6C3-6DD9-100D-7F19-500802B4C9A5}"/>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7C95BFCA-07A1-2CE1-94DD-902B3BB2CB1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D3FE01CB-E6AA-D3A3-34AF-BB11B8E152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496CDE05-6842-F510-D74F-ABC27571C5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503F9316-E922-3CE4-C627-0EF761B3BFDA}"/>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103</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8" name="Object5">
            <a:extLst>
              <a:ext uri="{FF2B5EF4-FFF2-40B4-BE49-F238E27FC236}">
                <a16:creationId xmlns:a16="http://schemas.microsoft.com/office/drawing/2014/main" id="{4D00F801-EE00-2D63-75A3-6076064ABBCA}"/>
              </a:ext>
            </a:extLst>
          </p:cNvPr>
          <p:cNvSpPr/>
          <p:nvPr/>
        </p:nvSpPr>
        <p:spPr>
          <a:xfrm>
            <a:off x="4078918" y="1769880"/>
            <a:ext cx="4958402" cy="50342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400"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LIFESTYLE BENEFITS </a:t>
            </a:r>
          </a:p>
        </p:txBody>
      </p:sp>
      <p:sp>
        <p:nvSpPr>
          <p:cNvPr id="20" name="Object5">
            <a:extLst>
              <a:ext uri="{FF2B5EF4-FFF2-40B4-BE49-F238E27FC236}">
                <a16:creationId xmlns:a16="http://schemas.microsoft.com/office/drawing/2014/main" id="{057041A4-FECF-D7CA-3531-BF952E1DE901}"/>
              </a:ext>
            </a:extLst>
          </p:cNvPr>
          <p:cNvSpPr/>
          <p:nvPr/>
        </p:nvSpPr>
        <p:spPr>
          <a:xfrm>
            <a:off x="3208342" y="3295141"/>
            <a:ext cx="7093898" cy="246558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Exclusively </a:t>
            </a: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p>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imperia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burgundy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a:t>
            </a:r>
            <a:r>
              <a:rPr kumimoji="0" lang="en-US" sz="24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Privy</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pic>
        <p:nvPicPr>
          <p:cNvPr id="2" name="Picture 1">
            <a:extLst>
              <a:ext uri="{FF2B5EF4-FFF2-40B4-BE49-F238E27FC236}">
                <a16:creationId xmlns:a16="http://schemas.microsoft.com/office/drawing/2014/main" id="{7B1D7737-0BD0-1638-8DF4-C8E89E56C2EA}"/>
              </a:ext>
            </a:extLst>
          </p:cNvPr>
          <p:cNvPicPr>
            <a:picLocks noChangeAspect="1"/>
          </p:cNvPicPr>
          <p:nvPr/>
        </p:nvPicPr>
        <p:blipFill>
          <a:blip r:embed="rId6">
            <a:extLst>
              <a:ext uri="{28A0092B-C50C-407E-A947-70E740481C1C}">
                <a14:useLocalDpi xmlns:a14="http://schemas.microsoft.com/office/drawing/2010/main" val="0"/>
              </a:ext>
            </a:extLst>
          </a:blip>
          <a:srcRect l="86867" b="37023"/>
          <a:stretch/>
        </p:blipFill>
        <p:spPr>
          <a:xfrm>
            <a:off x="2651769" y="6424427"/>
            <a:ext cx="373693" cy="383995"/>
          </a:xfrm>
          <a:prstGeom prst="rect">
            <a:avLst/>
          </a:prstGeom>
        </p:spPr>
      </p:pic>
      <p:pic>
        <p:nvPicPr>
          <p:cNvPr id="4" name="Graphic 3" descr="Diamond with solid fill">
            <a:extLst>
              <a:ext uri="{FF2B5EF4-FFF2-40B4-BE49-F238E27FC236}">
                <a16:creationId xmlns:a16="http://schemas.microsoft.com/office/drawing/2014/main" id="{451C5FB2-F79C-1E4E-C1EA-0E10D33F98D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08342" y="1721594"/>
            <a:ext cx="600000" cy="600000"/>
          </a:xfrm>
          <a:prstGeom prst="rect">
            <a:avLst/>
          </a:prstGeom>
        </p:spPr>
      </p:pic>
    </p:spTree>
    <p:extLst>
      <p:ext uri="{BB962C8B-B14F-4D97-AF65-F5344CB8AC3E}">
        <p14:creationId xmlns:p14="http://schemas.microsoft.com/office/powerpoint/2010/main" val="155614352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3" name="Object6">
            <a:extLst>
              <a:ext uri="{FF2B5EF4-FFF2-40B4-BE49-F238E27FC236}">
                <a16:creationId xmlns:a16="http://schemas.microsoft.com/office/drawing/2014/main" id="{F486912A-C48A-D5E3-3AF2-B5D9609C1E36}"/>
              </a:ext>
            </a:extLst>
          </p:cNvPr>
          <p:cNvSpPr/>
          <p:nvPr/>
        </p:nvSpPr>
        <p:spPr>
          <a:xfrm>
            <a:off x="11167524" y="1294376"/>
            <a:ext cx="762118" cy="802248"/>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PRIVY</a:t>
            </a:r>
          </a:p>
        </p:txBody>
      </p:sp>
      <p:sp>
        <p:nvSpPr>
          <p:cNvPr id="24" name="Object6">
            <a:extLst>
              <a:ext uri="{FF2B5EF4-FFF2-40B4-BE49-F238E27FC236}">
                <a16:creationId xmlns:a16="http://schemas.microsoft.com/office/drawing/2014/main" id="{DF2452D0-D060-792C-33F5-10B3C5166E35}"/>
              </a:ext>
            </a:extLst>
          </p:cNvPr>
          <p:cNvSpPr/>
          <p:nvPr/>
        </p:nvSpPr>
        <p:spPr>
          <a:xfrm>
            <a:off x="11136979" y="4188960"/>
            <a:ext cx="1028611" cy="802249"/>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BURGUNDY</a:t>
            </a:r>
          </a:p>
        </p:txBody>
      </p:sp>
      <p:pic>
        <p:nvPicPr>
          <p:cNvPr id="21" name="Graphic 20" descr="Diamond with solid fill">
            <a:extLst>
              <a:ext uri="{FF2B5EF4-FFF2-40B4-BE49-F238E27FC236}">
                <a16:creationId xmlns:a16="http://schemas.microsoft.com/office/drawing/2014/main" id="{0131F219-58DC-9B5F-D6B8-5E4121BCEC9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9153" y="33141"/>
            <a:ext cx="609600" cy="609600"/>
          </a:xfrm>
          <a:prstGeom prst="rect">
            <a:avLst/>
          </a:prstGeom>
        </p:spPr>
      </p:pic>
      <p:sp>
        <p:nvSpPr>
          <p:cNvPr id="15" name="TextBox 14">
            <a:extLst>
              <a:ext uri="{FF2B5EF4-FFF2-40B4-BE49-F238E27FC236}">
                <a16:creationId xmlns:a16="http://schemas.microsoft.com/office/drawing/2014/main" id="{A51CDB2E-52BB-371D-C770-0F30FB7AA5EB}"/>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104</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4" name="Object6">
            <a:extLst>
              <a:ext uri="{FF2B5EF4-FFF2-40B4-BE49-F238E27FC236}">
                <a16:creationId xmlns:a16="http://schemas.microsoft.com/office/drawing/2014/main" id="{D365D2B7-2EC1-5E6F-7F42-39164AEE5F55}"/>
              </a:ext>
            </a:extLst>
          </p:cNvPr>
          <p:cNvSpPr/>
          <p:nvPr/>
        </p:nvSpPr>
        <p:spPr>
          <a:xfrm>
            <a:off x="173741" y="3815680"/>
            <a:ext cx="910717" cy="746560"/>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IMPERIA</a:t>
            </a:r>
          </a:p>
        </p:txBody>
      </p:sp>
      <p:graphicFrame>
        <p:nvGraphicFramePr>
          <p:cNvPr id="8" name="Chart 7">
            <a:extLst>
              <a:ext uri="{FF2B5EF4-FFF2-40B4-BE49-F238E27FC236}">
                <a16:creationId xmlns:a16="http://schemas.microsoft.com/office/drawing/2014/main" id="{01E40939-DBC2-4024-8841-20A235418902}"/>
              </a:ext>
            </a:extLst>
          </p:cNvPr>
          <p:cNvGraphicFramePr>
            <a:graphicFrameLocks/>
          </p:cNvGraphicFramePr>
          <p:nvPr>
            <p:extLst>
              <p:ext uri="{D42A27DB-BD31-4B8C-83A1-F6EECF244321}">
                <p14:modId xmlns:p14="http://schemas.microsoft.com/office/powerpoint/2010/main" val="2228874717"/>
              </p:ext>
            </p:extLst>
          </p:nvPr>
        </p:nvGraphicFramePr>
        <p:xfrm>
          <a:off x="1084458" y="395898"/>
          <a:ext cx="3608945" cy="298330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 name="Chart 1">
            <a:extLst>
              <a:ext uri="{FF2B5EF4-FFF2-40B4-BE49-F238E27FC236}">
                <a16:creationId xmlns:a16="http://schemas.microsoft.com/office/drawing/2014/main" id="{667B741D-52CA-4B09-ADB0-A08B7A104A3C}"/>
              </a:ext>
            </a:extLst>
          </p:cNvPr>
          <p:cNvGraphicFramePr>
            <a:graphicFrameLocks/>
          </p:cNvGraphicFramePr>
          <p:nvPr/>
        </p:nvGraphicFramePr>
        <p:xfrm>
          <a:off x="1084458" y="3556160"/>
          <a:ext cx="3608945" cy="2800201"/>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5" name="Chart 4">
            <a:extLst>
              <a:ext uri="{FF2B5EF4-FFF2-40B4-BE49-F238E27FC236}">
                <a16:creationId xmlns:a16="http://schemas.microsoft.com/office/drawing/2014/main" id="{FAD0BE49-BA27-433F-B4D9-A7EE79ECC98D}"/>
              </a:ext>
            </a:extLst>
          </p:cNvPr>
          <p:cNvGraphicFramePr>
            <a:graphicFrameLocks/>
          </p:cNvGraphicFramePr>
          <p:nvPr>
            <p:extLst>
              <p:ext uri="{D42A27DB-BD31-4B8C-83A1-F6EECF244321}">
                <p14:modId xmlns:p14="http://schemas.microsoft.com/office/powerpoint/2010/main" val="3619313578"/>
              </p:ext>
            </p:extLst>
          </p:nvPr>
        </p:nvGraphicFramePr>
        <p:xfrm>
          <a:off x="7257859" y="318537"/>
          <a:ext cx="3782142" cy="298330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7" name="Chart 6">
            <a:extLst>
              <a:ext uri="{FF2B5EF4-FFF2-40B4-BE49-F238E27FC236}">
                <a16:creationId xmlns:a16="http://schemas.microsoft.com/office/drawing/2014/main" id="{CF89C733-3291-4162-8D83-D2C4923C8B62}"/>
              </a:ext>
            </a:extLst>
          </p:cNvPr>
          <p:cNvGraphicFramePr>
            <a:graphicFrameLocks/>
          </p:cNvGraphicFramePr>
          <p:nvPr>
            <p:extLst>
              <p:ext uri="{D42A27DB-BD31-4B8C-83A1-F6EECF244321}">
                <p14:modId xmlns:p14="http://schemas.microsoft.com/office/powerpoint/2010/main" val="3500331083"/>
              </p:ext>
            </p:extLst>
          </p:nvPr>
        </p:nvGraphicFramePr>
        <p:xfrm>
          <a:off x="7224726" y="3568950"/>
          <a:ext cx="3815274" cy="2920497"/>
        </p:xfrm>
        <a:graphic>
          <a:graphicData uri="http://schemas.openxmlformats.org/drawingml/2006/chart">
            <c:chart xmlns:c="http://schemas.openxmlformats.org/drawingml/2006/chart" xmlns:r="http://schemas.openxmlformats.org/officeDocument/2006/relationships" r:id="rId10"/>
          </a:graphicData>
        </a:graphic>
      </p:graphicFrame>
      <p:sp>
        <p:nvSpPr>
          <p:cNvPr id="3" name="TextBox 2">
            <a:extLst>
              <a:ext uri="{FF2B5EF4-FFF2-40B4-BE49-F238E27FC236}">
                <a16:creationId xmlns:a16="http://schemas.microsoft.com/office/drawing/2014/main" id="{638846AE-8AF6-3498-1FF0-C360F41839B0}"/>
              </a:ext>
            </a:extLst>
          </p:cNvPr>
          <p:cNvSpPr txBox="1"/>
          <p:nvPr/>
        </p:nvSpPr>
        <p:spPr>
          <a:xfrm>
            <a:off x="1790700" y="6431369"/>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6" name="Picture 5">
            <a:extLst>
              <a:ext uri="{FF2B5EF4-FFF2-40B4-BE49-F238E27FC236}">
                <a16:creationId xmlns:a16="http://schemas.microsoft.com/office/drawing/2014/main" id="{6C7B33A7-E064-2238-8E1F-044750CB2938}"/>
              </a:ext>
            </a:extLst>
          </p:cNvPr>
          <p:cNvPicPr>
            <a:picLocks noChangeAspect="1"/>
          </p:cNvPicPr>
          <p:nvPr/>
        </p:nvPicPr>
        <p:blipFill>
          <a:blip r:embed="rId11">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12" name="TextBox 11">
            <a:extLst>
              <a:ext uri="{FF2B5EF4-FFF2-40B4-BE49-F238E27FC236}">
                <a16:creationId xmlns:a16="http://schemas.microsoft.com/office/drawing/2014/main" id="{998418CD-D04F-0595-C3FA-3E10C94C707F}"/>
              </a:ext>
            </a:extLst>
          </p:cNvPr>
          <p:cNvSpPr txBox="1"/>
          <p:nvPr/>
        </p:nvSpPr>
        <p:spPr>
          <a:xfrm>
            <a:off x="4602938" y="1917851"/>
            <a:ext cx="2711802" cy="296440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Among those who have experienced Lifestyle Benefits, HDFC is rated the best.</a:t>
            </a:r>
          </a:p>
          <a:p>
            <a:pPr marL="0" marR="0" lvl="0" indent="0" algn="l" defTabSz="914400" rtl="0" eaLnBrk="1" fontAlgn="auto" latinLnBrk="0" hangingPunct="1">
              <a:lnSpc>
                <a:spcPct val="150000"/>
              </a:lnSpc>
              <a:spcBef>
                <a:spcPts val="0"/>
              </a:spcBef>
              <a:spcAft>
                <a:spcPts val="0"/>
              </a:spcAft>
              <a:buClrTx/>
              <a:buSzTx/>
              <a:buFontTx/>
              <a:buNone/>
              <a:tabLst/>
              <a:defRPr/>
            </a:pPr>
            <a:b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b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Celesta + Privy customers feel they have not received any Lifestyle benefits from Celesta.</a:t>
            </a:r>
          </a:p>
        </p:txBody>
      </p:sp>
      <p:pic>
        <p:nvPicPr>
          <p:cNvPr id="9" name="Picture 8">
            <a:extLst>
              <a:ext uri="{FF2B5EF4-FFF2-40B4-BE49-F238E27FC236}">
                <a16:creationId xmlns:a16="http://schemas.microsoft.com/office/drawing/2014/main" id="{1FEB3580-9704-BBE4-C686-CF7924EC893A}"/>
              </a:ext>
            </a:extLst>
          </p:cNvPr>
          <p:cNvPicPr>
            <a:picLocks noChangeAspect="1"/>
          </p:cNvPicPr>
          <p:nvPr/>
        </p:nvPicPr>
        <p:blipFill>
          <a:blip r:embed="rId12"/>
          <a:stretch>
            <a:fillRect/>
          </a:stretch>
        </p:blipFill>
        <p:spPr>
          <a:xfrm>
            <a:off x="4149437" y="51427"/>
            <a:ext cx="3591426" cy="304843"/>
          </a:xfrm>
          <a:prstGeom prst="rect">
            <a:avLst/>
          </a:prstGeom>
        </p:spPr>
      </p:pic>
      <p:sp>
        <p:nvSpPr>
          <p:cNvPr id="10" name="Object6">
            <a:extLst>
              <a:ext uri="{FF2B5EF4-FFF2-40B4-BE49-F238E27FC236}">
                <a16:creationId xmlns:a16="http://schemas.microsoft.com/office/drawing/2014/main" id="{AF62AAAC-06AE-1AD5-82B2-DA32CD20FABC}"/>
              </a:ext>
            </a:extLst>
          </p:cNvPr>
          <p:cNvSpPr/>
          <p:nvPr/>
        </p:nvSpPr>
        <p:spPr>
          <a:xfrm>
            <a:off x="95005" y="1159183"/>
            <a:ext cx="947942" cy="698192"/>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only </a:t>
            </a:r>
          </a:p>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a:t>
            </a:r>
          </a:p>
        </p:txBody>
      </p:sp>
    </p:spTree>
    <p:extLst>
      <p:ext uri="{BB962C8B-B14F-4D97-AF65-F5344CB8AC3E}">
        <p14:creationId xmlns:p14="http://schemas.microsoft.com/office/powerpoint/2010/main" val="405976641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193358" y="6220353"/>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2" name="Object6">
            <a:extLst>
              <a:ext uri="{FF2B5EF4-FFF2-40B4-BE49-F238E27FC236}">
                <a16:creationId xmlns:a16="http://schemas.microsoft.com/office/drawing/2014/main" id="{7A73CD20-615D-F5B9-A601-65AFB2793FE6}"/>
              </a:ext>
            </a:extLst>
          </p:cNvPr>
          <p:cNvSpPr/>
          <p:nvPr/>
        </p:nvSpPr>
        <p:spPr>
          <a:xfrm>
            <a:off x="140553" y="1662529"/>
            <a:ext cx="713861"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PRIVY</a:t>
            </a:r>
          </a:p>
        </p:txBody>
      </p:sp>
      <p:sp>
        <p:nvSpPr>
          <p:cNvPr id="23" name="Object6">
            <a:extLst>
              <a:ext uri="{FF2B5EF4-FFF2-40B4-BE49-F238E27FC236}">
                <a16:creationId xmlns:a16="http://schemas.microsoft.com/office/drawing/2014/main" id="{F486912A-C48A-D5E3-3AF2-B5D9609C1E36}"/>
              </a:ext>
            </a:extLst>
          </p:cNvPr>
          <p:cNvSpPr/>
          <p:nvPr/>
        </p:nvSpPr>
        <p:spPr>
          <a:xfrm>
            <a:off x="11225242" y="1662528"/>
            <a:ext cx="913290" cy="325461"/>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BURGUNDY</a:t>
            </a:r>
          </a:p>
        </p:txBody>
      </p:sp>
      <p:sp>
        <p:nvSpPr>
          <p:cNvPr id="24" name="Object6">
            <a:extLst>
              <a:ext uri="{FF2B5EF4-FFF2-40B4-BE49-F238E27FC236}">
                <a16:creationId xmlns:a16="http://schemas.microsoft.com/office/drawing/2014/main" id="{DF2452D0-D060-792C-33F5-10B3C5166E35}"/>
              </a:ext>
            </a:extLst>
          </p:cNvPr>
          <p:cNvSpPr/>
          <p:nvPr/>
        </p:nvSpPr>
        <p:spPr>
          <a:xfrm>
            <a:off x="140553" y="4329380"/>
            <a:ext cx="742836" cy="494617"/>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IMPERIA</a:t>
            </a:r>
          </a:p>
        </p:txBody>
      </p:sp>
      <p:pic>
        <p:nvPicPr>
          <p:cNvPr id="21" name="Graphic 20" descr="Diamond with solid fill">
            <a:extLst>
              <a:ext uri="{FF2B5EF4-FFF2-40B4-BE49-F238E27FC236}">
                <a16:creationId xmlns:a16="http://schemas.microsoft.com/office/drawing/2014/main" id="{0131F219-58DC-9B5F-D6B8-5E4121BCEC9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9153" y="33141"/>
            <a:ext cx="609600" cy="609600"/>
          </a:xfrm>
          <a:prstGeom prst="rect">
            <a:avLst/>
          </a:prstGeom>
        </p:spPr>
      </p:pic>
      <p:sp>
        <p:nvSpPr>
          <p:cNvPr id="15" name="TextBox 14">
            <a:extLst>
              <a:ext uri="{FF2B5EF4-FFF2-40B4-BE49-F238E27FC236}">
                <a16:creationId xmlns:a16="http://schemas.microsoft.com/office/drawing/2014/main" id="{A51CDB2E-52BB-371D-C770-0F30FB7AA5EB}"/>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105</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5" name="Object6">
            <a:extLst>
              <a:ext uri="{FF2B5EF4-FFF2-40B4-BE49-F238E27FC236}">
                <a16:creationId xmlns:a16="http://schemas.microsoft.com/office/drawing/2014/main" id="{3B13AD82-407B-650F-02E1-40FB51C3EF1F}"/>
              </a:ext>
            </a:extLst>
          </p:cNvPr>
          <p:cNvSpPr/>
          <p:nvPr/>
        </p:nvSpPr>
        <p:spPr>
          <a:xfrm>
            <a:off x="11264555" y="4718632"/>
            <a:ext cx="702889" cy="528441"/>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ICICI</a:t>
            </a:r>
          </a:p>
        </p:txBody>
      </p:sp>
      <p:graphicFrame>
        <p:nvGraphicFramePr>
          <p:cNvPr id="7" name="Chart 6">
            <a:extLst>
              <a:ext uri="{FF2B5EF4-FFF2-40B4-BE49-F238E27FC236}">
                <a16:creationId xmlns:a16="http://schemas.microsoft.com/office/drawing/2014/main" id="{115DD1AE-5F37-4FC4-AA02-11B3F983FCEB}"/>
              </a:ext>
            </a:extLst>
          </p:cNvPr>
          <p:cNvGraphicFramePr>
            <a:graphicFrameLocks/>
          </p:cNvGraphicFramePr>
          <p:nvPr/>
        </p:nvGraphicFramePr>
        <p:xfrm>
          <a:off x="737704" y="580477"/>
          <a:ext cx="4246464" cy="2838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8" name="Chart 7">
            <a:extLst>
              <a:ext uri="{FF2B5EF4-FFF2-40B4-BE49-F238E27FC236}">
                <a16:creationId xmlns:a16="http://schemas.microsoft.com/office/drawing/2014/main" id="{3569C520-4355-4866-B2DD-9D6A3DBAFDFB}"/>
              </a:ext>
            </a:extLst>
          </p:cNvPr>
          <p:cNvGraphicFramePr>
            <a:graphicFrameLocks/>
          </p:cNvGraphicFramePr>
          <p:nvPr>
            <p:extLst>
              <p:ext uri="{D42A27DB-BD31-4B8C-83A1-F6EECF244321}">
                <p14:modId xmlns:p14="http://schemas.microsoft.com/office/powerpoint/2010/main" val="3984502264"/>
              </p:ext>
            </p:extLst>
          </p:nvPr>
        </p:nvGraphicFramePr>
        <p:xfrm>
          <a:off x="772426" y="3465511"/>
          <a:ext cx="4246464" cy="277107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9" name="Chart 8">
            <a:extLst>
              <a:ext uri="{FF2B5EF4-FFF2-40B4-BE49-F238E27FC236}">
                <a16:creationId xmlns:a16="http://schemas.microsoft.com/office/drawing/2014/main" id="{481B01BE-A05F-436D-BD27-72E8E8E46267}"/>
              </a:ext>
            </a:extLst>
          </p:cNvPr>
          <p:cNvGraphicFramePr>
            <a:graphicFrameLocks/>
          </p:cNvGraphicFramePr>
          <p:nvPr>
            <p:extLst>
              <p:ext uri="{D42A27DB-BD31-4B8C-83A1-F6EECF244321}">
                <p14:modId xmlns:p14="http://schemas.microsoft.com/office/powerpoint/2010/main" val="530565720"/>
              </p:ext>
            </p:extLst>
          </p:nvPr>
        </p:nvGraphicFramePr>
        <p:xfrm>
          <a:off x="7181875" y="480355"/>
          <a:ext cx="4011971" cy="2938859"/>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0" name="Chart 9">
            <a:extLst>
              <a:ext uri="{FF2B5EF4-FFF2-40B4-BE49-F238E27FC236}">
                <a16:creationId xmlns:a16="http://schemas.microsoft.com/office/drawing/2014/main" id="{E0A97F37-1C26-42BF-9060-C6E4AB62308C}"/>
              </a:ext>
            </a:extLst>
          </p:cNvPr>
          <p:cNvGraphicFramePr>
            <a:graphicFrameLocks/>
          </p:cNvGraphicFramePr>
          <p:nvPr>
            <p:extLst>
              <p:ext uri="{D42A27DB-BD31-4B8C-83A1-F6EECF244321}">
                <p14:modId xmlns:p14="http://schemas.microsoft.com/office/powerpoint/2010/main" val="3999367268"/>
              </p:ext>
            </p:extLst>
          </p:nvPr>
        </p:nvGraphicFramePr>
        <p:xfrm>
          <a:off x="7181875" y="3438787"/>
          <a:ext cx="4094864" cy="2853910"/>
        </p:xfrm>
        <a:graphic>
          <a:graphicData uri="http://schemas.openxmlformats.org/drawingml/2006/chart">
            <c:chart xmlns:c="http://schemas.openxmlformats.org/drawingml/2006/chart" xmlns:r="http://schemas.openxmlformats.org/officeDocument/2006/relationships" r:id="rId10"/>
          </a:graphicData>
        </a:graphic>
      </p:graphicFrame>
      <p:pic>
        <p:nvPicPr>
          <p:cNvPr id="3" name="Picture 2">
            <a:extLst>
              <a:ext uri="{FF2B5EF4-FFF2-40B4-BE49-F238E27FC236}">
                <a16:creationId xmlns:a16="http://schemas.microsoft.com/office/drawing/2014/main" id="{2DF8FB43-19A1-F0ED-B542-212B315EBD8F}"/>
              </a:ext>
            </a:extLst>
          </p:cNvPr>
          <p:cNvPicPr>
            <a:picLocks noChangeAspect="1"/>
          </p:cNvPicPr>
          <p:nvPr/>
        </p:nvPicPr>
        <p:blipFill>
          <a:blip r:embed="rId11">
            <a:extLst>
              <a:ext uri="{28A0092B-C50C-407E-A947-70E740481C1C}">
                <a14:useLocalDpi xmlns:a14="http://schemas.microsoft.com/office/drawing/2010/main" val="0"/>
              </a:ext>
            </a:extLst>
          </a:blip>
          <a:srcRect l="86867" b="37023"/>
          <a:stretch/>
        </p:blipFill>
        <p:spPr>
          <a:xfrm>
            <a:off x="2585509" y="6464183"/>
            <a:ext cx="373693" cy="383995"/>
          </a:xfrm>
          <a:prstGeom prst="rect">
            <a:avLst/>
          </a:prstGeom>
        </p:spPr>
      </p:pic>
      <p:sp>
        <p:nvSpPr>
          <p:cNvPr id="4" name="TextBox 3">
            <a:extLst>
              <a:ext uri="{FF2B5EF4-FFF2-40B4-BE49-F238E27FC236}">
                <a16:creationId xmlns:a16="http://schemas.microsoft.com/office/drawing/2014/main" id="{7A9F5C24-F104-93B8-34A3-938C837A79A1}"/>
              </a:ext>
            </a:extLst>
          </p:cNvPr>
          <p:cNvSpPr txBox="1"/>
          <p:nvPr/>
        </p:nvSpPr>
        <p:spPr>
          <a:xfrm>
            <a:off x="1711480" y="6610601"/>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622</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sp>
        <p:nvSpPr>
          <p:cNvPr id="12" name="TextBox 11">
            <a:extLst>
              <a:ext uri="{FF2B5EF4-FFF2-40B4-BE49-F238E27FC236}">
                <a16:creationId xmlns:a16="http://schemas.microsoft.com/office/drawing/2014/main" id="{88393320-3507-C8A8-699C-4CCADFD89CC2}"/>
              </a:ext>
            </a:extLst>
          </p:cNvPr>
          <p:cNvSpPr txBox="1"/>
          <p:nvPr/>
        </p:nvSpPr>
        <p:spPr>
          <a:xfrm>
            <a:off x="4970251" y="1987990"/>
            <a:ext cx="2136724" cy="293886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Unlike Federal, nearly 100% of customers from the other brands have experienced Lifestyle Benefits.</a:t>
            </a:r>
          </a:p>
          <a:p>
            <a:pPr marL="0" marR="0" lvl="0" indent="0" algn="l" defTabSz="914400" rtl="0" eaLnBrk="1" fontAlgn="auto" latinLnBrk="0" hangingPunct="1">
              <a:lnSpc>
                <a:spcPct val="150000"/>
              </a:lnSpc>
              <a:spcBef>
                <a:spcPts val="0"/>
              </a:spcBef>
              <a:spcAft>
                <a:spcPts val="0"/>
              </a:spcAft>
              <a:buClrTx/>
              <a:buSzTx/>
              <a:buFontTx/>
              <a:buNone/>
              <a:tabLst/>
              <a:defRPr/>
            </a:pPr>
            <a:r>
              <a:rPr lang="en-GB" sz="1400" dirty="0">
                <a:solidFill>
                  <a:srgbClr val="002060"/>
                </a:solidFill>
                <a:latin typeface="Montserrat" panose="00000500000000000000" pitchFamily="2" charset="0"/>
                <a:cs typeface="Hepta Slab Medium" pitchFamily="2" charset="0"/>
              </a:rPr>
              <a:t>ICICI trails the group in providing lifestyle benefits</a:t>
            </a:r>
            <a:endPar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endParaRPr>
          </a:p>
        </p:txBody>
      </p:sp>
      <p:pic>
        <p:nvPicPr>
          <p:cNvPr id="2" name="Picture 1">
            <a:extLst>
              <a:ext uri="{FF2B5EF4-FFF2-40B4-BE49-F238E27FC236}">
                <a16:creationId xmlns:a16="http://schemas.microsoft.com/office/drawing/2014/main" id="{F81A5E6C-60DA-92A0-CAAF-CC3D446A2408}"/>
              </a:ext>
            </a:extLst>
          </p:cNvPr>
          <p:cNvPicPr>
            <a:picLocks noChangeAspect="1"/>
          </p:cNvPicPr>
          <p:nvPr/>
        </p:nvPicPr>
        <p:blipFill>
          <a:blip r:embed="rId12"/>
          <a:stretch>
            <a:fillRect/>
          </a:stretch>
        </p:blipFill>
        <p:spPr>
          <a:xfrm>
            <a:off x="3904654" y="131905"/>
            <a:ext cx="4382691" cy="220976"/>
          </a:xfrm>
          <a:prstGeom prst="rect">
            <a:avLst/>
          </a:prstGeom>
        </p:spPr>
      </p:pic>
    </p:spTree>
    <p:extLst>
      <p:ext uri="{BB962C8B-B14F-4D97-AF65-F5344CB8AC3E}">
        <p14:creationId xmlns:p14="http://schemas.microsoft.com/office/powerpoint/2010/main" val="3595014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BEA4A5-120F-BB0D-499D-42D094C6F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00" y="0"/>
            <a:ext cx="12192000" cy="6858000"/>
          </a:xfrm>
          <a:prstGeom prst="rect">
            <a:avLst/>
          </a:prstGeom>
        </p:spPr>
      </p:pic>
      <p:grpSp>
        <p:nvGrpSpPr>
          <p:cNvPr id="12" name="Group 11">
            <a:extLst>
              <a:ext uri="{FF2B5EF4-FFF2-40B4-BE49-F238E27FC236}">
                <a16:creationId xmlns:a16="http://schemas.microsoft.com/office/drawing/2014/main" id="{22CDB6C3-6DD9-100D-7F19-500802B4C9A5}"/>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7C95BFCA-07A1-2CE1-94DD-902B3BB2CB1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D3FE01CB-E6AA-D3A3-34AF-BB11B8E152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496CDE05-6842-F510-D74F-ABC27571C5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503F9316-E922-3CE4-C627-0EF761B3BFDA}"/>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106</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8" name="Object5">
            <a:extLst>
              <a:ext uri="{FF2B5EF4-FFF2-40B4-BE49-F238E27FC236}">
                <a16:creationId xmlns:a16="http://schemas.microsoft.com/office/drawing/2014/main" id="{4D00F801-EE00-2D63-75A3-6076064ABBCA}"/>
              </a:ext>
            </a:extLst>
          </p:cNvPr>
          <p:cNvSpPr/>
          <p:nvPr/>
        </p:nvSpPr>
        <p:spPr>
          <a:xfrm>
            <a:off x="4078918" y="1769880"/>
            <a:ext cx="4958402" cy="50342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400"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THE RM</a:t>
            </a:r>
          </a:p>
        </p:txBody>
      </p:sp>
      <p:sp>
        <p:nvSpPr>
          <p:cNvPr id="20" name="Object5">
            <a:extLst>
              <a:ext uri="{FF2B5EF4-FFF2-40B4-BE49-F238E27FC236}">
                <a16:creationId xmlns:a16="http://schemas.microsoft.com/office/drawing/2014/main" id="{057041A4-FECF-D7CA-3531-BF952E1DE901}"/>
              </a:ext>
            </a:extLst>
          </p:cNvPr>
          <p:cNvSpPr/>
          <p:nvPr/>
        </p:nvSpPr>
        <p:spPr>
          <a:xfrm>
            <a:off x="3208342" y="3295141"/>
            <a:ext cx="7093898" cy="246558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Exclusively </a:t>
            </a: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p>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imperia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burgundy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a:t>
            </a:r>
            <a:r>
              <a:rPr kumimoji="0" lang="en-US" sz="24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Privy</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pic>
        <p:nvPicPr>
          <p:cNvPr id="2" name="Picture 1">
            <a:extLst>
              <a:ext uri="{FF2B5EF4-FFF2-40B4-BE49-F238E27FC236}">
                <a16:creationId xmlns:a16="http://schemas.microsoft.com/office/drawing/2014/main" id="{7B1D7737-0BD0-1638-8DF4-C8E89E56C2EA}"/>
              </a:ext>
            </a:extLst>
          </p:cNvPr>
          <p:cNvPicPr>
            <a:picLocks noChangeAspect="1"/>
          </p:cNvPicPr>
          <p:nvPr/>
        </p:nvPicPr>
        <p:blipFill>
          <a:blip r:embed="rId6">
            <a:extLst>
              <a:ext uri="{28A0092B-C50C-407E-A947-70E740481C1C}">
                <a14:useLocalDpi xmlns:a14="http://schemas.microsoft.com/office/drawing/2010/main" val="0"/>
              </a:ext>
            </a:extLst>
          </a:blip>
          <a:srcRect l="86867" b="37023"/>
          <a:stretch/>
        </p:blipFill>
        <p:spPr>
          <a:xfrm>
            <a:off x="2651769" y="6424427"/>
            <a:ext cx="373693" cy="383995"/>
          </a:xfrm>
          <a:prstGeom prst="rect">
            <a:avLst/>
          </a:prstGeom>
        </p:spPr>
      </p:pic>
      <p:pic>
        <p:nvPicPr>
          <p:cNvPr id="4" name="Graphic 3" descr="Fairy male with solid fill">
            <a:extLst>
              <a:ext uri="{FF2B5EF4-FFF2-40B4-BE49-F238E27FC236}">
                <a16:creationId xmlns:a16="http://schemas.microsoft.com/office/drawing/2014/main" id="{41DD0A64-0BE6-E497-51DC-E70DD7B9433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171290" y="1721594"/>
            <a:ext cx="600000" cy="600000"/>
          </a:xfrm>
          <a:prstGeom prst="rect">
            <a:avLst/>
          </a:prstGeom>
        </p:spPr>
      </p:pic>
    </p:spTree>
    <p:extLst>
      <p:ext uri="{BB962C8B-B14F-4D97-AF65-F5344CB8AC3E}">
        <p14:creationId xmlns:p14="http://schemas.microsoft.com/office/powerpoint/2010/main" val="401840433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2" name="Object6">
            <a:extLst>
              <a:ext uri="{FF2B5EF4-FFF2-40B4-BE49-F238E27FC236}">
                <a16:creationId xmlns:a16="http://schemas.microsoft.com/office/drawing/2014/main" id="{7A73CD20-615D-F5B9-A601-65AFB2793FE6}"/>
              </a:ext>
            </a:extLst>
          </p:cNvPr>
          <p:cNvSpPr/>
          <p:nvPr/>
        </p:nvSpPr>
        <p:spPr>
          <a:xfrm>
            <a:off x="187787" y="1255438"/>
            <a:ext cx="941768" cy="697462"/>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ONLY CELESTA</a:t>
            </a:r>
          </a:p>
        </p:txBody>
      </p:sp>
      <p:sp>
        <p:nvSpPr>
          <p:cNvPr id="23" name="Object6">
            <a:extLst>
              <a:ext uri="{FF2B5EF4-FFF2-40B4-BE49-F238E27FC236}">
                <a16:creationId xmlns:a16="http://schemas.microsoft.com/office/drawing/2014/main" id="{F486912A-C48A-D5E3-3AF2-B5D9609C1E36}"/>
              </a:ext>
            </a:extLst>
          </p:cNvPr>
          <p:cNvSpPr/>
          <p:nvPr/>
        </p:nvSpPr>
        <p:spPr>
          <a:xfrm>
            <a:off x="11080011" y="1750635"/>
            <a:ext cx="1052949" cy="90794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PRIVY</a:t>
            </a:r>
          </a:p>
        </p:txBody>
      </p:sp>
      <p:sp>
        <p:nvSpPr>
          <p:cNvPr id="24" name="Object6">
            <a:extLst>
              <a:ext uri="{FF2B5EF4-FFF2-40B4-BE49-F238E27FC236}">
                <a16:creationId xmlns:a16="http://schemas.microsoft.com/office/drawing/2014/main" id="{DF2452D0-D060-792C-33F5-10B3C5166E35}"/>
              </a:ext>
            </a:extLst>
          </p:cNvPr>
          <p:cNvSpPr/>
          <p:nvPr/>
        </p:nvSpPr>
        <p:spPr>
          <a:xfrm>
            <a:off x="11080011" y="3958933"/>
            <a:ext cx="1414988" cy="4809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BURGUNDY</a:t>
            </a:r>
          </a:p>
        </p:txBody>
      </p:sp>
      <p:pic>
        <p:nvPicPr>
          <p:cNvPr id="30" name="Graphic 29" descr="Fairy male with solid fill">
            <a:extLst>
              <a:ext uri="{FF2B5EF4-FFF2-40B4-BE49-F238E27FC236}">
                <a16:creationId xmlns:a16="http://schemas.microsoft.com/office/drawing/2014/main" id="{B56E00D5-BF83-D00F-0EA5-DB8CA254653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65493" y="17011"/>
            <a:ext cx="609600" cy="609600"/>
          </a:xfrm>
          <a:prstGeom prst="rect">
            <a:avLst/>
          </a:prstGeom>
        </p:spPr>
      </p:pic>
      <p:sp>
        <p:nvSpPr>
          <p:cNvPr id="15" name="TextBox 14">
            <a:extLst>
              <a:ext uri="{FF2B5EF4-FFF2-40B4-BE49-F238E27FC236}">
                <a16:creationId xmlns:a16="http://schemas.microsoft.com/office/drawing/2014/main" id="{3DA130F8-CFFB-AF2D-63AB-8EC2534F8DF3}"/>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107</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graphicFrame>
        <p:nvGraphicFramePr>
          <p:cNvPr id="9" name="Chart 8">
            <a:extLst>
              <a:ext uri="{FF2B5EF4-FFF2-40B4-BE49-F238E27FC236}">
                <a16:creationId xmlns:a16="http://schemas.microsoft.com/office/drawing/2014/main" id="{4E9A5C48-D3CB-4124-87BF-722303B868F1}"/>
              </a:ext>
            </a:extLst>
          </p:cNvPr>
          <p:cNvGraphicFramePr>
            <a:graphicFrameLocks/>
          </p:cNvGraphicFramePr>
          <p:nvPr/>
        </p:nvGraphicFramePr>
        <p:xfrm>
          <a:off x="1024256" y="411479"/>
          <a:ext cx="3932189" cy="2970169"/>
        </p:xfrm>
        <a:graphic>
          <a:graphicData uri="http://schemas.openxmlformats.org/drawingml/2006/chart">
            <c:chart xmlns:c="http://schemas.openxmlformats.org/drawingml/2006/chart" xmlns:r="http://schemas.openxmlformats.org/officeDocument/2006/relationships" r:id="rId7"/>
          </a:graphicData>
        </a:graphic>
      </p:graphicFrame>
      <p:sp>
        <p:nvSpPr>
          <p:cNvPr id="11" name="Object6">
            <a:extLst>
              <a:ext uri="{FF2B5EF4-FFF2-40B4-BE49-F238E27FC236}">
                <a16:creationId xmlns:a16="http://schemas.microsoft.com/office/drawing/2014/main" id="{134F691B-4513-B4EB-6230-009E1B617A3A}"/>
              </a:ext>
            </a:extLst>
          </p:cNvPr>
          <p:cNvSpPr/>
          <p:nvPr/>
        </p:nvSpPr>
        <p:spPr>
          <a:xfrm>
            <a:off x="200760" y="4037687"/>
            <a:ext cx="978843" cy="703390"/>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IMPERIA</a:t>
            </a:r>
          </a:p>
        </p:txBody>
      </p:sp>
      <p:graphicFrame>
        <p:nvGraphicFramePr>
          <p:cNvPr id="4" name="Chart 3">
            <a:extLst>
              <a:ext uri="{FF2B5EF4-FFF2-40B4-BE49-F238E27FC236}">
                <a16:creationId xmlns:a16="http://schemas.microsoft.com/office/drawing/2014/main" id="{6F662996-53B5-442D-9569-766A3EF92FEB}"/>
              </a:ext>
            </a:extLst>
          </p:cNvPr>
          <p:cNvGraphicFramePr>
            <a:graphicFrameLocks/>
          </p:cNvGraphicFramePr>
          <p:nvPr>
            <p:extLst>
              <p:ext uri="{D42A27DB-BD31-4B8C-83A1-F6EECF244321}">
                <p14:modId xmlns:p14="http://schemas.microsoft.com/office/powerpoint/2010/main" val="2979380098"/>
              </p:ext>
            </p:extLst>
          </p:nvPr>
        </p:nvGraphicFramePr>
        <p:xfrm>
          <a:off x="7146824" y="221187"/>
          <a:ext cx="3888728" cy="3118601"/>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5" name="Chart 4">
            <a:extLst>
              <a:ext uri="{FF2B5EF4-FFF2-40B4-BE49-F238E27FC236}">
                <a16:creationId xmlns:a16="http://schemas.microsoft.com/office/drawing/2014/main" id="{98A4D6EC-8D80-414E-AA31-2DA167BD60ED}"/>
              </a:ext>
            </a:extLst>
          </p:cNvPr>
          <p:cNvGraphicFramePr>
            <a:graphicFrameLocks/>
          </p:cNvGraphicFramePr>
          <p:nvPr>
            <p:extLst>
              <p:ext uri="{D42A27DB-BD31-4B8C-83A1-F6EECF244321}">
                <p14:modId xmlns:p14="http://schemas.microsoft.com/office/powerpoint/2010/main" val="662042758"/>
              </p:ext>
            </p:extLst>
          </p:nvPr>
        </p:nvGraphicFramePr>
        <p:xfrm>
          <a:off x="998482" y="3571258"/>
          <a:ext cx="4025548" cy="2723962"/>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6" name="Chart 5">
            <a:extLst>
              <a:ext uri="{FF2B5EF4-FFF2-40B4-BE49-F238E27FC236}">
                <a16:creationId xmlns:a16="http://schemas.microsoft.com/office/drawing/2014/main" id="{6D920D4E-3C30-41E4-BFDF-21C25E89CDA6}"/>
              </a:ext>
            </a:extLst>
          </p:cNvPr>
          <p:cNvGraphicFramePr>
            <a:graphicFrameLocks/>
          </p:cNvGraphicFramePr>
          <p:nvPr>
            <p:extLst>
              <p:ext uri="{D42A27DB-BD31-4B8C-83A1-F6EECF244321}">
                <p14:modId xmlns:p14="http://schemas.microsoft.com/office/powerpoint/2010/main" val="3351887322"/>
              </p:ext>
            </p:extLst>
          </p:nvPr>
        </p:nvGraphicFramePr>
        <p:xfrm>
          <a:off x="7235584" y="3391797"/>
          <a:ext cx="3957933" cy="2970169"/>
        </p:xfrm>
        <a:graphic>
          <a:graphicData uri="http://schemas.openxmlformats.org/drawingml/2006/chart">
            <c:chart xmlns:c="http://schemas.openxmlformats.org/drawingml/2006/chart" xmlns:r="http://schemas.openxmlformats.org/officeDocument/2006/relationships" r:id="rId10"/>
          </a:graphicData>
        </a:graphic>
      </p:graphicFrame>
      <p:sp>
        <p:nvSpPr>
          <p:cNvPr id="2" name="TextBox 1">
            <a:extLst>
              <a:ext uri="{FF2B5EF4-FFF2-40B4-BE49-F238E27FC236}">
                <a16:creationId xmlns:a16="http://schemas.microsoft.com/office/drawing/2014/main" id="{EBCBA6C6-E058-039D-45E6-156C0579D744}"/>
              </a:ext>
            </a:extLst>
          </p:cNvPr>
          <p:cNvSpPr txBox="1"/>
          <p:nvPr/>
        </p:nvSpPr>
        <p:spPr>
          <a:xfrm>
            <a:off x="1843548" y="6448382"/>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3" name="Picture 2">
            <a:extLst>
              <a:ext uri="{FF2B5EF4-FFF2-40B4-BE49-F238E27FC236}">
                <a16:creationId xmlns:a16="http://schemas.microsoft.com/office/drawing/2014/main" id="{1D3A9BF0-CA7F-E89F-AAD6-1931A968CF58}"/>
              </a:ext>
            </a:extLst>
          </p:cNvPr>
          <p:cNvPicPr>
            <a:picLocks noChangeAspect="1"/>
          </p:cNvPicPr>
          <p:nvPr/>
        </p:nvPicPr>
        <p:blipFill>
          <a:blip r:embed="rId11">
            <a:extLst>
              <a:ext uri="{28A0092B-C50C-407E-A947-70E740481C1C}">
                <a14:useLocalDpi xmlns:a14="http://schemas.microsoft.com/office/drawing/2010/main" val="0"/>
              </a:ext>
            </a:extLst>
          </a:blip>
          <a:srcRect l="86867" b="37023"/>
          <a:stretch/>
        </p:blipFill>
        <p:spPr>
          <a:xfrm>
            <a:off x="2585509" y="6371419"/>
            <a:ext cx="373693" cy="383995"/>
          </a:xfrm>
          <a:prstGeom prst="rect">
            <a:avLst/>
          </a:prstGeom>
        </p:spPr>
      </p:pic>
      <p:sp>
        <p:nvSpPr>
          <p:cNvPr id="12" name="TextBox 11">
            <a:extLst>
              <a:ext uri="{FF2B5EF4-FFF2-40B4-BE49-F238E27FC236}">
                <a16:creationId xmlns:a16="http://schemas.microsoft.com/office/drawing/2014/main" id="{7E8AF47D-2480-C7FF-3CD6-48EB410202A0}"/>
              </a:ext>
            </a:extLst>
          </p:cNvPr>
          <p:cNvSpPr txBox="1"/>
          <p:nvPr/>
        </p:nvSpPr>
        <p:spPr>
          <a:xfrm>
            <a:off x="4830830" y="1896627"/>
            <a:ext cx="2457606" cy="199490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The performance of RMs from Federal is better than any other brand. </a:t>
            </a:r>
          </a:p>
          <a:p>
            <a:pPr marL="0" marR="0" lvl="0" indent="0" algn="l" defTabSz="914400" rtl="0" eaLnBrk="1" fontAlgn="auto" latinLnBrk="0" hangingPunct="1">
              <a:lnSpc>
                <a:spcPct val="150000"/>
              </a:lnSpc>
              <a:spcBef>
                <a:spcPts val="0"/>
              </a:spcBef>
              <a:spcAft>
                <a:spcPts val="0"/>
              </a:spcAft>
              <a:buClrTx/>
              <a:buSzTx/>
              <a:buFontTx/>
              <a:buNone/>
              <a:tabLst/>
              <a:defRPr/>
            </a:pPr>
            <a:b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b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RMs are the highlight of the Celesta program. </a:t>
            </a:r>
          </a:p>
        </p:txBody>
      </p:sp>
      <p:pic>
        <p:nvPicPr>
          <p:cNvPr id="7" name="Picture 6">
            <a:extLst>
              <a:ext uri="{FF2B5EF4-FFF2-40B4-BE49-F238E27FC236}">
                <a16:creationId xmlns:a16="http://schemas.microsoft.com/office/drawing/2014/main" id="{07C0BE8A-5C03-54E9-0157-B7B221924063}"/>
              </a:ext>
            </a:extLst>
          </p:cNvPr>
          <p:cNvPicPr>
            <a:picLocks noChangeAspect="1"/>
          </p:cNvPicPr>
          <p:nvPr/>
        </p:nvPicPr>
        <p:blipFill>
          <a:blip r:embed="rId12"/>
          <a:stretch>
            <a:fillRect/>
          </a:stretch>
        </p:blipFill>
        <p:spPr>
          <a:xfrm>
            <a:off x="4255922" y="43377"/>
            <a:ext cx="3591426" cy="304843"/>
          </a:xfrm>
          <a:prstGeom prst="rect">
            <a:avLst/>
          </a:prstGeom>
        </p:spPr>
      </p:pic>
    </p:spTree>
    <p:extLst>
      <p:ext uri="{BB962C8B-B14F-4D97-AF65-F5344CB8AC3E}">
        <p14:creationId xmlns:p14="http://schemas.microsoft.com/office/powerpoint/2010/main" val="1490482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2" name="Object6">
            <a:extLst>
              <a:ext uri="{FF2B5EF4-FFF2-40B4-BE49-F238E27FC236}">
                <a16:creationId xmlns:a16="http://schemas.microsoft.com/office/drawing/2014/main" id="{7A73CD20-615D-F5B9-A601-65AFB2793FE6}"/>
              </a:ext>
            </a:extLst>
          </p:cNvPr>
          <p:cNvSpPr/>
          <p:nvPr/>
        </p:nvSpPr>
        <p:spPr>
          <a:xfrm>
            <a:off x="196711" y="1466996"/>
            <a:ext cx="620032"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PRIVY</a:t>
            </a:r>
          </a:p>
        </p:txBody>
      </p:sp>
      <p:sp>
        <p:nvSpPr>
          <p:cNvPr id="23" name="Object6">
            <a:extLst>
              <a:ext uri="{FF2B5EF4-FFF2-40B4-BE49-F238E27FC236}">
                <a16:creationId xmlns:a16="http://schemas.microsoft.com/office/drawing/2014/main" id="{F486912A-C48A-D5E3-3AF2-B5D9609C1E36}"/>
              </a:ext>
            </a:extLst>
          </p:cNvPr>
          <p:cNvSpPr/>
          <p:nvPr/>
        </p:nvSpPr>
        <p:spPr>
          <a:xfrm>
            <a:off x="196711" y="4193851"/>
            <a:ext cx="830364" cy="477357"/>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IMPERIA</a:t>
            </a:r>
          </a:p>
        </p:txBody>
      </p:sp>
      <p:sp>
        <p:nvSpPr>
          <p:cNvPr id="24" name="Object6">
            <a:extLst>
              <a:ext uri="{FF2B5EF4-FFF2-40B4-BE49-F238E27FC236}">
                <a16:creationId xmlns:a16="http://schemas.microsoft.com/office/drawing/2014/main" id="{DF2452D0-D060-792C-33F5-10B3C5166E35}"/>
              </a:ext>
            </a:extLst>
          </p:cNvPr>
          <p:cNvSpPr/>
          <p:nvPr/>
        </p:nvSpPr>
        <p:spPr>
          <a:xfrm>
            <a:off x="11117019" y="1709153"/>
            <a:ext cx="997962" cy="37147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BURGUNDY</a:t>
            </a:r>
          </a:p>
        </p:txBody>
      </p:sp>
      <p:pic>
        <p:nvPicPr>
          <p:cNvPr id="30" name="Graphic 29" descr="Fairy male with solid fill">
            <a:extLst>
              <a:ext uri="{FF2B5EF4-FFF2-40B4-BE49-F238E27FC236}">
                <a16:creationId xmlns:a16="http://schemas.microsoft.com/office/drawing/2014/main" id="{B56E00D5-BF83-D00F-0EA5-DB8CA25465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565493" y="17011"/>
            <a:ext cx="609600" cy="609600"/>
          </a:xfrm>
          <a:prstGeom prst="rect">
            <a:avLst/>
          </a:prstGeom>
        </p:spPr>
      </p:pic>
      <p:sp>
        <p:nvSpPr>
          <p:cNvPr id="15" name="TextBox 14">
            <a:extLst>
              <a:ext uri="{FF2B5EF4-FFF2-40B4-BE49-F238E27FC236}">
                <a16:creationId xmlns:a16="http://schemas.microsoft.com/office/drawing/2014/main" id="{3DA130F8-CFFB-AF2D-63AB-8EC2534F8DF3}"/>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108</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2" name="Object6">
            <a:extLst>
              <a:ext uri="{FF2B5EF4-FFF2-40B4-BE49-F238E27FC236}">
                <a16:creationId xmlns:a16="http://schemas.microsoft.com/office/drawing/2014/main" id="{670A287B-D79C-59D9-D877-096785F0F192}"/>
              </a:ext>
            </a:extLst>
          </p:cNvPr>
          <p:cNvSpPr/>
          <p:nvPr/>
        </p:nvSpPr>
        <p:spPr>
          <a:xfrm>
            <a:off x="11535961" y="4357098"/>
            <a:ext cx="579020" cy="378999"/>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ICICI</a:t>
            </a:r>
          </a:p>
        </p:txBody>
      </p:sp>
      <p:graphicFrame>
        <p:nvGraphicFramePr>
          <p:cNvPr id="3" name="Chart 2">
            <a:extLst>
              <a:ext uri="{FF2B5EF4-FFF2-40B4-BE49-F238E27FC236}">
                <a16:creationId xmlns:a16="http://schemas.microsoft.com/office/drawing/2014/main" id="{8A78550E-5B72-429C-A723-4B84D185A638}"/>
              </a:ext>
            </a:extLst>
          </p:cNvPr>
          <p:cNvGraphicFramePr>
            <a:graphicFrameLocks/>
          </p:cNvGraphicFramePr>
          <p:nvPr/>
        </p:nvGraphicFramePr>
        <p:xfrm>
          <a:off x="916760" y="149476"/>
          <a:ext cx="3916549" cy="320160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 name="Chart 3">
            <a:extLst>
              <a:ext uri="{FF2B5EF4-FFF2-40B4-BE49-F238E27FC236}">
                <a16:creationId xmlns:a16="http://schemas.microsoft.com/office/drawing/2014/main" id="{775AD4C9-E818-44A2-8B6F-D388338641CB}"/>
              </a:ext>
            </a:extLst>
          </p:cNvPr>
          <p:cNvGraphicFramePr>
            <a:graphicFrameLocks/>
          </p:cNvGraphicFramePr>
          <p:nvPr/>
        </p:nvGraphicFramePr>
        <p:xfrm>
          <a:off x="916760" y="3429001"/>
          <a:ext cx="3916549" cy="2958478"/>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5" name="Chart 4">
            <a:extLst>
              <a:ext uri="{FF2B5EF4-FFF2-40B4-BE49-F238E27FC236}">
                <a16:creationId xmlns:a16="http://schemas.microsoft.com/office/drawing/2014/main" id="{C435D3AD-B739-4FE7-B28E-4B4D407A3FA2}"/>
              </a:ext>
            </a:extLst>
          </p:cNvPr>
          <p:cNvGraphicFramePr>
            <a:graphicFrameLocks/>
          </p:cNvGraphicFramePr>
          <p:nvPr>
            <p:extLst>
              <p:ext uri="{D42A27DB-BD31-4B8C-83A1-F6EECF244321}">
                <p14:modId xmlns:p14="http://schemas.microsoft.com/office/powerpoint/2010/main" val="1396166756"/>
              </p:ext>
            </p:extLst>
          </p:nvPr>
        </p:nvGraphicFramePr>
        <p:xfrm>
          <a:off x="7367910" y="214822"/>
          <a:ext cx="3916549" cy="3153723"/>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 name="Chart 5">
            <a:extLst>
              <a:ext uri="{FF2B5EF4-FFF2-40B4-BE49-F238E27FC236}">
                <a16:creationId xmlns:a16="http://schemas.microsoft.com/office/drawing/2014/main" id="{DA89B27A-A661-4AE6-AE98-01BEDEB8FC71}"/>
              </a:ext>
            </a:extLst>
          </p:cNvPr>
          <p:cNvGraphicFramePr>
            <a:graphicFrameLocks/>
          </p:cNvGraphicFramePr>
          <p:nvPr/>
        </p:nvGraphicFramePr>
        <p:xfrm>
          <a:off x="7367910" y="3302412"/>
          <a:ext cx="3968200" cy="3153722"/>
        </p:xfrm>
        <a:graphic>
          <a:graphicData uri="http://schemas.openxmlformats.org/drawingml/2006/chart">
            <c:chart xmlns:c="http://schemas.openxmlformats.org/drawingml/2006/chart" xmlns:r="http://schemas.openxmlformats.org/officeDocument/2006/relationships" r:id="rId11"/>
          </a:graphicData>
        </a:graphic>
      </p:graphicFrame>
      <p:pic>
        <p:nvPicPr>
          <p:cNvPr id="8" name="Picture 7">
            <a:extLst>
              <a:ext uri="{FF2B5EF4-FFF2-40B4-BE49-F238E27FC236}">
                <a16:creationId xmlns:a16="http://schemas.microsoft.com/office/drawing/2014/main" id="{27749032-9E82-C02A-1251-C47C9ADB0E78}"/>
              </a:ext>
            </a:extLst>
          </p:cNvPr>
          <p:cNvPicPr>
            <a:picLocks noChangeAspect="1"/>
          </p:cNvPicPr>
          <p:nvPr/>
        </p:nvPicPr>
        <p:blipFill>
          <a:blip r:embed="rId12">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9" name="TextBox 8">
            <a:extLst>
              <a:ext uri="{FF2B5EF4-FFF2-40B4-BE49-F238E27FC236}">
                <a16:creationId xmlns:a16="http://schemas.microsoft.com/office/drawing/2014/main" id="{4D52D267-D792-BE19-308B-0B690016D889}"/>
              </a:ext>
            </a:extLst>
          </p:cNvPr>
          <p:cNvSpPr txBox="1"/>
          <p:nvPr/>
        </p:nvSpPr>
        <p:spPr>
          <a:xfrm>
            <a:off x="1761752" y="6463349"/>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622</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sp>
        <p:nvSpPr>
          <p:cNvPr id="12" name="TextBox 11">
            <a:extLst>
              <a:ext uri="{FF2B5EF4-FFF2-40B4-BE49-F238E27FC236}">
                <a16:creationId xmlns:a16="http://schemas.microsoft.com/office/drawing/2014/main" id="{92EFA96C-0237-55F7-9192-29EB300EFB8D}"/>
              </a:ext>
            </a:extLst>
          </p:cNvPr>
          <p:cNvSpPr txBox="1"/>
          <p:nvPr/>
        </p:nvSpPr>
        <p:spPr>
          <a:xfrm>
            <a:off x="5078229" y="1689285"/>
            <a:ext cx="2329452" cy="264123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Satisfaction levels with Relationship Manager performance are significantly higher among Federal customers compared to customers of other brands.</a:t>
            </a:r>
          </a:p>
        </p:txBody>
      </p:sp>
      <p:pic>
        <p:nvPicPr>
          <p:cNvPr id="7" name="Picture 6">
            <a:extLst>
              <a:ext uri="{FF2B5EF4-FFF2-40B4-BE49-F238E27FC236}">
                <a16:creationId xmlns:a16="http://schemas.microsoft.com/office/drawing/2014/main" id="{22B17232-4E06-E91E-81F9-BB51682D5212}"/>
              </a:ext>
            </a:extLst>
          </p:cNvPr>
          <p:cNvPicPr>
            <a:picLocks noChangeAspect="1"/>
          </p:cNvPicPr>
          <p:nvPr/>
        </p:nvPicPr>
        <p:blipFill>
          <a:blip r:embed="rId13"/>
          <a:stretch>
            <a:fillRect/>
          </a:stretch>
        </p:blipFill>
        <p:spPr>
          <a:xfrm>
            <a:off x="3904654" y="131905"/>
            <a:ext cx="4382691" cy="220976"/>
          </a:xfrm>
          <a:prstGeom prst="rect">
            <a:avLst/>
          </a:prstGeom>
        </p:spPr>
      </p:pic>
    </p:spTree>
    <p:extLst>
      <p:ext uri="{BB962C8B-B14F-4D97-AF65-F5344CB8AC3E}">
        <p14:creationId xmlns:p14="http://schemas.microsoft.com/office/powerpoint/2010/main" val="2401635957"/>
      </p:ext>
    </p:extLst>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BEA4A5-120F-BB0D-499D-42D094C6F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00" y="0"/>
            <a:ext cx="12192000" cy="6858000"/>
          </a:xfrm>
          <a:prstGeom prst="rect">
            <a:avLst/>
          </a:prstGeom>
        </p:spPr>
      </p:pic>
      <p:grpSp>
        <p:nvGrpSpPr>
          <p:cNvPr id="12" name="Group 11">
            <a:extLst>
              <a:ext uri="{FF2B5EF4-FFF2-40B4-BE49-F238E27FC236}">
                <a16:creationId xmlns:a16="http://schemas.microsoft.com/office/drawing/2014/main" id="{22CDB6C3-6DD9-100D-7F19-500802B4C9A5}"/>
              </a:ext>
            </a:extLst>
          </p:cNvPr>
          <p:cNvGrpSpPr/>
          <p:nvPr/>
        </p:nvGrpSpPr>
        <p:grpSpPr>
          <a:xfrm>
            <a:off x="1" y="6042107"/>
            <a:ext cx="11864037" cy="911852"/>
            <a:chOff x="579560" y="9184073"/>
            <a:chExt cx="18133625" cy="1393723"/>
          </a:xfrm>
        </p:grpSpPr>
        <p:sp>
          <p:nvSpPr>
            <p:cNvPr id="13" name="Title 1">
              <a:extLst>
                <a:ext uri="{FF2B5EF4-FFF2-40B4-BE49-F238E27FC236}">
                  <a16:creationId xmlns:a16="http://schemas.microsoft.com/office/drawing/2014/main" id="{7C95BFCA-07A1-2CE1-94DD-902B3BB2CB10}"/>
                </a:ext>
              </a:extLst>
            </p:cNvPr>
            <p:cNvSpPr txBox="1">
              <a:spLocks/>
            </p:cNvSpPr>
            <p:nvPr/>
          </p:nvSpPr>
          <p:spPr>
            <a:xfrm>
              <a:off x="6434826" y="9775420"/>
              <a:ext cx="6924368"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Montserrat Medium" pitchFamily="2" charset="0"/>
                  <a:ea typeface="+mj-ea"/>
                  <a:cs typeface="Hepta Slab" pitchFamily="2" charset="0"/>
                </a:rPr>
                <a:t>TERRAGNI CONSULTING (P) LTD PRIVATE AND CONFIDENTIAL</a:t>
              </a:r>
            </a:p>
          </p:txBody>
        </p:sp>
        <p:pic>
          <p:nvPicPr>
            <p:cNvPr id="14" name="Picture 13">
              <a:extLst>
                <a:ext uri="{FF2B5EF4-FFF2-40B4-BE49-F238E27FC236}">
                  <a16:creationId xmlns:a16="http://schemas.microsoft.com/office/drawing/2014/main" id="{D3FE01CB-E6AA-D3A3-34AF-BB11B8E152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45627" y="9806942"/>
              <a:ext cx="1767558" cy="269321"/>
            </a:xfrm>
            <a:prstGeom prst="rect">
              <a:avLst/>
            </a:prstGeom>
          </p:spPr>
        </p:pic>
        <p:pic>
          <p:nvPicPr>
            <p:cNvPr id="17" name="Picture 16">
              <a:extLst>
                <a:ext uri="{FF2B5EF4-FFF2-40B4-BE49-F238E27FC236}">
                  <a16:creationId xmlns:a16="http://schemas.microsoft.com/office/drawing/2014/main" id="{496CDE05-6842-F510-D74F-ABC27571C5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560" y="9184073"/>
              <a:ext cx="2822459" cy="1393723"/>
            </a:xfrm>
            <a:prstGeom prst="rect">
              <a:avLst/>
            </a:prstGeom>
          </p:spPr>
        </p:pic>
      </p:grpSp>
      <p:sp>
        <p:nvSpPr>
          <p:cNvPr id="16" name="TextBox 15">
            <a:extLst>
              <a:ext uri="{FF2B5EF4-FFF2-40B4-BE49-F238E27FC236}">
                <a16:creationId xmlns:a16="http://schemas.microsoft.com/office/drawing/2014/main" id="{503F9316-E922-3CE4-C627-0EF761B3BFDA}"/>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109</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18" name="Object5">
            <a:extLst>
              <a:ext uri="{FF2B5EF4-FFF2-40B4-BE49-F238E27FC236}">
                <a16:creationId xmlns:a16="http://schemas.microsoft.com/office/drawing/2014/main" id="{4D00F801-EE00-2D63-75A3-6076064ABBCA}"/>
              </a:ext>
            </a:extLst>
          </p:cNvPr>
          <p:cNvSpPr/>
          <p:nvPr/>
        </p:nvSpPr>
        <p:spPr>
          <a:xfrm>
            <a:off x="4078918" y="1769880"/>
            <a:ext cx="4958402" cy="503429"/>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400" b="1"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SUPPORT &amp; SERVICE</a:t>
            </a:r>
          </a:p>
        </p:txBody>
      </p:sp>
      <p:sp>
        <p:nvSpPr>
          <p:cNvPr id="20" name="Object5">
            <a:extLst>
              <a:ext uri="{FF2B5EF4-FFF2-40B4-BE49-F238E27FC236}">
                <a16:creationId xmlns:a16="http://schemas.microsoft.com/office/drawing/2014/main" id="{057041A4-FECF-D7CA-3531-BF952E1DE901}"/>
              </a:ext>
            </a:extLst>
          </p:cNvPr>
          <p:cNvSpPr/>
          <p:nvPr/>
        </p:nvSpPr>
        <p:spPr>
          <a:xfrm>
            <a:off x="3208342" y="3295141"/>
            <a:ext cx="7093898" cy="2465580"/>
          </a:xfrm>
          <a:prstGeom prst="rect">
            <a:avLst/>
          </a:prstGeom>
          <a:noFill/>
          <a:ln/>
        </p:spPr>
        <p:txBody>
          <a:bodyPr wrap="square" lIns="0" tIns="0" rIns="0" bIns="0" rtlCol="0" anchor="t"/>
          <a:lstStyle/>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Exclusively </a:t>
            </a: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p>
          <a:p>
            <a:pPr marL="0" marR="0" lvl="0" indent="0" algn="l" defTabSz="304815" rtl="0" eaLnBrk="1" fontAlgn="auto" latinLnBrk="0" hangingPunct="1">
              <a:lnSpc>
                <a:spcPct val="100000"/>
              </a:lnSpc>
              <a:spcBef>
                <a:spcPts val="0"/>
              </a:spcBef>
              <a:spcAft>
                <a:spcPts val="160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imperia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burgundy customers</a:t>
            </a:r>
          </a:p>
          <a:p>
            <a:pPr marL="0" marR="0" lvl="0" indent="0" algn="l" defTabSz="304815" rtl="0" eaLnBrk="1" fontAlgn="auto" latinLnBrk="0" hangingPunct="1">
              <a:lnSpc>
                <a:spcPct val="100000"/>
              </a:lnSpc>
              <a:spcBef>
                <a:spcPts val="0"/>
              </a:spcBef>
              <a:spcAft>
                <a:spcPts val="0"/>
              </a:spcAft>
              <a:buClrTx/>
              <a:buSzTx/>
              <a:buFontTx/>
              <a:buNone/>
              <a:tabLst/>
              <a:defRPr/>
            </a:pPr>
            <a:r>
              <a:rPr kumimoji="0" lang="en-US" sz="20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CELESTA</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 </a:t>
            </a:r>
            <a:r>
              <a:rPr kumimoji="0" lang="en-US" sz="2400"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Privy</a:t>
            </a:r>
            <a:r>
              <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rPr>
              <a:t> customers</a:t>
            </a: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small" spc="0" normalizeH="0" baseline="0" noProof="0" dirty="0">
              <a:ln>
                <a:noFill/>
              </a:ln>
              <a:solidFill>
                <a:prstClr val="white"/>
              </a:solidFill>
              <a:effectLst/>
              <a:uLnTx/>
              <a:uFillTx/>
              <a:latin typeface="Hepta Slab Bold" pitchFamily="2" charset="0"/>
              <a:ea typeface="+mn-ea"/>
              <a:cs typeface="Hepta Slab Bold" pitchFamily="2" charset="0"/>
            </a:endParaRPr>
          </a:p>
          <a:p>
            <a:pPr marL="0" marR="0" lvl="0" indent="0" algn="l" defTabSz="304815"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Hepta Slab Bold" pitchFamily="2" charset="0"/>
              <a:ea typeface="+mn-ea"/>
              <a:cs typeface="Hepta Slab Bold" pitchFamily="2" charset="0"/>
            </a:endParaRPr>
          </a:p>
        </p:txBody>
      </p:sp>
      <p:pic>
        <p:nvPicPr>
          <p:cNvPr id="2" name="Picture 1">
            <a:extLst>
              <a:ext uri="{FF2B5EF4-FFF2-40B4-BE49-F238E27FC236}">
                <a16:creationId xmlns:a16="http://schemas.microsoft.com/office/drawing/2014/main" id="{7B1D7737-0BD0-1638-8DF4-C8E89E56C2EA}"/>
              </a:ext>
            </a:extLst>
          </p:cNvPr>
          <p:cNvPicPr>
            <a:picLocks noChangeAspect="1"/>
          </p:cNvPicPr>
          <p:nvPr/>
        </p:nvPicPr>
        <p:blipFill>
          <a:blip r:embed="rId6">
            <a:extLst>
              <a:ext uri="{28A0092B-C50C-407E-A947-70E740481C1C}">
                <a14:useLocalDpi xmlns:a14="http://schemas.microsoft.com/office/drawing/2010/main" val="0"/>
              </a:ext>
            </a:extLst>
          </a:blip>
          <a:srcRect l="86867" b="37023"/>
          <a:stretch/>
        </p:blipFill>
        <p:spPr>
          <a:xfrm>
            <a:off x="2651769" y="6424427"/>
            <a:ext cx="373693" cy="383995"/>
          </a:xfrm>
          <a:prstGeom prst="rect">
            <a:avLst/>
          </a:prstGeom>
        </p:spPr>
      </p:pic>
      <p:pic>
        <p:nvPicPr>
          <p:cNvPr id="3" name="Graphic 2" descr="Care with solid fill">
            <a:extLst>
              <a:ext uri="{FF2B5EF4-FFF2-40B4-BE49-F238E27FC236}">
                <a16:creationId xmlns:a16="http://schemas.microsoft.com/office/drawing/2014/main" id="{86E42587-2851-31B2-011A-6683A6568EE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185804" y="1721594"/>
            <a:ext cx="600000" cy="600000"/>
          </a:xfrm>
          <a:prstGeom prst="rect">
            <a:avLst/>
          </a:prstGeom>
        </p:spPr>
      </p:pic>
    </p:spTree>
    <p:extLst>
      <p:ext uri="{BB962C8B-B14F-4D97-AF65-F5344CB8AC3E}">
        <p14:creationId xmlns:p14="http://schemas.microsoft.com/office/powerpoint/2010/main" val="30304904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102867" y="6139179"/>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2" name="Object6">
            <a:extLst>
              <a:ext uri="{FF2B5EF4-FFF2-40B4-BE49-F238E27FC236}">
                <a16:creationId xmlns:a16="http://schemas.microsoft.com/office/drawing/2014/main" id="{7A73CD20-615D-F5B9-A601-65AFB2793FE6}"/>
              </a:ext>
            </a:extLst>
          </p:cNvPr>
          <p:cNvSpPr/>
          <p:nvPr/>
        </p:nvSpPr>
        <p:spPr>
          <a:xfrm>
            <a:off x="170988" y="1445163"/>
            <a:ext cx="834979" cy="967630"/>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ONLY CELESTA</a:t>
            </a:r>
          </a:p>
        </p:txBody>
      </p:sp>
      <p:sp>
        <p:nvSpPr>
          <p:cNvPr id="23" name="Object6">
            <a:extLst>
              <a:ext uri="{FF2B5EF4-FFF2-40B4-BE49-F238E27FC236}">
                <a16:creationId xmlns:a16="http://schemas.microsoft.com/office/drawing/2014/main" id="{F486912A-C48A-D5E3-3AF2-B5D9609C1E36}"/>
              </a:ext>
            </a:extLst>
          </p:cNvPr>
          <p:cNvSpPr/>
          <p:nvPr/>
        </p:nvSpPr>
        <p:spPr>
          <a:xfrm>
            <a:off x="11038733" y="1438152"/>
            <a:ext cx="1004180" cy="974641"/>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PRIVY</a:t>
            </a:r>
          </a:p>
        </p:txBody>
      </p:sp>
      <p:sp>
        <p:nvSpPr>
          <p:cNvPr id="24" name="Object6">
            <a:extLst>
              <a:ext uri="{FF2B5EF4-FFF2-40B4-BE49-F238E27FC236}">
                <a16:creationId xmlns:a16="http://schemas.microsoft.com/office/drawing/2014/main" id="{DF2452D0-D060-792C-33F5-10B3C5166E35}"/>
              </a:ext>
            </a:extLst>
          </p:cNvPr>
          <p:cNvSpPr/>
          <p:nvPr/>
        </p:nvSpPr>
        <p:spPr>
          <a:xfrm>
            <a:off x="121755" y="3938658"/>
            <a:ext cx="834979" cy="741723"/>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IMPERIA</a:t>
            </a:r>
          </a:p>
        </p:txBody>
      </p:sp>
      <p:pic>
        <p:nvPicPr>
          <p:cNvPr id="5" name="Graphic 4" descr="Care with solid fill">
            <a:extLst>
              <a:ext uri="{FF2B5EF4-FFF2-40B4-BE49-F238E27FC236}">
                <a16:creationId xmlns:a16="http://schemas.microsoft.com/office/drawing/2014/main" id="{37E40D94-115D-3567-3DEF-60A63FF1C2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540823" y="37538"/>
            <a:ext cx="609600" cy="609600"/>
          </a:xfrm>
          <a:prstGeom prst="rect">
            <a:avLst/>
          </a:prstGeom>
        </p:spPr>
      </p:pic>
      <p:sp>
        <p:nvSpPr>
          <p:cNvPr id="15" name="TextBox 14">
            <a:extLst>
              <a:ext uri="{FF2B5EF4-FFF2-40B4-BE49-F238E27FC236}">
                <a16:creationId xmlns:a16="http://schemas.microsoft.com/office/drawing/2014/main" id="{60C51E80-D81A-4332-FBAE-AF6CDA510A8E}"/>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110</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8" name="Object6">
            <a:extLst>
              <a:ext uri="{FF2B5EF4-FFF2-40B4-BE49-F238E27FC236}">
                <a16:creationId xmlns:a16="http://schemas.microsoft.com/office/drawing/2014/main" id="{E2B7025F-93DC-7C97-AAA6-15283439C138}"/>
              </a:ext>
            </a:extLst>
          </p:cNvPr>
          <p:cNvSpPr/>
          <p:nvPr/>
        </p:nvSpPr>
        <p:spPr>
          <a:xfrm>
            <a:off x="11038733" y="4248728"/>
            <a:ext cx="889324" cy="863305"/>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CELESTA + BURGUNDY</a:t>
            </a:r>
          </a:p>
        </p:txBody>
      </p:sp>
      <p:graphicFrame>
        <p:nvGraphicFramePr>
          <p:cNvPr id="9" name="Chart 8">
            <a:extLst>
              <a:ext uri="{FF2B5EF4-FFF2-40B4-BE49-F238E27FC236}">
                <a16:creationId xmlns:a16="http://schemas.microsoft.com/office/drawing/2014/main" id="{92DE7790-F749-40D7-A1D9-849645FA170B}"/>
              </a:ext>
            </a:extLst>
          </p:cNvPr>
          <p:cNvGraphicFramePr>
            <a:graphicFrameLocks/>
          </p:cNvGraphicFramePr>
          <p:nvPr>
            <p:extLst>
              <p:ext uri="{D42A27DB-BD31-4B8C-83A1-F6EECF244321}">
                <p14:modId xmlns:p14="http://schemas.microsoft.com/office/powerpoint/2010/main" val="340900224"/>
              </p:ext>
            </p:extLst>
          </p:nvPr>
        </p:nvGraphicFramePr>
        <p:xfrm>
          <a:off x="946152" y="393555"/>
          <a:ext cx="4058208" cy="296518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 name="Chart 1">
            <a:extLst>
              <a:ext uri="{FF2B5EF4-FFF2-40B4-BE49-F238E27FC236}">
                <a16:creationId xmlns:a16="http://schemas.microsoft.com/office/drawing/2014/main" id="{C335D40C-303A-4759-96C1-9F1EE69EDD64}"/>
              </a:ext>
            </a:extLst>
          </p:cNvPr>
          <p:cNvGraphicFramePr>
            <a:graphicFrameLocks/>
          </p:cNvGraphicFramePr>
          <p:nvPr>
            <p:extLst>
              <p:ext uri="{D42A27DB-BD31-4B8C-83A1-F6EECF244321}">
                <p14:modId xmlns:p14="http://schemas.microsoft.com/office/powerpoint/2010/main" val="875602536"/>
              </p:ext>
            </p:extLst>
          </p:nvPr>
        </p:nvGraphicFramePr>
        <p:xfrm>
          <a:off x="7040340" y="501440"/>
          <a:ext cx="4071978" cy="284806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4" name="Chart 3">
            <a:extLst>
              <a:ext uri="{FF2B5EF4-FFF2-40B4-BE49-F238E27FC236}">
                <a16:creationId xmlns:a16="http://schemas.microsoft.com/office/drawing/2014/main" id="{C9392829-1DBB-41C0-8F68-26E53EE2C6B1}"/>
              </a:ext>
            </a:extLst>
          </p:cNvPr>
          <p:cNvGraphicFramePr>
            <a:graphicFrameLocks/>
          </p:cNvGraphicFramePr>
          <p:nvPr>
            <p:extLst>
              <p:ext uri="{D42A27DB-BD31-4B8C-83A1-F6EECF244321}">
                <p14:modId xmlns:p14="http://schemas.microsoft.com/office/powerpoint/2010/main" val="2950198719"/>
              </p:ext>
            </p:extLst>
          </p:nvPr>
        </p:nvGraphicFramePr>
        <p:xfrm>
          <a:off x="991463" y="3429000"/>
          <a:ext cx="4054159" cy="2754106"/>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Chart 9">
            <a:extLst>
              <a:ext uri="{FF2B5EF4-FFF2-40B4-BE49-F238E27FC236}">
                <a16:creationId xmlns:a16="http://schemas.microsoft.com/office/drawing/2014/main" id="{CC30C0DF-5D91-4756-B03F-B53664424184}"/>
              </a:ext>
            </a:extLst>
          </p:cNvPr>
          <p:cNvGraphicFramePr>
            <a:graphicFrameLocks/>
          </p:cNvGraphicFramePr>
          <p:nvPr>
            <p:extLst>
              <p:ext uri="{D42A27DB-BD31-4B8C-83A1-F6EECF244321}">
                <p14:modId xmlns:p14="http://schemas.microsoft.com/office/powerpoint/2010/main" val="4232025923"/>
              </p:ext>
            </p:extLst>
          </p:nvPr>
        </p:nvGraphicFramePr>
        <p:xfrm>
          <a:off x="7081611" y="3449756"/>
          <a:ext cx="4118926" cy="2754106"/>
        </p:xfrm>
        <a:graphic>
          <a:graphicData uri="http://schemas.openxmlformats.org/drawingml/2006/chart">
            <c:chart xmlns:c="http://schemas.openxmlformats.org/drawingml/2006/chart" xmlns:r="http://schemas.openxmlformats.org/officeDocument/2006/relationships" r:id="rId11"/>
          </a:graphicData>
        </a:graphic>
      </p:graphicFrame>
      <p:sp>
        <p:nvSpPr>
          <p:cNvPr id="3" name="TextBox 2">
            <a:extLst>
              <a:ext uri="{FF2B5EF4-FFF2-40B4-BE49-F238E27FC236}">
                <a16:creationId xmlns:a16="http://schemas.microsoft.com/office/drawing/2014/main" id="{2993BB44-3AE2-3226-25B8-11CE56DDFD89}"/>
              </a:ext>
            </a:extLst>
          </p:cNvPr>
          <p:cNvSpPr txBox="1"/>
          <p:nvPr/>
        </p:nvSpPr>
        <p:spPr>
          <a:xfrm>
            <a:off x="1801971" y="6534406"/>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165</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pic>
        <p:nvPicPr>
          <p:cNvPr id="6" name="Picture 5">
            <a:extLst>
              <a:ext uri="{FF2B5EF4-FFF2-40B4-BE49-F238E27FC236}">
                <a16:creationId xmlns:a16="http://schemas.microsoft.com/office/drawing/2014/main" id="{24C09222-954A-F04E-3398-DB0665433FEF}"/>
              </a:ext>
            </a:extLst>
          </p:cNvPr>
          <p:cNvPicPr>
            <a:picLocks noChangeAspect="1"/>
          </p:cNvPicPr>
          <p:nvPr/>
        </p:nvPicPr>
        <p:blipFill>
          <a:blip r:embed="rId12">
            <a:extLst>
              <a:ext uri="{28A0092B-C50C-407E-A947-70E740481C1C}">
                <a14:useLocalDpi xmlns:a14="http://schemas.microsoft.com/office/drawing/2010/main" val="0"/>
              </a:ext>
            </a:extLst>
          </a:blip>
          <a:srcRect l="86867" b="37023"/>
          <a:stretch/>
        </p:blipFill>
        <p:spPr>
          <a:xfrm>
            <a:off x="2762424" y="6474005"/>
            <a:ext cx="373693" cy="383995"/>
          </a:xfrm>
          <a:prstGeom prst="rect">
            <a:avLst/>
          </a:prstGeom>
        </p:spPr>
      </p:pic>
      <p:sp>
        <p:nvSpPr>
          <p:cNvPr id="18" name="TextBox 17">
            <a:extLst>
              <a:ext uri="{FF2B5EF4-FFF2-40B4-BE49-F238E27FC236}">
                <a16:creationId xmlns:a16="http://schemas.microsoft.com/office/drawing/2014/main" id="{F05C0AFE-A5A5-4FA8-D6C8-86E8D969D1AC}"/>
              </a:ext>
            </a:extLst>
          </p:cNvPr>
          <p:cNvSpPr txBox="1"/>
          <p:nvPr/>
        </p:nvSpPr>
        <p:spPr>
          <a:xfrm>
            <a:off x="5060126" y="2290721"/>
            <a:ext cx="1965719" cy="231807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Hepta Slab Medium" pitchFamily="2" charset="0"/>
              </a:rPr>
              <a:t>Celesta provides the best support and service among all the brands., where as Privy is rated the lowest in this regard</a:t>
            </a: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a:t>
            </a:r>
            <a:endParaRPr kumimoji="0" lang="en-GB" sz="14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7" name="Picture 6">
            <a:extLst>
              <a:ext uri="{FF2B5EF4-FFF2-40B4-BE49-F238E27FC236}">
                <a16:creationId xmlns:a16="http://schemas.microsoft.com/office/drawing/2014/main" id="{99AC5B63-5540-DC0F-9D06-844C29E3A7A1}"/>
              </a:ext>
            </a:extLst>
          </p:cNvPr>
          <p:cNvPicPr>
            <a:picLocks noChangeAspect="1"/>
          </p:cNvPicPr>
          <p:nvPr/>
        </p:nvPicPr>
        <p:blipFill>
          <a:blip r:embed="rId13"/>
          <a:stretch>
            <a:fillRect/>
          </a:stretch>
        </p:blipFill>
        <p:spPr>
          <a:xfrm>
            <a:off x="4300287" y="179705"/>
            <a:ext cx="3591426" cy="304843"/>
          </a:xfrm>
          <a:prstGeom prst="rect">
            <a:avLst/>
          </a:prstGeom>
        </p:spPr>
      </p:pic>
    </p:spTree>
    <p:extLst>
      <p:ext uri="{BB962C8B-B14F-4D97-AF65-F5344CB8AC3E}">
        <p14:creationId xmlns:p14="http://schemas.microsoft.com/office/powerpoint/2010/main" val="3445653940"/>
      </p:ext>
    </p:extLst>
  </p:cSld>
  <p:clrMapOvr>
    <a:overrideClrMapping bg1="lt1" tx1="dk1" bg2="lt2" tx2="dk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0E5DC"/>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08EC62-961A-97B4-7236-58BB9AF2E78F}"/>
              </a:ext>
            </a:extLst>
          </p:cNvPr>
          <p:cNvGrpSpPr/>
          <p:nvPr/>
        </p:nvGrpSpPr>
        <p:grpSpPr>
          <a:xfrm>
            <a:off x="-61290" y="6053155"/>
            <a:ext cx="12253290" cy="971832"/>
            <a:chOff x="-187799" y="8336784"/>
            <a:chExt cx="18379935" cy="1457748"/>
          </a:xfrm>
        </p:grpSpPr>
        <p:pic>
          <p:nvPicPr>
            <p:cNvPr id="14" name="Picture 13">
              <a:extLst>
                <a:ext uri="{FF2B5EF4-FFF2-40B4-BE49-F238E27FC236}">
                  <a16:creationId xmlns:a16="http://schemas.microsoft.com/office/drawing/2014/main" id="{FEC1A459-C669-9EA4-AE75-531358129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6" name="Title 1">
              <a:extLst>
                <a:ext uri="{FF2B5EF4-FFF2-40B4-BE49-F238E27FC236}">
                  <a16:creationId xmlns:a16="http://schemas.microsoft.com/office/drawing/2014/main" id="{5AD5C9F3-25F7-6117-C0E2-3489D3D38D02}"/>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04815" rtl="0" eaLnBrk="1" fontAlgn="auto" latinLnBrk="0" hangingPunct="1">
                <a:lnSpc>
                  <a:spcPct val="100000"/>
                </a:lnSpc>
                <a:spcBef>
                  <a:spcPts val="0"/>
                </a:spcBef>
                <a:spcAft>
                  <a:spcPts val="0"/>
                </a:spcAft>
                <a:buClrTx/>
                <a:buSzTx/>
                <a:buFontTx/>
                <a:buNone/>
                <a:tabLst/>
                <a:defRPr/>
              </a:pPr>
              <a:r>
                <a:rPr kumimoji="0" lang="en-IN" sz="733" b="0" i="0" u="none" strike="noStrike" kern="1200" cap="none" spc="0" normalizeH="0" baseline="0" noProof="0" dirty="0">
                  <a:ln>
                    <a:noFill/>
                  </a:ln>
                  <a:solidFill>
                    <a:prstClr val="black">
                      <a:lumMod val="95000"/>
                      <a:lumOff val="5000"/>
                    </a:prstClr>
                  </a:solidFill>
                  <a:effectLst/>
                  <a:uLnTx/>
                  <a:uFillTx/>
                  <a:latin typeface="Montserrat Medium" pitchFamily="2" charset="0"/>
                  <a:ea typeface="+mn-ea"/>
                  <a:cs typeface="Hepta Slab" pitchFamily="2" charset="0"/>
                </a:rPr>
                <a:t>TERRAGNI CONSULTING (P) LTD PRIVATE AND CONFIDENTIAL</a:t>
              </a:r>
            </a:p>
          </p:txBody>
        </p:sp>
        <p:pic>
          <p:nvPicPr>
            <p:cNvPr id="17" name="Picture 16">
              <a:extLst>
                <a:ext uri="{FF2B5EF4-FFF2-40B4-BE49-F238E27FC236}">
                  <a16:creationId xmlns:a16="http://schemas.microsoft.com/office/drawing/2014/main" id="{80F3B0FF-1880-B343-41B9-3D7E39244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sp>
        <p:nvSpPr>
          <p:cNvPr id="22" name="Object6">
            <a:extLst>
              <a:ext uri="{FF2B5EF4-FFF2-40B4-BE49-F238E27FC236}">
                <a16:creationId xmlns:a16="http://schemas.microsoft.com/office/drawing/2014/main" id="{7A73CD20-615D-F5B9-A601-65AFB2793FE6}"/>
              </a:ext>
            </a:extLst>
          </p:cNvPr>
          <p:cNvSpPr/>
          <p:nvPr/>
        </p:nvSpPr>
        <p:spPr>
          <a:xfrm>
            <a:off x="169204" y="1540108"/>
            <a:ext cx="1165812" cy="469956"/>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PRIVY</a:t>
            </a:r>
          </a:p>
        </p:txBody>
      </p:sp>
      <p:sp>
        <p:nvSpPr>
          <p:cNvPr id="23" name="Object6">
            <a:extLst>
              <a:ext uri="{FF2B5EF4-FFF2-40B4-BE49-F238E27FC236}">
                <a16:creationId xmlns:a16="http://schemas.microsoft.com/office/drawing/2014/main" id="{F486912A-C48A-D5E3-3AF2-B5D9609C1E36}"/>
              </a:ext>
            </a:extLst>
          </p:cNvPr>
          <p:cNvSpPr/>
          <p:nvPr/>
        </p:nvSpPr>
        <p:spPr>
          <a:xfrm>
            <a:off x="127517" y="4207311"/>
            <a:ext cx="1266393" cy="469956"/>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IMPERIA</a:t>
            </a:r>
          </a:p>
        </p:txBody>
      </p:sp>
      <p:sp>
        <p:nvSpPr>
          <p:cNvPr id="24" name="Object6">
            <a:extLst>
              <a:ext uri="{FF2B5EF4-FFF2-40B4-BE49-F238E27FC236}">
                <a16:creationId xmlns:a16="http://schemas.microsoft.com/office/drawing/2014/main" id="{DF2452D0-D060-792C-33F5-10B3C5166E35}"/>
              </a:ext>
            </a:extLst>
          </p:cNvPr>
          <p:cNvSpPr/>
          <p:nvPr/>
        </p:nvSpPr>
        <p:spPr>
          <a:xfrm>
            <a:off x="11092645" y="1476714"/>
            <a:ext cx="1099355" cy="469956"/>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BURGUNDY</a:t>
            </a:r>
          </a:p>
        </p:txBody>
      </p:sp>
      <p:pic>
        <p:nvPicPr>
          <p:cNvPr id="5" name="Graphic 4" descr="Care with solid fill">
            <a:extLst>
              <a:ext uri="{FF2B5EF4-FFF2-40B4-BE49-F238E27FC236}">
                <a16:creationId xmlns:a16="http://schemas.microsoft.com/office/drawing/2014/main" id="{37E40D94-115D-3567-3DEF-60A63FF1C20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0823" y="37538"/>
            <a:ext cx="609600" cy="609600"/>
          </a:xfrm>
          <a:prstGeom prst="rect">
            <a:avLst/>
          </a:prstGeom>
        </p:spPr>
      </p:pic>
      <p:sp>
        <p:nvSpPr>
          <p:cNvPr id="15" name="TextBox 14">
            <a:extLst>
              <a:ext uri="{FF2B5EF4-FFF2-40B4-BE49-F238E27FC236}">
                <a16:creationId xmlns:a16="http://schemas.microsoft.com/office/drawing/2014/main" id="{60C51E80-D81A-4332-FBAE-AF6CDA510A8E}"/>
              </a:ext>
            </a:extLst>
          </p:cNvPr>
          <p:cNvSpPr txBox="1"/>
          <p:nvPr/>
        </p:nvSpPr>
        <p:spPr>
          <a:xfrm>
            <a:off x="11376000" y="6110479"/>
            <a:ext cx="480000" cy="276999"/>
          </a:xfrm>
          <a:prstGeom prst="rect">
            <a:avLst/>
          </a:prstGeom>
          <a:noFill/>
        </p:spPr>
        <p:txBody>
          <a:bodyPr wrap="square" rtlCol="0">
            <a:spAutoFit/>
          </a:bodyPr>
          <a:lstStyle/>
          <a:p>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fld id="{D361C30A-14D1-4BA4-A81C-2E0AE262D2B3}" type="slidenum">
              <a:rPr kumimoji="0" lang="en-US" sz="1200" b="0" i="0" u="none" strike="noStrike" kern="1200" cap="none" spc="0" normalizeH="0" baseline="0" noProof="0">
                <a:ln>
                  <a:noFill/>
                </a:ln>
                <a:solidFill>
                  <a:srgbClr val="0D0D0D"/>
                </a:solidFill>
                <a:effectLst/>
                <a:uLnTx/>
                <a:uFillTx/>
                <a:latin typeface="Hepta Slab Medium" pitchFamily="2" charset="0"/>
                <a:ea typeface="+mn-ea"/>
                <a:cs typeface="Hepta Slab Medium" pitchFamily="2" charset="0"/>
              </a:rPr>
              <a:pPr marL="0" marR="0" lvl="0" indent="0" algn="r" defTabSz="304815" rtl="0" eaLnBrk="1" fontAlgn="auto" latinLnBrk="0" hangingPunct="1">
                <a:lnSpc>
                  <a:spcPct val="100000"/>
                </a:lnSpc>
                <a:spcBef>
                  <a:spcPts val="1200"/>
                </a:spcBef>
                <a:spcAft>
                  <a:spcPts val="1200"/>
                </a:spcAft>
                <a:buClr>
                  <a:srgbClr val="FFC000"/>
                </a:buClr>
                <a:buSzTx/>
                <a:buFontTx/>
                <a:buNone/>
                <a:tabLst/>
                <a:defRPr/>
              </a:pPr>
              <a:t>111</a:t>
            </a:fld>
            <a:endParaRPr kumimoji="0" lang="en-US" sz="1333" b="0" i="0" u="none" strike="noStrike" kern="1200" cap="none" spc="0" normalizeH="0" baseline="0" noProof="0" dirty="0">
              <a:ln>
                <a:noFill/>
              </a:ln>
              <a:solidFill>
                <a:srgbClr val="0D0D0D"/>
              </a:solidFill>
              <a:effectLst/>
              <a:uLnTx/>
              <a:uFillTx/>
              <a:latin typeface="Hepta Slab Medium" pitchFamily="2" charset="0"/>
              <a:ea typeface="+mn-ea"/>
              <a:cs typeface="Hepta Slab Medium" pitchFamily="2" charset="0"/>
            </a:endParaRPr>
          </a:p>
        </p:txBody>
      </p:sp>
      <p:sp>
        <p:nvSpPr>
          <p:cNvPr id="2" name="Object6">
            <a:extLst>
              <a:ext uri="{FF2B5EF4-FFF2-40B4-BE49-F238E27FC236}">
                <a16:creationId xmlns:a16="http://schemas.microsoft.com/office/drawing/2014/main" id="{CE74D58B-FE79-259F-FB29-EBEEC93E2D65}"/>
              </a:ext>
            </a:extLst>
          </p:cNvPr>
          <p:cNvSpPr/>
          <p:nvPr/>
        </p:nvSpPr>
        <p:spPr>
          <a:xfrm>
            <a:off x="11475887" y="4358175"/>
            <a:ext cx="588596" cy="411691"/>
          </a:xfrm>
          <a:prstGeom prst="rect">
            <a:avLst/>
          </a:prstGeom>
          <a:noFill/>
          <a:ln/>
        </p:spPr>
        <p:txBody>
          <a:bodyPr wrap="square" lIns="0" tIns="0" rIns="0" bIns="0" rtlCol="0" anchor="t"/>
          <a:lstStyle/>
          <a:p>
            <a:pPr marL="0" marR="0" lvl="0" indent="0" algn="l" defTabSz="304815" rtl="0" eaLnBrk="1" fontAlgn="auto" latinLnBrk="0" hangingPunct="1">
              <a:lnSpc>
                <a:spcPts val="2925"/>
              </a:lnSpc>
              <a:spcBef>
                <a:spcPts val="0"/>
              </a:spcBef>
              <a:spcAft>
                <a:spcPts val="0"/>
              </a:spcAft>
              <a:buClrTx/>
              <a:buSzTx/>
              <a:buFontTx/>
              <a:buNone/>
              <a:tabLst/>
              <a:defRPr/>
            </a:pPr>
            <a:r>
              <a:rPr kumimoji="0" lang="en-US" sz="1100" b="0" i="0" u="none" strike="noStrike" kern="1200" cap="all" spc="0" normalizeH="0" baseline="0" noProof="0" dirty="0">
                <a:ln>
                  <a:noFill/>
                </a:ln>
                <a:solidFill>
                  <a:srgbClr val="002060"/>
                </a:solidFill>
                <a:effectLst/>
                <a:uLnTx/>
                <a:uFillTx/>
                <a:latin typeface="Montserrat ExtraBold" pitchFamily="34" charset="0"/>
                <a:ea typeface="+mn-ea"/>
                <a:cs typeface="+mn-cs"/>
              </a:rPr>
              <a:t>ICICI</a:t>
            </a:r>
          </a:p>
        </p:txBody>
      </p:sp>
      <p:graphicFrame>
        <p:nvGraphicFramePr>
          <p:cNvPr id="4" name="Chart 3">
            <a:extLst>
              <a:ext uri="{FF2B5EF4-FFF2-40B4-BE49-F238E27FC236}">
                <a16:creationId xmlns:a16="http://schemas.microsoft.com/office/drawing/2014/main" id="{322F8F0B-379C-409D-90A9-6BE884EB9483}"/>
              </a:ext>
            </a:extLst>
          </p:cNvPr>
          <p:cNvGraphicFramePr>
            <a:graphicFrameLocks/>
          </p:cNvGraphicFramePr>
          <p:nvPr/>
        </p:nvGraphicFramePr>
        <p:xfrm>
          <a:off x="723169" y="315575"/>
          <a:ext cx="4447738" cy="312833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 name="Chart 5">
            <a:extLst>
              <a:ext uri="{FF2B5EF4-FFF2-40B4-BE49-F238E27FC236}">
                <a16:creationId xmlns:a16="http://schemas.microsoft.com/office/drawing/2014/main" id="{F783BFBF-2A75-45C1-94E4-4DD86E174A3C}"/>
              </a:ext>
            </a:extLst>
          </p:cNvPr>
          <p:cNvGraphicFramePr>
            <a:graphicFrameLocks/>
          </p:cNvGraphicFramePr>
          <p:nvPr/>
        </p:nvGraphicFramePr>
        <p:xfrm>
          <a:off x="831906" y="3536923"/>
          <a:ext cx="4507756" cy="2704439"/>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7" name="Chart 6">
            <a:extLst>
              <a:ext uri="{FF2B5EF4-FFF2-40B4-BE49-F238E27FC236}">
                <a16:creationId xmlns:a16="http://schemas.microsoft.com/office/drawing/2014/main" id="{5EF46470-9667-4FB8-9FFC-5B1D16F3109E}"/>
              </a:ext>
            </a:extLst>
          </p:cNvPr>
          <p:cNvGraphicFramePr>
            <a:graphicFrameLocks/>
          </p:cNvGraphicFramePr>
          <p:nvPr/>
        </p:nvGraphicFramePr>
        <p:xfrm>
          <a:off x="6904954" y="560871"/>
          <a:ext cx="4409811" cy="2868129"/>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8" name="Chart 7">
            <a:extLst>
              <a:ext uri="{FF2B5EF4-FFF2-40B4-BE49-F238E27FC236}">
                <a16:creationId xmlns:a16="http://schemas.microsoft.com/office/drawing/2014/main" id="{FD4FA5D7-16BE-48CF-969E-AA5F86AB6EF5}"/>
              </a:ext>
            </a:extLst>
          </p:cNvPr>
          <p:cNvGraphicFramePr>
            <a:graphicFrameLocks/>
          </p:cNvGraphicFramePr>
          <p:nvPr/>
        </p:nvGraphicFramePr>
        <p:xfrm>
          <a:off x="6904954" y="3443912"/>
          <a:ext cx="4475723" cy="2874499"/>
        </p:xfrm>
        <a:graphic>
          <a:graphicData uri="http://schemas.openxmlformats.org/drawingml/2006/chart">
            <c:chart xmlns:c="http://schemas.openxmlformats.org/drawingml/2006/chart" xmlns:r="http://schemas.openxmlformats.org/officeDocument/2006/relationships" r:id="rId10"/>
          </a:graphicData>
        </a:graphic>
      </p:graphicFrame>
      <p:pic>
        <p:nvPicPr>
          <p:cNvPr id="9" name="Picture 8">
            <a:extLst>
              <a:ext uri="{FF2B5EF4-FFF2-40B4-BE49-F238E27FC236}">
                <a16:creationId xmlns:a16="http://schemas.microsoft.com/office/drawing/2014/main" id="{DB12D4AE-5D4A-8127-512F-4CA047C0EA3F}"/>
              </a:ext>
            </a:extLst>
          </p:cNvPr>
          <p:cNvPicPr>
            <a:picLocks noChangeAspect="1"/>
          </p:cNvPicPr>
          <p:nvPr/>
        </p:nvPicPr>
        <p:blipFill>
          <a:blip r:embed="rId11">
            <a:extLst>
              <a:ext uri="{28A0092B-C50C-407E-A947-70E740481C1C}">
                <a14:useLocalDpi xmlns:a14="http://schemas.microsoft.com/office/drawing/2010/main" val="0"/>
              </a:ext>
            </a:extLst>
          </a:blip>
          <a:srcRect l="86867" b="37023"/>
          <a:stretch/>
        </p:blipFill>
        <p:spPr>
          <a:xfrm>
            <a:off x="2585509" y="6318411"/>
            <a:ext cx="373693" cy="383995"/>
          </a:xfrm>
          <a:prstGeom prst="rect">
            <a:avLst/>
          </a:prstGeom>
        </p:spPr>
      </p:pic>
      <p:sp>
        <p:nvSpPr>
          <p:cNvPr id="10" name="TextBox 9">
            <a:extLst>
              <a:ext uri="{FF2B5EF4-FFF2-40B4-BE49-F238E27FC236}">
                <a16:creationId xmlns:a16="http://schemas.microsoft.com/office/drawing/2014/main" id="{15437486-1A4F-D192-BE74-B5E7E37D9089}"/>
              </a:ext>
            </a:extLst>
          </p:cNvPr>
          <p:cNvSpPr txBox="1"/>
          <p:nvPr/>
        </p:nvSpPr>
        <p:spPr>
          <a:xfrm>
            <a:off x="1799907" y="6394525"/>
            <a:ext cx="16117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rPr>
              <a:t>n= 622</a:t>
            </a:r>
            <a:endParaRPr kumimoji="0" lang="en-IN" sz="900" b="0" i="0" u="none" strike="noStrike" kern="1200" cap="none" spc="0" normalizeH="0" baseline="0" noProof="0" dirty="0">
              <a:ln>
                <a:noFill/>
              </a:ln>
              <a:solidFill>
                <a:srgbClr val="E7E6E6">
                  <a:lumMod val="75000"/>
                </a:srgbClr>
              </a:solidFill>
              <a:effectLst/>
              <a:uLnTx/>
              <a:uFillTx/>
              <a:latin typeface="Montserrat SemiBold" panose="00000700000000000000" pitchFamily="2" charset="0"/>
              <a:ea typeface="+mn-ea"/>
              <a:cs typeface="+mn-cs"/>
            </a:endParaRPr>
          </a:p>
        </p:txBody>
      </p:sp>
      <p:sp>
        <p:nvSpPr>
          <p:cNvPr id="11" name="TextBox 10">
            <a:extLst>
              <a:ext uri="{FF2B5EF4-FFF2-40B4-BE49-F238E27FC236}">
                <a16:creationId xmlns:a16="http://schemas.microsoft.com/office/drawing/2014/main" id="{22CDE317-F4EF-E366-93B4-60B150C2B0A0}"/>
              </a:ext>
            </a:extLst>
          </p:cNvPr>
          <p:cNvSpPr txBox="1"/>
          <p:nvPr/>
        </p:nvSpPr>
        <p:spPr>
          <a:xfrm>
            <a:off x="5139090" y="1767208"/>
            <a:ext cx="1909082" cy="328756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Federal leads with 81% of its customers rating the bank as supportive,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2060"/>
                </a:solidFill>
                <a:effectLst/>
                <a:uLnTx/>
                <a:uFillTx/>
                <a:latin typeface="Montserrat" panose="00000500000000000000" pitchFamily="2" charset="0"/>
                <a:ea typeface="+mn-ea"/>
                <a:cs typeface="+mn-cs"/>
              </a:rPr>
              <a:t>ICICI trails the set with only 50% of its customers finding the bank’s support helpful.</a:t>
            </a:r>
          </a:p>
        </p:txBody>
      </p:sp>
      <p:pic>
        <p:nvPicPr>
          <p:cNvPr id="3" name="Picture 2">
            <a:extLst>
              <a:ext uri="{FF2B5EF4-FFF2-40B4-BE49-F238E27FC236}">
                <a16:creationId xmlns:a16="http://schemas.microsoft.com/office/drawing/2014/main" id="{571F197A-0DC7-20E4-F4C9-0AFC74FB9591}"/>
              </a:ext>
            </a:extLst>
          </p:cNvPr>
          <p:cNvPicPr>
            <a:picLocks noChangeAspect="1"/>
          </p:cNvPicPr>
          <p:nvPr/>
        </p:nvPicPr>
        <p:blipFill>
          <a:blip r:embed="rId12"/>
          <a:stretch>
            <a:fillRect/>
          </a:stretch>
        </p:blipFill>
        <p:spPr>
          <a:xfrm>
            <a:off x="3904654" y="131905"/>
            <a:ext cx="4382691" cy="220976"/>
          </a:xfrm>
          <a:prstGeom prst="rect">
            <a:avLst/>
          </a:prstGeom>
        </p:spPr>
      </p:pic>
    </p:spTree>
    <p:extLst>
      <p:ext uri="{BB962C8B-B14F-4D97-AF65-F5344CB8AC3E}">
        <p14:creationId xmlns:p14="http://schemas.microsoft.com/office/powerpoint/2010/main" val="423711896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DD00"/>
        </a:solidFill>
        <a:effectLst/>
      </p:bgPr>
    </p:bg>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089650" y="1746250"/>
            <a:ext cx="6350" cy="3365500"/>
          </a:xfrm>
          <a:prstGeom prst="rect">
            <a:avLst/>
          </a:prstGeom>
        </p:spPr>
      </p:pic>
      <p:sp>
        <p:nvSpPr>
          <p:cNvPr id="3" name="Object2"/>
          <p:cNvSpPr/>
          <p:nvPr/>
        </p:nvSpPr>
        <p:spPr>
          <a:xfrm>
            <a:off x="1130300" y="3048000"/>
            <a:ext cx="4014470" cy="762000"/>
          </a:xfrm>
          <a:prstGeom prst="rect">
            <a:avLst/>
          </a:prstGeom>
          <a:noFill/>
          <a:ln/>
        </p:spPr>
        <p:txBody>
          <a:bodyPr wrap="square" lIns="0" tIns="0" rIns="0" bIns="0" rtlCol="0" anchor="t"/>
          <a:lstStyle/>
          <a:p>
            <a:pPr defTabSz="914446">
              <a:lnSpc>
                <a:spcPts val="6000"/>
              </a:lnSpc>
            </a:pPr>
            <a:r>
              <a:rPr lang="en-US" sz="4800" b="1" dirty="0">
                <a:solidFill>
                  <a:srgbClr val="0D0D0D"/>
                </a:solidFill>
                <a:latin typeface="Hepta Slab Bold" pitchFamily="34" charset="0"/>
                <a:ea typeface="Hepta Slab Bold" pitchFamily="34" charset="-122"/>
                <a:cs typeface="Hepta Slab Bold" pitchFamily="34" charset="-120"/>
              </a:rPr>
              <a:t>Thank You</a:t>
            </a:r>
            <a:endParaRPr lang="en-US" sz="4800" dirty="0">
              <a:solidFill>
                <a:srgbClr val="0D0D0D"/>
              </a:solidFill>
              <a:latin typeface="Calibri" panose="020F0502020204030204"/>
            </a:endParaRPr>
          </a:p>
        </p:txBody>
      </p:sp>
      <p:sp>
        <p:nvSpPr>
          <p:cNvPr id="4" name="Object3"/>
          <p:cNvSpPr/>
          <p:nvPr/>
        </p:nvSpPr>
        <p:spPr>
          <a:xfrm>
            <a:off x="6661150" y="1943100"/>
            <a:ext cx="4546600" cy="2971800"/>
          </a:xfrm>
          <a:prstGeom prst="rect">
            <a:avLst/>
          </a:prstGeom>
          <a:noFill/>
          <a:ln/>
        </p:spPr>
        <p:txBody>
          <a:bodyPr wrap="square" lIns="0" tIns="0" rIns="0" bIns="0" rtlCol="0" anchor="t"/>
          <a:lstStyle/>
          <a:p>
            <a:pPr defTabSz="914446">
              <a:lnSpc>
                <a:spcPts val="4000"/>
              </a:lnSpc>
            </a:pPr>
            <a:r>
              <a:rPr lang="en-US" sz="3200" dirty="0">
                <a:solidFill>
                  <a:srgbClr val="0D0D0D"/>
                </a:solidFill>
                <a:latin typeface="Hepta Slab Regular" pitchFamily="34" charset="0"/>
                <a:ea typeface="Hepta Slab Regular" pitchFamily="34" charset="-122"/>
                <a:cs typeface="Hepta Slab Regular" pitchFamily="34" charset="-120"/>
              </a:rPr>
              <a:t>dipti@terragni.in
www.terragni.in
+91 823 702 5269  
+91 202 588 5776</a:t>
            </a:r>
            <a:endParaRPr lang="en-US" sz="3200" dirty="0">
              <a:solidFill>
                <a:srgbClr val="0D0D0D"/>
              </a:solidFill>
              <a:latin typeface="Calibri" panose="020F0502020204030204"/>
            </a:endParaRPr>
          </a:p>
        </p:txBody>
      </p:sp>
      <p:grpSp>
        <p:nvGrpSpPr>
          <p:cNvPr id="9" name="Group 8">
            <a:extLst>
              <a:ext uri="{FF2B5EF4-FFF2-40B4-BE49-F238E27FC236}">
                <a16:creationId xmlns:a16="http://schemas.microsoft.com/office/drawing/2014/main" id="{67E1B2F5-B235-D4E8-3175-2BD3F9E8A2DE}"/>
              </a:ext>
            </a:extLst>
          </p:cNvPr>
          <p:cNvGrpSpPr/>
          <p:nvPr/>
        </p:nvGrpSpPr>
        <p:grpSpPr>
          <a:xfrm>
            <a:off x="-206433" y="6133294"/>
            <a:ext cx="12253290" cy="971832"/>
            <a:chOff x="-187799" y="8336784"/>
            <a:chExt cx="18379935" cy="1457748"/>
          </a:xfrm>
        </p:grpSpPr>
        <p:pic>
          <p:nvPicPr>
            <p:cNvPr id="10" name="Picture 9">
              <a:extLst>
                <a:ext uri="{FF2B5EF4-FFF2-40B4-BE49-F238E27FC236}">
                  <a16:creationId xmlns:a16="http://schemas.microsoft.com/office/drawing/2014/main" id="{5CCB0E57-BE48-A460-25AC-52A100000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799" y="8336784"/>
              <a:ext cx="2777985" cy="1371762"/>
            </a:xfrm>
            <a:prstGeom prst="rect">
              <a:avLst/>
            </a:prstGeom>
          </p:spPr>
        </p:pic>
        <p:sp>
          <p:nvSpPr>
            <p:cNvPr id="11" name="Title 1">
              <a:extLst>
                <a:ext uri="{FF2B5EF4-FFF2-40B4-BE49-F238E27FC236}">
                  <a16:creationId xmlns:a16="http://schemas.microsoft.com/office/drawing/2014/main" id="{013C1B02-E932-A4C3-648B-4107CB651593}"/>
                </a:ext>
              </a:extLst>
            </p:cNvPr>
            <p:cNvSpPr txBox="1">
              <a:spLocks/>
            </p:cNvSpPr>
            <p:nvPr/>
          </p:nvSpPr>
          <p:spPr>
            <a:xfrm>
              <a:off x="5585952" y="8955146"/>
              <a:ext cx="6924368" cy="295207"/>
            </a:xfrm>
            <a:prstGeom prst="rect">
              <a:avLst/>
            </a:prstGeom>
          </p:spPr>
          <p:txBody>
            <a:bodyPr vert="horz"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304815">
                <a:defRPr/>
              </a:pPr>
              <a:r>
                <a:rPr lang="en-IN" sz="733" dirty="0">
                  <a:solidFill>
                    <a:prstClr val="black">
                      <a:lumMod val="95000"/>
                      <a:lumOff val="5000"/>
                    </a:prstClr>
                  </a:solidFill>
                  <a:latin typeface="Montserrat Medium" pitchFamily="2" charset="0"/>
                  <a:cs typeface="Hepta Slab" pitchFamily="2" charset="0"/>
                </a:rPr>
                <a:t>TERRAGNI CONSULTING (P) LTD PRIVATE AND CONFIDENTIAL</a:t>
              </a:r>
            </a:p>
          </p:txBody>
        </p:sp>
        <p:pic>
          <p:nvPicPr>
            <p:cNvPr id="12" name="Picture 11">
              <a:extLst>
                <a:ext uri="{FF2B5EF4-FFF2-40B4-BE49-F238E27FC236}">
                  <a16:creationId xmlns:a16="http://schemas.microsoft.com/office/drawing/2014/main" id="{28E9E5BC-76DE-5EA7-FF8F-37BE483E7D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26813" y="8422770"/>
              <a:ext cx="2765323" cy="1371762"/>
            </a:xfrm>
            <a:prstGeom prst="rect">
              <a:avLst/>
            </a:prstGeom>
          </p:spPr>
        </p:pic>
      </p:grpSp>
      <p:pic>
        <p:nvPicPr>
          <p:cNvPr id="5" name="Picture 4">
            <a:extLst>
              <a:ext uri="{FF2B5EF4-FFF2-40B4-BE49-F238E27FC236}">
                <a16:creationId xmlns:a16="http://schemas.microsoft.com/office/drawing/2014/main" id="{1E503053-69D8-BF97-F906-866104E3D6C2}"/>
              </a:ext>
            </a:extLst>
          </p:cNvPr>
          <p:cNvPicPr>
            <a:picLocks noChangeAspect="1"/>
          </p:cNvPicPr>
          <p:nvPr/>
        </p:nvPicPr>
        <p:blipFill>
          <a:blip r:embed="rId7">
            <a:extLst>
              <a:ext uri="{28A0092B-C50C-407E-A947-70E740481C1C}">
                <a14:useLocalDpi xmlns:a14="http://schemas.microsoft.com/office/drawing/2010/main" val="0"/>
              </a:ext>
            </a:extLst>
          </a:blip>
          <a:srcRect l="86867" b="37023"/>
          <a:stretch/>
        </p:blipFill>
        <p:spPr>
          <a:xfrm>
            <a:off x="2558900" y="6427213"/>
            <a:ext cx="373693" cy="383995"/>
          </a:xfrm>
          <a:prstGeom prst="rect">
            <a:avLst/>
          </a:prstGeom>
        </p:spPr>
      </p:pic>
    </p:spTree>
  </p:cSld>
  <p:clrMapOvr>
    <a:masterClrMapping/>
  </p:clrMapOvr>
</p:sld>
</file>

<file path=ppt/theme/theme1.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2E9CB8"/>
    </a:accent2>
    <a:accent3>
      <a:srgbClr val="E97132"/>
    </a:accent3>
    <a:accent4>
      <a:srgbClr val="196B24"/>
    </a:accent4>
    <a:accent5>
      <a:srgbClr val="4EA72E"/>
    </a:accent5>
    <a:accent6>
      <a:srgbClr val="C80724"/>
    </a:accent6>
    <a:hlink>
      <a:srgbClr val="518B9B"/>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2E9CB8"/>
    </a:accent2>
    <a:accent3>
      <a:srgbClr val="E97132"/>
    </a:accent3>
    <a:accent4>
      <a:srgbClr val="196B24"/>
    </a:accent4>
    <a:accent5>
      <a:srgbClr val="4EA72E"/>
    </a:accent5>
    <a:accent6>
      <a:srgbClr val="C80724"/>
    </a:accent6>
    <a:hlink>
      <a:srgbClr val="518B9B"/>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0.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2.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4.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5.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6.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7.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8.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9.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0.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1.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2.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3.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4.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5.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6.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7.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8.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9.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0.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1.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2.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3.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4.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5.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6.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7.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8.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9.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0.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1.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2.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3.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4.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6.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7.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8.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9.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1.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2.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3.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4.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88204196D7C047B511ACFD001D513D" ma:contentTypeVersion="13" ma:contentTypeDescription="Create a new document." ma:contentTypeScope="" ma:versionID="6d988a1cb9e2827dceb8ca60709e98f0">
  <xsd:schema xmlns:xsd="http://www.w3.org/2001/XMLSchema" xmlns:xs="http://www.w3.org/2001/XMLSchema" xmlns:p="http://schemas.microsoft.com/office/2006/metadata/properties" xmlns:ns3="5041a575-c5b5-4073-8e21-87906db2530d" targetNamespace="http://schemas.microsoft.com/office/2006/metadata/properties" ma:root="true" ma:fieldsID="6fa06a6d86f5cb440f38fe8f23e4fed3" ns3:_="">
    <xsd:import namespace="5041a575-c5b5-4073-8e21-87906db2530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ObjectDetectorVersions" minOccurs="0"/>
                <xsd:element ref="ns3:MediaLengthInSeconds"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41a575-c5b5-4073-8e21-87906db253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_activity" ma:index="20"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5041a575-c5b5-4073-8e21-87906db2530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D0CDE5-C1DB-4187-927F-0A8FF2FCC6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41a575-c5b5-4073-8e21-87906db253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530315-7CA1-430A-ADCF-5B676B5AB135}">
  <ds:schemaRefs>
    <ds:schemaRef ds:uri="http://purl.org/dc/terms/"/>
    <ds:schemaRef ds:uri="http://schemas.microsoft.com/office/2006/documentManagement/types"/>
    <ds:schemaRef ds:uri="http://purl.org/dc/elements/1.1/"/>
    <ds:schemaRef ds:uri="5041a575-c5b5-4073-8e21-87906db2530d"/>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ECBEB4C3-0D31-467B-ADA3-5A65DB5C5C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15413</TotalTime>
  <Words>10205</Words>
  <Application>Microsoft Office PowerPoint</Application>
  <PresentationFormat>Widescreen</PresentationFormat>
  <Paragraphs>1730</Paragraphs>
  <Slides>112</Slides>
  <Notes>95</Notes>
  <HiddenSlides>0</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112</vt:i4>
      </vt:variant>
    </vt:vector>
  </HeadingPairs>
  <TitlesOfParts>
    <vt:vector size="131" baseType="lpstr">
      <vt:lpstr>Aptos</vt:lpstr>
      <vt:lpstr>Arial</vt:lpstr>
      <vt:lpstr>Calibri</vt:lpstr>
      <vt:lpstr>Hepta Slab</vt:lpstr>
      <vt:lpstr>Hepta Slab Bold</vt:lpstr>
      <vt:lpstr>Hepta Slab ExtraBold</vt:lpstr>
      <vt:lpstr>Hepta Slab ExtraLight</vt:lpstr>
      <vt:lpstr>Hepta Slab Light</vt:lpstr>
      <vt:lpstr>Hepta Slab Medium</vt:lpstr>
      <vt:lpstr>Hepta Slab Regular</vt:lpstr>
      <vt:lpstr>Hepta Slab SemiBold</vt:lpstr>
      <vt:lpstr>Montserrat</vt:lpstr>
      <vt:lpstr>Montserrat Bold</vt:lpstr>
      <vt:lpstr>Montserrat ExtraBold</vt:lpstr>
      <vt:lpstr>Montserrat Light</vt:lpstr>
      <vt:lpstr>Montserrat Medium</vt:lpstr>
      <vt:lpstr>Montserrat SemiBold</vt:lpstr>
      <vt:lpstr>2_Office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Terragni Four</dc:creator>
  <cp:lastModifiedBy>Terragni Four</cp:lastModifiedBy>
  <cp:revision>358</cp:revision>
  <dcterms:created xsi:type="dcterms:W3CDTF">2025-01-29T05:32:41Z</dcterms:created>
  <dcterms:modified xsi:type="dcterms:W3CDTF">2025-02-20T05:49:36Z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0x0101004D88204196D7C047B511ACFD001D513D</vt:lpwstr>
  </property>
</Properties>
</file>